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5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13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Đặt vấn đề lâm sàng.</a:t>
            </a:r>
          </a:p>
          <a:p>
            <a:r>
              <a:t>Tại sao? U xơ phổ biến nên phát hiện tình cờ dễ dẫn tới điều trị thừa.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P018, P023, P043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Sửa câu hỏi mở đầu.</a:t>
            </a:r>
          </a:p>
          <a:p>
            <a:r>
              <a:t>Tại sao? Quyết định đúng bắt đầu từ câu hỏi đúng.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P023, P108, P201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bộ câu hỏi ra quyết định.</a:t>
            </a:r>
          </a:p>
          <a:p>
            <a:r>
              <a:t>Tại sao? Bốn câu này thay thế phản xạ ‘cứ u xơ là mổ’. 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P043, P045, P108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Tách ba đích ART.</a:t>
            </a:r>
          </a:p>
          <a:p>
            <a:r>
              <a:t>Tại sao? Một quyết định tốt phải bảo vệ cả thời gian noãn và readiness tử cung.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P196, P193, P211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Nhận diện ba kiểu ca.</a:t>
            </a:r>
          </a:p>
          <a:p>
            <a:r>
              <a:t>Tại sao? Ca rõ và ca vùng xám cần cách tư vấn khác nhau.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P023, P123, P131, P134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điểm cân bằng thời gian.</a:t>
            </a:r>
          </a:p>
          <a:p>
            <a:r>
              <a:t>Tại sao? Noãn mất theo thời gian; tử cung có thể tối ưu sau trong nhiều ca.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P134, P196, P201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Chống thiên kiến neo bám.</a:t>
            </a:r>
          </a:p>
          <a:p>
            <a:r>
              <a:t>Tại sao? RIF là hội chứng đa nguyên nhân.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P201, P222, P246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Chuẩn hóa dữ liệu đầu vào.</a:t>
            </a:r>
          </a:p>
          <a:p>
            <a:r>
              <a:t>Tại sao? Thiếu dữ liệu này thì không thể chọn đúng thứ tự IVF-mổ.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P045, P105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mô tả u theo ART.</a:t>
            </a:r>
          </a:p>
          <a:p>
            <a:r>
              <a:t>Tại sao? Mô tả đủ biến siêu âm thành quyết định.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P038, P045, P105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Dựng FIGO bằng bảng native.</a:t>
            </a:r>
          </a:p>
          <a:p>
            <a:r>
              <a:t>Tại sao? DOCX không có hình, nhưng FIGO có thể dạy rõ bằng bảng/shape.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T3, P038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Nhận diện nhóm dưới niêm mạc.</a:t>
            </a:r>
          </a:p>
          <a:p>
            <a:r>
              <a:t>Tại sao? Buồng tử cung là nơi phôi bám nên méo buồng tử cung là thông tin quyết định.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T3, P038, P123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Tách type 3 thành nhóm riêng.</a:t>
            </a:r>
          </a:p>
          <a:p>
            <a:r>
              <a:t>Tại sao? Chạm nội mạc có ý nghĩa với vi môi trường dù không méo buồng tử cung rõ.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T3, P069, P131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Cá thể hóa type 4.</a:t>
            </a:r>
          </a:p>
          <a:p>
            <a:r>
              <a:t>Tại sao? Type 4 là nơi điều trị thừa dễ xảy ra.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T3, P134, P190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Tránh mổ thừa dưới thanh mạc.</a:t>
            </a:r>
          </a:p>
          <a:p>
            <a:r>
              <a:t>Tại sao? Vị trí xa nội mạc thường không phải nút nghẽn ART.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T3, P123, P201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Nhận diện nhóm đặc biệt.</a:t>
            </a:r>
          </a:p>
          <a:p>
            <a:r>
              <a:t>Tại sao? Không áp công thức FIGO thường gặp cho vị trí nguy cơ cao.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T3, P041, P101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So sánh ranh giới sát nội mạc.</a:t>
            </a:r>
          </a:p>
          <a:p>
            <a:r>
              <a:t>Tại sao? Gộp hai nhóm làm mất thông tin quan trọng cho ART.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P069, P131, P134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Chuẩn hóa báo cáo hình ảnh.</a:t>
            </a:r>
          </a:p>
          <a:p>
            <a:r>
              <a:t>Tại sao? Báo cáo tốt rút ngắn đường đi quyết định.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P045, P105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Tóm bảng nguy cơ ART.</a:t>
            </a:r>
          </a:p>
          <a:p>
            <a:r>
              <a:t>Tại sao? Bảng này chuyển FIGO thành quyết định ART.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T5, P043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Nhận diện nhóm nguy cơ cao.</a:t>
            </a:r>
          </a:p>
          <a:p>
            <a:r>
              <a:t>Tại sao? Phôi cần buồng tử cung đủ điều kiện để làm tổ.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T5, P123, P101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xử trí vùng xám.</a:t>
            </a:r>
          </a:p>
          <a:p>
            <a:r>
              <a:t>Tại sao? Bằng chứng không đủ để biến mọi type 3/4 thành chỉ định mổ.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T5, P131, P134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Tránh điều trị thừa.</a:t>
            </a:r>
          </a:p>
          <a:p>
            <a:r>
              <a:t>Tại sao? Mổ không cần thiết có thể tạo nguy cơ mới.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T5, P123, P201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Đưa thao tác ART vào quyết định.</a:t>
            </a:r>
          </a:p>
          <a:p>
            <a:r>
              <a:t>Tại sao? Không chỉ buồng tử cung, đường vào ART cũng quyết định tạo phôi được hay không.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P045, P123, P196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Gắn tuổi noãn vào quyết định.</a:t>
            </a:r>
          </a:p>
          <a:p>
            <a:r>
              <a:t>Tại sao? Ở DOR, vài tháng trì hoãn có thể đắt hơn lợi ích mổ chưa chắc.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P196, P193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Chống điều trị theo siêu âm.</a:t>
            </a:r>
          </a:p>
          <a:p>
            <a:r>
              <a:t>Tại sao? Mổ không đúng đích có thể gây hại.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P108, P201, P222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Tóm cơ chế theo tầng.</a:t>
            </a:r>
          </a:p>
          <a:p>
            <a:r>
              <a:t>Tại sao? Cơ chế giúp giải thích tại sao vị trí quan trọng hơn kích thước.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P061, P063, P065, P067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Giải thích vai trò buồng tử cung.</a:t>
            </a:r>
          </a:p>
          <a:p>
            <a:r>
              <a:t>Tại sao? Nếu buồng tử cung xấu, phôi tốt vẫn có thể thất bại.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P063, P123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Liên hệ nội mạc với type 3.</a:t>
            </a:r>
          </a:p>
          <a:p>
            <a:r>
              <a:t>Tại sao? Đây là lý do type 3 không nên bị gộp chung type 4.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P065, P069, P131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Giải thích nhu động tử cung.</a:t>
            </a:r>
          </a:p>
          <a:p>
            <a:r>
              <a:t>Tại sao? Cơ chế hỗ trợ tư vấn nhưng quyết định vẫn cần bằng chứng và bối cảnh.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P067, P071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Gộp vi môi trường và đường vào ART.</a:t>
            </a:r>
          </a:p>
          <a:p>
            <a:r>
              <a:t>Tại sao? Cơ chế chỉ có giá trị khi nối được với hành động có lợi.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P045, P065, P067, P123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Chuyển cơ chế thành thuật toán.</a:t>
            </a:r>
          </a:p>
          <a:p>
            <a:r>
              <a:t>Tại sao? Cơ chế chỉ hữu ích khi dẫn đến hành động có lợi.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P061, P123, P196, P222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Định nghĩa mục tiêu chẩn đoán.</a:t>
            </a:r>
          </a:p>
          <a:p>
            <a:r>
              <a:t>Tại sao? Câu hỏi chẩn đoán quyết định xét nghiệm cần làm.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P090, P099, P101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Tóm bảng diagnostic methods.</a:t>
            </a:r>
          </a:p>
          <a:p>
            <a:r>
              <a:t>Tại sao? Người học cần biết chọn test theo câu hỏi.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T11, P099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Chỉ định 3D đúng câu hỏi.</a:t>
            </a:r>
          </a:p>
          <a:p>
            <a:r>
              <a:t>Tại sao? 3D giải quyết vấn đề mặt phẳng buồng tử cung mà 2D dễ bỏ sót.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T11, P101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Chọn bơm nước khi câu hỏi là buồng tử cung.</a:t>
            </a:r>
          </a:p>
          <a:p>
            <a:r>
              <a:t>Tại sao? Bơm nước giúp chứng minh điều kiện chuyển phôi.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T11, P101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Đặt nội soi buồng tử cung đúng vai trò.</a:t>
            </a:r>
          </a:p>
          <a:p>
            <a:r>
              <a:t>Tại sao? Không dùng nội soi buồng tử cung để thay thế toàn bộ bản đồ u xơ.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T11, P125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Dùng MRI khi bản đồ 2D/3D không đủ.</a:t>
            </a:r>
          </a:p>
          <a:p>
            <a:r>
              <a:t>Tại sao? MRI có ích ở ca phức tạp nhưng không cần thường quy mọi ca.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T11, P101, P103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lộ trình chẩn đoán.</a:t>
            </a:r>
          </a:p>
          <a:p>
            <a:r>
              <a:t>Tại sao? Đi từng bước giúp tránh vừa thiếu vừa thừa xét nghiệm.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P101, T11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Chuẩn hóa kết quả chẩn đoán hình ảnh.</a:t>
            </a:r>
          </a:p>
          <a:p>
            <a:r>
              <a:t>Tại sao? Báo cáo đủ giúp chọn đúng thứ tự IVF và mổ.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Không bỏ sót chẩn đoán khác.</a:t>
            </a:r>
          </a:p>
          <a:p>
            <a:r>
              <a:t>Tại sao? Mổ đúng u xơ nhưng sai bệnh chính vẫn thất bại.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P103, P087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Chốt tiêu chuẩn trước chuyển phôi.</a:t>
            </a:r>
          </a:p>
          <a:p>
            <a:r>
              <a:t>Tại sao? Chuyển phôi là lúc cần chắc chắn về buồng tử cung.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P101, P105, P193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tư duy đặt mục tiêu trước.</a:t>
            </a:r>
          </a:p>
          <a:p>
            <a:r>
              <a:t>Tại sao? Tên phương pháp ít quan trọng hơn mục tiêu điều trị.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P119, P137, P196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Dùng bảng quyết định FIGO.</a:t>
            </a:r>
          </a:p>
          <a:p>
            <a:r>
              <a:t>Tại sao? Đây là xương sống của phần xử trí.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T15, P123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chỉ định rõ nhất.</a:t>
            </a:r>
          </a:p>
          <a:p>
            <a:r>
              <a:t>Tại sao? Sửa buồng tử cung là mục tiêu có lý nhất trước chuyển phôi.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T15, P125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Tư vấn type 3 cân bằng.</a:t>
            </a:r>
          </a:p>
          <a:p>
            <a:r>
              <a:t>Tại sao? Vùng xám cần quyết định chung và hội chẩn.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T15, P131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Cá thể hóa type 4.</a:t>
            </a:r>
          </a:p>
          <a:p>
            <a:r>
              <a:t>Tại sao? Type 4 là nơi cần cân bằng nhất.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T15, P134, P196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Tránh trì hoãn IVF vì u dưới thanh mạc nhỏ.</a:t>
            </a:r>
          </a:p>
          <a:p>
            <a:r>
              <a:t>Tại sao? Lợi ích mổ thấp không bù được sẹo, dính, thời gian chờ.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T15, P201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Tách chỉ định triệu chứng khỏi ART.</a:t>
            </a:r>
          </a:p>
          <a:p>
            <a:r>
              <a:t>Tại sao? Điều trị đúng triệu chứng chưa chắc tối ưu tỉ lệ sanh sống.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P091, P115, P137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Đưa kỹ thuật ART vào kế hoạch.</a:t>
            </a:r>
          </a:p>
          <a:p>
            <a:r>
              <a:t>Tại sao? Một ca có buồng tử cung ổn vẫn có thể thất bại do không lấy được noãn hoặc không chuyển được phôi.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P045, P123, P196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Dùng bảng kiểm trước quyết định.</a:t>
            </a:r>
          </a:p>
          <a:p>
            <a:r>
              <a:t>Tại sao? Quyết định chung cần dữ liệu và mục tiêu rõ.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P108, P196, P222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Tóm xử trí theo FIGO.</a:t>
            </a:r>
          </a:p>
          <a:p>
            <a:r>
              <a:t>Tại sao? Bảng này thay các slide phẫu thuật dàn trải.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T20, P174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Xử trí type 0.</a:t>
            </a:r>
          </a:p>
          <a:p>
            <a:r>
              <a:t>Tại sao? Đây là tổn thương sửa được rõ trước chuyển phôi.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T20, P125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Xử trí type 1.</a:t>
            </a:r>
          </a:p>
          <a:p>
            <a:r>
              <a:t>Tại sao? Vừa lấy u vừa giữ nội mạc cho ART.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T20, P125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Xử trí type 2 an toàn.</a:t>
            </a:r>
          </a:p>
          <a:p>
            <a:r>
              <a:t>Tại sao? Buồng tử cung sau mổ quan trọng hơn cảm giác lấy sạch.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T20, P125, P190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Xử trí type 3.</a:t>
            </a:r>
          </a:p>
          <a:p>
            <a:r>
              <a:t>Tại sao? Không vô hại nhưng cũng không tự động mổ.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T20, P131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Xử trí type 4.</a:t>
            </a:r>
          </a:p>
          <a:p>
            <a:r>
              <a:t>Tại sao? Quyết định phải cân bằng lợi ích và nguy cơ.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T20, P134, P196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Xử trí type 5–7.</a:t>
            </a:r>
          </a:p>
          <a:p>
            <a:r>
              <a:t>Tại sao? Tránh tạo sẹo và dính vì lợi ích ART thấp.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T20, P201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Chốt chỉ định mổ trước.</a:t>
            </a:r>
          </a:p>
          <a:p>
            <a:r>
              <a:t>Tại sao? Mổ trước có lợi khi sửa đúng nút nghẽn thật.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P123, P137, P201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Chốt chỉ định không trì hoãn.</a:t>
            </a:r>
          </a:p>
          <a:p>
            <a:r>
              <a:t>Tại sao? Tạo phôi có thể là bước bảo vệ cơ hội sinh sản.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P134, P196, P201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chiến lược tạo và trữ phôi trước.</a:t>
            </a:r>
          </a:p>
          <a:p>
            <a:r>
              <a:t>Tại sao? Noãn lão hóa nhanh hơn nhiều kế hoạch tối ưu tử cung.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T21, P196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Phân loại đường mổ.</a:t>
            </a:r>
          </a:p>
          <a:p>
            <a:r>
              <a:t>Tại sao? Tên mổ không đủ; cần biết đường vào sửa vấn đề nào.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P125, P128, P174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Tư vấn nội soi buồng tử cung cân bằng.</a:t>
            </a:r>
          </a:p>
          <a:p>
            <a:r>
              <a:t>Tại sao? Sửa buồng tử cung có lợi nhưng cũng có nguy cơ với nội mạc.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P125, P190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Tư vấn đường vào qua bụng.</a:t>
            </a:r>
          </a:p>
          <a:p>
            <a:r>
              <a:t>Tại sao? Bảo tồn tử cung không miễn phí về mặt ART.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P128, P190, P193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nguyên tắc dừng an toàn.</a:t>
            </a:r>
          </a:p>
          <a:p>
            <a:r>
              <a:t>Tại sao? Buồng tử cung lành quan trọng hơn lấy hết bằng mọi giá.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P125, P190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Nhấn mạnh ghi nhận đầy đủ.</a:t>
            </a:r>
          </a:p>
          <a:p>
            <a:r>
              <a:t>Tại sao? Thiếu thông tin này làm mất dữ liệu an toàn cho lần theo.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P193, P211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Giải thích dính ở mức cần thiết.</a:t>
            </a:r>
          </a:p>
          <a:p>
            <a:r>
              <a:t>Tại sao? Không lấy nội dung phẫu thuật phụ; chỉ giữ nguyên tắc có trong DOCX mega.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P190, P211, P246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thứ tự ưu tiên phòng dính.</a:t>
            </a:r>
          </a:p>
          <a:p>
            <a:r>
              <a:t>Tại sao? Phòng dính là bảo vệ tương lai chuyển phôi.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P190, P211, P246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đánh giá lại sau mổ.</a:t>
            </a:r>
          </a:p>
          <a:p>
            <a:r>
              <a:t>Tại sao? Điều trị xong u chưa chắc xong buồng tử cung.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P193, P211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Tư vấn thời điểm sau nội soi buồng tử cung.</a:t>
            </a:r>
          </a:p>
          <a:p>
            <a:r>
              <a:t>Tại sao? Đợi đúng mức giúp giảm nguy cơ mất phôi do buồng tử cung chưa lành.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P193, P211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Tư vấn thời điểm sau đường bụng.</a:t>
            </a:r>
          </a:p>
          <a:p>
            <a:r>
              <a:t>Tại sao? Sẹo cơ tử cung ảnh hưởng an toàn thai kỳ.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P193, P211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Tóm hiệu ứng điều trị.</a:t>
            </a:r>
          </a:p>
          <a:p>
            <a:r>
              <a:t>Tại sao? Bảng này ngăn nhầm mục tiêu triệu chứng với mục tiêu ART.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T24, P240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Đặt thuốc triệu chứng đúng vai trò.</a:t>
            </a:r>
          </a:p>
          <a:p>
            <a:r>
              <a:t>Tại sao? Đúng cho chảy máu nhiều chưa chắc đủ cho chuyển phôi.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P137, P141, T24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thuốc như cầu nối.</a:t>
            </a:r>
          </a:p>
          <a:p>
            <a:r>
              <a:t>Tại sao? Thuốc không thay thế sửa type 0–2.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P137, P141, T24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Tư vấn UAE theo mục tiêu sinh sản.</a:t>
            </a:r>
          </a:p>
          <a:p>
            <a:r>
              <a:t>Tại sao? Ít xâm lấn không đồng nghĩa phù hợp ART.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P159, T24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Chốt ma trận mục tiêu.</a:t>
            </a:r>
          </a:p>
          <a:p>
            <a:r>
              <a:t>Tại sao? Mỗi mục tiêu cần một cách kiểm tra khác nhau.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T24, P196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Tóm quyết định tạo và trữ phôi.</a:t>
            </a:r>
          </a:p>
          <a:p>
            <a:r>
              <a:t>Tại sao? Đây là cầu nối giữa tuổi noãn và tối ưu tử cung.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T21, P196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Nhận diện nhóm tạo và trữ trước.</a:t>
            </a:r>
          </a:p>
          <a:p>
            <a:r>
              <a:t>Tại sao? Tạo phôi trước là chiến lược thời gian, không phải điều trị u.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T21, P196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Nhận diện nhóm xử trí u trước.</a:t>
            </a:r>
          </a:p>
          <a:p>
            <a:r>
              <a:t>Tại sao? Không nên tạo phôi rồi chuyển vào buồng tử cung chưa thể dùng.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T21, P123, P137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Phân biệt thời điểm chuyển phôi.</a:t>
            </a:r>
          </a:p>
          <a:p>
            <a:r>
              <a:t>Tại sao? Chuyển phôi trữ giúp giải quyết tuần tự hai bài toán.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P196, P193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Tích hợp thứ tự xử trí.</a:t>
            </a:r>
          </a:p>
          <a:p>
            <a:r>
              <a:t>Tại sao? Thuật toán giảm mâu thuẫn giữa phẫu thuật và tuổi noãn.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T21, P196, P193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theo dõi bảo tồn.</a:t>
            </a:r>
          </a:p>
          <a:p>
            <a:r>
              <a:t>Tại sao? Theo dõi có chủ đích khác với bỏ mặc.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P211, P222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theo dõi sau nội soi buồng tử cung.</a:t>
            </a:r>
          </a:p>
          <a:p>
            <a:r>
              <a:t>Tại sao? Buồng tử cung sau thủ thuật là mục tiêu ART.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P193, P211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theo dõi đường bụng.</a:t>
            </a:r>
          </a:p>
          <a:p>
            <a:r>
              <a:t>Tại sao? Sẹo và u tái phát ảnh hưởng kế hoạch thai kỳ.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P193, P211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Dạy tư vấn thai kỳ.</a:t>
            </a:r>
          </a:p>
          <a:p>
            <a:r>
              <a:t>Tại sao? Thông tin phẫu thuật hiện tại phục vụ an toàn thai kỳ sau này.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P211, P222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Structural slide. Nguồn DOCX: U_xo_tu_cung_ART_Infertility_2026-07-12.docx.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Tích hợp toàn bài.</a:t>
            </a:r>
          </a:p>
          <a:p>
            <a:r>
              <a:t>Tại sao? Thuật toán biến bài dài thành hành động tại phòng khám.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P045, T15, T21, P222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Làm gì? Chốt thông điệp.</a:t>
            </a:r>
          </a:p>
          <a:p>
            <a:r>
              <a:t>Tại sao? Người học cần nhớ thuật toán hơn là từng số liệu.</a:t>
            </a:r>
          </a:p>
          <a:p>
            <a:r>
              <a:t>Nếu bỏ qua/làm sai? Dễ áp dụng máy móc hoặc quyết định không khớp mục tiêu ART.</a:t>
            </a:r>
          </a:p>
          <a:p>
            <a:r>
              <a:t>Nguồn DOCX: P222, P246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64008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523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4108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3544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8298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4241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523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4108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3544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8298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4241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523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4108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544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298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4241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4108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3544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8298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4241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523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72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64108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3544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8298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4241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675120" y="822960"/>
            <a:ext cx="3273552" cy="2560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0" y="822960"/>
            <a:ext cx="327355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SẢN PHỤ KHOA + HỖ TRỢ SINH SẢN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1371600"/>
            <a:ext cx="5577840" cy="2560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U xơ cơ tử cung và ART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023360"/>
            <a:ext cx="128016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206240"/>
            <a:ext cx="557784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900" b="0" i="0">
                <a:solidFill>
                  <a:srgbClr val="B0C8E0"/>
                </a:solidFill>
                <a:latin typeface="Arial"/>
              </a:rPr>
              <a:t>Từ mô tả tổn thương đến quyết định IVF/FET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Vì sao u xơ quan trọng trong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xơ rất thường gặp nhưng không phải mọi u đều cần can thiệp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Trong ART, điều quan trọng là buồng tử cung, nội mạc, đường thao tác và thời gian của noãn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Bài này chuyển từ mô tả bệnh sang quyết định: mổ trước, tạo phôi trước, theo dõi hay đánh giá lại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Khung tư duy lâm sàng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Câu hỏi sai: có u xơ thì mổ không?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Câu hỏi này bỏ qua vị trí, buồng tử cung và mục tiêu sinh sản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Một u nhỏ trong buồng tử cung có thể quan trọng hơn u lớn dưới thanh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Mổ nhầm chỉ định có thể gây dính, sẹo và trì hoãn IVF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4  /  91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Câu hỏi đúng trong phòng khám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thuộc FIGO type nào?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Có chạm hoặc biến dạng buồng tử cung không?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Có gây AUB, thiếu máu, đau, chèn ép không?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Can thiệp giúp mục tiêu ART hay chỉ làm chậm?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5  /  91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Ba đích cần giữ cùng lúc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749039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64008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474719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Noãn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383279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Tuổi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AMH/AFC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khả năng tạo phôi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1554480"/>
            <a:ext cx="3749039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39" y="1554480"/>
            <a:ext cx="3749039" cy="64008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399" y="1554480"/>
            <a:ext cx="3474719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Phôi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331720"/>
            <a:ext cx="3383279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số phôi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phôi quý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chuyển tươi hay chuyển trữ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8" y="1554480"/>
            <a:ext cx="3749039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18" y="1554480"/>
            <a:ext cx="3749039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8" y="1554480"/>
            <a:ext cx="3474719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Tử cung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8" y="2331720"/>
            <a:ext cx="3383279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sẹo/dính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6  /  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42104843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Ba archetype lâm sàng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21208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00977A"/>
                </a:solidFill>
                <a:latin typeface="Arial"/>
              </a:rPr>
              <a:t>Chỉ định rõ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Type 0–2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méo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trước chuyển phôi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691640"/>
            <a:ext cx="521208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00CCA3"/>
                </a:solidFill>
                <a:latin typeface="Arial"/>
              </a:rPr>
              <a:t>Vùng xám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105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Type 3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type 4 lớn hoặc nhiều 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RIF hoặc phôi quý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7  /  91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Khi nào không nên trì hoãn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00977A"/>
                </a:solidFill>
                <a:latin typeface="Arial"/>
              </a:rPr>
              <a:t>Không nên mổ vội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type 5–7 nhỏ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type 4 nhỏ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không méo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DOR hoặc tuổi cao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E53E3E"/>
                </a:solidFill>
                <a:latin typeface="Arial"/>
              </a:rPr>
              <a:t>Cần xử trí trước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type 0–2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thiếu máu nặng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cản chọc hút hoặc chuyển phôi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dấu hiệu bất thường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8  /  91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Đừng quy mọi thất bại ART cho u xơ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Kiểm tra phôi, nội mạc, adenomyosis, polyp, viêm nội mạc, ứ dịch vòi trứng và yếu tố nam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xơ có thể là một phần, không phải luôn là nguyên nhân chính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đánh giá lại buồng tử cung trước khi can thiệp lớn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9  /  91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Bộ dữ liệu tối thiểu trước tư vấn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Số lượng u + ba kích thước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FIGO type và khoảng cách tới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Có/không biến dạng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Liên quan lỗ vòi/cổ tử cung/buồng trứng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Adenomyosis/polyp/dính đi kèm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10  /  91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Mô tả tổn thương và FIGO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 i="1">
                <a:solidFill>
                  <a:srgbClr val="728C8C"/>
                </a:solidFill>
                <a:latin typeface="Arial"/>
              </a:rPr>
              <a:t>Vị trí quan trọng hơn kích thước đơn độc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Mỗi khối u cần được mô tả thế nào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Vị trí theo FIGO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Kích thước 3 chiều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Khoảng cách đến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Biến dạng buồng tử cung hay không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Ảnh hưởng đường chọc hút/chuyển phôi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11  /  91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FIGO 0–8: bản đồ dựng bằng shape native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Nhóm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Giải phẫu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Ý nghĩa ART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0–2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Dưới niêm mạc/làm biến dạng buồng tử cung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Ưu tiên đánh giá và sửa buồng tử cung trước chuyển phôi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Chạm nội mạc, không lồi buồng tử cung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Vùng xám trong 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Trong cơ không chạm buồng tử cung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Cá thể hóa theo từng ca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5–7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Dưới thanh mạc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Thường không mổ chỉ vì chuẩn bị IVF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Vị trí đặc biệt (cổ tử cung, dây chằng, ký sinh)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Cần lập bản đồ riêng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12  /  91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FIGO 0–2: làm biến dạng buồng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0: trong buồng tử cung có cuống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1: phần lớn trong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2: phần lớn trong cơ nhưng lồi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Đây là nhóm can thiệp rõ nhất trước chuyển phôi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13  /  91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100" b="1" i="0">
                <a:solidFill>
                  <a:srgbClr val="0D2B2B"/>
                </a:solidFill>
                <a:latin typeface="Arial"/>
              </a:rPr>
              <a:t>FIGO 3: chạm nội mạc nhưng không lồi buồng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thấy rõ như u dưới niêm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Nội soi buồng tử cung có thể gần bình thường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tách khỏi type 4 khi tư vấn ART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Là vùng xám cần cá thể hóa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Quyết định phụ thuộc kích thước, diện tiếp xúc nội mạc, tiền sử RIF hoặc phôi quý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14  /  91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600" b="1" i="0">
                <a:solidFill>
                  <a:srgbClr val="0D2B2B"/>
                </a:solidFill>
                <a:latin typeface="Arial"/>
              </a:rPr>
              <a:t>FIGO 4: trong cơ không chạm buồng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Trong cơ hoàn toàn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Quyết định theo kích thước, số lượng, triệu chứng, tuổi noãn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tự động mổ chỉ vì IVF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cân bằng lợi ích chưa chắc với thời gian chờ, sẹo, dính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Khi phân loại mơ hồ, cần 3D, bơm nước buồng tử cung, hoặc MRI theo câu hỏi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15  /  91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FIGO 5–7: dưới thanh mạc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Xa buồng tử cung hơn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Thường ít ảnh hưởng khả năng làm tổ nếu nhỏ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Mổ nếu có triệu chứng, xoắn, cản thao tác hoặc khối lớn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mổ chỉ vì chuẩn bị IVF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16  /  91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FIGO 8 và vị trí đặc biệt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Cổ tử cung, dây chằng rộng, ký sinh hoặc vị trí đặc biệt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Có thể gần bàng quang, niệu quản, mạch máu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MRI có ích khi bản đồ phức tạp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cá thể hóa và phẫu thuật viên kinh nghiệm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17  /  91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3 và type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00977A"/>
                </a:solidFill>
                <a:latin typeface="Arial"/>
              </a:rPr>
              <a:t>Type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chạm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không lồi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vùng xám trong ART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nội soi buồng tử cung có thể không thấy tổn thương rõ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E53E3E"/>
                </a:solidFill>
                <a:latin typeface="Arial"/>
              </a:rPr>
              <a:t>Type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không chạm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trong cơ thật sự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theo dõi hoặc cá thể hóa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không tự động mổ nếu nhỏ và buồng tử cung ổn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18  /  91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Checklist báo cáo siêu âm trước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FIGO type + kích thước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khoảng cách đến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biến dạng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liên quan lỗ vòi/cổ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khả năng tiếp cận buồng trứng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19  /  91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Phân tầng nguy cơ 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 i="1">
                <a:solidFill>
                  <a:srgbClr val="728C8C"/>
                </a:solidFill>
                <a:latin typeface="Arial"/>
              </a:rPr>
              <a:t>Nguy cơ là bối cảnh, không phải nhãn cố định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Nhóm nguy cơ trong ART theo DOCX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114300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Nhóm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Dấu hiệu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Hành động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Type 0–2/biến dạng buồng tử cung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Sửa buồng tử cung trước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Trung gian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Type 3/intramural chọn lọc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Cá thể hóa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Thấp hơn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Dưới thanh mạc nhỏ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Thường theo dõi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Thuộc về thao tác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Cản chọc hút noãn/chuyển phôi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Xử trí theo đường vào 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20  /  91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400" b="1" i="0">
                <a:solidFill>
                  <a:srgbClr val="0D2B2B"/>
                </a:solidFill>
                <a:latin typeface="Arial"/>
              </a:rPr>
              <a:t>Nhóm nguy cơ cao: buồng tử cung bị ảnh hưởng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0–2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biến dạng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polyp hoặc dính phối hợp cần phân biệt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ưu tiên chứng minh và sửa buồng tử cung trước chuyển phôi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21  /  91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Nhóm trung gian: type 3 và intramural chọn lọc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3 chạm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4 lớn hoặc nhiều 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tiền sử RIF hoặc phôi quý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hội chẩn thay vì áp công thức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22  /  91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Nhóm thấp hơn: dưới thanh mạc nhỏ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5–7 nhỏ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méo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triệu chứng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cản thao tác 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23  /  91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Nguy cơ kỹ thuật trong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đẩy lệch buồng trứng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cản đường chọc hút noãn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làm khó chuyển phôi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nhận diện trước khi kích thích buồng trứng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24  /  91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Nguy cơ do thời gian bệnh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Tuổi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AMH và AFC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số phôi hiện có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thời gian chờ sau can thiệp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khả năng trì hoãn an toàn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25  /  91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Bẫy: điều trị theo hình ảnh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Siêu âm bất thường không đồng nghĩa cần mổ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nối hình ảnh với triệu chứng và mục tiêu ART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Theo dõi có thể là điều trị đúng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Quyết định phải là quyết định chung với bệnh nhân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26  /  91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Cơ chế ảnh hưởng sinh sản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 i="1">
                <a:solidFill>
                  <a:srgbClr val="728C8C"/>
                </a:solidFill>
                <a:latin typeface="Arial"/>
              </a:rPr>
              <a:t>Chỉ giữ phần thay đổi quyết định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Năm tầng cơ chế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19933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1993392" cy="4572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99339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810512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D2B2B"/>
                </a:solidFill>
                <a:latin typeface="Arial"/>
              </a:rPr>
              <a:t>Buồng tử cung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1719072" cy="1645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Arial"/>
              </a:rPr>
              <a:t>hình học nơi phôi bám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291840"/>
            <a:ext cx="329184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00977A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2194560"/>
            <a:ext cx="19933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24912" y="2194560"/>
            <a:ext cx="1993392" cy="4572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24912" y="2194560"/>
            <a:ext cx="199339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743200"/>
            <a:ext cx="1810512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000" b="1" i="0">
                <a:solidFill>
                  <a:srgbClr val="0D2B2B"/>
                </a:solidFill>
                <a:latin typeface="Arial"/>
              </a:rPr>
              <a:t>Nội mạc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474720"/>
            <a:ext cx="1719072" cy="1645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Arial"/>
              </a:rPr>
              <a:t>khả năng tiếp nhận phôi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291840"/>
            <a:ext cx="329184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00977A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4064" y="2194560"/>
            <a:ext cx="19933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4064" y="2194560"/>
            <a:ext cx="1993392" cy="4572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84064" y="2194560"/>
            <a:ext cx="199339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2743200"/>
            <a:ext cx="1810512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000" b="1" i="0">
                <a:solidFill>
                  <a:srgbClr val="0D2B2B"/>
                </a:solidFill>
                <a:latin typeface="Arial"/>
              </a:rPr>
              <a:t>Co bóp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3474720"/>
            <a:ext cx="1719072" cy="1645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Arial"/>
              </a:rPr>
              <a:t>nhu động tử cung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3291840"/>
            <a:ext cx="329184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00977A"/>
                </a:solidFill>
                <a:latin typeface="Arial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43216" y="2194560"/>
            <a:ext cx="19933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43216" y="2194560"/>
            <a:ext cx="199339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43216" y="2194560"/>
            <a:ext cx="199339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4656" y="2743200"/>
            <a:ext cx="1810512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D2B2B"/>
                </a:solidFill>
                <a:latin typeface="Arial"/>
              </a:rPr>
              <a:t>Tưới máu và viêm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3474720"/>
            <a:ext cx="1719072" cy="1645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Arial"/>
              </a:rPr>
              <a:t>vi môi trường quanh 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3291840"/>
            <a:ext cx="329184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00977A"/>
                </a:solidFill>
                <a:latin typeface="Arial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02368" y="2194560"/>
            <a:ext cx="19933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802368" y="2194560"/>
            <a:ext cx="1993392" cy="4572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02368" y="2194560"/>
            <a:ext cx="199339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2743200"/>
            <a:ext cx="1810512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000" b="1" i="0">
                <a:solidFill>
                  <a:srgbClr val="0D2B2B"/>
                </a:solidFill>
                <a:latin typeface="Arial"/>
              </a:rPr>
              <a:t>Kỹ thuật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3474720"/>
            <a:ext cx="1719072" cy="1645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Arial"/>
              </a:rPr>
              <a:t>chọc hút noãn và chuyển phôi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486400"/>
            <a:ext cx="11430000" cy="64008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▶ HẬU QUẢ:  Cơ chế giúp giải thích tại sao vị trí quan trọng hơn kích thước.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27  /  91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Hình học buồng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lồi vào buồng tử cung thay đổi nơi phôi bám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Có thể làm méo nội mạc dù kích thước không lớn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Buồng tử cung là mục tiêu trực tiếp trước chuyển phôi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Khoảng cách từ u tới nội mạc quyết định mức độ ảnh hưởng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28  /  91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Nội mạc tiếp nhận phôi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gần nội mạc có thể ảnh hưởng tín hiệu tiếp nhận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3 quan trọng vì chạm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thấy lồi buồng tử cung không có nghĩa hoàn toàn vô hại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Đánh giá cần siêu âm kinh nghiệm hoặc 3D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29  /  91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Co bóp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có thể thay đổi nhu động quanh thời điểm làm tổ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Cơ chế này giải thích thất bại không chỉ do chiếm chỗ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dùng cơ chế đơn độc để chỉ định mổ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Đánh giá nhu động còn hạn chế trên siêu âm thường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30  /  91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Vi môi trường và thao tác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Viêm và tưới máu cục bộ quanh u có thể ảnh hưởng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cũng có thể cản chọc hút noãn hoặc chuyển phôi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Đây là chỉ định kỹ thuật khác với chỉ định về khả năng làm tổ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Cơ chế không đồng nghĩa tự động mổ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31  /  91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Từ cơ chế đến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1691640"/>
            <a:ext cx="7589520" cy="64008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0" y="1691640"/>
            <a:ext cx="63500" cy="64008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1691640"/>
            <a:ext cx="72237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Cơ chế nghi ngờ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31720"/>
            <a:ext cx="7589520" cy="670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002280"/>
            <a:ext cx="7589520" cy="6400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3002280"/>
            <a:ext cx="72237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Xác định FIGO và buồng tử cung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42360"/>
            <a:ext cx="7589520" cy="670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4312920"/>
            <a:ext cx="7589520" cy="6400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0" y="4312920"/>
            <a:ext cx="72237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Đánh giá triệu chứng và thời điểm 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953000"/>
            <a:ext cx="7589520" cy="670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5623560"/>
            <a:ext cx="7589520" cy="6400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0" y="5623560"/>
            <a:ext cx="63500" cy="6400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68880" y="5623560"/>
            <a:ext cx="72237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Chọn: theo dõi / sửa buồng tử cung / tạo phôi trước / đánh giá lại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32  /  91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Chẩn đoán để trả lời câu hỏi 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 i="1">
                <a:solidFill>
                  <a:srgbClr val="728C8C"/>
                </a:solidFill>
                <a:latin typeface="Arial"/>
              </a:rPr>
              <a:t>Không làm xét nghiệm cho đủ; làm để quyết định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Mục tiêu của chẩn đoán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Xác định FIGO và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Phân biệt tổn thương đi kèm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Lập kế hoạch mổ hoặc ART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Tránh chuyển phôi khi buồng tử cung chưa rõ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33  /  91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So sánh công cụ hình ảnh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Công cụ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Mạnh nhất khi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Giới hạn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Siêu âm qua ngã âm đạo 2D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Bước đầu tiên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Không đủ nếu buồng tử cung chưa rõ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Siêu âm qua ngã âm đạo 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Phân biệt type 3/4, dựng bản đồ buồng tử cung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Cần kinh nghiệm người làm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Bơm nước buồng tử cung (SIS)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Làm rõ đường viền buồng tử cung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Rất hữu ích trước chuyển phôi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Nội soi buồng tử cung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Chẩn đoán và xử trí tổn thương buồng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Không khảo sát hết phần cơ tử cung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Cộng hưởng từ (MRI)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Đa u/nghi adenomyosis/dấu hiệu bất thường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Không dùng thường quy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34  /  91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Siêu âm 3D qua ngã âm đạo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Mặt phẳng vành giúp nhìn quan hệ u với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Phân biệt type 3 với type 4 khi 2D mơ hồ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Đo khoảng cách tới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Hữu ích trước chuyển phôi khi cần chứng minh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Giới hạn: phụ thuộc người làm và chất lượng máy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35  /  91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Bơm nước buồng tử cung (SIS)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Làm rõ đường viền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Phát hiện u dưới niêm mạc và polyp nhỏ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Rẻ và nhanh hơn một lần chuyển phôi thất bại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Tránh khi đang viêm âm đạo cấp hoặc đang có thai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36  /  91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Nội soi buồng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Vừa chẩn đoán vừa điều trị tổn thương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Phù hợp cho type 0–2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khảo sát phần ngoài cơ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Can thiệp quá mức làm tăng nguy cơ dính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kết hợp siêu âm để biết vị trí u trong cơ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37  /  91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Cộng hưởng từ (MRI)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Dùng khi đa u hoặc u lớn làm siêu âm khó lập bản đồ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Nghi adenomyosis đi kèm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Dấu hiệu bất thường nghi sarcoma hoặc STUMP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Lập kế hoạch phẫu thuật cho ca khó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dùng thường quy cho mọi bệnh nhân 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38  /  91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Thuật toán nâng bậc hình ảnh trước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1691640"/>
            <a:ext cx="7589520" cy="5334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0" y="1691640"/>
            <a:ext cx="63500" cy="5334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1691640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Siêu âm 2D qua ngã âm đạo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25040"/>
            <a:ext cx="7589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499360"/>
            <a:ext cx="7589520" cy="53340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2499360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Ghi nhận FIGO nghi ngờ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32760"/>
            <a:ext cx="7589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307080"/>
            <a:ext cx="7589520" cy="53340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0" y="3307080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Buồng tử cung chưa rõ?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840480"/>
            <a:ext cx="7589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114800"/>
            <a:ext cx="7589520" cy="53340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4114800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Siêu âm 3D hoặc bơm nước buồng tử cung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648200"/>
            <a:ext cx="7589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922520"/>
            <a:ext cx="7589520" cy="53340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4922520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Nội soi buồng tử cung nếu tổn thương trong buồng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455919"/>
            <a:ext cx="7589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5730239"/>
            <a:ext cx="7589520" cy="533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0" y="5730239"/>
            <a:ext cx="63500" cy="533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5730239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MRI nếu đa u, u lớn, nghi adenomyosis hoặc dấu hiệu bất thường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39  /  91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Mẫu báo cáo tối thiểu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Số lượng và ba chiều kích thước của 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FIGO type và vị trí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Khoảng cách tới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Có hay không biến dạng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Liên quan cổ tử cung, lỗ vòi trứng, buồng trứng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40  /  91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600" b="1" i="0">
                <a:solidFill>
                  <a:srgbClr val="0D2B2B"/>
                </a:solidFill>
                <a:latin typeface="Arial"/>
              </a:rPr>
              <a:t>Chẩn đoán phân biệt và dấu hiệu bất thường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Adenomyosis đi kèm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Polyp hoặc vách ngăn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Nghi sarcoma hoặc STUMP khi u lớn nhanh, tăng sinh mạch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Khối buồng trứng giả u cuống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41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22448610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100" b="1" i="0">
                <a:solidFill>
                  <a:srgbClr val="0D2B2B"/>
                </a:solidFill>
                <a:latin typeface="Arial"/>
              </a:rPr>
              <a:t>Trước chuyển phôi: phải chứng minh buồng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giả định buồng tử cung ổn chỉ vì 2D bình thường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Phôi quý cần buồng tử cung được chứng minh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Đánh giá lại sau can thiệp khó hoặc kết quả siêu âm không chắc chắn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Đừng chuyển phôi vào buồng tử cung còn mơ hồ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42  /  91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Đích điều trị trước khi chọn phương pháp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 i="1">
                <a:solidFill>
                  <a:srgbClr val="728C8C"/>
                </a:solidFill>
                <a:latin typeface="Arial"/>
              </a:rPr>
              <a:t>Biết đang sửa gì trước khi can thiệp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Chọn mục tiêu điều trị trước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Giảm máu và đau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Sửa thiếu máu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Giảm thể tích khối 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Phục hồi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Bảo vệ thời gian noãn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43  /  91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Quyết định theo FIGO trước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FIGO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Vấn đề chính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Hành động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0–2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Làm biến dạng buồng tử cung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Thường sửa buồng tử cung trước chuyển phôi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Chạm nội mạc không lồi buồng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Hội chẩn và cá thể hóa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Không chạm buồng tử cung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Cân bằng kích thước, tuổi, số phôi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5–7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Dưới thanh mạc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Không mổ chỉ vì IVF nếu nhỏ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Vị trí đặc biệt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MRI/kế hoạch riêng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44  /  91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0–2: phục hồi buồng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Ảnh hưởng trực tiếp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Đường nội soi buồng tử cung thường phù hợp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Kiểm tra lại buồng tử cung nếu ca khó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Ưu tiên trước chuyển phôi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theo dõi nguy cơ dính sau thủ thuật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45  /  91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3: vùng xám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Chạm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lồi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Cân nhắc tiền sử ART và phôi quý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Chưa đủ chắc để mổ mọi ca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Quyết định cần hội chẩn và trao đổi với bệnh nhân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46  /  91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4: cân bằng nhiều yếu tố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Kích thước và số lượng 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Triệu chứng kèm theo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Tuổi, AMH, số phôi hiện có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Nguy cơ phẫu thuật (sẹo, dính, thời gian chờ)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dùng công thức cứng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47  /  91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5–7: thường không mổ chỉ vì IVF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Xa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Ít ảnh hưởng khả năng làm tổ nếu nhỏ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Mổ khi có triệu chứng hoặc cản thao tác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Theo dõi nếu không triệu chứng và buồng tử cung ổn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48  /  91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600" b="1" i="0">
                <a:solidFill>
                  <a:srgbClr val="0D2B2B"/>
                </a:solidFill>
                <a:latin typeface="Arial"/>
              </a:rPr>
              <a:t>Triệu chứng và thiếu máu là chỉ định riêng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Chảy máu nhiều và thiếu máu cần xử trí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Đau và chèn ép cần cân nhắc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Chỉ định triệu chứng khác chỉ định vì khả năng làm tổ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Đừng trộn hai mục tiêu khi tư vấn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Mức Hb mục tiêu trước khi chuyển phôi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49  /  91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500" b="1" i="0">
                <a:solidFill>
                  <a:srgbClr val="0D2B2B"/>
                </a:solidFill>
                <a:latin typeface="Arial"/>
              </a:rPr>
              <a:t>Đường vào ART: chọc hút noãn và chuyển phôi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cản đường chọc hút noãn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Cổ tử cung hoặc trục tử cung khó chuyển phôi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đánh giá trước khi kích thích buồng trứng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Đây có thể là chỉ định kỹ thuật riêng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50  /  91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Bảng kiểm quyết định chung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768096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3093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11887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63093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FIGO và tình trạng buồng tử cung đã rõ chưa?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63093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Triệu chứng và thiếu máu có cần xử trí trước?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63093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Tuổi, AMH và số phôi hiện có thế nào?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63093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Đường chọc hút noãn và chuyển phôi có thuận?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63093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Nguy cơ sẹo, dính và thời gian chờ?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63093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Bệnh nhân ưu tiên điều gì nhất?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1600200"/>
            <a:ext cx="3611880" cy="283464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DIỄN GIẢI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9" y="1965960"/>
            <a:ext cx="128016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1" i="0">
                <a:solidFill>
                  <a:srgbClr val="00977A"/>
                </a:solidFill>
                <a:latin typeface="Arial"/>
              </a:rPr>
              <a:t>Đủ dữ liệu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19" y="1965960"/>
            <a:ext cx="20574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Có thể chọn thứ tự IVF và mổ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9" y="3200400"/>
            <a:ext cx="128016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1" i="0">
                <a:solidFill>
                  <a:srgbClr val="00977A"/>
                </a:solidFill>
                <a:latin typeface="Arial"/>
              </a:rPr>
              <a:t>Thiếu dữ liệu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19" y="3200400"/>
            <a:ext cx="20574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Chụp lại hình ảnh hoặc hội chẩn trước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51  /  91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Xử trí theo FIGO và bối cảnh 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 i="1">
                <a:solidFill>
                  <a:srgbClr val="728C8C"/>
                </a:solidFill>
                <a:latin typeface="Arial"/>
              </a:rPr>
              <a:t>Cùng là u xơ, hành động khác nhau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Xử trí theo FIGO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114300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Đường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Nhóm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Điểm phải nhớ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Nội soi buồng tử cung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Type 0–2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Sửa buồng tử cung, bảo vệ nội mạc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Nội soi ổ bụng/mổ mở/robot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Type 3–7 chọn lọc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Sẹo, dính, thời gian chờ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Theo dõi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Không triệu chứng, buồng tử cung ổn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Tránh trì hoãn ART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Chụp lại hình ảnh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Buồng tử cung chưa chắc chắn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Trước chuyển phôi/khi phôi quý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52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37183601 · PMID 38935974 · PMID 42104843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Trong buồng tử cung có cuống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Bóc u qua nội soi buồng tử cung thường hợp lý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Mục tiêu sửa nơi phôi bám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Kiểm tra nền và diện cắt cuống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Tránh đốt sâu để bảo vệ nội mạc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53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37183601 · PMID 38935974 · PMID 42104843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Phần lớn trong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Cắt từng lớp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Bảo vệ lớp đáy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Tránh đốt sâu để không hình thành sẹo dày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54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37183601 · PMID 38935974 · PMID 42104843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Phần lớn trong cơ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Nguy cơ thủng, dính, quá tải dịch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Có thể chia hai thì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An toàn hơn là lấy sạch bằng mọi giá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55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37183601 · PMID 38935974 · PMID 42104843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thấy lồi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Chạm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Bằng chứng còn vùng xám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cá thể hóa và hội chẩn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56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37183601 · PMID 38935974 · PMID 42104843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Trong cơ thật sự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Mổ nếu lớn, nhiều, có triệu chứng hoặc cản thao tác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Cân nhắc tạo và trữ phôi trước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Theo dõi nếu nhỏ và buồng tử cung ổn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57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37183601 · PMID 38935974 · PMID 42104843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5–7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Dưới thanh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Mổ khi có triệu chứng hoặc cản thao tác ART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mổ chỉ vì IVF đơn thuần nếu nhỏ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Giữ thời gian cho noãn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58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37183601 · PMID 38935974 · PMID 42104843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Khi nào mổ trước IVF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Buồng tử cung méo rõ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0–2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Thiếu máu hoặc triệu chứng nặng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cản chọc hút noãn hoặc chuyển phôi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Dấu hiệu bất thường nghi ác tính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59  /  91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Khi nào không trì hoãn IVF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Tuổi cao hoặc DOR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4 nhỏ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5–7 nhỏ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méo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cản thao tác 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60  /  91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Khi nào tạo và trữ phôi trước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AMH hoặc AFC thấp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Tuổi lớn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chưa cản chọc hút noãn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Tử cung có thể tối ưu sau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Phôi cần được bảo vệ trước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61  /  91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Phẫu thuật và cái giá của bảo tồn tử cung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 i="1">
                <a:solidFill>
                  <a:srgbClr val="728C8C"/>
                </a:solidFill>
                <a:latin typeface="Arial"/>
              </a:rPr>
              <a:t>Lấy u là phá; bảo vệ tử cung là xây lại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Bóc u không phải một thủ thuật duy nhất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Qua nội soi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Qua nội soi ổ bụng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Mổ mở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Phẫu thuật robot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Chọn theo FIGO và mục tiêu điều trị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62  /  91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Bóc u qua nội soi buồng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00977A"/>
                </a:solidFill>
                <a:latin typeface="Arial"/>
              </a:rPr>
              <a:t>Giải quyết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Type 0–2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Chảy máu nhiều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Trước chuyển phôi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E53E3E"/>
                </a:solidFill>
                <a:latin typeface="Arial"/>
              </a:rPr>
              <a:t>Nguy cơ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Thủng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Quá tải dịch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Đốt sâu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Dính sau mổ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63  /  91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Bóc u qua nội soi ổ bụng, mổ mở, robot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00977A"/>
                </a:solidFill>
                <a:latin typeface="Arial"/>
              </a:rPr>
              <a:t>Giải quyết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U trong cơ lớn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Nhiều 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Cản thao tác ART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Triệu chứng khối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E53E3E"/>
                </a:solidFill>
                <a:latin typeface="Arial"/>
              </a:rPr>
              <a:t>Cái giá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Sẹo cơ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Dính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Thời gian chờ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Cần theo dõi thai kỳ sau này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64  /  91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Type 2: an toàn hơn là lấy sạch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Có phần sâu trong cơ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cố đào khi mất an toàn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Có thể chia thì phẫu thuật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Bảo vệ lớp đáy nội mạc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65  /  91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Ghi nhận khi mở vào buồng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sâu gần nội mạc có thể mở vào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Ảnh hưởng thời điểm chuyển phôi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Ảnh hưởng tư vấn thai kỳ và sinh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ghi rõ trong tường trình mổ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66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42104843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Nguy cơ dính và lớp đáy nội mạc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Tổn thương nội mạc làm tăng nguy cơ dính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Đốt rộng hoặc tổn thương sâu có hại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Hai diện thương đối diện dễ dính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Phôi cần buồng tử cung lành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67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42104843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Nguyên tắc phòng dính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Hạn chế sang chấn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Bảo vệ nội mạc lành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Cân nhắc chia thì cho type 2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Kiểm tra lại buồng tử cung khi nguy cơ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68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42104843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Đánh giá lại buồng tử cung sau mổ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Bơm nước, siêu âm 3D hoặc nội soi buồng tử cung khi ca khó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Trước chuyển phôi nếu phôi quý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Khi kinh ít hoặc nghi dính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giả định buồng tử cung đã tốt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69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42104843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Thời điểm sau nội soi buồng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Phụ thuộc độ sâu u và diện thương nội mạc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Ca đơn giản có thể rút ngắn thời gian chờ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2 hoặc nhiều diện thương cần đánh giá lại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Ưu tiên buồng tử cung lành hơn số tuần cố định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70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42104843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100" b="1" i="0">
                <a:solidFill>
                  <a:srgbClr val="0D2B2B"/>
                </a:solidFill>
                <a:latin typeface="Arial"/>
              </a:rPr>
              <a:t>Thời điểm sau bóc u đường bụng hoặc nội soi ổ bụng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có một mốc duy nhất cho mọi ca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Phụ thuộc độ sâu đường rạch, số lớp khâu, có mở vào buồng tử cung hay không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thời gian lành sẹo cơ tử cung trước thai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Tư vấn thai kỳ và lựa chọn sinh mổ chọn lọc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71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42104843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Thuốc và can thiệp không phẫu thuật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 i="1">
                <a:solidFill>
                  <a:srgbClr val="728C8C"/>
                </a:solidFill>
                <a:latin typeface="Arial"/>
              </a:rPr>
              <a:t>Giảm triệu chứng không đồng nghĩa sửa buồng tử cung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Ma trận tác động điều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114300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Nhóm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Thay đổi gì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Không thay đổi gì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Sắt, NSAID, tranexamic acid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Giảm triệu chứng và sửa thiếu máu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Không sửa được buồng tử cung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Nội tiết/GnRH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Cầu nối trước mổ, giảm chảy máu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Không chữa được cấu trúc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Bóc u (myomectomy)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Có thể sửa buồng tử cung/lấy u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Dính, sẹo, thời gian chờ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Nút mạch, siêu âm hội tụ, đốt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Giảm thể tích và triệu chứng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Còn bất định về kết quả 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72  /  91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Sắt, NSAID, tranexamic acid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Sửa thiếu máu, giảm đau, giảm máu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làm nhỏ u đáng kể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sửa biến dạng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Rất hữu ích như cầu nối chờ mổ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73  /  91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Nội tiết và GnRH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Kiểm soát chảy máu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Giảm kích thước tạm thời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Là cầu nối trước mổ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phải điều trị cấu trúc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74  /  91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Nút mạch tử cung (UAE)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Giảm triệu chứng ở ca chọn lọc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dùng thường quy khi đang tích cực mong thai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Lo ngại ảnh hưởng nội mạc, buồng trứng và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thay thế chỉ định mổ cho 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75  /  91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Thay đổi gì và không thay đổi gì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114300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Mục tiêu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Có thể đạt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Cần kiểm tra lại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Máu và đau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Thuốc và cầu nối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Hb và triệu chứng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Thể tích khối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GnRH, UAE, HIFU, đốt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Buồng tử cung và thời điểm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Buồng tử cung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Bóc u chọn lọc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Bơm nước, 3D, nội soi buồng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Tuổi noãn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Tạo và trữ phôi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Số phôi và AMH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76  /  91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Tạo và trữ phôi và thứ tự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 i="1">
                <a:solidFill>
                  <a:srgbClr val="728C8C"/>
                </a:solidFill>
                <a:latin typeface="Arial"/>
              </a:rPr>
              <a:t>Noãn và tử cung lão hóa khác nhau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Quyết định tạo và trữ phôi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Chiến lược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Ứng viên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Lý do</a:t>
                      </a:r>
                    </a:p>
                  </a:txBody>
                  <a:tcPr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Tạo/trữ phôi trước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Tuổi cao/AMH thấp, u chưa cản chọc hút noãn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Bảo vệ tuổi noãn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Xử trí u trước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Buồng tử cung méo rõ, type 0–2 lớn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Không chuyển phôi vào buồng tử cung xấu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Đánh giá lại buồng tử cung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Sau mổ hoặc sau can thiệp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F2F"/>
                          </a:solidFill>
                          <a:latin typeface="Arial"/>
                        </a:rPr>
                        <a:t>Chứng minh buồng tử cung trước chuyển phôi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77  /  91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600" b="1" i="0">
                <a:solidFill>
                  <a:srgbClr val="0D2B2B"/>
                </a:solidFill>
                <a:latin typeface="Arial"/>
              </a:rPr>
              <a:t>Ưu tiên tạo và trữ phôi trước: ai phù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Tuổi cao hoặc AMH thấp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chưa cản chọc hút noãn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Buồng tử cung chưa cần sửa ngay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Cần bảo vệ cơ hội tạo phôi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Sẵn sàng chuyển phôi trữ sau khi tối ưu tử cung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78  /  91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Ưu tiên xử trí u trước: ai phù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Type 0–2 lớn hoặc méo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U cản chọc hút noãn hoặc chuyển phôi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Thiếu máu hoặc triệu chứng nặng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Dấu hiệu bất thường nghi ác tính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79  /  91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Chuyển phôi tươi và chuyển phôi trữ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00977A"/>
                </a:solidFill>
                <a:latin typeface="Arial"/>
              </a:rPr>
              <a:t>Tươi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Ít thời gian chuẩn bị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Tránh nếu buồng tử cung chưa rõ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1A2F2F"/>
                </a:solidFill>
                <a:latin typeface="Arial"/>
              </a:rPr>
              <a:t>  –  Không phù hợp khi cần mổ hoặc can thiệp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E53E3E"/>
                </a:solidFill>
                <a:latin typeface="Arial"/>
              </a:rPr>
              <a:t>Trữ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Tách tạo phôi khỏi chuẩn bị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Cho thời gian sửa và đánh giá lại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900">
                <a:solidFill>
                  <a:srgbClr val="FFFFFF"/>
                </a:solidFill>
                <a:latin typeface="Arial"/>
              </a:rPr>
              <a:t>  –  Phù hợp với phôi quý và ca chọn lọc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80  /  91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Thuật toán chọn thời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1691640"/>
            <a:ext cx="7589520" cy="5334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0" y="1691640"/>
            <a:ext cx="63500" cy="5334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1691640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Đánh giá FIGO và buồng tử cung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25040"/>
            <a:ext cx="7589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499360"/>
            <a:ext cx="7589520" cy="53340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2499360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Nút nghẽn là noãn hay tử cung?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32760"/>
            <a:ext cx="7589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307080"/>
            <a:ext cx="7589520" cy="53340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0" y="3307080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Tạo và trữ phôi nếu noãn là nút nghẽn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840480"/>
            <a:ext cx="7589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114800"/>
            <a:ext cx="7589520" cy="53340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4114800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Sửa buồng tử cung nếu đó là nút nghẽn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648200"/>
            <a:ext cx="7589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922520"/>
            <a:ext cx="7589520" cy="53340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4922520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Đánh giá lại buồng tử cung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455919"/>
            <a:ext cx="7589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5730239"/>
            <a:ext cx="7589520" cy="533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0" y="5730239"/>
            <a:ext cx="63500" cy="533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5730239"/>
            <a:ext cx="7223760" cy="533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Chuyển phôi khi buồng tử cung sẵn sàng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81  /  91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Theo dõi và tư vấn thai kỳ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 i="1">
                <a:solidFill>
                  <a:srgbClr val="728C8C"/>
                </a:solidFill>
                <a:latin typeface="Arial"/>
              </a:rPr>
              <a:t>Kết thúc can thiệp chưa phải kết thúc nguy cơ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Theo dõi khi chưa can thiệp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Tái khám theo triệu chứng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Chụp lại hình ảnh khi kế hoạch ART thay đổi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Theo dõi chảy máu và thiếu máu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Không quên bệnh đi kèm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Ghi nhận khi bệnh nhân quyết định chuyển sang can thiệp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82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42104843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Sau nội soi buồng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Theo dõi ra máu và đau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Nghi dính nếu kinh ít rõ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Đánh giá lại buồng tử cung ở ca nguy cơ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Đợi buồng tử cung lành trước chuyển phôi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83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42104843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700" b="1" i="0">
                <a:solidFill>
                  <a:srgbClr val="0D2B2B"/>
                </a:solidFill>
                <a:latin typeface="Arial"/>
              </a:rPr>
              <a:t>Sau bóc u đường bụng hoặc nội soi ổ bụng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Theo dõi đau và thiếu máu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Sẹo cơ tử cung và nguy cơ vỡ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Việc mở vào buồng tử cung và thời gian chờ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Nguy cơ u tái phát và u còn lại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84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42104843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Tư vấn thai kỳ sau bóc 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Có thể cần theo dõi thai kỳ nguy cơ cao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Kế hoạch sinh phụ thuộc độ sâu và việc mở vào buồng tử cung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Tư vấn nguy cơ u tái phát và u còn lại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Arial"/>
              </a:rPr>
              <a:t>  –  Ghi rõ thông tin mổ cho bác sĩ sản khoa theo dõi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85  / 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i="1">
                <a:solidFill>
                  <a:srgbClr val="728C8C"/>
                </a:solidFill>
              </a:rPr>
              <a:t>Nguồn DOCX: PMID 42104843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Tích hợp và kết thúc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 i="1">
                <a:solidFill>
                  <a:srgbClr val="728C8C"/>
                </a:solidFill>
                <a:latin typeface="Arial"/>
              </a:rPr>
              <a:t>Từ dữ liệu đến quyết định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Thuật toán quyết định ART tích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1691640"/>
            <a:ext cx="7589520" cy="64008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0" y="1691640"/>
            <a:ext cx="63500" cy="64008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1691640"/>
            <a:ext cx="72237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Mô tả u xơ: FIGO và tình trạng buồng tử cung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31720"/>
            <a:ext cx="75895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674620"/>
            <a:ext cx="7589520" cy="6400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2674620"/>
            <a:ext cx="72237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Đánh giá triệu chứng, thiếu máu, dấu hiệu bất thường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14700"/>
            <a:ext cx="75895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657600"/>
            <a:ext cx="7589520" cy="6400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0" y="3657600"/>
            <a:ext cx="72237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0" i="0">
                <a:solidFill>
                  <a:srgbClr val="0D2B2B"/>
                </a:solidFill>
                <a:latin typeface="Arial"/>
              </a:rPr>
              <a:t>Đánh giá thời gian noãn và số phôi hiện có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297680"/>
            <a:ext cx="75895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640580"/>
            <a:ext cx="7589520" cy="6400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4640580"/>
            <a:ext cx="72237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0" i="0">
                <a:solidFill>
                  <a:srgbClr val="0D2B2B"/>
                </a:solidFill>
                <a:latin typeface="Arial"/>
              </a:rPr>
              <a:t>Chọn: theo dõi / chụp thêm hình ảnh / mổ / tạo và trữ phôi trước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280660"/>
            <a:ext cx="75895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Arial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5623560"/>
            <a:ext cx="7589520" cy="6400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86000" y="5623560"/>
            <a:ext cx="63500" cy="6400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8880" y="5623560"/>
            <a:ext cx="72237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Đánh giá lại buồng tử cung trước chuyển phôi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86  /  91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800" b="1" i="0">
                <a:solidFill>
                  <a:srgbClr val="0D2B2B"/>
                </a:solidFill>
                <a:latin typeface="Arial"/>
              </a:rPr>
              <a:t>Điểm cần nhớ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515493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63500" cy="515493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4864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00977A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00200"/>
            <a:ext cx="1051560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0" i="0">
                <a:solidFill>
                  <a:srgbClr val="1A2F2F"/>
                </a:solidFill>
                <a:latin typeface="Arial"/>
              </a:rPr>
              <a:t>Điều trị bệnh nhân, không điều trị hình ảnh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88845"/>
            <a:ext cx="11430000" cy="515493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188845"/>
            <a:ext cx="63500" cy="515493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88845"/>
            <a:ext cx="54864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00977A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88845"/>
            <a:ext cx="1051560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0" i="0">
                <a:solidFill>
                  <a:srgbClr val="1A2F2F"/>
                </a:solidFill>
                <a:latin typeface="Arial"/>
              </a:rPr>
              <a:t>FIGO cộng buồng tử cung là ngôn ngữ quyết định 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77490"/>
            <a:ext cx="11430000" cy="515493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777490"/>
            <a:ext cx="63500" cy="515493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777490"/>
            <a:ext cx="54864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00977A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77490"/>
            <a:ext cx="1051560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0" i="0">
                <a:solidFill>
                  <a:srgbClr val="1A2F2F"/>
                </a:solidFill>
                <a:latin typeface="Arial"/>
              </a:rPr>
              <a:t>Type 0–2 rõ nhất cần sửa buồng tử cung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6135"/>
            <a:ext cx="11430000" cy="515493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366135"/>
            <a:ext cx="63500" cy="515493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366135"/>
            <a:ext cx="54864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00977A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366135"/>
            <a:ext cx="1051560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0" i="0">
                <a:solidFill>
                  <a:srgbClr val="1A2F2F"/>
                </a:solidFill>
                <a:latin typeface="Arial"/>
              </a:rPr>
              <a:t>Type 3 là vùng xám riêng, không gộp chung type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54780"/>
            <a:ext cx="11430000" cy="515493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954780"/>
            <a:ext cx="63500" cy="515493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954780"/>
            <a:ext cx="54864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00977A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954780"/>
            <a:ext cx="1051560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0" i="0">
                <a:solidFill>
                  <a:srgbClr val="1A2F2F"/>
                </a:solidFill>
                <a:latin typeface="Arial"/>
              </a:rPr>
              <a:t>Type 5–7 nhỏ thường không mổ chỉ vì IVF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43425"/>
            <a:ext cx="11430000" cy="515493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543425"/>
            <a:ext cx="63500" cy="515493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543425"/>
            <a:ext cx="54864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00977A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543425"/>
            <a:ext cx="1051560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0" i="0">
                <a:solidFill>
                  <a:srgbClr val="1A2F2F"/>
                </a:solidFill>
                <a:latin typeface="Arial"/>
              </a:rPr>
              <a:t>Thuốc giảm triệu chứng không chứng minh buồng tử cung sẵn sàng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32070"/>
            <a:ext cx="11430000" cy="515493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5132070"/>
            <a:ext cx="63500" cy="515493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132070"/>
            <a:ext cx="54864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00977A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132070"/>
            <a:ext cx="1051560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0" i="0">
                <a:solidFill>
                  <a:srgbClr val="1A2F2F"/>
                </a:solidFill>
                <a:latin typeface="Arial"/>
              </a:rPr>
              <a:t>Tạo và trữ phôi bảo vệ tuổi noãn trong ca chọn lọc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720715"/>
            <a:ext cx="11430000" cy="515493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5720715"/>
            <a:ext cx="63500" cy="515493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720715"/>
            <a:ext cx="54864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00977A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720715"/>
            <a:ext cx="10515600" cy="5154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0" i="0">
                <a:solidFill>
                  <a:srgbClr val="1A2F2F"/>
                </a:solidFill>
                <a:latin typeface="Arial"/>
              </a:rPr>
              <a:t>Trước chuyển phôi: phải chứng minh buồng tử cung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473952"/>
            <a:ext cx="1143000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58400" y="6473952"/>
            <a:ext cx="19202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400" b="1" i="0">
                <a:solidFill>
                  <a:srgbClr val="00977A"/>
                </a:solidFill>
                <a:latin typeface="Arial"/>
              </a:rPr>
              <a:t>87  /  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10280</Words>
  <Application>Microsoft Office PowerPoint</Application>
  <PresentationFormat>Custom</PresentationFormat>
  <Paragraphs>1142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Ngọc Hưng Đỗ Văn</cp:lastModifiedBy>
  <cp:revision>2</cp:revision>
  <dcterms:created xsi:type="dcterms:W3CDTF">2013-01-27T09:14:16Z</dcterms:created>
  <dcterms:modified xsi:type="dcterms:W3CDTF">2026-07-14T02:56:37Z</dcterms:modified>
  <cp:category/>
</cp:coreProperties>
</file>