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256" r:id="rId2"/>
    <p:sldId id="257" r:id="rId3"/>
    <p:sldId id="259" r:id="rId4"/>
    <p:sldId id="260" r:id="rId5"/>
    <p:sldId id="261" r:id="rId6"/>
    <p:sldId id="262" r:id="rId7"/>
    <p:sldId id="263" r:id="rId8"/>
    <p:sldId id="265" r:id="rId9"/>
    <p:sldId id="266" r:id="rId10"/>
    <p:sldId id="267" r:id="rId11"/>
    <p:sldId id="268" r:id="rId12"/>
    <p:sldId id="269" r:id="rId13"/>
    <p:sldId id="273" r:id="rId14"/>
    <p:sldId id="275" r:id="rId15"/>
    <p:sldId id="276" r:id="rId16"/>
    <p:sldId id="416" r:id="rId17"/>
    <p:sldId id="417" r:id="rId18"/>
    <p:sldId id="418" r:id="rId19"/>
    <p:sldId id="277" r:id="rId20"/>
    <p:sldId id="419" r:id="rId21"/>
    <p:sldId id="278" r:id="rId22"/>
    <p:sldId id="420" r:id="rId23"/>
    <p:sldId id="279" r:id="rId24"/>
    <p:sldId id="421" r:id="rId25"/>
    <p:sldId id="422" r:id="rId26"/>
    <p:sldId id="423" r:id="rId27"/>
    <p:sldId id="424" r:id="rId28"/>
    <p:sldId id="280" r:id="rId29"/>
    <p:sldId id="281" r:id="rId30"/>
    <p:sldId id="283" r:id="rId31"/>
    <p:sldId id="284" r:id="rId32"/>
    <p:sldId id="285" r:id="rId33"/>
    <p:sldId id="290" r:id="rId34"/>
    <p:sldId id="288" r:id="rId35"/>
    <p:sldId id="289" r:id="rId36"/>
    <p:sldId id="292" r:id="rId37"/>
    <p:sldId id="293" r:id="rId38"/>
    <p:sldId id="294" r:id="rId39"/>
    <p:sldId id="295" r:id="rId40"/>
    <p:sldId id="296" r:id="rId41"/>
    <p:sldId id="297" r:id="rId42"/>
    <p:sldId id="298" r:id="rId43"/>
    <p:sldId id="299" r:id="rId44"/>
    <p:sldId id="300" r:id="rId45"/>
    <p:sldId id="302" r:id="rId46"/>
    <p:sldId id="364" r:id="rId47"/>
    <p:sldId id="366" r:id="rId48"/>
    <p:sldId id="365" r:id="rId49"/>
    <p:sldId id="373" r:id="rId50"/>
    <p:sldId id="367" r:id="rId51"/>
    <p:sldId id="368" r:id="rId52"/>
    <p:sldId id="369" r:id="rId53"/>
    <p:sldId id="370" r:id="rId54"/>
    <p:sldId id="304" r:id="rId55"/>
    <p:sldId id="305" r:id="rId56"/>
    <p:sldId id="306" r:id="rId57"/>
    <p:sldId id="307" r:id="rId58"/>
    <p:sldId id="308" r:id="rId59"/>
    <p:sldId id="312" r:id="rId60"/>
    <p:sldId id="309" r:id="rId61"/>
    <p:sldId id="313" r:id="rId62"/>
    <p:sldId id="314" r:id="rId63"/>
    <p:sldId id="315" r:id="rId64"/>
    <p:sldId id="316" r:id="rId65"/>
    <p:sldId id="317" r:id="rId66"/>
    <p:sldId id="318" r:id="rId67"/>
    <p:sldId id="319" r:id="rId68"/>
    <p:sldId id="320" r:id="rId69"/>
    <p:sldId id="321" r:id="rId70"/>
    <p:sldId id="324" r:id="rId71"/>
    <p:sldId id="325" r:id="rId72"/>
    <p:sldId id="326" r:id="rId73"/>
    <p:sldId id="327" r:id="rId74"/>
    <p:sldId id="328" r:id="rId75"/>
    <p:sldId id="329" r:id="rId76"/>
    <p:sldId id="331" r:id="rId77"/>
    <p:sldId id="333" r:id="rId78"/>
    <p:sldId id="334" r:id="rId79"/>
    <p:sldId id="335" r:id="rId80"/>
    <p:sldId id="337" r:id="rId81"/>
    <p:sldId id="338" r:id="rId82"/>
    <p:sldId id="339" r:id="rId83"/>
    <p:sldId id="340" r:id="rId84"/>
    <p:sldId id="341" r:id="rId85"/>
    <p:sldId id="342" r:id="rId86"/>
    <p:sldId id="343" r:id="rId87"/>
    <p:sldId id="344" r:id="rId88"/>
    <p:sldId id="345" r:id="rId89"/>
    <p:sldId id="346" r:id="rId90"/>
    <p:sldId id="348" r:id="rId91"/>
    <p:sldId id="353" r:id="rId9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snapToGrid="0" snapToObjects="1">
      <p:cViewPr varScale="1">
        <p:scale>
          <a:sx n="74" d="100"/>
          <a:sy n="74" d="100"/>
        </p:scale>
        <p:origin x="57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1214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Định hướng ghi chú cá nhân.</a:t>
            </a:r>
          </a:p>
          <a:p>
            <a:r>
              <a:t>Tại sao? Ghi chú cá nhân cần rõ mục tiêu để biết chọn slide nào cần đọc kỹ.</a:t>
            </a:r>
          </a:p>
          <a:p>
            <a:r>
              <a:t>Nếu bỏ qua/làm sai? Dễ áp dụng máy móc hoặc quyết định không khớp mục tiêu ART.</a:t>
            </a:r>
          </a:p>
          <a:p>
            <a:r>
              <a:t>Nguồn DOCX: P001, P018</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nền khái niệm.</a:t>
            </a:r>
          </a:p>
          <a:p>
            <a:r>
              <a:t>Tại sao? Hiểu đúng bản chất tránh nhầm u xơ với lạc nội mạc, ung thư cơ trơn hoặc polyp nội mạc.</a:t>
            </a:r>
          </a:p>
          <a:p>
            <a:r>
              <a:t>Nếu bỏ qua/làm sai? Dễ áp dụng máy móc hoặc quyết định không khớp mục tiêu ART.</a:t>
            </a:r>
          </a:p>
          <a:p>
            <a:r>
              <a:t>Nguồn DOCX: P038, P043, P045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Việt hoá thuật ngữ chuẩn để dùng xuyên suốt ghi chú.</a:t>
            </a:r>
          </a:p>
          <a:p>
            <a:r>
              <a:t>Tại sao? Từ vựng thống nhất giúp đọc lại không bị nhầm.</a:t>
            </a:r>
          </a:p>
          <a:p>
            <a:r>
              <a:t>Nếu bỏ qua/làm sai? Dễ áp dụng máy móc hoặc quyết định không khớp mục tiêu ART.</a:t>
            </a:r>
          </a:p>
          <a:p>
            <a:r>
              <a:t>Nguồn DOCX: P038, P045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vấn đề đúng.</a:t>
            </a:r>
          </a:p>
          <a:p>
            <a:r>
              <a:t>Tại sao? Nếu cứ 'có u xơ là mổ' sẽ điều trị thừa rất nhiều.</a:t>
            </a:r>
          </a:p>
          <a:p>
            <a:r>
              <a:t>Nếu bỏ qua/làm sai? Dễ áp dụng máy móc hoặc quyết định không khớp mục tiêu ART.</a:t>
            </a:r>
          </a:p>
          <a:p>
            <a:r>
              <a:t>Nguồn DOCX: P018, P023, P043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Liệt kê yếu tố nguy cơ.</a:t>
            </a:r>
          </a:p>
          <a:p>
            <a:r>
              <a:t>Tại sao? Biết nguy cơ giúp tiên lượng ca và tư vấn phòng ngừa.</a:t>
            </a:r>
          </a:p>
          <a:p>
            <a:r>
              <a:t>Nếu bỏ qua/làm sai? Dễ áp dụng máy móc hoặc quyết định không khớp mục tiêu ART.</a:t>
            </a:r>
          </a:p>
          <a:p>
            <a:r>
              <a:t>Nguồn DOCX: P029, P031, P033, P035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Gắn số cho phần định nghĩa.</a:t>
            </a:r>
          </a:p>
          <a:p>
            <a:r>
              <a:t>Tại sao? Gặp u xơ nhiều không có nghĩa là phải mổ mọi u; nhưng đừng xem là hiếm.</a:t>
            </a:r>
          </a:p>
          <a:p>
            <a:r>
              <a:t>Nếu bỏ qua/làm sai? Dễ áp dụng máy móc hoặc quyết định không khớp mục tiêu ART.</a:t>
            </a:r>
          </a:p>
          <a:p>
            <a:r>
              <a:t>Nguồn DOCX: P027, P029, P031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ba trụ cột để dễ nhớ.</a:t>
            </a:r>
          </a:p>
          <a:p>
            <a:r>
              <a:t>Tại sao? Bệnh sinh không phải một đường tín hiệu duy nhất.</a:t>
            </a:r>
          </a:p>
          <a:p>
            <a:r>
              <a:t>Nếu bỏ qua/làm sai? Dễ áp dụng máy móc hoặc quyết định không khớp mục tiêu ART.</a:t>
            </a:r>
          </a:p>
          <a:p>
            <a:r>
              <a:t>Nguồn DOCX: P051, P053, P055, P057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Dựng chuỗi cơ chế.</a:t>
            </a:r>
          </a:p>
          <a:p>
            <a:r>
              <a:t>Tại sao? Giải thích vì sao thuốc nội tiết chỉ là 'cầu nối' chứ không chữa cấu trúc.</a:t>
            </a:r>
          </a:p>
          <a:p>
            <a:r>
              <a:t>Nếu bỏ qua/làm sai? Dễ áp dụng máy móc hoặc quyết định không khớp mục tiêu ART.</a:t>
            </a:r>
          </a:p>
          <a:p>
            <a:r>
              <a:t>Nguồn DOCX: P051, P053, P055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Ghép đặc điểm mô học thường gặp.</a:t>
            </a:r>
          </a:p>
          <a:p>
            <a:r>
              <a:t>Tại sao? Giúp nhận diện khi đọc giải phẫu bệnh, đặc biệt các dạng thoái hoá.</a:t>
            </a:r>
          </a:p>
          <a:p>
            <a:r>
              <a:t>Nếu bỏ qua/làm sai? Dễ áp dụng máy móc hoặc quyết định không khớp mục tiêu ART.</a:t>
            </a:r>
          </a:p>
          <a:p>
            <a:r>
              <a:t>Nguồn DOCX: P038, P073, P075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Dựng FIGO bằng bảng native (DOCX không có hình).</a:t>
            </a:r>
          </a:p>
          <a:p>
            <a:r>
              <a:t>Tại sao? Học bảng FIGO là học cách dùng ngôn ngữ chung giữa siêu âm viên và bác sĩ điều trị.</a:t>
            </a:r>
          </a:p>
          <a:p>
            <a:r>
              <a:t>Nếu bỏ qua/làm sai? Dễ áp dụng máy móc hoặc quyết định không khớp mục tiêu ART.</a:t>
            </a:r>
          </a:p>
          <a:p>
            <a:r>
              <a:t>Nguồn DOCX: T3, T5, P038</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nhóm 0–2.</a:t>
            </a:r>
          </a:p>
          <a:p>
            <a:r>
              <a:t>Tại sao? Đây là nhóm đồng thuận cao nhất để can thiệp trước chuyển phôi.</a:t>
            </a:r>
          </a:p>
          <a:p>
            <a:r>
              <a:t>Nếu bỏ qua/làm sai? Dễ áp dụng máy móc hoặc quyết định không khớp mục tiêu ART.</a:t>
            </a:r>
          </a:p>
          <a:p>
            <a:r>
              <a:t>Nguồn DOCX: T3, P038, P123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D6A77-02E7-CEA6-03C3-5DE9FB4CF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8D1C3-9CD2-264D-A6C9-CAA85F081B2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B81D3A-8CC2-66E2-960F-E3562BE9A78B}"/>
              </a:ext>
            </a:extLst>
          </p:cNvPr>
          <p:cNvSpPr>
            <a:spLocks noGrp="1"/>
          </p:cNvSpPr>
          <p:nvPr>
            <p:ph type="body" sz="quarter" idx="3"/>
          </p:nvPr>
        </p:nvSpPr>
        <p:spPr/>
        <p:txBody>
          <a:bodyPr/>
          <a:lstStyle/>
          <a:p>
            <a:r>
              <a:t>Làm gì? Nhận diện nhóm dưới niêm mạc.</a:t>
            </a:r>
          </a:p>
          <a:p>
            <a:r>
              <a:t>Tại sao? Khoang tử cung là nơi phôi bám và cũng là nơi chảy máu dễ bị rối loạn.</a:t>
            </a:r>
          </a:p>
          <a:p>
            <a:r>
              <a:t>Nếu bỏ qua/làm sai? Bỏ sót type 0-2 trước FET có thể bỏ qua nguyên nhân sửa được.</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A82776CB-7B41-CA4F-3C5C-78F780291ED5}"/>
              </a:ext>
            </a:extLst>
          </p:cNvPr>
          <p:cNvSpPr>
            <a:spLocks noGrp="1"/>
          </p:cNvSpPr>
          <p:nvPr>
            <p:ph type="sldNum" sz="quarter" idx="5"/>
          </p:nvPr>
        </p:nvSpPr>
        <p:spPr/>
      </p:sp>
    </p:spTree>
    <p:extLst>
      <p:ext uri="{BB962C8B-B14F-4D97-AF65-F5344CB8AC3E}">
        <p14:creationId xmlns:p14="http://schemas.microsoft.com/office/powerpoint/2010/main" val="3737575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E057-5FD6-172F-DD40-F5FBF6F8A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65F73-8515-DA42-7E4A-240D10A7F4B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F4D2874-45E2-F332-A1AD-272ADF7A9863}"/>
              </a:ext>
            </a:extLst>
          </p:cNvPr>
          <p:cNvSpPr>
            <a:spLocks noGrp="1"/>
          </p:cNvSpPr>
          <p:nvPr>
            <p:ph type="body" sz="quarter" idx="3"/>
          </p:nvPr>
        </p:nvSpPr>
        <p:spPr/>
        <p:txBody>
          <a:bodyPr/>
          <a:lstStyle/>
          <a:p>
            <a:r>
              <a:t>Làm gì? Nhận diện nhóm dưới niêm mạc.</a:t>
            </a:r>
          </a:p>
          <a:p>
            <a:r>
              <a:t>Tại sao? Khoang tử cung là nơi phôi bám và cũng là nơi chảy máu dễ bị rối loạn.</a:t>
            </a:r>
          </a:p>
          <a:p>
            <a:r>
              <a:t>Nếu bỏ qua/làm sai? Bỏ sót type 0-2 trước FET có thể bỏ qua nguyên nhân sửa được.</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7D46D084-65E5-E863-1D01-B053BCEEAB7B}"/>
              </a:ext>
            </a:extLst>
          </p:cNvPr>
          <p:cNvSpPr>
            <a:spLocks noGrp="1"/>
          </p:cNvSpPr>
          <p:nvPr>
            <p:ph type="sldNum" sz="quarter" idx="5"/>
          </p:nvPr>
        </p:nvSpPr>
        <p:spPr/>
      </p:sp>
    </p:spTree>
    <p:extLst>
      <p:ext uri="{BB962C8B-B14F-4D97-AF65-F5344CB8AC3E}">
        <p14:creationId xmlns:p14="http://schemas.microsoft.com/office/powerpoint/2010/main" val="2412036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91D3-D967-317C-0359-9DEAF5A75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B8DB-F5EB-72D8-67F8-B9E67D6A2D2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3D30B3C-EBF9-B06B-05B0-BA886C01DA15}"/>
              </a:ext>
            </a:extLst>
          </p:cNvPr>
          <p:cNvSpPr>
            <a:spLocks noGrp="1"/>
          </p:cNvSpPr>
          <p:nvPr>
            <p:ph type="body" sz="quarter" idx="3"/>
          </p:nvPr>
        </p:nvSpPr>
        <p:spPr/>
        <p:txBody>
          <a:bodyPr/>
          <a:lstStyle/>
          <a:p>
            <a:r>
              <a:t>Làm gì? Nhận diện nhóm dưới niêm mạc.</a:t>
            </a:r>
          </a:p>
          <a:p>
            <a:r>
              <a:t>Tại sao? Khoang tử cung là nơi phôi bám và cũng là nơi chảy máu dễ bị rối loạn.</a:t>
            </a:r>
          </a:p>
          <a:p>
            <a:r>
              <a:t>Nếu bỏ qua/làm sai? Bỏ sót type 0-2 trước FET có thể bỏ qua nguyên nhân sửa được.</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8CAFC546-DF16-87BB-AFFC-0DBFA81D74CC}"/>
              </a:ext>
            </a:extLst>
          </p:cNvPr>
          <p:cNvSpPr>
            <a:spLocks noGrp="1"/>
          </p:cNvSpPr>
          <p:nvPr>
            <p:ph type="sldNum" sz="quarter" idx="5"/>
          </p:nvPr>
        </p:nvSpPr>
        <p:spPr/>
      </p:sp>
    </p:spTree>
    <p:extLst>
      <p:ext uri="{BB962C8B-B14F-4D97-AF65-F5344CB8AC3E}">
        <p14:creationId xmlns:p14="http://schemas.microsoft.com/office/powerpoint/2010/main" val="279111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type 3.</a:t>
            </a:r>
          </a:p>
          <a:p>
            <a:r>
              <a:t>Tại sao? Chạm nội mạc có ý nghĩa với vi môi trường dù không méo buồng tử cung rõ.</a:t>
            </a:r>
          </a:p>
          <a:p>
            <a:r>
              <a:t>Nếu bỏ qua/làm sai? Dễ áp dụng máy móc hoặc quyết định không khớp mục tiêu ART.</a:t>
            </a:r>
          </a:p>
          <a:p>
            <a:r>
              <a:t>Nguồn DOCX: T3, P069, P131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A0C48-2DB6-0130-208F-DF0BA27E5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DC599-D3EB-441A-B579-E52BDF6F004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51ED079-B72E-9E77-19E3-41A24E2600AF}"/>
              </a:ext>
            </a:extLst>
          </p:cNvPr>
          <p:cNvSpPr>
            <a:spLocks noGrp="1"/>
          </p:cNvSpPr>
          <p:nvPr>
            <p:ph type="body" sz="quarter" idx="3"/>
          </p:nvPr>
        </p:nvSpPr>
        <p:spPr/>
        <p:txBody>
          <a:bodyPr/>
          <a:lstStyle/>
          <a:p>
            <a:r>
              <a:t>Làm gì? Tách type 3 thành nhóm riêng.</a:t>
            </a:r>
          </a:p>
          <a:p>
            <a:r>
              <a:t>Tại sao? Khoảng cách tới nội mạc quyết định microenvironment hơn là tên intramural chung.</a:t>
            </a:r>
          </a:p>
          <a:p>
            <a:r>
              <a:t>Nếu bỏ qua/làm sai? Gộp type 3 với type 4 có thể đánh giá thấp nguy cơ.</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CCD63F9F-D983-4DA9-7610-1332F15E12A5}"/>
              </a:ext>
            </a:extLst>
          </p:cNvPr>
          <p:cNvSpPr>
            <a:spLocks noGrp="1"/>
          </p:cNvSpPr>
          <p:nvPr>
            <p:ph type="sldNum" sz="quarter" idx="5"/>
          </p:nvPr>
        </p:nvSpPr>
        <p:spPr/>
      </p:sp>
    </p:spTree>
    <p:extLst>
      <p:ext uri="{BB962C8B-B14F-4D97-AF65-F5344CB8AC3E}">
        <p14:creationId xmlns:p14="http://schemas.microsoft.com/office/powerpoint/2010/main" val="2044193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Cá thể hoá type 4.</a:t>
            </a:r>
          </a:p>
          <a:p>
            <a:r>
              <a:t>Tại sao? Type 4 là nơi điều trị thừa dễ xảy ra nhất.</a:t>
            </a:r>
          </a:p>
          <a:p>
            <a:r>
              <a:t>Nếu bỏ qua/làm sai? Dễ áp dụng máy móc hoặc quyết định không khớp mục tiêu ART.</a:t>
            </a:r>
          </a:p>
          <a:p>
            <a:r>
              <a:t>Nguồn DOCX: T3, P134, P190</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99DB-A703-3B2C-BD52-D88203700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DEC92-97EA-DED0-4864-CADF4B8F6C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80A698A-F22B-CF66-E375-EA7E54E9D6CF}"/>
              </a:ext>
            </a:extLst>
          </p:cNvPr>
          <p:cNvSpPr>
            <a:spLocks noGrp="1"/>
          </p:cNvSpPr>
          <p:nvPr>
            <p:ph type="body" sz="quarter" idx="3"/>
          </p:nvPr>
        </p:nvSpPr>
        <p:spPr/>
        <p:txBody>
          <a:bodyPr/>
          <a:lstStyle/>
          <a:p>
            <a:r>
              <a:t>Làm gì? Đánh giá type 4 theo toàn cảnh.</a:t>
            </a:r>
          </a:p>
          <a:p>
            <a:r>
              <a:t>Tại sao? Type 4 nhỏ không biến dạng khoang thường có lợi ích mổ không chắc.</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DB4451E0-10ED-26AF-36CE-5831C654C3F8}"/>
              </a:ext>
            </a:extLst>
          </p:cNvPr>
          <p:cNvSpPr>
            <a:spLocks noGrp="1"/>
          </p:cNvSpPr>
          <p:nvPr>
            <p:ph type="sldNum" sz="quarter" idx="5"/>
          </p:nvPr>
        </p:nvSpPr>
        <p:spPr/>
      </p:sp>
    </p:spTree>
    <p:extLst>
      <p:ext uri="{BB962C8B-B14F-4D97-AF65-F5344CB8AC3E}">
        <p14:creationId xmlns:p14="http://schemas.microsoft.com/office/powerpoint/2010/main" val="18995663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5–7 và 8.</a:t>
            </a:r>
          </a:p>
          <a:p>
            <a:r>
              <a:t>Tại sao? Không áp công thức FIGO thường gặp cho vị trí nguy cơ cao.</a:t>
            </a:r>
          </a:p>
          <a:p>
            <a:r>
              <a:t>Nếu bỏ qua/làm sai? Dễ áp dụng máy móc hoặc quyết định không khớp mục tiêu ART.</a:t>
            </a:r>
          </a:p>
          <a:p>
            <a:r>
              <a:t>Nguồn DOCX: T3, P041, P101</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74E92-45C4-8DC0-003A-45C6E6490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12A7D-CFB5-1BAC-ADFC-3692E944C73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9568236-E236-08EA-3211-7141389B3114}"/>
              </a:ext>
            </a:extLst>
          </p:cNvPr>
          <p:cNvSpPr>
            <a:spLocks noGrp="1"/>
          </p:cNvSpPr>
          <p:nvPr>
            <p:ph type="body" sz="quarter" idx="3"/>
          </p:nvPr>
        </p:nvSpPr>
        <p:spPr/>
        <p:txBody>
          <a:bodyPr/>
          <a:lstStyle/>
          <a:p>
            <a:r>
              <a:t>Làm gì? Không over-treat nhóm dưới thanh mạc.</a:t>
            </a:r>
          </a:p>
          <a:p>
            <a:r>
              <a:t>Tại sao? Nhìn lớn trên siêu âm không đồng nghĩa ảnh hưởng khoang.</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E3C50959-DEE4-ADC8-3EE1-64E0F4B81873}"/>
              </a:ext>
            </a:extLst>
          </p:cNvPr>
          <p:cNvSpPr>
            <a:spLocks noGrp="1"/>
          </p:cNvSpPr>
          <p:nvPr>
            <p:ph type="sldNum" sz="quarter" idx="5"/>
          </p:nvPr>
        </p:nvSpPr>
        <p:spPr/>
      </p:sp>
    </p:spTree>
    <p:extLst>
      <p:ext uri="{BB962C8B-B14F-4D97-AF65-F5344CB8AC3E}">
        <p14:creationId xmlns:p14="http://schemas.microsoft.com/office/powerpoint/2010/main" val="1300737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AFB7D-2A66-57AD-2014-D9E5C7333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CA929-5153-6A4C-9CD4-BB348B7FE3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E87887E-9A4D-D473-3345-93E2A307EF7A}"/>
              </a:ext>
            </a:extLst>
          </p:cNvPr>
          <p:cNvSpPr>
            <a:spLocks noGrp="1"/>
          </p:cNvSpPr>
          <p:nvPr>
            <p:ph type="body" sz="quarter" idx="3"/>
          </p:nvPr>
        </p:nvSpPr>
        <p:spPr/>
        <p:txBody>
          <a:bodyPr/>
          <a:lstStyle/>
          <a:p>
            <a:r>
              <a:t>Làm gì? Không over-treat nhóm dưới thanh mạc.</a:t>
            </a:r>
          </a:p>
          <a:p>
            <a:r>
              <a:t>Tại sao? Nhìn lớn trên siêu âm không đồng nghĩa ảnh hưởng khoang.</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07F3C027-6DE6-8432-8C19-AA161AC9B0AF}"/>
              </a:ext>
            </a:extLst>
          </p:cNvPr>
          <p:cNvSpPr>
            <a:spLocks noGrp="1"/>
          </p:cNvSpPr>
          <p:nvPr>
            <p:ph type="sldNum" sz="quarter" idx="5"/>
          </p:nvPr>
        </p:nvSpPr>
        <p:spPr/>
      </p:sp>
    </p:spTree>
    <p:extLst>
      <p:ext uri="{BB962C8B-B14F-4D97-AF65-F5344CB8AC3E}">
        <p14:creationId xmlns:p14="http://schemas.microsoft.com/office/powerpoint/2010/main" val="23449213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0EC5A-1996-EAD5-B5F7-B556D6435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3C5A9-D82C-4392-BA20-B1D10CACEA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848DD83-8DF4-6541-362D-3E1A53D94707}"/>
              </a:ext>
            </a:extLst>
          </p:cNvPr>
          <p:cNvSpPr>
            <a:spLocks noGrp="1"/>
          </p:cNvSpPr>
          <p:nvPr>
            <p:ph type="body" sz="quarter" idx="3"/>
          </p:nvPr>
        </p:nvSpPr>
        <p:spPr/>
        <p:txBody>
          <a:bodyPr/>
          <a:lstStyle/>
          <a:p>
            <a:r>
              <a:t>Làm gì? Không over-treat nhóm dưới thanh mạc.</a:t>
            </a:r>
          </a:p>
          <a:p>
            <a:r>
              <a:t>Tại sao? Nhìn lớn trên siêu âm không đồng nghĩa ảnh hưởng khoang.</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1326A8AD-A840-DC9C-D58E-5DFCC38B6F7E}"/>
              </a:ext>
            </a:extLst>
          </p:cNvPr>
          <p:cNvSpPr>
            <a:spLocks noGrp="1"/>
          </p:cNvSpPr>
          <p:nvPr>
            <p:ph type="sldNum" sz="quarter" idx="5"/>
          </p:nvPr>
        </p:nvSpPr>
        <p:spPr/>
      </p:sp>
    </p:spTree>
    <p:extLst>
      <p:ext uri="{BB962C8B-B14F-4D97-AF65-F5344CB8AC3E}">
        <p14:creationId xmlns:p14="http://schemas.microsoft.com/office/powerpoint/2010/main" val="12124939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7C3C2-10A0-5CEB-50A2-2C1012F63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86BC5-26C9-087E-A343-5B677639F57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2A07880-F20D-7BA4-0812-F75A833CE5CA}"/>
              </a:ext>
            </a:extLst>
          </p:cNvPr>
          <p:cNvSpPr>
            <a:spLocks noGrp="1"/>
          </p:cNvSpPr>
          <p:nvPr>
            <p:ph type="body" sz="quarter" idx="3"/>
          </p:nvPr>
        </p:nvSpPr>
        <p:spPr/>
        <p:txBody>
          <a:bodyPr/>
          <a:lstStyle/>
          <a:p>
            <a:r>
              <a:t>Làm gì? Nhận diện type ngoài công thức thường gặp.</a:t>
            </a:r>
          </a:p>
          <a:p>
            <a:r>
              <a:t>Tại sao? Vị trí đặc biệt gần bàng quang, niệu quản, mạch máu làm thay đổi kế hoạch mổ.</a:t>
            </a:r>
          </a:p>
          <a:p>
            <a:r>
              <a:t>Nguồn chính: Mocanu et al. Fibroids and infertility. PMID 42104843; PMCID PMC13278667.</a:t>
            </a:r>
          </a:p>
        </p:txBody>
      </p:sp>
      <p:sp>
        <p:nvSpPr>
          <p:cNvPr id="4" name="Slide Number Placeholder 3">
            <a:extLst>
              <a:ext uri="{FF2B5EF4-FFF2-40B4-BE49-F238E27FC236}">
                <a16:creationId xmlns:a16="http://schemas.microsoft.com/office/drawing/2014/main" id="{64A902AC-ACEB-ED5E-1988-328A6B751CE2}"/>
              </a:ext>
            </a:extLst>
          </p:cNvPr>
          <p:cNvSpPr>
            <a:spLocks noGrp="1"/>
          </p:cNvSpPr>
          <p:nvPr>
            <p:ph type="sldNum" sz="quarter" idx="5"/>
          </p:nvPr>
        </p:nvSpPr>
        <p:spPr/>
      </p:sp>
    </p:spTree>
    <p:extLst>
      <p:ext uri="{BB962C8B-B14F-4D97-AF65-F5344CB8AC3E}">
        <p14:creationId xmlns:p14="http://schemas.microsoft.com/office/powerpoint/2010/main" val="690910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So sánh ranh giới sát nội mạc.</a:t>
            </a:r>
          </a:p>
          <a:p>
            <a:r>
              <a:t>Tại sao? Gộp hai nhóm làm mất thông tin quan trọng cho ART.</a:t>
            </a:r>
          </a:p>
          <a:p>
            <a:r>
              <a:t>Nếu bỏ qua/làm sai? Dễ áp dụng máy móc hoặc quyết định không khớp mục tiêu ART.</a:t>
            </a:r>
          </a:p>
          <a:p>
            <a:r>
              <a:t>Nguồn DOCX: P069, P131, P134</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hệ phân loại hỗ trợ đúng chỗ.</a:t>
            </a:r>
          </a:p>
          <a:p>
            <a:r>
              <a:t>Tại sao? Tránh nhầm lẫn role: FIGO là giao tiếp, các hệ khác phục vụ chọn thủ thuật.</a:t>
            </a:r>
          </a:p>
          <a:p>
            <a:r>
              <a:t>Nếu bỏ qua/làm sai? Dễ áp dụng máy móc hoặc quyết định không khớp mục tiêu ART.</a:t>
            </a:r>
          </a:p>
          <a:p>
            <a:r>
              <a:t>Nguồn DOCX: P049, P125</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vấn đề triệu chứng.</a:t>
            </a:r>
          </a:p>
          <a:p>
            <a:r>
              <a:t>Tại sao? Đừng điều trị một 'phát hiện tình cờ' như thể là bệnh.</a:t>
            </a:r>
          </a:p>
          <a:p>
            <a:r>
              <a:t>Nếu bỏ qua/làm sai? Dễ áp dụng máy móc hoặc quyết định không khớp mục tiêu ART.</a:t>
            </a:r>
          </a:p>
          <a:p>
            <a:r>
              <a:t>Nguồn DOCX: P091, P093</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ba nhóm triệu chứng.</a:t>
            </a:r>
          </a:p>
          <a:p>
            <a:r>
              <a:t>Tại sao? Trộn lẫn các nhóm dễ dẫn tới điều trị nhầm mục tiêu.</a:t>
            </a:r>
          </a:p>
          <a:p>
            <a:r>
              <a:t>Nếu bỏ qua/làm sai? Dễ áp dụng máy móc hoặc quyết định không khớp mục tiêu ART.</a:t>
            </a:r>
          </a:p>
          <a:p>
            <a:r>
              <a:t>Nguồn DOCX: P091, P105</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Gắn số cho phần triệu chứng.</a:t>
            </a:r>
          </a:p>
          <a:p>
            <a:r>
              <a:t>Tại sao? Khảo sát quốc tế trên 21.479 phụ nữ ở 8 quốc gia — giúp nhớ u xơ không chỉ là phát hiện trên siêu âm.</a:t>
            </a:r>
          </a:p>
          <a:p>
            <a:r>
              <a:t>Nếu bỏ qua/làm sai? Dễ áp dụng máy móc hoặc quyết định không khớp mục tiêu ART.</a:t>
            </a:r>
          </a:p>
          <a:p>
            <a:r>
              <a:t>Nguồn DOCX: P093</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Phân tách triệu chứng sinh sản.</a:t>
            </a:r>
          </a:p>
          <a:p>
            <a:r>
              <a:t>Tại sao? RIF là hội chứng đa nguyên nhân; u xơ chỉ là một phần.</a:t>
            </a:r>
          </a:p>
          <a:p>
            <a:r>
              <a:t>Nếu bỏ qua/làm sai? Dễ áp dụng máy móc hoặc quyết định không khớp mục tiêu ART.</a:t>
            </a:r>
          </a:p>
          <a:p>
            <a:r>
              <a:t>Nguồn DOCX: P033, P201</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Liệt kê biến chứng thai kỳ.</a:t>
            </a:r>
          </a:p>
          <a:p>
            <a:r>
              <a:t>Tại sao? Biến chứng này không thay đổi thực sự khi đã có thai; tư vấn trước ART là quan trọng.</a:t>
            </a:r>
          </a:p>
          <a:p>
            <a:r>
              <a:t>Nếu bỏ qua/làm sai? Dễ áp dụng máy móc hoặc quyết định không khớp mục tiêu ART.</a:t>
            </a:r>
          </a:p>
          <a:p>
            <a:r>
              <a:t>Nguồn DOCX: P211, P222</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nền bệnh sử.</a:t>
            </a:r>
          </a:p>
          <a:p>
            <a:r>
              <a:t>Tại sao? Khám sàng lọc tốt giúp giảm thử nghiệm thừa.</a:t>
            </a:r>
          </a:p>
          <a:p>
            <a:r>
              <a:t>Nếu bỏ qua/làm sai? Dễ áp dụng máy móc hoặc quyết định không khớp mục tiêu ART.</a:t>
            </a:r>
          </a:p>
          <a:p>
            <a:r>
              <a:t>Nguồn DOCX: P045, P105</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Tóm bảng diagnostic methods.</a:t>
            </a:r>
          </a:p>
          <a:p>
            <a:r>
              <a:t>Tại sao? Người học cần biết chọn test theo câu hỏi, không chọn theo thói quen.</a:t>
            </a:r>
          </a:p>
          <a:p>
            <a:r>
              <a:t>Nếu bỏ qua/làm sai? Dễ áp dụng máy móc hoặc quyết định không khớp mục tiêu ART.</a:t>
            </a:r>
          </a:p>
          <a:p>
            <a:r>
              <a:t>Nguồn DOCX: T11, P099</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vai trò 2D.</a:t>
            </a:r>
          </a:p>
          <a:p>
            <a:r>
              <a:t>Tại sao? 2D là khởi đầu, nhưng buồng tử cung là câu hỏi → phải nâng bậc.</a:t>
            </a:r>
          </a:p>
          <a:p>
            <a:r>
              <a:t>Nếu bỏ qua/làm sai? Dễ áp dụng máy móc hoặc quyết định không khớp mục tiêu ART.</a:t>
            </a:r>
          </a:p>
          <a:p>
            <a:r>
              <a:t>Nguồn DOCX: T11, P101</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Chỉ định 3D.</a:t>
            </a:r>
          </a:p>
          <a:p>
            <a:r>
              <a:t>Tại sao? 3D giải quyết vấn đề mặt phẳng buồng tử cung mà 2D dễ bỏ sót.</a:t>
            </a:r>
          </a:p>
          <a:p>
            <a:r>
              <a:t>Nếu bỏ qua/làm sai? Dễ áp dụng máy móc hoặc quyết định không khớp mục tiêu ART.</a:t>
            </a:r>
          </a:p>
          <a:p>
            <a:r>
              <a:t>Nguồn DOCX: T11, P101</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Chỉ định bơm nước buồng tử cung.</a:t>
            </a:r>
          </a:p>
          <a:p>
            <a:r>
              <a:t>Tại sao? Bơm nước giúp chứng minh buồng tử cung sẵn sàng trước chuyển phôi.</a:t>
            </a:r>
          </a:p>
          <a:p>
            <a:r>
              <a:t>Nếu bỏ qua/làm sai? Dễ áp dụng máy móc hoặc quyết định không khớp mục tiêu ART.</a:t>
            </a:r>
          </a:p>
          <a:p>
            <a:r>
              <a:t>Nguồn DOCX: T11, P101</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vai trò nội soi buồng tử cung.</a:t>
            </a:r>
          </a:p>
          <a:p>
            <a:r>
              <a:t>Tại sao? Nội soi buồng tử cung không thay thế được bản đồ toàn cơ tử cung.</a:t>
            </a:r>
          </a:p>
          <a:p>
            <a:r>
              <a:t>Nếu bỏ qua/làm sai? Dễ áp dụng máy móc hoặc quyết định không khớp mục tiêu ART.</a:t>
            </a:r>
          </a:p>
          <a:p>
            <a:r>
              <a:t>Nguồn DOCX: T11, P125</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chỉ định MRI.</a:t>
            </a:r>
          </a:p>
          <a:p>
            <a:r>
              <a:t>Tại sao? MRI có ích ở ca phức tạp nhưng không cần thường quy mọi ca.</a:t>
            </a:r>
          </a:p>
          <a:p>
            <a:r>
              <a:t>Nếu bỏ qua/làm sai? Dễ áp dụng máy móc hoặc quyết định không khớp mục tiêu ART.</a:t>
            </a:r>
          </a:p>
          <a:p>
            <a:r>
              <a:t>Nguồn DOCX: T11, P101, P103</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lộ trình chẩn đoán.</a:t>
            </a:r>
          </a:p>
          <a:p>
            <a:r>
              <a:t>Tại sao? Đi từng bước giúp tránh vừa thiếu vừa thừa xét nghiệm.</a:t>
            </a:r>
          </a:p>
          <a:p>
            <a:r>
              <a:t>Nếu bỏ qua/làm sai? Dễ áp dụng máy móc hoặc quyết định không khớp mục tiêu ART.</a:t>
            </a:r>
          </a:p>
          <a:p>
            <a:r>
              <a:t>Nguồn DOCX: P101, T11</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Chuẩn hoá báo cáo.</a:t>
            </a:r>
          </a:p>
          <a:p>
            <a:r>
              <a:t>Tại sao? Báo cáo tốt rút ngắn đường đi quyết định.</a:t>
            </a:r>
          </a:p>
          <a:p>
            <a:r>
              <a:t>Nếu bỏ qua/làm sai? Dễ áp dụng máy móc hoặc quyết định không khớp mục tiêu ART.</a:t>
            </a:r>
          </a:p>
          <a:p>
            <a:r>
              <a:t>Nguồn DOCX: P045, P105</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lại tư duy.</a:t>
            </a:r>
          </a:p>
          <a:p>
            <a:r>
              <a:t>Tại sao? Tránh bẫy 'có cơ chế → phải mổ'.</a:t>
            </a:r>
          </a:p>
          <a:p>
            <a:r>
              <a:t>Nếu bỏ qua/làm sai? Dễ áp dụng máy móc hoặc quyết định không khớp mục tiêu ART.</a:t>
            </a:r>
          </a:p>
          <a:p>
            <a:r>
              <a:t>Nguồn DOCX: P061, P123</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Dựng chuỗi cơ chế.</a:t>
            </a:r>
          </a:p>
          <a:p>
            <a:r>
              <a:t>Tại sao? Cơ chế cho thấy vì sao vị trí quan trọng hơn kích thước.</a:t>
            </a:r>
          </a:p>
          <a:p>
            <a:r>
              <a:t>Nếu bỏ qua/làm sai? Dễ áp dụng máy móc hoặc quyết định không khớp mục tiêu ART.</a:t>
            </a:r>
          </a:p>
          <a:p>
            <a:r>
              <a:t>Nguồn DOCX: P061, P063, P065, P067, P123</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0–2.</a:t>
            </a:r>
          </a:p>
          <a:p>
            <a:r>
              <a:t>Tại sao? Đây là nhóm có cơ chế rõ nhất và đồng thuận can thiệp cao nhất.</a:t>
            </a:r>
          </a:p>
          <a:p>
            <a:r>
              <a:t>Nếu bỏ qua/làm sai? Dễ áp dụng máy móc hoặc quyết định không khớp mục tiêu ART.</a:t>
            </a:r>
          </a:p>
          <a:p>
            <a:r>
              <a:t>Nguồn DOCX: P061, P123</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So sánh 3 và 4 trên góc cơ chế.</a:t>
            </a:r>
          </a:p>
          <a:p>
            <a:r>
              <a:t>Tại sao? Cơ chế khác nhau dẫn tới quyết định khác nhau trong vùng xám.</a:t>
            </a:r>
          </a:p>
          <a:p>
            <a:r>
              <a:t>Nếu bỏ qua/làm sai? Dễ áp dụng máy móc hoặc quyết định không khớp mục tiêu ART.</a:t>
            </a:r>
          </a:p>
          <a:p>
            <a:r>
              <a:t>Nguồn DOCX: P069, P131, P134</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Gắn số cho cơ chế ảnh hưởng ART.</a:t>
            </a:r>
          </a:p>
          <a:p>
            <a:r>
              <a:t>Tại sao? OR &lt; 1 nghĩa là u xơ làm giảm kết quả; nhưng phải cân bằng với cái giá của bóc u.</a:t>
            </a:r>
          </a:p>
          <a:p>
            <a:r>
              <a:t>Nếu bỏ qua/làm sai? Dễ áp dụng máy móc hoặc quyết định không khớp mục tiêu ART.</a:t>
            </a:r>
          </a:p>
          <a:p>
            <a:r>
              <a:t>Nguồn DOCX: P131</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5–7.</a:t>
            </a:r>
          </a:p>
          <a:p>
            <a:r>
              <a:t>Tại sao? ART có thể bị ảnh hưởng không vì buồng tử cung mà vì đường vào.</a:t>
            </a:r>
          </a:p>
          <a:p>
            <a:r>
              <a:t>Nếu bỏ qua/làm sai? Dễ áp dụng máy móc hoặc quyết định không khớp mục tiêu ART.</a:t>
            </a:r>
          </a:p>
          <a:p>
            <a:r>
              <a:t>Nguồn DOCX: P045, P123, P196</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Dùng bảng quyết định FIGO.</a:t>
            </a:r>
          </a:p>
          <a:p>
            <a:r>
              <a:t>Tại sao? Đây là xương sống của phần xử trí theo FIGO.</a:t>
            </a:r>
          </a:p>
          <a:p>
            <a:r>
              <a:t>Nếu bỏ qua/làm sai? Dễ áp dụng máy móc hoặc quyết định không khớp mục tiêu ART.</a:t>
            </a:r>
          </a:p>
          <a:p>
            <a:r>
              <a:t>Nguồn DOCX: T15, P123</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Xử trí type 0.</a:t>
            </a:r>
          </a:p>
          <a:p>
            <a:r>
              <a:t>Tại sao? Đây là tổn thương sửa được rõ trước chuyển phôi.</a:t>
            </a:r>
          </a:p>
          <a:p>
            <a:r>
              <a:t>Nếu bỏ qua/làm sai? Dễ áp dụng máy móc hoặc quyết định không khớp mục tiêu ART.</a:t>
            </a:r>
          </a:p>
          <a:p>
            <a:r>
              <a:t>Nguồn DOCX: T15, P125</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Xử trí type 1.</a:t>
            </a:r>
          </a:p>
          <a:p>
            <a:r>
              <a:t>Tại sao? Mục tiêu là vừa lấy u vừa giữ nội mạc cho ART.</a:t>
            </a:r>
          </a:p>
          <a:p>
            <a:r>
              <a:t>Nếu bỏ qua/làm sai? Dễ áp dụng máy móc hoặc quyết định không khớp mục tiêu ART.</a:t>
            </a:r>
          </a:p>
          <a:p>
            <a:r>
              <a:t>Nguồn DOCX: T15, P125</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Xử trí type 2.</a:t>
            </a:r>
          </a:p>
          <a:p>
            <a:r>
              <a:t>Tại sao? Buồng tử cung sau mổ quan trọng hơn cảm giác lấy sạch.</a:t>
            </a:r>
          </a:p>
          <a:p>
            <a:r>
              <a:t>Nếu bỏ qua/làm sai? Dễ áp dụng máy móc hoặc quyết định không khớp mục tiêu ART.</a:t>
            </a:r>
          </a:p>
          <a:p>
            <a:r>
              <a:t>Nguồn DOCX: T15, P125, P190</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type 3.</a:t>
            </a:r>
          </a:p>
          <a:p>
            <a:r>
              <a:t>Tại sao? Không vô hại nhưng cũng không nên mổ theo phản xạ.</a:t>
            </a:r>
          </a:p>
          <a:p>
            <a:r>
              <a:t>Nếu bỏ qua/làm sai? Dễ áp dụng máy móc hoặc quyết định không khớp mục tiêu ART.</a:t>
            </a:r>
          </a:p>
          <a:p>
            <a:r>
              <a:t>Nguồn DOCX: T15, P131</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Cá thể hoá type 4.</a:t>
            </a:r>
          </a:p>
          <a:p>
            <a:r>
              <a:t>Tại sao? Type 4 là nơi cần cân bằng nhiều nhất.</a:t>
            </a:r>
          </a:p>
          <a:p>
            <a:r>
              <a:t>Nếu bỏ qua/làm sai? Dễ áp dụng máy móc hoặc quyết định không khớp mục tiêu ART.</a:t>
            </a:r>
          </a:p>
          <a:p>
            <a:r>
              <a:t>Nguồn DOCX: T15, P134, P196</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Tránh mổ thừa 5–7.</a:t>
            </a:r>
          </a:p>
          <a:p>
            <a:r>
              <a:t>Tại sao? Tránh trì hoãn IVF cho một u dưới thanh mạc nhỏ vô hại.</a:t>
            </a:r>
          </a:p>
          <a:p>
            <a:r>
              <a:t>Nếu bỏ qua/làm sai? Dễ áp dụng máy móc hoặc quyết định không khớp mục tiêu ART.</a:t>
            </a:r>
          </a:p>
          <a:p>
            <a:r>
              <a:t>Nguồn DOCX: T15, P201</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8.</a:t>
            </a:r>
          </a:p>
          <a:p>
            <a:r>
              <a:t>Tại sao? Không áp công thức FIGO thường gặp cho vị trí nguy cơ cao.</a:t>
            </a:r>
          </a:p>
          <a:p>
            <a:r>
              <a:t>Nếu bỏ qua/làm sai? Dễ áp dụng máy móc hoặc quyết định không khớp mục tiêu ART.</a:t>
            </a:r>
          </a:p>
          <a:p>
            <a:r>
              <a:t>Nguồn DOCX: T3, P041, P101</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Structural slide. Nguồn DOCX: U_xo_tu_cung_ART_Infertility_2026-07-12.docx.</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rời đích điều trị.</a:t>
            </a:r>
          </a:p>
          <a:p>
            <a:r>
              <a:t>Tại sao? Tên phương pháp ít quan trọng hơn đích điều trị.</a:t>
            </a:r>
          </a:p>
          <a:p>
            <a:r>
              <a:t>Nếu bỏ qua/làm sai? Dễ áp dụng máy móc hoặc quyết định không khớp mục tiêu ART.</a:t>
            </a:r>
          </a:p>
          <a:p>
            <a:r>
              <a:t>Nguồn DOCX: P119, P137, P196</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Tóm hiệu ứng điều trị.</a:t>
            </a:r>
          </a:p>
          <a:p>
            <a:r>
              <a:t>Tại sao? Bảng này ngăn nhầm mục tiêu triệu chứng với mục tiêu ART.</a:t>
            </a:r>
          </a:p>
          <a:p>
            <a:r>
              <a:t>Nếu bỏ qua/làm sai? Dễ áp dụng máy móc hoặc quyết định không khớp mục tiêu ART.</a:t>
            </a:r>
          </a:p>
          <a:p>
            <a:r>
              <a:t>Nguồn DOCX: T24, P240</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thuốc triệu chứng đúng vai trò.</a:t>
            </a:r>
          </a:p>
          <a:p>
            <a:r>
              <a:t>Tại sao? Đúng cho chảy máu nhiều chưa chắc đủ cho chuyển phôi.</a:t>
            </a:r>
          </a:p>
          <a:p>
            <a:r>
              <a:t>Nếu bỏ qua/làm sai? Dễ áp dụng máy móc hoặc quyết định không khớp mục tiêu ART.</a:t>
            </a:r>
          </a:p>
          <a:p>
            <a:r>
              <a:t>Nguồn DOCX: P137, P141, T24</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hai nhóm thuốc nội tiết.</a:t>
            </a:r>
          </a:p>
          <a:p>
            <a:r>
              <a:t>Tại sao? Mỗi nhóm có vai trò riêng; không nên dùng như nhau.</a:t>
            </a:r>
          </a:p>
          <a:p>
            <a:r>
              <a:t>Nếu bỏ qua/làm sai? Dễ áp dụng máy móc hoặc quyết định không khớp mục tiêu ART.</a:t>
            </a:r>
          </a:p>
          <a:p>
            <a:r>
              <a:t>Nguồn DOCX: P137, P141, T24</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Đặt vai trò nội soi buồng tử cung.</a:t>
            </a:r>
          </a:p>
          <a:p>
            <a:r>
              <a:t>Tại sao? Phù hợp nhất cho nhóm can thiệp rõ nhất và ít xâm lấn nhất.</a:t>
            </a:r>
          </a:p>
          <a:p>
            <a:r>
              <a:t>Nếu bỏ qua/làm sai? Dễ áp dụng máy móc hoặc quyết định không khớp mục tiêu ART.</a:t>
            </a:r>
          </a:p>
          <a:p>
            <a:r>
              <a:t>Nguồn DOCX: P125, P190</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nguyên tắc dừng an toàn.</a:t>
            </a:r>
          </a:p>
          <a:p>
            <a:r>
              <a:t>Tại sao? Buồng tử cung lành quan trọng hơn lấy hết bằng mọi giá.</a:t>
            </a:r>
          </a:p>
          <a:p>
            <a:r>
              <a:t>Nếu bỏ qua/làm sai? Dễ áp dụng máy móc hoặc quyết định không khớp mục tiêu ART.</a:t>
            </a:r>
          </a:p>
          <a:p>
            <a:r>
              <a:t>Nguồn DOCX: P125, P190</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Tư vấn UAE theo mục tiêu sinh sản.</a:t>
            </a:r>
          </a:p>
          <a:p>
            <a:r>
              <a:t>Tại sao? Ít xâm lấn không đồng nghĩa phù hợp ART.</a:t>
            </a:r>
          </a:p>
          <a:p>
            <a:r>
              <a:t>Nếu bỏ qua/làm sai? Dễ áp dụng máy móc hoặc quyết định không khớp mục tiêu ART.</a:t>
            </a:r>
          </a:p>
          <a:p>
            <a:r>
              <a:t>Nguồn DOCX: P159, T24</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Tách HIFU/RFA.</a:t>
            </a:r>
          </a:p>
          <a:p>
            <a:r>
              <a:t>Tại sao? Can thiệp 'không phẫu thuật' chưa chắc an toàn cho ART.</a:t>
            </a:r>
          </a:p>
          <a:p>
            <a:r>
              <a:t>Nếu bỏ qua/làm sai? Dễ áp dụng máy móc hoặc quyết định không khớp mục tiêu ART.</a:t>
            </a:r>
          </a:p>
          <a:p>
            <a:r>
              <a:t>Nguồn DOCX: T24, P196</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Chốt ma trận.</a:t>
            </a:r>
          </a:p>
          <a:p>
            <a:r>
              <a:t>Tại sao? Mỗi mục tiêu cần một cách kiểm tra khác nhau.</a:t>
            </a:r>
          </a:p>
          <a:p>
            <a:r>
              <a:t>Nếu bỏ qua/làm sai? Dễ áp dụng máy móc hoặc quyết định không khớp mục tiêu ART.</a:t>
            </a:r>
          </a:p>
          <a:p>
            <a:r>
              <a:t>Nguồn DOCX: T24, P196</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Tóm quyết định tạo và trữ phôi.</a:t>
            </a:r>
          </a:p>
          <a:p>
            <a:r>
              <a:t>Tại sao? Đây là cầu nối giữa tuổi noãn và tối ưu tử cung.</a:t>
            </a:r>
          </a:p>
          <a:p>
            <a:r>
              <a:t>Nếu bỏ qua/làm sai? Dễ áp dụng máy móc hoặc quyết định không khớp mục tiêu ART.</a:t>
            </a:r>
          </a:p>
          <a:p>
            <a:r>
              <a:t>Nguồn DOCX: T21, P196</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Nhận diện nhóm tạo phôi trước.</a:t>
            </a:r>
          </a:p>
          <a:p>
            <a:r>
              <a:t>Tại sao? Tạo phôi trước là chiến lược thời gian, không phải điều trị u.</a:t>
            </a:r>
          </a:p>
          <a:p>
            <a:r>
              <a:t>Nếu bỏ qua/làm sai? Dễ áp dụng máy móc hoặc quyết định không khớp mục tiêu ART.</a:t>
            </a:r>
          </a:p>
          <a:p>
            <a:r>
              <a:t>Nguồn DOCX: T21, P196</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Nhận diện nhóm xử trí u trước.</a:t>
            </a:r>
          </a:p>
          <a:p>
            <a:r>
              <a:t>Tại sao? Không nên tạo phôi rồi chuyển vào buồng tử cung chưa thể dùng.</a:t>
            </a:r>
          </a:p>
          <a:p>
            <a:r>
              <a:t>Nếu bỏ qua/làm sai? Dễ áp dụng máy móc hoặc quyết định không khớp mục tiêu ART.</a:t>
            </a:r>
          </a:p>
          <a:p>
            <a:r>
              <a:t>Nguồn DOCX: T21, P123, P137</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Phân biệt thời điểm chuyển phôi.</a:t>
            </a:r>
          </a:p>
          <a:p>
            <a:r>
              <a:t>Tại sao? Chuyển phôi trữ giúp giải quyết tuần tự hai bài toán.</a:t>
            </a:r>
          </a:p>
          <a:p>
            <a:r>
              <a:t>Nếu bỏ qua/làm sai? Dễ áp dụng máy móc hoặc quyết định không khớp mục tiêu ART.</a:t>
            </a:r>
          </a:p>
          <a:p>
            <a:r>
              <a:t>Nguồn DOCX: P196, P193</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Tích hợp thứ tự xử trí.</a:t>
            </a:r>
          </a:p>
          <a:p>
            <a:r>
              <a:t>Tại sao? Thuật toán giảm mâu thuẫn giữa phẫu thuật và tuổi noãn.</a:t>
            </a:r>
          </a:p>
          <a:p>
            <a:r>
              <a:t>Nếu bỏ qua/làm sai? Dễ áp dụng máy móc hoặc quyết định không khớp mục tiêu ART.</a:t>
            </a:r>
          </a:p>
          <a:p>
            <a:r>
              <a:t>Nguồn DOCX: T21, P196, P193</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Tư vấn thời điểm sau mổ.</a:t>
            </a:r>
          </a:p>
          <a:p>
            <a:r>
              <a:t>Tại sao? Dùng guideline cứng 1 con số dễ sai; tuỳ ca là đúng.</a:t>
            </a:r>
          </a:p>
          <a:p>
            <a:r>
              <a:t>Nếu bỏ qua/làm sai? Dễ áp dụng máy móc hoặc quyết định không khớp mục tiêu ART.</a:t>
            </a:r>
          </a:p>
          <a:p>
            <a:r>
              <a:t>Nguồn DOCX: P193, P211</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theo dõi bảo tồn.</a:t>
            </a:r>
          </a:p>
          <a:p>
            <a:r>
              <a:t>Tại sao? Theo dõi có chủ đích khác với bỏ mặc.</a:t>
            </a:r>
          </a:p>
          <a:p>
            <a:r>
              <a:t>Nếu bỏ qua/làm sai? Dễ áp dụng máy móc hoặc quyết định không khớp mục tiêu ART.</a:t>
            </a:r>
          </a:p>
          <a:p>
            <a:r>
              <a:t>Nguồn DOCX: P211, P222</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theo dõi sau nội soi buồng tử cung.</a:t>
            </a:r>
          </a:p>
          <a:p>
            <a:r>
              <a:t>Tại sao? Buồng tử cung sau thủ thuật là mục tiêu ART.</a:t>
            </a:r>
          </a:p>
          <a:p>
            <a:r>
              <a:t>Nếu bỏ qua/làm sai? Dễ áp dụng máy móc hoặc quyết định không khớp mục tiêu ART.</a:t>
            </a:r>
          </a:p>
          <a:p>
            <a:r>
              <a:t>Nguồn DOCX: P193, P211</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theo dõi đường bụng.</a:t>
            </a:r>
          </a:p>
          <a:p>
            <a:r>
              <a:t>Tại sao? Sẹo và u tái phát ảnh hưởng kế hoạch thai kỳ.</a:t>
            </a:r>
          </a:p>
          <a:p>
            <a:r>
              <a:t>Nếu bỏ qua/làm sai? Dễ áp dụng máy móc hoặc quyết định không khớp mục tiêu ART.</a:t>
            </a:r>
          </a:p>
          <a:p>
            <a:r>
              <a:t>Nguồn DOCX: P193, P211</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Dạy tư vấn thai kỳ.</a:t>
            </a:r>
          </a:p>
          <a:p>
            <a:r>
              <a:t>Tại sao? Thông tin phẫu thuật hiện tại phục vụ an toàn thai kỳ sau này.</a:t>
            </a:r>
          </a:p>
          <a:p>
            <a:r>
              <a:t>Nếu bỏ qua/làm sai? Dễ áp dụng máy móc hoặc quyết định không khớp mục tiêu ART.</a:t>
            </a:r>
          </a:p>
          <a:p>
            <a:r>
              <a:t>Nguồn DOCX: P211, P222</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Gắn số cho phần can thiệp.</a:t>
            </a:r>
          </a:p>
          <a:p>
            <a:r>
              <a:t>Tại sao? Dùng số này để bệnh nhân hiểu mặt trái của các can thiệp, không phải để khuyến cáo nếu chưa đối chiếu full text.</a:t>
            </a:r>
          </a:p>
          <a:p>
            <a:r>
              <a:t>Nếu bỏ qua/làm sai? Dễ áp dụng máy móc hoặc quyết định không khớp mục tiêu ART.</a:t>
            </a:r>
          </a:p>
          <a:p>
            <a:r>
              <a:t>Nguồn DOCX: P190, P193, P211</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Làm gì? Tổng hợp thông điệp cần nhớ.</a:t>
            </a:r>
          </a:p>
          <a:p>
            <a:r>
              <a:t>Tại sao? Tóm tắt giúp chuyển kiến thức thành hành động.</a:t>
            </a:r>
          </a:p>
          <a:p>
            <a:r>
              <a:t>Nếu bỏ qua/làm sai? Dễ áp dụng máy móc hoặc quyết định không khớp mục tiêu ART.</a:t>
            </a:r>
          </a:p>
          <a:p>
            <a:r>
              <a:t>Nguồn DOCX: P222, P246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175504" y="1371600"/>
            <a:ext cx="1828800" cy="635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360152" cy="2011680"/>
          </a:xfrm>
          <a:prstGeom prst="rect">
            <a:avLst/>
          </a:prstGeom>
          <a:noFill/>
        </p:spPr>
        <p:txBody>
          <a:bodyPr wrap="square" lIns="36576" tIns="18288" rIns="36576" bIns="18288" anchor="ctr">
            <a:spAutoFit/>
          </a:bodyPr>
          <a:lstStyle/>
          <a:p>
            <a:pPr algn="ctr"/>
            <a:r>
              <a:rPr sz="4600" b="1" i="0">
                <a:solidFill>
                  <a:srgbClr val="0D2B2B"/>
                </a:solidFill>
                <a:latin typeface="Arial"/>
              </a:rPr>
              <a:t>U xơ cơ tử cung và ART/IVF</a:t>
            </a:r>
          </a:p>
        </p:txBody>
      </p:sp>
      <p:sp>
        <p:nvSpPr>
          <p:cNvPr id="5" name="TextBox 4"/>
          <p:cNvSpPr txBox="1"/>
          <p:nvPr/>
        </p:nvSpPr>
        <p:spPr>
          <a:xfrm>
            <a:off x="914400" y="4434840"/>
            <a:ext cx="10360152" cy="640080"/>
          </a:xfrm>
          <a:prstGeom prst="rect">
            <a:avLst/>
          </a:prstGeom>
          <a:noFill/>
        </p:spPr>
        <p:txBody>
          <a:bodyPr wrap="square" lIns="36576" tIns="18288" rIns="36576" bIns="18288">
            <a:spAutoFit/>
          </a:bodyPr>
          <a:lstStyle/>
          <a:p>
            <a:pPr algn="ctr"/>
            <a:r>
              <a:rPr sz="2100" b="0" i="0">
                <a:solidFill>
                  <a:srgbClr val="728C8C"/>
                </a:solidFill>
                <a:latin typeface="Arial"/>
              </a:rPr>
              <a:t>Ghi chú cá nhân · Từ định nghĩa đến quyết định ART</a:t>
            </a:r>
          </a:p>
        </p:txBody>
      </p:sp>
      <p:sp>
        <p:nvSpPr>
          <p:cNvPr id="6" name="Rectangle 5"/>
          <p:cNvSpPr/>
          <p:nvPr/>
        </p:nvSpPr>
        <p:spPr>
          <a:xfrm>
            <a:off x="5175504" y="5349240"/>
            <a:ext cx="18288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Mục tiêu</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00200"/>
            <a:ext cx="11430000" cy="8686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805940"/>
            <a:ext cx="45720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805940"/>
            <a:ext cx="457200" cy="457200"/>
          </a:xfrm>
          <a:prstGeom prst="rect">
            <a:avLst/>
          </a:prstGeom>
          <a:noFill/>
        </p:spPr>
        <p:txBody>
          <a:bodyPr wrap="square" lIns="36576" tIns="18288" rIns="36576" bIns="18288" anchor="ctr">
            <a:spAutoFit/>
          </a:bodyPr>
          <a:lstStyle/>
          <a:p>
            <a:pPr algn="ctr"/>
            <a:r>
              <a:rPr sz="2400" b="1" i="0">
                <a:solidFill>
                  <a:srgbClr val="FFFFFF"/>
                </a:solidFill>
                <a:latin typeface="Arial"/>
              </a:rPr>
              <a:t>✓</a:t>
            </a:r>
          </a:p>
        </p:txBody>
      </p:sp>
      <p:sp>
        <p:nvSpPr>
          <p:cNvPr id="9" name="TextBox 8"/>
          <p:cNvSpPr txBox="1"/>
          <p:nvPr/>
        </p:nvSpPr>
        <p:spPr>
          <a:xfrm>
            <a:off x="1188720" y="1600200"/>
            <a:ext cx="10515600" cy="868680"/>
          </a:xfrm>
          <a:prstGeom prst="rect">
            <a:avLst/>
          </a:prstGeom>
          <a:noFill/>
        </p:spPr>
        <p:txBody>
          <a:bodyPr wrap="square" lIns="36576" tIns="18288" rIns="36576" bIns="18288" anchor="ctr">
            <a:spAutoFit/>
          </a:bodyPr>
          <a:lstStyle/>
          <a:p>
            <a:pPr algn="l"/>
            <a:r>
              <a:rPr sz="2000" b="0" i="0">
                <a:solidFill>
                  <a:srgbClr val="1A2F2F"/>
                </a:solidFill>
                <a:latin typeface="Arial"/>
              </a:rPr>
              <a:t>Nắm u xơ cơ tử cung là gì, bệnh sinh và phân loại FIGO.</a:t>
            </a:r>
          </a:p>
        </p:txBody>
      </p:sp>
      <p:sp>
        <p:nvSpPr>
          <p:cNvPr id="10" name="Rectangle 9"/>
          <p:cNvSpPr/>
          <p:nvPr/>
        </p:nvSpPr>
        <p:spPr>
          <a:xfrm>
            <a:off x="365760" y="2560320"/>
            <a:ext cx="11430000" cy="8686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766060"/>
            <a:ext cx="45720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766060"/>
            <a:ext cx="457200" cy="457200"/>
          </a:xfrm>
          <a:prstGeom prst="rect">
            <a:avLst/>
          </a:prstGeom>
          <a:noFill/>
        </p:spPr>
        <p:txBody>
          <a:bodyPr wrap="square" lIns="36576" tIns="18288" rIns="36576" bIns="18288" anchor="ctr">
            <a:spAutoFit/>
          </a:bodyPr>
          <a:lstStyle/>
          <a:p>
            <a:pPr algn="ctr"/>
            <a:r>
              <a:rPr sz="2400" b="1" i="0">
                <a:solidFill>
                  <a:srgbClr val="FFFFFF"/>
                </a:solidFill>
                <a:latin typeface="Arial"/>
              </a:rPr>
              <a:t>✓</a:t>
            </a:r>
          </a:p>
        </p:txBody>
      </p:sp>
      <p:sp>
        <p:nvSpPr>
          <p:cNvPr id="13" name="TextBox 12"/>
          <p:cNvSpPr txBox="1"/>
          <p:nvPr/>
        </p:nvSpPr>
        <p:spPr>
          <a:xfrm>
            <a:off x="1188720" y="2560320"/>
            <a:ext cx="10515600" cy="868680"/>
          </a:xfrm>
          <a:prstGeom prst="rect">
            <a:avLst/>
          </a:prstGeom>
          <a:noFill/>
        </p:spPr>
        <p:txBody>
          <a:bodyPr wrap="square" lIns="36576" tIns="18288" rIns="36576" bIns="18288" anchor="ctr">
            <a:spAutoFit/>
          </a:bodyPr>
          <a:lstStyle/>
          <a:p>
            <a:pPr algn="l"/>
            <a:r>
              <a:rPr sz="2000" b="0" i="0">
                <a:solidFill>
                  <a:srgbClr val="1A2F2F"/>
                </a:solidFill>
                <a:latin typeface="Arial"/>
              </a:rPr>
              <a:t>Nhận diện triệu chứng và chọn công cụ chẩn đoán theo câu hỏi buồng tử cung.</a:t>
            </a:r>
          </a:p>
        </p:txBody>
      </p:sp>
      <p:sp>
        <p:nvSpPr>
          <p:cNvPr id="14" name="Rectangle 13"/>
          <p:cNvSpPr/>
          <p:nvPr/>
        </p:nvSpPr>
        <p:spPr>
          <a:xfrm>
            <a:off x="365760" y="3520440"/>
            <a:ext cx="11430000" cy="8686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726180"/>
            <a:ext cx="45720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3726180"/>
            <a:ext cx="457200" cy="457200"/>
          </a:xfrm>
          <a:prstGeom prst="rect">
            <a:avLst/>
          </a:prstGeom>
          <a:noFill/>
        </p:spPr>
        <p:txBody>
          <a:bodyPr wrap="square" lIns="36576" tIns="18288" rIns="36576" bIns="18288" anchor="ctr">
            <a:spAutoFit/>
          </a:bodyPr>
          <a:lstStyle/>
          <a:p>
            <a:pPr algn="ctr"/>
            <a:r>
              <a:rPr sz="2400" b="1" i="0">
                <a:solidFill>
                  <a:srgbClr val="FFFFFF"/>
                </a:solidFill>
                <a:latin typeface="Arial"/>
              </a:rPr>
              <a:t>✓</a:t>
            </a:r>
          </a:p>
        </p:txBody>
      </p:sp>
      <p:sp>
        <p:nvSpPr>
          <p:cNvPr id="17" name="TextBox 16"/>
          <p:cNvSpPr txBox="1"/>
          <p:nvPr/>
        </p:nvSpPr>
        <p:spPr>
          <a:xfrm>
            <a:off x="1188720" y="3520440"/>
            <a:ext cx="10515600" cy="868680"/>
          </a:xfrm>
          <a:prstGeom prst="rect">
            <a:avLst/>
          </a:prstGeom>
          <a:noFill/>
        </p:spPr>
        <p:txBody>
          <a:bodyPr wrap="square" lIns="36576" tIns="18288" rIns="36576" bIns="18288" anchor="ctr">
            <a:spAutoFit/>
          </a:bodyPr>
          <a:lstStyle/>
          <a:p>
            <a:pPr algn="l"/>
            <a:r>
              <a:rPr sz="2000" b="0" i="0">
                <a:solidFill>
                  <a:srgbClr val="1A2F2F"/>
                </a:solidFill>
                <a:latin typeface="Arial"/>
              </a:rPr>
              <a:t>Giải thích cơ chế u xơ ảnh hưởng ART và vì sao buồng tử cung là lõi quyết định.</a:t>
            </a:r>
          </a:p>
        </p:txBody>
      </p:sp>
      <p:sp>
        <p:nvSpPr>
          <p:cNvPr id="18" name="Rectangle 17"/>
          <p:cNvSpPr/>
          <p:nvPr/>
        </p:nvSpPr>
        <p:spPr>
          <a:xfrm>
            <a:off x="365760" y="4480560"/>
            <a:ext cx="11430000" cy="8686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4686300"/>
            <a:ext cx="45720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4686300"/>
            <a:ext cx="457200" cy="457200"/>
          </a:xfrm>
          <a:prstGeom prst="rect">
            <a:avLst/>
          </a:prstGeom>
          <a:noFill/>
        </p:spPr>
        <p:txBody>
          <a:bodyPr wrap="square" lIns="36576" tIns="18288" rIns="36576" bIns="18288" anchor="ctr">
            <a:spAutoFit/>
          </a:bodyPr>
          <a:lstStyle/>
          <a:p>
            <a:pPr algn="ctr"/>
            <a:r>
              <a:rPr sz="2400" b="1" i="0">
                <a:solidFill>
                  <a:srgbClr val="FFFFFF"/>
                </a:solidFill>
                <a:latin typeface="Arial"/>
              </a:rPr>
              <a:t>✓</a:t>
            </a:r>
          </a:p>
        </p:txBody>
      </p:sp>
      <p:sp>
        <p:nvSpPr>
          <p:cNvPr id="21" name="TextBox 20"/>
          <p:cNvSpPr txBox="1"/>
          <p:nvPr/>
        </p:nvSpPr>
        <p:spPr>
          <a:xfrm>
            <a:off x="1188720" y="4480560"/>
            <a:ext cx="10515600" cy="868680"/>
          </a:xfrm>
          <a:prstGeom prst="rect">
            <a:avLst/>
          </a:prstGeom>
          <a:noFill/>
        </p:spPr>
        <p:txBody>
          <a:bodyPr wrap="square" lIns="36576" tIns="18288" rIns="36576" bIns="18288" anchor="ctr">
            <a:spAutoFit/>
          </a:bodyPr>
          <a:lstStyle/>
          <a:p>
            <a:pPr algn="l"/>
            <a:r>
              <a:rPr sz="2000" b="0" i="0">
                <a:solidFill>
                  <a:srgbClr val="1A2F2F"/>
                </a:solidFill>
                <a:latin typeface="Arial"/>
              </a:rPr>
              <a:t>Đề xuất thứ tự xử trí: theo dõi / thuốc / bóc u / tạo và trữ phôi / chuyển phôi.</a:t>
            </a:r>
          </a:p>
        </p:txBody>
      </p:sp>
      <p:sp>
        <p:nvSpPr>
          <p:cNvPr id="22" name="Rectangle 21"/>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1</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Định nghĩa</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2100" b="0" i="1">
                <a:solidFill>
                  <a:srgbClr val="728C8C"/>
                </a:solidFill>
                <a:latin typeface="Arial"/>
              </a:rPr>
              <a:t>U xơ là gì, vì sao gặp nhiều trong ART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Định nghĩa</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11064240" cy="1463040"/>
          </a:xfrm>
          <a:prstGeom prst="rect">
            <a:avLst/>
          </a:prstGeom>
          <a:noFill/>
        </p:spPr>
        <p:txBody>
          <a:bodyPr wrap="square" lIns="36576" tIns="18288" rIns="36576" bIns="18288" anchor="ctr">
            <a:spAutoFit/>
          </a:bodyPr>
          <a:lstStyle/>
          <a:p>
            <a:pPr algn="l"/>
            <a:r>
              <a:rPr sz="4200" b="1" i="0">
                <a:solidFill>
                  <a:srgbClr val="FFFFFF"/>
                </a:solidFill>
                <a:latin typeface="Arial"/>
              </a:rPr>
              <a:t>U xơ cơ tử cung (leiomyoma)</a:t>
            </a:r>
          </a:p>
        </p:txBody>
      </p:sp>
      <p:sp>
        <p:nvSpPr>
          <p:cNvPr id="8" name="TextBox 7"/>
          <p:cNvSpPr txBox="1"/>
          <p:nvPr/>
        </p:nvSpPr>
        <p:spPr>
          <a:xfrm>
            <a:off x="548640" y="3337560"/>
            <a:ext cx="11064240" cy="320040"/>
          </a:xfrm>
          <a:prstGeom prst="rect">
            <a:avLst/>
          </a:prstGeom>
          <a:noFill/>
        </p:spPr>
        <p:txBody>
          <a:bodyPr wrap="square" lIns="36576" tIns="18288" rIns="36576" bIns="18288">
            <a:spAutoFit/>
          </a:bodyPr>
          <a:lstStyle/>
          <a:p>
            <a:pPr algn="l"/>
            <a:r>
              <a:rPr sz="1300" b="1" i="0">
                <a:solidFill>
                  <a:srgbClr val="00977A"/>
                </a:solidFill>
                <a:latin typeface="Arial"/>
              </a:rPr>
              <a:t>ĐỊNH NGHĨA</a:t>
            </a:r>
          </a:p>
        </p:txBody>
      </p:sp>
      <p:sp>
        <p:nvSpPr>
          <p:cNvPr id="9" name="Rectangle 8"/>
          <p:cNvSpPr/>
          <p:nvPr/>
        </p:nvSpPr>
        <p:spPr>
          <a:xfrm>
            <a:off x="548640" y="3657600"/>
            <a:ext cx="1106424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3794760"/>
            <a:ext cx="11064240" cy="1760482"/>
          </a:xfrm>
          <a:prstGeom prst="rect">
            <a:avLst/>
          </a:prstGeom>
          <a:noFill/>
        </p:spPr>
        <p:txBody>
          <a:bodyPr wrap="square" lIns="36576" tIns="18288" rIns="36576" bIns="18288">
            <a:spAutoFit/>
          </a:bodyPr>
          <a:lstStyle/>
          <a:p>
            <a:pPr algn="l"/>
            <a:r>
              <a:rPr sz="2800" b="0" i="0">
                <a:solidFill>
                  <a:srgbClr val="1A2F2F"/>
                </a:solidFill>
                <a:latin typeface="Arial"/>
              </a:rPr>
              <a:t>Khối u lành tính xuất phát từ cơ trơn tử cung, giàu chất nền ngoại bào, chịu ảnh hưởng nội tiết (estrogen + progesterone) nhưng không chỉ là bệnh 'do hormone'. Trong thực hành ART, u xơ phổ biến và thường phát hiện tình cờ khi khám hiếm muộn.</a:t>
            </a:r>
          </a:p>
        </p:txBody>
      </p:sp>
      <p:sp>
        <p:nvSpPr>
          <p:cNvPr id="11" name="Rectangle 10"/>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Cách gọi và thuật ngữ</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1594466742"/>
              </p:ext>
            </p:extLst>
          </p:nvPr>
        </p:nvGraphicFramePr>
        <p:xfrm>
          <a:off x="457200" y="1600200"/>
          <a:ext cx="11338560" cy="4704843"/>
        </p:xfrm>
        <a:graphic>
          <a:graphicData uri="http://schemas.openxmlformats.org/drawingml/2006/table">
            <a:tbl>
              <a:tblPr firstRow="1" bandRow="1">
                <a:tableStyleId>{5C22544A-7EE6-4342-B048-85BDC9FD1C3A}</a:tableStyleId>
              </a:tblPr>
              <a:tblGrid>
                <a:gridCol w="3174797">
                  <a:extLst>
                    <a:ext uri="{9D8B030D-6E8A-4147-A177-3AD203B41FA5}">
                      <a16:colId xmlns:a16="http://schemas.microsoft.com/office/drawing/2014/main" val="20000"/>
                    </a:ext>
                  </a:extLst>
                </a:gridCol>
                <a:gridCol w="8163763">
                  <a:extLst>
                    <a:ext uri="{9D8B030D-6E8A-4147-A177-3AD203B41FA5}">
                      <a16:colId xmlns:a16="http://schemas.microsoft.com/office/drawing/2014/main" val="20001"/>
                    </a:ext>
                  </a:extLst>
                </a:gridCol>
              </a:tblGrid>
              <a:tr h="924807">
                <a:tc>
                  <a:txBody>
                    <a:bodyPr/>
                    <a:lstStyle/>
                    <a:p>
                      <a:pPr algn="l"/>
                      <a:r>
                        <a:rPr sz="2000" b="1">
                          <a:solidFill>
                            <a:srgbClr val="FFFFFF"/>
                          </a:solidFill>
                          <a:latin typeface="Arial"/>
                        </a:rPr>
                        <a:t>Thuật ngữ</a:t>
                      </a:r>
                    </a:p>
                  </a:txBody>
                  <a:tcPr anchor="ctr">
                    <a:solidFill>
                      <a:srgbClr val="0D2B2B"/>
                    </a:solidFill>
                  </a:tcPr>
                </a:tc>
                <a:tc>
                  <a:txBody>
                    <a:bodyPr/>
                    <a:lstStyle/>
                    <a:p>
                      <a:pPr algn="l"/>
                      <a:r>
                        <a:rPr sz="2000" b="1">
                          <a:solidFill>
                            <a:srgbClr val="FFFFFF"/>
                          </a:solidFill>
                          <a:latin typeface="Arial"/>
                        </a:rPr>
                        <a:t>Định nghĩa</a:t>
                      </a:r>
                    </a:p>
                  </a:txBody>
                  <a:tcPr anchor="ctr">
                    <a:solidFill>
                      <a:srgbClr val="0D2B2B"/>
                    </a:solidFill>
                  </a:tcPr>
                </a:tc>
                <a:extLst>
                  <a:ext uri="{0D108BD9-81ED-4DB2-BD59-A6C34878D82A}">
                    <a16:rowId xmlns:a16="http://schemas.microsoft.com/office/drawing/2014/main" val="10000"/>
                  </a:ext>
                </a:extLst>
              </a:tr>
              <a:tr h="1005615">
                <a:tc>
                  <a:txBody>
                    <a:bodyPr/>
                    <a:lstStyle/>
                    <a:p>
                      <a:r>
                        <a:rPr sz="1800" b="1">
                          <a:solidFill>
                            <a:srgbClr val="0D2B2B"/>
                          </a:solidFill>
                          <a:latin typeface="Arial"/>
                        </a:rPr>
                        <a:t>U xơ cơ tử cung</a:t>
                      </a:r>
                    </a:p>
                  </a:txBody>
                  <a:tcPr>
                    <a:solidFill>
                      <a:srgbClr val="E8F8F5"/>
                    </a:solidFill>
                  </a:tcPr>
                </a:tc>
                <a:tc>
                  <a:txBody>
                    <a:bodyPr/>
                    <a:lstStyle/>
                    <a:p>
                      <a:r>
                        <a:rPr sz="1800" b="0">
                          <a:solidFill>
                            <a:srgbClr val="1A2F2F"/>
                          </a:solidFill>
                          <a:latin typeface="Arial"/>
                        </a:rPr>
                        <a:t>Tên tiếng Việt thống nhất; tên tiếng Anh là u cơ trơn tử cung (leiomyoma, fibroid, myoma).</a:t>
                      </a:r>
                    </a:p>
                  </a:txBody>
                  <a:tcPr>
                    <a:solidFill>
                      <a:srgbClr val="E8F8F5"/>
                    </a:solidFill>
                  </a:tcPr>
                </a:tc>
                <a:extLst>
                  <a:ext uri="{0D108BD9-81ED-4DB2-BD59-A6C34878D82A}">
                    <a16:rowId xmlns:a16="http://schemas.microsoft.com/office/drawing/2014/main" val="10001"/>
                  </a:ext>
                </a:extLst>
              </a:tr>
              <a:tr h="924807">
                <a:tc>
                  <a:txBody>
                    <a:bodyPr/>
                    <a:lstStyle/>
                    <a:p>
                      <a:r>
                        <a:rPr sz="1800" b="1">
                          <a:solidFill>
                            <a:srgbClr val="0D2B2B"/>
                          </a:solidFill>
                          <a:latin typeface="Arial"/>
                        </a:rPr>
                        <a:t>Dưới niêm mạc</a:t>
                      </a:r>
                    </a:p>
                  </a:txBody>
                  <a:tcPr>
                    <a:solidFill>
                      <a:srgbClr val="FFFFFF"/>
                    </a:solidFill>
                  </a:tcPr>
                </a:tc>
                <a:tc>
                  <a:txBody>
                    <a:bodyPr/>
                    <a:lstStyle/>
                    <a:p>
                      <a:r>
                        <a:rPr sz="1800" b="0">
                          <a:solidFill>
                            <a:srgbClr val="1A2F2F"/>
                          </a:solidFill>
                          <a:latin typeface="Arial"/>
                        </a:rPr>
                        <a:t>Type 0–2 FIGO; lồi vào buồng tử cung, ảnh hưởng trực tiếp khả năng làm tổ.</a:t>
                      </a:r>
                    </a:p>
                  </a:txBody>
                  <a:tcPr>
                    <a:solidFill>
                      <a:srgbClr val="FFFFFF"/>
                    </a:solidFill>
                  </a:tcPr>
                </a:tc>
                <a:extLst>
                  <a:ext uri="{0D108BD9-81ED-4DB2-BD59-A6C34878D82A}">
                    <a16:rowId xmlns:a16="http://schemas.microsoft.com/office/drawing/2014/main" val="10002"/>
                  </a:ext>
                </a:extLst>
              </a:tr>
              <a:tr h="924807">
                <a:tc>
                  <a:txBody>
                    <a:bodyPr/>
                    <a:lstStyle/>
                    <a:p>
                      <a:r>
                        <a:rPr sz="1800" b="1">
                          <a:solidFill>
                            <a:srgbClr val="0D2B2B"/>
                          </a:solidFill>
                          <a:latin typeface="Arial"/>
                        </a:rPr>
                        <a:t>Trong cơ</a:t>
                      </a:r>
                    </a:p>
                  </a:txBody>
                  <a:tcPr>
                    <a:solidFill>
                      <a:srgbClr val="E8F8F5"/>
                    </a:solidFill>
                  </a:tcPr>
                </a:tc>
                <a:tc>
                  <a:txBody>
                    <a:bodyPr/>
                    <a:lstStyle/>
                    <a:p>
                      <a:r>
                        <a:rPr sz="1800" b="0">
                          <a:solidFill>
                            <a:srgbClr val="1A2F2F"/>
                          </a:solidFill>
                          <a:latin typeface="Arial"/>
                        </a:rPr>
                        <a:t>Type 3–4 FIGO; ảnh hưởng tuỳ kích thước, vị trí và khoảng cách tới nội mạc.</a:t>
                      </a:r>
                    </a:p>
                  </a:txBody>
                  <a:tcPr>
                    <a:solidFill>
                      <a:srgbClr val="E8F8F5"/>
                    </a:solidFill>
                  </a:tcPr>
                </a:tc>
                <a:extLst>
                  <a:ext uri="{0D108BD9-81ED-4DB2-BD59-A6C34878D82A}">
                    <a16:rowId xmlns:a16="http://schemas.microsoft.com/office/drawing/2014/main" val="10003"/>
                  </a:ext>
                </a:extLst>
              </a:tr>
              <a:tr h="924807">
                <a:tc>
                  <a:txBody>
                    <a:bodyPr/>
                    <a:lstStyle/>
                    <a:p>
                      <a:r>
                        <a:rPr sz="1800" b="1">
                          <a:solidFill>
                            <a:srgbClr val="0D2B2B"/>
                          </a:solidFill>
                          <a:latin typeface="Arial"/>
                        </a:rPr>
                        <a:t>Dưới thanh mạc</a:t>
                      </a:r>
                    </a:p>
                  </a:txBody>
                  <a:tcPr>
                    <a:solidFill>
                      <a:srgbClr val="FFFFFF"/>
                    </a:solidFill>
                  </a:tcPr>
                </a:tc>
                <a:tc>
                  <a:txBody>
                    <a:bodyPr/>
                    <a:lstStyle/>
                    <a:p>
                      <a:r>
                        <a:rPr sz="1800" b="0">
                          <a:solidFill>
                            <a:srgbClr val="1A2F2F"/>
                          </a:solidFill>
                          <a:latin typeface="Arial"/>
                        </a:rPr>
                        <a:t>Type 5–7 FIGO; thường ít ảnh hưởng ART nếu nhỏ và không cản thao tác.</a:t>
                      </a:r>
                    </a:p>
                  </a:txBody>
                  <a:tcP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500" b="1" i="0">
                <a:solidFill>
                  <a:srgbClr val="0D2B2B"/>
                </a:solidFill>
                <a:latin typeface="Arial"/>
              </a:rPr>
              <a:t>Vì sao u xơ là chủ đề thường trực trong ART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16594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U xơ gặp ở phần lớn phụ nữ tuổi sinh sản; phát hiện tình cờ qua siêu âm rất phổ biến.</a:t>
            </a:r>
          </a:p>
          <a:p>
            <a:pPr>
              <a:spcBef>
                <a:spcPts val="500"/>
              </a:spcBef>
              <a:spcAft>
                <a:spcPts val="200"/>
              </a:spcAft>
            </a:pPr>
            <a:r>
              <a:rPr sz="2400">
                <a:solidFill>
                  <a:srgbClr val="1A2F2F"/>
                </a:solidFill>
                <a:latin typeface="Arial"/>
              </a:rPr>
              <a:t>  –  Trong IVF/FET, mối quan tâm không phải 'có hay không có u' mà là u nằm ở đâu, chạm/méo buồng tử cung không, có cản thao tác không.</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Dịch tễ và yếu tố nguy cơ cần biết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298065"/>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Tuổi: tăng theo tuổi sinh sản, đỉnh quanh tiền mãn kinh.</a:t>
            </a:r>
          </a:p>
          <a:p>
            <a:pPr>
              <a:spcBef>
                <a:spcPts val="500"/>
              </a:spcBef>
              <a:spcAft>
                <a:spcPts val="200"/>
              </a:spcAft>
            </a:pPr>
            <a:r>
              <a:rPr sz="2400">
                <a:solidFill>
                  <a:srgbClr val="1A2F2F"/>
                </a:solidFill>
                <a:latin typeface="Arial"/>
              </a:rPr>
              <a:t>  –  Chủng tộc/ancestry: phụ nữ da đen có tần suất và tuổi phát hiện sớm hơn.</a:t>
            </a:r>
          </a:p>
          <a:p>
            <a:pPr>
              <a:spcBef>
                <a:spcPts val="500"/>
              </a:spcBef>
              <a:spcAft>
                <a:spcPts val="200"/>
              </a:spcAft>
            </a:pPr>
            <a:r>
              <a:rPr sz="2400">
                <a:solidFill>
                  <a:srgbClr val="1A2F2F"/>
                </a:solidFill>
                <a:latin typeface="Arial"/>
              </a:rPr>
              <a:t>  –  Tiền sử gia đình, </a:t>
            </a:r>
            <a:r>
              <a:rPr lang="en-US" sz="2400">
                <a:solidFill>
                  <a:srgbClr val="1A2F2F"/>
                </a:solidFill>
                <a:latin typeface="Arial"/>
              </a:rPr>
              <a:t>không sinh đẻ</a:t>
            </a:r>
            <a:r>
              <a:rPr sz="2400">
                <a:solidFill>
                  <a:srgbClr val="1A2F2F"/>
                </a:solidFill>
                <a:latin typeface="Arial"/>
              </a:rPr>
              <a:t>, béo phì, tăng huyết áp.</a:t>
            </a:r>
          </a:p>
          <a:p>
            <a:pPr>
              <a:spcBef>
                <a:spcPts val="500"/>
              </a:spcBef>
              <a:spcAft>
                <a:spcPts val="200"/>
              </a:spcAft>
            </a:pPr>
            <a:r>
              <a:rPr sz="2400">
                <a:solidFill>
                  <a:srgbClr val="1A2F2F"/>
                </a:solidFill>
                <a:latin typeface="Arial"/>
              </a:rPr>
              <a:t>  –  Vitamin D thấp và một số yếu tố môi trường được đề cập.</a:t>
            </a:r>
          </a:p>
          <a:p>
            <a:pPr>
              <a:spcBef>
                <a:spcPts val="500"/>
              </a:spcBef>
              <a:spcAft>
                <a:spcPts val="200"/>
              </a:spcAft>
            </a:pPr>
            <a:r>
              <a:rPr sz="2400">
                <a:solidFill>
                  <a:srgbClr val="1A2F2F"/>
                </a:solidFill>
                <a:latin typeface="Arial"/>
              </a:rPr>
              <a:t>  –  Thai kỳ thường thấy u xơ tăng kích thước; mãn kinh thường teo nhỏ.</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lang="en-US" sz="3800" b="1">
                <a:solidFill>
                  <a:srgbClr val="0D2B2B"/>
                </a:solidFill>
                <a:latin typeface="Arial"/>
              </a:rPr>
              <a:t>Gánh nặng của u xơ tử cung </a:t>
            </a:r>
            <a:endParaRPr sz="3800" b="1" i="0">
              <a:solidFill>
                <a:srgbClr val="0D2B2B"/>
              </a:solidFill>
              <a:latin typeface="Arial"/>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994660" y="1660097"/>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994660" y="1660097"/>
            <a:ext cx="27203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31820" y="2323411"/>
            <a:ext cx="2537460" cy="867930"/>
          </a:xfrm>
          <a:prstGeom prst="rect">
            <a:avLst/>
          </a:prstGeom>
          <a:noFill/>
        </p:spPr>
        <p:txBody>
          <a:bodyPr wrap="square" lIns="36576" tIns="18288" rIns="36576" bIns="18288" anchor="ctr">
            <a:spAutoFit/>
          </a:bodyPr>
          <a:lstStyle/>
          <a:p>
            <a:pPr algn="ctr"/>
            <a:r>
              <a:rPr sz="5400" b="1" i="0">
                <a:solidFill>
                  <a:srgbClr val="00977A"/>
                </a:solidFill>
                <a:latin typeface="Arial"/>
              </a:rPr>
              <a:t>5–10%</a:t>
            </a:r>
          </a:p>
        </p:txBody>
      </p:sp>
      <p:sp>
        <p:nvSpPr>
          <p:cNvPr id="9" name="TextBox 8"/>
          <p:cNvSpPr txBox="1"/>
          <p:nvPr/>
        </p:nvSpPr>
        <p:spPr>
          <a:xfrm>
            <a:off x="3086100" y="3666660"/>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ở phụ nữ vô sinh</a:t>
            </a:r>
          </a:p>
        </p:txBody>
      </p:sp>
      <p:sp>
        <p:nvSpPr>
          <p:cNvPr id="10" name="TextBox 9"/>
          <p:cNvSpPr txBox="1"/>
          <p:nvPr/>
        </p:nvSpPr>
        <p:spPr>
          <a:xfrm>
            <a:off x="3131820" y="4280958"/>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tỷ lệ có u xơ trên siêu âm</a:t>
            </a:r>
          </a:p>
        </p:txBody>
      </p:sp>
      <p:sp>
        <p:nvSpPr>
          <p:cNvPr id="11" name="Rectangle 10"/>
          <p:cNvSpPr/>
          <p:nvPr/>
        </p:nvSpPr>
        <p:spPr>
          <a:xfrm>
            <a:off x="5897880" y="1660097"/>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97880" y="1660097"/>
            <a:ext cx="27203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0" y="2323411"/>
            <a:ext cx="2537460" cy="867930"/>
          </a:xfrm>
          <a:prstGeom prst="rect">
            <a:avLst/>
          </a:prstGeom>
          <a:noFill/>
        </p:spPr>
        <p:txBody>
          <a:bodyPr wrap="square" lIns="36576" tIns="18288" rIns="36576" bIns="18288" anchor="ctr">
            <a:spAutoFit/>
          </a:bodyPr>
          <a:lstStyle/>
          <a:p>
            <a:pPr algn="ctr"/>
            <a:r>
              <a:rPr sz="5400" b="1" i="0">
                <a:solidFill>
                  <a:srgbClr val="00977A"/>
                </a:solidFill>
                <a:latin typeface="Arial"/>
              </a:rPr>
              <a:t>2–3%</a:t>
            </a:r>
          </a:p>
        </p:txBody>
      </p:sp>
      <p:sp>
        <p:nvSpPr>
          <p:cNvPr id="14" name="TextBox 13"/>
          <p:cNvSpPr txBox="1"/>
          <p:nvPr/>
        </p:nvSpPr>
        <p:spPr>
          <a:xfrm>
            <a:off x="5989320" y="3580337"/>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là nguyên nhân đơn độc</a:t>
            </a:r>
          </a:p>
        </p:txBody>
      </p:sp>
      <p:sp>
        <p:nvSpPr>
          <p:cNvPr id="15" name="TextBox 14"/>
          <p:cNvSpPr txBox="1"/>
          <p:nvPr/>
        </p:nvSpPr>
        <p:spPr>
          <a:xfrm>
            <a:off x="6035040" y="4348433"/>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u xơ là nguyên nhân duy nhất của vô sinh</a:t>
            </a:r>
          </a:p>
        </p:txBody>
      </p:sp>
      <p:sp>
        <p:nvSpPr>
          <p:cNvPr id="26" name="Rectangle 2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2</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Cơ chế bệnh sinh và sinh học u xơ</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Ba trụ cột của bệnh sinh u xơ</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554480"/>
            <a:ext cx="3474719" cy="640080"/>
          </a:xfrm>
          <a:prstGeom prst="rect">
            <a:avLst/>
          </a:prstGeom>
          <a:noFill/>
        </p:spPr>
        <p:txBody>
          <a:bodyPr wrap="square" lIns="36576" tIns="18288" rIns="36576" bIns="18288" anchor="ctr">
            <a:spAutoFit/>
          </a:bodyPr>
          <a:lstStyle/>
          <a:p>
            <a:pPr algn="ctr"/>
            <a:r>
              <a:rPr sz="2200" b="1" i="0">
                <a:solidFill>
                  <a:srgbClr val="FFFFFF"/>
                </a:solidFill>
                <a:latin typeface="Arial"/>
              </a:rPr>
              <a:t>Nội tiết</a:t>
            </a:r>
          </a:p>
        </p:txBody>
      </p:sp>
      <p:sp>
        <p:nvSpPr>
          <p:cNvPr id="9" name="TextBox 8"/>
          <p:cNvSpPr txBox="1"/>
          <p:nvPr/>
        </p:nvSpPr>
        <p:spPr>
          <a:xfrm>
            <a:off x="548640" y="2331720"/>
            <a:ext cx="3383279" cy="2118529"/>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Estrogen kích thích tăng trưởng.</a:t>
            </a:r>
          </a:p>
          <a:p>
            <a:pPr>
              <a:spcBef>
                <a:spcPts val="500"/>
              </a:spcBef>
              <a:spcAft>
                <a:spcPts val="200"/>
              </a:spcAft>
            </a:pPr>
            <a:r>
              <a:rPr sz="2000">
                <a:solidFill>
                  <a:srgbClr val="1A2F2F"/>
                </a:solidFill>
                <a:latin typeface="Arial"/>
              </a:rPr>
              <a:t>  –  Progesterone là yếu tố then chốt trong tăng sinh u.</a:t>
            </a:r>
          </a:p>
          <a:p>
            <a:pPr>
              <a:spcBef>
                <a:spcPts val="500"/>
              </a:spcBef>
              <a:spcAft>
                <a:spcPts val="200"/>
              </a:spcAft>
            </a:pPr>
            <a:r>
              <a:rPr sz="2000">
                <a:solidFill>
                  <a:srgbClr val="1A2F2F"/>
                </a:solidFill>
                <a:latin typeface="Arial"/>
              </a:rPr>
              <a:t>  –  Đó là lý do GnRH tạm thời nhỏ lại được.</a:t>
            </a:r>
          </a:p>
        </p:txBody>
      </p:sp>
      <p:sp>
        <p:nvSpPr>
          <p:cNvPr id="10" name="Rectangle 9"/>
          <p:cNvSpPr/>
          <p:nvPr/>
        </p:nvSpPr>
        <p:spPr>
          <a:xfrm>
            <a:off x="4206239"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06239"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297679" y="1554480"/>
            <a:ext cx="3474719" cy="640080"/>
          </a:xfrm>
          <a:prstGeom prst="rect">
            <a:avLst/>
          </a:prstGeom>
          <a:noFill/>
        </p:spPr>
        <p:txBody>
          <a:bodyPr wrap="square" lIns="36576" tIns="18288" rIns="36576" bIns="18288" anchor="ctr">
            <a:spAutoFit/>
          </a:bodyPr>
          <a:lstStyle/>
          <a:p>
            <a:pPr algn="ctr"/>
            <a:r>
              <a:rPr sz="1800" b="1" i="0">
                <a:solidFill>
                  <a:srgbClr val="FFFFFF"/>
                </a:solidFill>
                <a:latin typeface="Arial"/>
              </a:rPr>
              <a:t>Tế bào và chất nền ngoại bào</a:t>
            </a:r>
          </a:p>
        </p:txBody>
      </p:sp>
      <p:sp>
        <p:nvSpPr>
          <p:cNvPr id="13" name="TextBox 12"/>
          <p:cNvSpPr txBox="1"/>
          <p:nvPr/>
        </p:nvSpPr>
        <p:spPr>
          <a:xfrm>
            <a:off x="4389119" y="2331720"/>
            <a:ext cx="3383279" cy="2426305"/>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Tế bào cơ trơn biến đổi và tế bào gốc tiền thân.</a:t>
            </a:r>
          </a:p>
          <a:p>
            <a:pPr>
              <a:spcBef>
                <a:spcPts val="500"/>
              </a:spcBef>
              <a:spcAft>
                <a:spcPts val="200"/>
              </a:spcAft>
            </a:pPr>
            <a:r>
              <a:rPr sz="2000">
                <a:solidFill>
                  <a:srgbClr val="1A2F2F"/>
                </a:solidFill>
                <a:latin typeface="Arial"/>
              </a:rPr>
              <a:t>  –  Chất nền ngoại bào (ECM) tăng nhiều → u cứng, mặt cắt xoáy.</a:t>
            </a:r>
          </a:p>
          <a:p>
            <a:pPr>
              <a:spcBef>
                <a:spcPts val="500"/>
              </a:spcBef>
              <a:spcAft>
                <a:spcPts val="200"/>
              </a:spcAft>
            </a:pPr>
            <a:r>
              <a:rPr sz="2000">
                <a:solidFill>
                  <a:srgbClr val="1A2F2F"/>
                </a:solidFill>
                <a:latin typeface="Arial"/>
              </a:rPr>
              <a:t>  –  TGF-β là chất trung gian xơ hoá chính.</a:t>
            </a:r>
          </a:p>
        </p:txBody>
      </p:sp>
      <p:sp>
        <p:nvSpPr>
          <p:cNvPr id="14" name="Rectangle 13"/>
          <p:cNvSpPr/>
          <p:nvPr/>
        </p:nvSpPr>
        <p:spPr>
          <a:xfrm>
            <a:off x="8011298"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18" y="1554480"/>
            <a:ext cx="3749039"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8" y="1554480"/>
            <a:ext cx="3474719" cy="640080"/>
          </a:xfrm>
          <a:prstGeom prst="rect">
            <a:avLst/>
          </a:prstGeom>
          <a:noFill/>
        </p:spPr>
        <p:txBody>
          <a:bodyPr wrap="square" lIns="36576" tIns="18288" rIns="36576" bIns="18288" anchor="ctr">
            <a:spAutoFit/>
          </a:bodyPr>
          <a:lstStyle/>
          <a:p>
            <a:pPr algn="ctr"/>
            <a:r>
              <a:rPr sz="2200" b="1" i="0">
                <a:solidFill>
                  <a:srgbClr val="FFFFFF"/>
                </a:solidFill>
                <a:latin typeface="Arial"/>
              </a:rPr>
              <a:t>Tín hiệu nội bào</a:t>
            </a:r>
          </a:p>
        </p:txBody>
      </p:sp>
      <p:sp>
        <p:nvSpPr>
          <p:cNvPr id="17" name="TextBox 16"/>
          <p:cNvSpPr txBox="1"/>
          <p:nvPr/>
        </p:nvSpPr>
        <p:spPr>
          <a:xfrm>
            <a:off x="8229598" y="2331720"/>
            <a:ext cx="3383279" cy="282385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Wnt/β-catenin thúc đẩy tăng sinh.</a:t>
            </a:r>
          </a:p>
          <a:p>
            <a:pPr>
              <a:spcBef>
                <a:spcPts val="500"/>
              </a:spcBef>
              <a:spcAft>
                <a:spcPts val="200"/>
              </a:spcAft>
            </a:pPr>
            <a:r>
              <a:rPr sz="2000">
                <a:solidFill>
                  <a:srgbClr val="1A2F2F"/>
                </a:solidFill>
                <a:latin typeface="Arial"/>
              </a:rPr>
              <a:t>  –  Tạo mạch và thiếu oxy trong u.</a:t>
            </a:r>
          </a:p>
          <a:p>
            <a:pPr>
              <a:spcBef>
                <a:spcPts val="500"/>
              </a:spcBef>
              <a:spcAft>
                <a:spcPts val="200"/>
              </a:spcAft>
            </a:pPr>
            <a:r>
              <a:rPr sz="2000">
                <a:solidFill>
                  <a:srgbClr val="1A2F2F"/>
                </a:solidFill>
                <a:latin typeface="Arial"/>
              </a:rPr>
              <a:t>  –  MED12, HMGA2 là đột biến hay gặp.</a:t>
            </a:r>
          </a:p>
          <a:p>
            <a:pPr>
              <a:spcBef>
                <a:spcPts val="500"/>
              </a:spcBef>
              <a:spcAft>
                <a:spcPts val="200"/>
              </a:spcAft>
            </a:pPr>
            <a:r>
              <a:rPr sz="2000">
                <a:solidFill>
                  <a:srgbClr val="1A2F2F"/>
                </a:solidFill>
                <a:latin typeface="Arial"/>
              </a:rPr>
              <a:t>  –  FH-deficient/HLRCC là dạng hiếm, </a:t>
            </a:r>
            <a:r>
              <a:rPr lang="en-US" sz="2000">
                <a:solidFill>
                  <a:srgbClr val="1A2F2F"/>
                </a:solidFill>
                <a:latin typeface="Arial"/>
              </a:rPr>
              <a:t>cảnh báo.</a:t>
            </a:r>
            <a:endParaRPr sz="2000">
              <a:solidFill>
                <a:srgbClr val="1A2F2F"/>
              </a:solidFill>
              <a:latin typeface="Arial"/>
            </a:endParaRPr>
          </a:p>
        </p:txBody>
      </p:sp>
      <p:sp>
        <p:nvSpPr>
          <p:cNvPr id="18" name="Rectangle 17"/>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600" b="1" i="0">
                <a:solidFill>
                  <a:srgbClr val="0D2B2B"/>
                </a:solidFill>
                <a:latin typeface="Arial"/>
              </a:rPr>
              <a:t>Cơ chế tăng trưởng u xơ theo trục nội tiết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258318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194560"/>
            <a:ext cx="258318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2194560"/>
            <a:ext cx="2583180" cy="457200"/>
          </a:xfrm>
          <a:prstGeom prst="rect">
            <a:avLst/>
          </a:prstGeom>
          <a:noFill/>
        </p:spPr>
        <p:txBody>
          <a:bodyPr wrap="square" lIns="36576" tIns="18288" rIns="36576" bIns="18288" anchor="ctr">
            <a:spAutoFit/>
          </a:bodyPr>
          <a:lstStyle/>
          <a:p>
            <a:pPr algn="ctr"/>
            <a:r>
              <a:rPr sz="2200" b="1" i="0">
                <a:solidFill>
                  <a:srgbClr val="FFFFFF"/>
                </a:solidFill>
                <a:latin typeface="Arial"/>
              </a:rPr>
              <a:t>1</a:t>
            </a:r>
          </a:p>
        </p:txBody>
      </p:sp>
      <p:sp>
        <p:nvSpPr>
          <p:cNvPr id="9" name="TextBox 8"/>
          <p:cNvSpPr txBox="1"/>
          <p:nvPr/>
        </p:nvSpPr>
        <p:spPr>
          <a:xfrm>
            <a:off x="457200" y="2743200"/>
            <a:ext cx="2400300" cy="640080"/>
          </a:xfrm>
          <a:prstGeom prst="rect">
            <a:avLst/>
          </a:prstGeom>
          <a:noFill/>
        </p:spPr>
        <p:txBody>
          <a:bodyPr wrap="square" lIns="36576" tIns="18288" rIns="36576" bIns="18288" anchor="ctr">
            <a:spAutoFit/>
          </a:bodyPr>
          <a:lstStyle/>
          <a:p>
            <a:pPr algn="ctr"/>
            <a:r>
              <a:rPr sz="1900" b="1" i="0">
                <a:solidFill>
                  <a:srgbClr val="0D2B2B"/>
                </a:solidFill>
                <a:latin typeface="Arial"/>
              </a:rPr>
              <a:t>Nội tiết (E + P)</a:t>
            </a:r>
          </a:p>
        </p:txBody>
      </p:sp>
      <p:sp>
        <p:nvSpPr>
          <p:cNvPr id="10" name="TextBox 9"/>
          <p:cNvSpPr txBox="1"/>
          <p:nvPr/>
        </p:nvSpPr>
        <p:spPr>
          <a:xfrm>
            <a:off x="502920" y="3474720"/>
            <a:ext cx="2308860" cy="1645920"/>
          </a:xfrm>
          <a:prstGeom prst="rect">
            <a:avLst/>
          </a:prstGeom>
          <a:noFill/>
        </p:spPr>
        <p:txBody>
          <a:bodyPr wrap="square" lIns="36576" tIns="18288" rIns="36576" bIns="18288">
            <a:spAutoFit/>
          </a:bodyPr>
          <a:lstStyle/>
          <a:p>
            <a:pPr algn="l"/>
            <a:r>
              <a:rPr sz="1700" b="0" i="0">
                <a:solidFill>
                  <a:srgbClr val="1A2F2F"/>
                </a:solidFill>
                <a:latin typeface="Arial"/>
              </a:rPr>
              <a:t>Hai hormone chính kích thích thụ thể, tăng phân bào, giảm chết tế bào theo chương trình.</a:t>
            </a:r>
          </a:p>
        </p:txBody>
      </p:sp>
      <p:sp>
        <p:nvSpPr>
          <p:cNvPr id="11" name="TextBox 10"/>
          <p:cNvSpPr txBox="1"/>
          <p:nvPr/>
        </p:nvSpPr>
        <p:spPr>
          <a:xfrm>
            <a:off x="296722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Arial"/>
              </a:rPr>
              <a:t>→</a:t>
            </a:r>
          </a:p>
        </p:txBody>
      </p:sp>
      <p:sp>
        <p:nvSpPr>
          <p:cNvPr id="12" name="Rectangle 11"/>
          <p:cNvSpPr/>
          <p:nvPr/>
        </p:nvSpPr>
        <p:spPr>
          <a:xfrm>
            <a:off x="3314700" y="2194560"/>
            <a:ext cx="258318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14700" y="2194560"/>
            <a:ext cx="2583180"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14700" y="2194560"/>
            <a:ext cx="2583180" cy="457200"/>
          </a:xfrm>
          <a:prstGeom prst="rect">
            <a:avLst/>
          </a:prstGeom>
          <a:noFill/>
        </p:spPr>
        <p:txBody>
          <a:bodyPr wrap="square" lIns="36576" tIns="18288" rIns="36576" bIns="18288" anchor="ctr">
            <a:spAutoFit/>
          </a:bodyPr>
          <a:lstStyle/>
          <a:p>
            <a:pPr algn="ctr"/>
            <a:r>
              <a:rPr sz="2200" b="1" i="0">
                <a:solidFill>
                  <a:srgbClr val="FFFFFF"/>
                </a:solidFill>
                <a:latin typeface="Arial"/>
              </a:rPr>
              <a:t>2</a:t>
            </a:r>
          </a:p>
        </p:txBody>
      </p:sp>
      <p:sp>
        <p:nvSpPr>
          <p:cNvPr id="15" name="TextBox 14"/>
          <p:cNvSpPr txBox="1"/>
          <p:nvPr/>
        </p:nvSpPr>
        <p:spPr>
          <a:xfrm>
            <a:off x="3406140" y="2743200"/>
            <a:ext cx="2400300" cy="640080"/>
          </a:xfrm>
          <a:prstGeom prst="rect">
            <a:avLst/>
          </a:prstGeom>
          <a:noFill/>
        </p:spPr>
        <p:txBody>
          <a:bodyPr wrap="square" lIns="36576" tIns="18288" rIns="36576" bIns="18288" anchor="ctr">
            <a:spAutoFit/>
          </a:bodyPr>
          <a:lstStyle/>
          <a:p>
            <a:pPr algn="ctr"/>
            <a:r>
              <a:rPr sz="1800" b="1" i="0">
                <a:solidFill>
                  <a:srgbClr val="0D2B2B"/>
                </a:solidFill>
                <a:latin typeface="Arial"/>
              </a:rPr>
              <a:t>Tế bào gốc cơ tử cung</a:t>
            </a:r>
          </a:p>
        </p:txBody>
      </p:sp>
      <p:sp>
        <p:nvSpPr>
          <p:cNvPr id="16" name="TextBox 15"/>
          <p:cNvSpPr txBox="1"/>
          <p:nvPr/>
        </p:nvSpPr>
        <p:spPr>
          <a:xfrm>
            <a:off x="3451860" y="3474720"/>
            <a:ext cx="2308860" cy="1645920"/>
          </a:xfrm>
          <a:prstGeom prst="rect">
            <a:avLst/>
          </a:prstGeom>
          <a:noFill/>
        </p:spPr>
        <p:txBody>
          <a:bodyPr wrap="square" lIns="36576" tIns="18288" rIns="36576" bIns="18288">
            <a:spAutoFit/>
          </a:bodyPr>
          <a:lstStyle/>
          <a:p>
            <a:pPr algn="l"/>
            <a:r>
              <a:rPr sz="1700" b="0" i="0">
                <a:solidFill>
                  <a:srgbClr val="1A2F2F"/>
                </a:solidFill>
                <a:latin typeface="Arial"/>
              </a:rPr>
              <a:t>Cung cấp nguồn tế bào u xơ theo thời gian.</a:t>
            </a:r>
          </a:p>
        </p:txBody>
      </p:sp>
      <p:sp>
        <p:nvSpPr>
          <p:cNvPr id="17" name="TextBox 16"/>
          <p:cNvSpPr txBox="1"/>
          <p:nvPr/>
        </p:nvSpPr>
        <p:spPr>
          <a:xfrm>
            <a:off x="591616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Arial"/>
              </a:rPr>
              <a:t>→</a:t>
            </a:r>
          </a:p>
        </p:txBody>
      </p:sp>
      <p:sp>
        <p:nvSpPr>
          <p:cNvPr id="18" name="Rectangle 17"/>
          <p:cNvSpPr/>
          <p:nvPr/>
        </p:nvSpPr>
        <p:spPr>
          <a:xfrm>
            <a:off x="6263640" y="2194560"/>
            <a:ext cx="258318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2194560"/>
            <a:ext cx="2583180"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2194560"/>
            <a:ext cx="2583180" cy="457200"/>
          </a:xfrm>
          <a:prstGeom prst="rect">
            <a:avLst/>
          </a:prstGeom>
          <a:noFill/>
        </p:spPr>
        <p:txBody>
          <a:bodyPr wrap="square" lIns="36576" tIns="18288" rIns="36576" bIns="18288" anchor="ctr">
            <a:spAutoFit/>
          </a:bodyPr>
          <a:lstStyle/>
          <a:p>
            <a:pPr algn="ctr"/>
            <a:r>
              <a:rPr sz="2200" b="1" i="0">
                <a:solidFill>
                  <a:srgbClr val="FFFFFF"/>
                </a:solidFill>
                <a:latin typeface="Arial"/>
              </a:rPr>
              <a:t>3</a:t>
            </a:r>
          </a:p>
        </p:txBody>
      </p:sp>
      <p:sp>
        <p:nvSpPr>
          <p:cNvPr id="21" name="TextBox 20"/>
          <p:cNvSpPr txBox="1"/>
          <p:nvPr/>
        </p:nvSpPr>
        <p:spPr>
          <a:xfrm>
            <a:off x="6355080" y="2736997"/>
            <a:ext cx="2400300" cy="652486"/>
          </a:xfrm>
          <a:prstGeom prst="rect">
            <a:avLst/>
          </a:prstGeom>
          <a:noFill/>
        </p:spPr>
        <p:txBody>
          <a:bodyPr wrap="square" lIns="36576" tIns="18288" rIns="36576" bIns="18288" anchor="ctr">
            <a:spAutoFit/>
          </a:bodyPr>
          <a:lstStyle/>
          <a:p>
            <a:pPr algn="ctr"/>
            <a:r>
              <a:rPr lang="en-US" sz="2000" b="1" i="0">
                <a:solidFill>
                  <a:srgbClr val="0D2B2B"/>
                </a:solidFill>
                <a:latin typeface="Arial"/>
              </a:rPr>
              <a:t>Chất nền ngoại bào</a:t>
            </a:r>
            <a:r>
              <a:rPr sz="2000" b="1" i="0">
                <a:solidFill>
                  <a:srgbClr val="0D2B2B"/>
                </a:solidFill>
                <a:latin typeface="Arial"/>
              </a:rPr>
              <a:t> và xơ hoá</a:t>
            </a:r>
          </a:p>
        </p:txBody>
      </p:sp>
      <p:sp>
        <p:nvSpPr>
          <p:cNvPr id="22" name="TextBox 21"/>
          <p:cNvSpPr txBox="1"/>
          <p:nvPr/>
        </p:nvSpPr>
        <p:spPr>
          <a:xfrm>
            <a:off x="6400800" y="3474720"/>
            <a:ext cx="2308860" cy="867930"/>
          </a:xfrm>
          <a:prstGeom prst="rect">
            <a:avLst/>
          </a:prstGeom>
          <a:noFill/>
        </p:spPr>
        <p:txBody>
          <a:bodyPr wrap="square" lIns="36576" tIns="18288" rIns="36576" bIns="18288">
            <a:spAutoFit/>
          </a:bodyPr>
          <a:lstStyle/>
          <a:p>
            <a:pPr algn="l"/>
            <a:r>
              <a:rPr b="0" i="0">
                <a:solidFill>
                  <a:srgbClr val="1A2F2F"/>
                </a:solidFill>
                <a:latin typeface="Arial"/>
              </a:rPr>
              <a:t>Collagen type I/III tăng, u cứng và biến dạng.</a:t>
            </a:r>
          </a:p>
        </p:txBody>
      </p:sp>
      <p:sp>
        <p:nvSpPr>
          <p:cNvPr id="23" name="TextBox 22"/>
          <p:cNvSpPr txBox="1"/>
          <p:nvPr/>
        </p:nvSpPr>
        <p:spPr>
          <a:xfrm>
            <a:off x="8865108" y="3291840"/>
            <a:ext cx="329184" cy="914400"/>
          </a:xfrm>
          <a:prstGeom prst="rect">
            <a:avLst/>
          </a:prstGeom>
          <a:noFill/>
        </p:spPr>
        <p:txBody>
          <a:bodyPr wrap="square" lIns="36576" tIns="18288" rIns="36576" bIns="18288" anchor="ctr">
            <a:spAutoFit/>
          </a:bodyPr>
          <a:lstStyle/>
          <a:p>
            <a:pPr algn="ctr"/>
            <a:r>
              <a:rPr sz="2800" b="1" i="0">
                <a:solidFill>
                  <a:srgbClr val="00977A"/>
                </a:solidFill>
                <a:latin typeface="Arial"/>
              </a:rPr>
              <a:t>→</a:t>
            </a:r>
          </a:p>
        </p:txBody>
      </p:sp>
      <p:sp>
        <p:nvSpPr>
          <p:cNvPr id="24" name="Rectangle 23"/>
          <p:cNvSpPr/>
          <p:nvPr/>
        </p:nvSpPr>
        <p:spPr>
          <a:xfrm>
            <a:off x="9212580" y="2194560"/>
            <a:ext cx="2583180"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212580" y="2194560"/>
            <a:ext cx="258318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12580" y="2194560"/>
            <a:ext cx="2583180" cy="457200"/>
          </a:xfrm>
          <a:prstGeom prst="rect">
            <a:avLst/>
          </a:prstGeom>
          <a:noFill/>
        </p:spPr>
        <p:txBody>
          <a:bodyPr wrap="square" lIns="36576" tIns="18288" rIns="36576" bIns="18288" anchor="ctr">
            <a:spAutoFit/>
          </a:bodyPr>
          <a:lstStyle/>
          <a:p>
            <a:pPr algn="ctr"/>
            <a:r>
              <a:rPr sz="2200" b="1" i="0">
                <a:solidFill>
                  <a:srgbClr val="FFFFFF"/>
                </a:solidFill>
                <a:latin typeface="Arial"/>
              </a:rPr>
              <a:t>4</a:t>
            </a:r>
          </a:p>
        </p:txBody>
      </p:sp>
      <p:sp>
        <p:nvSpPr>
          <p:cNvPr id="27" name="TextBox 26"/>
          <p:cNvSpPr txBox="1"/>
          <p:nvPr/>
        </p:nvSpPr>
        <p:spPr>
          <a:xfrm>
            <a:off x="9304020" y="2743200"/>
            <a:ext cx="2400300" cy="640080"/>
          </a:xfrm>
          <a:prstGeom prst="rect">
            <a:avLst/>
          </a:prstGeom>
          <a:noFill/>
        </p:spPr>
        <p:txBody>
          <a:bodyPr wrap="square" lIns="36576" tIns="18288" rIns="36576" bIns="18288" anchor="ctr">
            <a:spAutoFit/>
          </a:bodyPr>
          <a:lstStyle/>
          <a:p>
            <a:pPr algn="ctr"/>
            <a:r>
              <a:rPr sz="1800" b="1" i="0">
                <a:solidFill>
                  <a:srgbClr val="0D2B2B"/>
                </a:solidFill>
                <a:latin typeface="Arial"/>
              </a:rPr>
              <a:t>Wnt/β-catenin + TGF-β</a:t>
            </a:r>
          </a:p>
        </p:txBody>
      </p:sp>
      <p:sp>
        <p:nvSpPr>
          <p:cNvPr id="28" name="TextBox 27"/>
          <p:cNvSpPr txBox="1"/>
          <p:nvPr/>
        </p:nvSpPr>
        <p:spPr>
          <a:xfrm>
            <a:off x="9349740" y="3474720"/>
            <a:ext cx="2308860" cy="590931"/>
          </a:xfrm>
          <a:prstGeom prst="rect">
            <a:avLst/>
          </a:prstGeom>
          <a:noFill/>
        </p:spPr>
        <p:txBody>
          <a:bodyPr wrap="square" lIns="36576" tIns="18288" rIns="36576" bIns="18288">
            <a:spAutoFit/>
          </a:bodyPr>
          <a:lstStyle/>
          <a:p>
            <a:pPr algn="l"/>
            <a:r>
              <a:rPr b="0" i="0">
                <a:solidFill>
                  <a:srgbClr val="1A2F2F"/>
                </a:solidFill>
                <a:latin typeface="Arial"/>
              </a:rPr>
              <a:t>Duy trì tăng sinh và xơ hoá.</a:t>
            </a:r>
          </a:p>
        </p:txBody>
      </p:sp>
      <p:sp>
        <p:nvSpPr>
          <p:cNvPr id="29" name="Rectangle 28"/>
          <p:cNvSpPr/>
          <p:nvPr/>
        </p:nvSpPr>
        <p:spPr>
          <a:xfrm>
            <a:off x="365760" y="5486400"/>
            <a:ext cx="11430000" cy="64008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486400"/>
            <a:ext cx="11155680" cy="640080"/>
          </a:xfrm>
          <a:prstGeom prst="rect">
            <a:avLst/>
          </a:prstGeom>
          <a:noFill/>
        </p:spPr>
        <p:txBody>
          <a:bodyPr wrap="square" lIns="36576" tIns="18288" rIns="36576" bIns="18288" anchor="ctr">
            <a:spAutoFit/>
          </a:bodyPr>
          <a:lstStyle/>
          <a:p>
            <a:pPr algn="l"/>
            <a:r>
              <a:rPr sz="1900" b="1" i="0">
                <a:solidFill>
                  <a:srgbClr val="FFFFFF"/>
                </a:solidFill>
                <a:latin typeface="Arial"/>
              </a:rPr>
              <a:t>▶ HẬU QUẢ:  U phát triển theo thời gian và thường đáp ứng nhất thời với GnRH.</a:t>
            </a:r>
          </a:p>
        </p:txBody>
      </p:sp>
      <p:sp>
        <p:nvSpPr>
          <p:cNvPr id="31" name="Rectangle 30"/>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 name="Group 12">
            <a:extLst>
              <a:ext uri="{FF2B5EF4-FFF2-40B4-BE49-F238E27FC236}">
                <a16:creationId xmlns:a16="http://schemas.microsoft.com/office/drawing/2014/main" id="{BF699008-7921-EF38-F06B-F081C7605F73}"/>
              </a:ext>
            </a:extLst>
          </p:cNvPr>
          <p:cNvGrpSpPr/>
          <p:nvPr/>
        </p:nvGrpSpPr>
        <p:grpSpPr>
          <a:xfrm>
            <a:off x="548640" y="247591"/>
            <a:ext cx="11430000" cy="1463040"/>
            <a:chOff x="365760" y="1691640"/>
            <a:chExt cx="11430000" cy="1463040"/>
          </a:xfrm>
        </p:grpSpPr>
        <p:sp>
          <p:nvSpPr>
            <p:cNvPr id="6" name="Rectangle 5"/>
            <p:cNvSpPr/>
            <p:nvPr/>
          </p:nvSpPr>
          <p:spPr>
            <a:xfrm>
              <a:off x="365760" y="1691640"/>
              <a:ext cx="11430000" cy="14630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91640"/>
              <a:ext cx="11064240" cy="1463040"/>
            </a:xfrm>
            <a:prstGeom prst="rect">
              <a:avLst/>
            </a:prstGeom>
            <a:noFill/>
          </p:spPr>
          <p:txBody>
            <a:bodyPr wrap="square" lIns="36576" tIns="18288" rIns="36576" bIns="18288" anchor="ctr">
              <a:spAutoFit/>
            </a:bodyPr>
            <a:lstStyle/>
            <a:p>
              <a:pPr algn="l"/>
              <a:r>
                <a:rPr sz="4200" b="1" i="0">
                  <a:solidFill>
                    <a:srgbClr val="FFFFFF"/>
                  </a:solidFill>
                  <a:latin typeface="Arial"/>
                </a:rPr>
                <a:t>Đặc điểm đại thể và mô học thường gặp</a:t>
              </a:r>
            </a:p>
          </p:txBody>
        </p:sp>
      </p:grpSp>
      <p:sp>
        <p:nvSpPr>
          <p:cNvPr id="10" name="TextBox 9"/>
          <p:cNvSpPr txBox="1"/>
          <p:nvPr/>
        </p:nvSpPr>
        <p:spPr>
          <a:xfrm>
            <a:off x="562292" y="1918693"/>
            <a:ext cx="11064240" cy="1514261"/>
          </a:xfrm>
          <a:prstGeom prst="rect">
            <a:avLst/>
          </a:prstGeom>
          <a:noFill/>
        </p:spPr>
        <p:txBody>
          <a:bodyPr wrap="square" lIns="36576" tIns="18288" rIns="36576" bIns="18288">
            <a:spAutoFit/>
          </a:bodyPr>
          <a:lstStyle/>
          <a:p>
            <a:pPr marL="342900" indent="-342900" algn="l">
              <a:buFont typeface="Arial" panose="020B0604020202020204" pitchFamily="34" charset="0"/>
              <a:buChar char="•"/>
            </a:pPr>
            <a:r>
              <a:rPr sz="2400" b="0" i="0">
                <a:solidFill>
                  <a:srgbClr val="1A2F2F"/>
                </a:solidFill>
                <a:latin typeface="Arial"/>
              </a:rPr>
              <a:t>Đại thể: khối u cứng, ranh giới rõ, mặt cắt trắng xám xoáy vòng. </a:t>
            </a:r>
            <a:endParaRPr lang="en-US" sz="2400" b="0" i="0">
              <a:solidFill>
                <a:srgbClr val="1A2F2F"/>
              </a:solidFill>
              <a:latin typeface="Arial"/>
            </a:endParaRPr>
          </a:p>
          <a:p>
            <a:pPr marL="342900" indent="-342900" algn="l">
              <a:buFont typeface="Arial" panose="020B0604020202020204" pitchFamily="34" charset="0"/>
              <a:buChar char="•"/>
            </a:pPr>
            <a:r>
              <a:rPr sz="2400" b="0" i="0">
                <a:solidFill>
                  <a:srgbClr val="1A2F2F"/>
                </a:solidFill>
                <a:latin typeface="Arial"/>
              </a:rPr>
              <a:t>Mô học: bó cơ trơn dày đặc, xen kẽ chất nền nhiều collagen. </a:t>
            </a:r>
            <a:endParaRPr lang="en-US" sz="2400" b="0" i="0">
              <a:solidFill>
                <a:srgbClr val="1A2F2F"/>
              </a:solidFill>
              <a:latin typeface="Arial"/>
            </a:endParaRPr>
          </a:p>
          <a:p>
            <a:pPr marL="342900" indent="-342900" algn="l">
              <a:buFont typeface="Arial" panose="020B0604020202020204" pitchFamily="34" charset="0"/>
              <a:buChar char="•"/>
            </a:pPr>
            <a:r>
              <a:rPr sz="2400" b="0" i="0">
                <a:solidFill>
                  <a:srgbClr val="1A2F2F"/>
                </a:solidFill>
                <a:latin typeface="Arial"/>
              </a:rPr>
              <a:t>Thoái hoá hay gặp khi u lớn hoặc thiếu máu nuôi: hyaline, cystic, myxoid, đỏ, vôi hoá, mỡ/lipoleiomyoma.</a:t>
            </a:r>
          </a:p>
        </p:txBody>
      </p:sp>
      <p:sp>
        <p:nvSpPr>
          <p:cNvPr id="11" name="Rectangle 10"/>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26" name="Picture 2" descr="Uterine leiomyoma - Stock Image - C057/7195 - Science Photo Library">
            <a:extLst>
              <a:ext uri="{FF2B5EF4-FFF2-40B4-BE49-F238E27FC236}">
                <a16:creationId xmlns:a16="http://schemas.microsoft.com/office/drawing/2014/main" id="{3DF9DE72-832F-A588-ED3C-0AA67BCAB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195" y="3514338"/>
            <a:ext cx="2284711" cy="33558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thology Outlines - Leiomyoma-general">
            <a:extLst>
              <a:ext uri="{FF2B5EF4-FFF2-40B4-BE49-F238E27FC236}">
                <a16:creationId xmlns:a16="http://schemas.microsoft.com/office/drawing/2014/main" id="{6508E852-4EA3-D8A6-103B-FD4241BDEA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2543" y="3621282"/>
            <a:ext cx="4457297" cy="2852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3</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Phân loại</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600" b="1" i="0">
                <a:solidFill>
                  <a:srgbClr val="0D2B2B"/>
                </a:solidFill>
                <a:latin typeface="Arial"/>
              </a:rPr>
              <a:t>FIGO 0–8: ngôn ngữ chính để ra quyết định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983433105"/>
              </p:ext>
            </p:extLst>
          </p:nvPr>
        </p:nvGraphicFramePr>
        <p:xfrm>
          <a:off x="365760" y="1600200"/>
          <a:ext cx="11430000" cy="507492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2400" b="1">
                          <a:solidFill>
                            <a:srgbClr val="FFFFFF"/>
                          </a:solidFill>
                          <a:latin typeface="Arial"/>
                        </a:rPr>
                        <a:t>Nhóm</a:t>
                      </a:r>
                    </a:p>
                  </a:txBody>
                  <a:tcPr>
                    <a:solidFill>
                      <a:srgbClr val="0D2B2B"/>
                    </a:solidFill>
                  </a:tcPr>
                </a:tc>
                <a:tc>
                  <a:txBody>
                    <a:bodyPr/>
                    <a:lstStyle/>
                    <a:p>
                      <a:pPr algn="ctr"/>
                      <a:r>
                        <a:rPr sz="2400" b="1">
                          <a:solidFill>
                            <a:srgbClr val="FFFFFF"/>
                          </a:solidFill>
                          <a:latin typeface="Arial"/>
                        </a:rPr>
                        <a:t>Giải phẫu</a:t>
                      </a:r>
                    </a:p>
                  </a:txBody>
                  <a:tcPr>
                    <a:solidFill>
                      <a:srgbClr val="0D2B2B"/>
                    </a:solidFill>
                  </a:tcPr>
                </a:tc>
                <a:tc>
                  <a:txBody>
                    <a:bodyPr/>
                    <a:lstStyle/>
                    <a:p>
                      <a:pPr algn="ctr"/>
                      <a:r>
                        <a:rPr sz="2400" b="1">
                          <a:solidFill>
                            <a:srgbClr val="FFFFFF"/>
                          </a:solidFill>
                          <a:latin typeface="Arial"/>
                        </a:rPr>
                        <a:t>Ý nghĩa ART</a:t>
                      </a:r>
                    </a:p>
                  </a:txBody>
                  <a:tcPr>
                    <a:solidFill>
                      <a:srgbClr val="0D2B2B"/>
                    </a:solidFill>
                  </a:tcPr>
                </a:tc>
                <a:extLst>
                  <a:ext uri="{0D108BD9-81ED-4DB2-BD59-A6C34878D82A}">
                    <a16:rowId xmlns:a16="http://schemas.microsoft.com/office/drawing/2014/main" val="10000"/>
                  </a:ext>
                </a:extLst>
              </a:tr>
              <a:tr h="594360">
                <a:tc>
                  <a:txBody>
                    <a:bodyPr/>
                    <a:lstStyle/>
                    <a:p>
                      <a:pPr algn="ctr"/>
                      <a:r>
                        <a:rPr sz="2400" b="0">
                          <a:solidFill>
                            <a:srgbClr val="1A2F2F"/>
                          </a:solidFill>
                          <a:latin typeface="Arial"/>
                        </a:rPr>
                        <a:t>0–2</a:t>
                      </a:r>
                    </a:p>
                  </a:txBody>
                  <a:tcPr>
                    <a:solidFill>
                      <a:srgbClr val="E8F8F5"/>
                    </a:solidFill>
                  </a:tcPr>
                </a:tc>
                <a:tc>
                  <a:txBody>
                    <a:bodyPr/>
                    <a:lstStyle/>
                    <a:p>
                      <a:pPr algn="ctr"/>
                      <a:r>
                        <a:rPr sz="2400" b="0">
                          <a:solidFill>
                            <a:srgbClr val="1A2F2F"/>
                          </a:solidFill>
                          <a:latin typeface="Arial"/>
                        </a:rPr>
                        <a:t>Dưới niêm mạc/làm biến dạng buồng tử cung</a:t>
                      </a:r>
                    </a:p>
                  </a:txBody>
                  <a:tcPr>
                    <a:solidFill>
                      <a:srgbClr val="E8F8F5"/>
                    </a:solidFill>
                  </a:tcPr>
                </a:tc>
                <a:tc>
                  <a:txBody>
                    <a:bodyPr/>
                    <a:lstStyle/>
                    <a:p>
                      <a:pPr algn="ctr"/>
                      <a:r>
                        <a:rPr sz="2400" b="0">
                          <a:solidFill>
                            <a:srgbClr val="1A2F2F"/>
                          </a:solidFill>
                          <a:latin typeface="Arial"/>
                        </a:rPr>
                        <a:t>Ưu tiên đánh giá và sửa buồng tử cung trước chuyển phôi</a:t>
                      </a:r>
                    </a:p>
                  </a:txBody>
                  <a:tcPr>
                    <a:solidFill>
                      <a:srgbClr val="E8F8F5"/>
                    </a:solidFill>
                  </a:tcPr>
                </a:tc>
                <a:extLst>
                  <a:ext uri="{0D108BD9-81ED-4DB2-BD59-A6C34878D82A}">
                    <a16:rowId xmlns:a16="http://schemas.microsoft.com/office/drawing/2014/main" val="10001"/>
                  </a:ext>
                </a:extLst>
              </a:tr>
              <a:tr h="594360">
                <a:tc>
                  <a:txBody>
                    <a:bodyPr/>
                    <a:lstStyle/>
                    <a:p>
                      <a:pPr algn="ctr"/>
                      <a:r>
                        <a:rPr sz="2400" b="0">
                          <a:solidFill>
                            <a:srgbClr val="1A2F2F"/>
                          </a:solidFill>
                          <a:latin typeface="Arial"/>
                        </a:rPr>
                        <a:t>3</a:t>
                      </a:r>
                    </a:p>
                  </a:txBody>
                  <a:tcPr>
                    <a:solidFill>
                      <a:srgbClr val="FFFFFF"/>
                    </a:solidFill>
                  </a:tcPr>
                </a:tc>
                <a:tc>
                  <a:txBody>
                    <a:bodyPr/>
                    <a:lstStyle/>
                    <a:p>
                      <a:pPr algn="ctr"/>
                      <a:r>
                        <a:rPr sz="2400" b="0">
                          <a:solidFill>
                            <a:srgbClr val="1A2F2F"/>
                          </a:solidFill>
                          <a:latin typeface="Arial"/>
                        </a:rPr>
                        <a:t>Chạm nội mạc, không lồi buồng tử cung</a:t>
                      </a:r>
                    </a:p>
                  </a:txBody>
                  <a:tcPr>
                    <a:solidFill>
                      <a:srgbClr val="FFFFFF"/>
                    </a:solidFill>
                  </a:tcPr>
                </a:tc>
                <a:tc>
                  <a:txBody>
                    <a:bodyPr/>
                    <a:lstStyle/>
                    <a:p>
                      <a:pPr algn="ctr"/>
                      <a:r>
                        <a:rPr sz="2400" b="0">
                          <a:solidFill>
                            <a:srgbClr val="1A2F2F"/>
                          </a:solidFill>
                          <a:latin typeface="Arial"/>
                        </a:rPr>
                        <a:t>Vùng xám trong ART</a:t>
                      </a:r>
                    </a:p>
                  </a:txBody>
                  <a:tcPr>
                    <a:solidFill>
                      <a:srgbClr val="FFFFFF"/>
                    </a:solidFill>
                  </a:tcPr>
                </a:tc>
                <a:extLst>
                  <a:ext uri="{0D108BD9-81ED-4DB2-BD59-A6C34878D82A}">
                    <a16:rowId xmlns:a16="http://schemas.microsoft.com/office/drawing/2014/main" val="10002"/>
                  </a:ext>
                </a:extLst>
              </a:tr>
              <a:tr h="594360">
                <a:tc>
                  <a:txBody>
                    <a:bodyPr/>
                    <a:lstStyle/>
                    <a:p>
                      <a:pPr algn="ctr"/>
                      <a:r>
                        <a:rPr sz="2400" b="0">
                          <a:solidFill>
                            <a:srgbClr val="1A2F2F"/>
                          </a:solidFill>
                          <a:latin typeface="Arial"/>
                        </a:rPr>
                        <a:t>4</a:t>
                      </a:r>
                    </a:p>
                  </a:txBody>
                  <a:tcPr>
                    <a:solidFill>
                      <a:srgbClr val="E8F8F5"/>
                    </a:solidFill>
                  </a:tcPr>
                </a:tc>
                <a:tc>
                  <a:txBody>
                    <a:bodyPr/>
                    <a:lstStyle/>
                    <a:p>
                      <a:pPr algn="ctr"/>
                      <a:r>
                        <a:rPr sz="2400" b="0">
                          <a:solidFill>
                            <a:srgbClr val="1A2F2F"/>
                          </a:solidFill>
                          <a:latin typeface="Arial"/>
                        </a:rPr>
                        <a:t>Trong cơ không chạm buồng tử cung</a:t>
                      </a:r>
                    </a:p>
                  </a:txBody>
                  <a:tcPr>
                    <a:solidFill>
                      <a:srgbClr val="E8F8F5"/>
                    </a:solidFill>
                  </a:tcPr>
                </a:tc>
                <a:tc>
                  <a:txBody>
                    <a:bodyPr/>
                    <a:lstStyle/>
                    <a:p>
                      <a:pPr algn="ctr"/>
                      <a:r>
                        <a:rPr sz="2400" b="0">
                          <a:solidFill>
                            <a:srgbClr val="1A2F2F"/>
                          </a:solidFill>
                          <a:latin typeface="Arial"/>
                        </a:rPr>
                        <a:t>Cá thể hóa theo từng ca</a:t>
                      </a:r>
                    </a:p>
                  </a:txBody>
                  <a:tcPr>
                    <a:solidFill>
                      <a:srgbClr val="E8F8F5"/>
                    </a:solidFill>
                  </a:tcPr>
                </a:tc>
                <a:extLst>
                  <a:ext uri="{0D108BD9-81ED-4DB2-BD59-A6C34878D82A}">
                    <a16:rowId xmlns:a16="http://schemas.microsoft.com/office/drawing/2014/main" val="10003"/>
                  </a:ext>
                </a:extLst>
              </a:tr>
              <a:tr h="594360">
                <a:tc>
                  <a:txBody>
                    <a:bodyPr/>
                    <a:lstStyle/>
                    <a:p>
                      <a:pPr algn="ctr"/>
                      <a:r>
                        <a:rPr sz="2400" b="0">
                          <a:solidFill>
                            <a:srgbClr val="1A2F2F"/>
                          </a:solidFill>
                          <a:latin typeface="Arial"/>
                        </a:rPr>
                        <a:t>5–7</a:t>
                      </a:r>
                    </a:p>
                  </a:txBody>
                  <a:tcPr>
                    <a:solidFill>
                      <a:srgbClr val="FFFFFF"/>
                    </a:solidFill>
                  </a:tcPr>
                </a:tc>
                <a:tc>
                  <a:txBody>
                    <a:bodyPr/>
                    <a:lstStyle/>
                    <a:p>
                      <a:pPr algn="ctr"/>
                      <a:r>
                        <a:rPr sz="2400" b="0">
                          <a:solidFill>
                            <a:srgbClr val="1A2F2F"/>
                          </a:solidFill>
                          <a:latin typeface="Arial"/>
                        </a:rPr>
                        <a:t>Dưới thanh mạc</a:t>
                      </a:r>
                    </a:p>
                  </a:txBody>
                  <a:tcPr>
                    <a:solidFill>
                      <a:srgbClr val="FFFFFF"/>
                    </a:solidFill>
                  </a:tcPr>
                </a:tc>
                <a:tc>
                  <a:txBody>
                    <a:bodyPr/>
                    <a:lstStyle/>
                    <a:p>
                      <a:pPr algn="ctr"/>
                      <a:r>
                        <a:rPr sz="2400" b="0">
                          <a:solidFill>
                            <a:srgbClr val="1A2F2F"/>
                          </a:solidFill>
                          <a:latin typeface="Arial"/>
                        </a:rPr>
                        <a:t>Thường không mổ chỉ vì chuẩn bị IVF</a:t>
                      </a:r>
                    </a:p>
                  </a:txBody>
                  <a:tcPr>
                    <a:solidFill>
                      <a:srgbClr val="FFFFFF"/>
                    </a:solidFill>
                  </a:tcPr>
                </a:tc>
                <a:extLst>
                  <a:ext uri="{0D108BD9-81ED-4DB2-BD59-A6C34878D82A}">
                    <a16:rowId xmlns:a16="http://schemas.microsoft.com/office/drawing/2014/main" val="10004"/>
                  </a:ext>
                </a:extLst>
              </a:tr>
              <a:tr h="594360">
                <a:tc>
                  <a:txBody>
                    <a:bodyPr/>
                    <a:lstStyle/>
                    <a:p>
                      <a:pPr algn="ctr"/>
                      <a:r>
                        <a:rPr sz="2400" b="0">
                          <a:solidFill>
                            <a:srgbClr val="1A2F2F"/>
                          </a:solidFill>
                          <a:latin typeface="Arial"/>
                        </a:rPr>
                        <a:t>8</a:t>
                      </a:r>
                    </a:p>
                  </a:txBody>
                  <a:tcPr>
                    <a:solidFill>
                      <a:srgbClr val="E8F8F5"/>
                    </a:solidFill>
                  </a:tcPr>
                </a:tc>
                <a:tc>
                  <a:txBody>
                    <a:bodyPr/>
                    <a:lstStyle/>
                    <a:p>
                      <a:pPr algn="ctr"/>
                      <a:r>
                        <a:rPr sz="2400" b="0">
                          <a:solidFill>
                            <a:srgbClr val="1A2F2F"/>
                          </a:solidFill>
                          <a:latin typeface="Arial"/>
                        </a:rPr>
                        <a:t>Vị trí đặc biệt (cổ tử cung, dây chằng, ký sinh)</a:t>
                      </a:r>
                    </a:p>
                  </a:txBody>
                  <a:tcPr>
                    <a:solidFill>
                      <a:srgbClr val="E8F8F5"/>
                    </a:solidFill>
                  </a:tcPr>
                </a:tc>
                <a:tc>
                  <a:txBody>
                    <a:bodyPr/>
                    <a:lstStyle/>
                    <a:p>
                      <a:pPr algn="ctr"/>
                      <a:r>
                        <a:rPr sz="2400" b="0">
                          <a:solidFill>
                            <a:srgbClr val="1A2F2F"/>
                          </a:solidFill>
                          <a:latin typeface="Arial"/>
                        </a:rPr>
                        <a:t>Cần lập bản đồ riêng</a:t>
                      </a:r>
                    </a:p>
                  </a:txBody>
                  <a:tcPr>
                    <a:solidFill>
                      <a:srgbClr val="E8F8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FIGO 0–2 — nhóm ảnh hưởng trực tiếp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2200" b="1" i="0">
                <a:solidFill>
                  <a:srgbClr val="00977A"/>
                </a:solidFill>
                <a:latin typeface="Arial"/>
              </a:rPr>
              <a:t>Mô tả</a:t>
            </a:r>
          </a:p>
        </p:txBody>
      </p:sp>
      <p:sp>
        <p:nvSpPr>
          <p:cNvPr id="9" name="TextBox 8"/>
          <p:cNvSpPr txBox="1"/>
          <p:nvPr/>
        </p:nvSpPr>
        <p:spPr>
          <a:xfrm>
            <a:off x="640080" y="2468880"/>
            <a:ext cx="5029200" cy="2857192"/>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Type 0: hoàn toàn trong buồng tử cung, có cuống.</a:t>
            </a:r>
          </a:p>
          <a:p>
            <a:pPr>
              <a:spcBef>
                <a:spcPts val="500"/>
              </a:spcBef>
              <a:spcAft>
                <a:spcPts val="200"/>
              </a:spcAft>
            </a:pPr>
            <a:r>
              <a:rPr sz="2800">
                <a:solidFill>
                  <a:srgbClr val="1A2F2F"/>
                </a:solidFill>
                <a:latin typeface="Arial"/>
              </a:rPr>
              <a:t>  –  Type 1: phần lớn trong buồng tử cung.</a:t>
            </a:r>
          </a:p>
          <a:p>
            <a:pPr>
              <a:spcBef>
                <a:spcPts val="500"/>
              </a:spcBef>
              <a:spcAft>
                <a:spcPts val="200"/>
              </a:spcAft>
            </a:pPr>
            <a:r>
              <a:rPr sz="2800">
                <a:solidFill>
                  <a:srgbClr val="1A2F2F"/>
                </a:solidFill>
                <a:latin typeface="Arial"/>
              </a:rPr>
              <a:t>  –  Type 2: phần lớn trong cơ nhưng lồi vào buồng.</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2200" b="1" i="0">
                <a:solidFill>
                  <a:srgbClr val="E53E3E"/>
                </a:solidFill>
                <a:latin typeface="Arial"/>
              </a:rPr>
              <a:t>Xử trí ART</a:t>
            </a:r>
          </a:p>
        </p:txBody>
      </p:sp>
      <p:sp>
        <p:nvSpPr>
          <p:cNvPr id="13" name="TextBox 12"/>
          <p:cNvSpPr txBox="1"/>
          <p:nvPr/>
        </p:nvSpPr>
        <p:spPr>
          <a:xfrm>
            <a:off x="6519672" y="2468880"/>
            <a:ext cx="5029200" cy="2857192"/>
          </a:xfrm>
          <a:prstGeom prst="rect">
            <a:avLst/>
          </a:prstGeom>
          <a:noFill/>
        </p:spPr>
        <p:txBody>
          <a:bodyPr wrap="square" lIns="36576" rIns="36576">
            <a:spAutoFit/>
          </a:bodyPr>
          <a:lstStyle/>
          <a:p>
            <a:pPr>
              <a:spcBef>
                <a:spcPts val="500"/>
              </a:spcBef>
              <a:spcAft>
                <a:spcPts val="200"/>
              </a:spcAft>
            </a:pPr>
            <a:r>
              <a:rPr sz="2800">
                <a:solidFill>
                  <a:srgbClr val="FFFFFF"/>
                </a:solidFill>
                <a:latin typeface="Arial"/>
              </a:rPr>
              <a:t>  –  Ảnh hưởng trực tiếp nơi phôi bám.</a:t>
            </a:r>
          </a:p>
          <a:p>
            <a:pPr>
              <a:spcBef>
                <a:spcPts val="500"/>
              </a:spcBef>
              <a:spcAft>
                <a:spcPts val="200"/>
              </a:spcAft>
            </a:pPr>
            <a:r>
              <a:rPr sz="2800">
                <a:solidFill>
                  <a:srgbClr val="FFFFFF"/>
                </a:solidFill>
                <a:latin typeface="Arial"/>
              </a:rPr>
              <a:t>  –  Thường chỉ định xử trí trước chuyển phôi.</a:t>
            </a:r>
          </a:p>
          <a:p>
            <a:pPr>
              <a:spcBef>
                <a:spcPts val="500"/>
              </a:spcBef>
              <a:spcAft>
                <a:spcPts val="200"/>
              </a:spcAft>
            </a:pPr>
            <a:r>
              <a:rPr sz="2800">
                <a:solidFill>
                  <a:srgbClr val="FFFFFF"/>
                </a:solidFill>
                <a:latin typeface="Arial"/>
              </a:rPr>
              <a:t>  –  Đường nội soi buồng tử cung phù hợp nhất.</a:t>
            </a:r>
          </a:p>
        </p:txBody>
      </p:sp>
      <p:sp>
        <p:nvSpPr>
          <p:cNvPr id="16" name="Rectangle 1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E81A8-4956-C604-2916-EEBFD7521B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DBF0AE7-379F-D4C6-E095-0E06A64CBB05}"/>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6C897AE1-A199-DBC9-CF86-945D8718D489}"/>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0–2</a:t>
            </a:r>
          </a:p>
        </p:txBody>
      </p:sp>
      <p:sp>
        <p:nvSpPr>
          <p:cNvPr id="5" name="Rectangle 4">
            <a:extLst>
              <a:ext uri="{FF2B5EF4-FFF2-40B4-BE49-F238E27FC236}">
                <a16:creationId xmlns:a16="http://schemas.microsoft.com/office/drawing/2014/main" id="{2147206D-6DD4-8140-E350-28F666581BA2}"/>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E7883295-5C7B-12CB-076B-57E766DA8BCB}"/>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2" name="Picture 11">
            <a:extLst>
              <a:ext uri="{FF2B5EF4-FFF2-40B4-BE49-F238E27FC236}">
                <a16:creationId xmlns:a16="http://schemas.microsoft.com/office/drawing/2014/main" id="{3B6BE397-57AF-BF7A-71CA-3D2481CF101B}"/>
              </a:ext>
            </a:extLst>
          </p:cNvPr>
          <p:cNvPicPr>
            <a:picLocks noChangeAspect="1"/>
          </p:cNvPicPr>
          <p:nvPr/>
        </p:nvPicPr>
        <p:blipFill>
          <a:blip r:embed="rId3"/>
          <a:stretch>
            <a:fillRect/>
          </a:stretch>
        </p:blipFill>
        <p:spPr>
          <a:xfrm>
            <a:off x="669480" y="1546099"/>
            <a:ext cx="10580640" cy="3049714"/>
          </a:xfrm>
          <a:prstGeom prst="rect">
            <a:avLst/>
          </a:prstGeom>
        </p:spPr>
      </p:pic>
      <p:sp>
        <p:nvSpPr>
          <p:cNvPr id="18" name="TextBox 17">
            <a:extLst>
              <a:ext uri="{FF2B5EF4-FFF2-40B4-BE49-F238E27FC236}">
                <a16:creationId xmlns:a16="http://schemas.microsoft.com/office/drawing/2014/main" id="{CB2E0985-E229-BF1F-E14D-364854C7839F}"/>
              </a:ext>
            </a:extLst>
          </p:cNvPr>
          <p:cNvSpPr txBox="1"/>
          <p:nvPr/>
        </p:nvSpPr>
        <p:spPr>
          <a:xfrm>
            <a:off x="2040271" y="4698428"/>
            <a:ext cx="8300434"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0 — U xơ tử cung hoàn toàn trong buồng tử cung (dưới niêm mạc có cuống).</a:t>
            </a: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 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ngả bụng cho thấy một u xơ trong buồng tử cung (mũi tên) đang sa vào ống cổ tử cung với khối u (F) và cuống u (s) trên mặt cắt dọc ở một bệnh nhân nữ 45 tuổi.</a:t>
            </a:r>
          </a:p>
        </p:txBody>
      </p:sp>
    </p:spTree>
    <p:extLst>
      <p:ext uri="{BB962C8B-B14F-4D97-AF65-F5344CB8AC3E}">
        <p14:creationId xmlns:p14="http://schemas.microsoft.com/office/powerpoint/2010/main" val="3832249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0D799-DC31-74CB-7AE9-CB05D870939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9DF70F0-38BC-4A36-7FC3-2F3C39676F0C}"/>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E9DC8BB8-8F75-9F7F-A996-F9223F1BC58E}"/>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0–2</a:t>
            </a:r>
          </a:p>
        </p:txBody>
      </p:sp>
      <p:pic>
        <p:nvPicPr>
          <p:cNvPr id="2" name="Picture 1">
            <a:extLst>
              <a:ext uri="{FF2B5EF4-FFF2-40B4-BE49-F238E27FC236}">
                <a16:creationId xmlns:a16="http://schemas.microsoft.com/office/drawing/2014/main" id="{CAD98C84-B0E8-F4D7-8E77-93AFE4C08A42}"/>
              </a:ext>
            </a:extLst>
          </p:cNvPr>
          <p:cNvPicPr>
            <a:picLocks noChangeAspect="1"/>
          </p:cNvPicPr>
          <p:nvPr/>
        </p:nvPicPr>
        <p:blipFill>
          <a:blip r:embed="rId3"/>
          <a:stretch>
            <a:fillRect/>
          </a:stretch>
        </p:blipFill>
        <p:spPr>
          <a:xfrm>
            <a:off x="0" y="1452483"/>
            <a:ext cx="7183284" cy="4453636"/>
          </a:xfrm>
          <a:prstGeom prst="rect">
            <a:avLst/>
          </a:prstGeom>
        </p:spPr>
      </p:pic>
      <p:sp>
        <p:nvSpPr>
          <p:cNvPr id="13" name="TextBox 12">
            <a:extLst>
              <a:ext uri="{FF2B5EF4-FFF2-40B4-BE49-F238E27FC236}">
                <a16:creationId xmlns:a16="http://schemas.microsoft.com/office/drawing/2014/main" id="{4298126C-C990-5569-DCDA-BB968555D875}"/>
              </a:ext>
            </a:extLst>
          </p:cNvPr>
          <p:cNvSpPr txBox="1"/>
          <p:nvPr/>
        </p:nvSpPr>
        <p:spPr>
          <a:xfrm>
            <a:off x="7246784" y="1452483"/>
            <a:ext cx="4942041" cy="424731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1 </a:t>
            </a: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bụng cho thấy u xơ FIGO 1 (F) (mũi tên trắng), buồng nội mạc tử cung (EC) và bàng quang (B).</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ngang trên siêu âm ngả âm đạo cho thấy hai khối u xơ FIGO 1 (mũi tên trắng và vàng).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d:</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âm đạo kết hợp Doppler màu cho thấy cấu trúc mạch máu của khối u và</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e:</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Cho thấy sự đẩy lệch buồng nội mạc tử cung (EC) cũng như mối tương quan giữa khối u với buồng tử cung (đường màu vàng).</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3D cho thấy khối u xơ FIGO 1 lớn hơn đang lồi vào trong buồng nội mạc tử cung.</a:t>
            </a:r>
          </a:p>
        </p:txBody>
      </p:sp>
    </p:spTree>
    <p:extLst>
      <p:ext uri="{BB962C8B-B14F-4D97-AF65-F5344CB8AC3E}">
        <p14:creationId xmlns:p14="http://schemas.microsoft.com/office/powerpoint/2010/main" val="390307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0CB16-C20C-0D17-87E0-2EFA15F9BA9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C802361-D885-D749-37E0-2648EE694ABD}"/>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F5242228-54DB-BEC1-1370-57F8625ED72C}"/>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0–2</a:t>
            </a:r>
          </a:p>
        </p:txBody>
      </p:sp>
      <p:pic>
        <p:nvPicPr>
          <p:cNvPr id="5" name="Picture 4">
            <a:extLst>
              <a:ext uri="{FF2B5EF4-FFF2-40B4-BE49-F238E27FC236}">
                <a16:creationId xmlns:a16="http://schemas.microsoft.com/office/drawing/2014/main" id="{CA948840-07E4-9E20-0FF1-13A0121B05D8}"/>
              </a:ext>
            </a:extLst>
          </p:cNvPr>
          <p:cNvPicPr>
            <a:picLocks noChangeAspect="1"/>
          </p:cNvPicPr>
          <p:nvPr/>
        </p:nvPicPr>
        <p:blipFill>
          <a:blip r:embed="rId3"/>
          <a:stretch>
            <a:fillRect/>
          </a:stretch>
        </p:blipFill>
        <p:spPr>
          <a:xfrm>
            <a:off x="1002922" y="1549072"/>
            <a:ext cx="9693407" cy="2725558"/>
          </a:xfrm>
          <a:prstGeom prst="rect">
            <a:avLst/>
          </a:prstGeom>
        </p:spPr>
      </p:pic>
      <p:sp>
        <p:nvSpPr>
          <p:cNvPr id="7" name="TextBox 6">
            <a:extLst>
              <a:ext uri="{FF2B5EF4-FFF2-40B4-BE49-F238E27FC236}">
                <a16:creationId xmlns:a16="http://schemas.microsoft.com/office/drawing/2014/main" id="{5C9C9B01-BAC1-1FD4-0CF5-81046BE3A802}"/>
              </a:ext>
            </a:extLst>
          </p:cNvPr>
          <p:cNvSpPr txBox="1"/>
          <p:nvPr/>
        </p:nvSpPr>
        <p:spPr>
          <a:xfrm>
            <a:off x="2516532" y="4367772"/>
            <a:ext cx="7720884"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2 </a:t>
            </a: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âm đạo cho thấy u xơ FIGO 2 (mũi tên trắng).</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Doppler màu cho thấy các mạch máu nuôi bao quanh ngoại vi của khối u.</a:t>
            </a:r>
          </a:p>
        </p:txBody>
      </p:sp>
    </p:spTree>
    <p:extLst>
      <p:ext uri="{BB962C8B-B14F-4D97-AF65-F5344CB8AC3E}">
        <p14:creationId xmlns:p14="http://schemas.microsoft.com/office/powerpoint/2010/main" val="842373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200" b="1" i="0">
                <a:solidFill>
                  <a:srgbClr val="0D2B2B"/>
                </a:solidFill>
                <a:latin typeface="Arial"/>
              </a:rPr>
              <a:t>FIGO 3 — chạm nội mạc, không lồi buồng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516073"/>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Không thấy lồi buồng tử cung như u dưới niêm mạc.</a:t>
            </a:r>
          </a:p>
          <a:p>
            <a:pPr>
              <a:spcBef>
                <a:spcPts val="500"/>
              </a:spcBef>
              <a:spcAft>
                <a:spcPts val="200"/>
              </a:spcAft>
            </a:pPr>
            <a:r>
              <a:rPr sz="2800">
                <a:solidFill>
                  <a:srgbClr val="1A2F2F"/>
                </a:solidFill>
                <a:latin typeface="Arial"/>
              </a:rPr>
              <a:t>  –  Nội soi buồng tử cung có thể gần bình thường.</a:t>
            </a:r>
          </a:p>
          <a:p>
            <a:pPr>
              <a:spcBef>
                <a:spcPts val="500"/>
              </a:spcBef>
              <a:spcAft>
                <a:spcPts val="200"/>
              </a:spcAft>
            </a:pPr>
            <a:r>
              <a:rPr sz="2800">
                <a:solidFill>
                  <a:srgbClr val="1A2F2F"/>
                </a:solidFill>
                <a:latin typeface="Arial"/>
              </a:rPr>
              <a:t>  –  Cần phân biệt rõ với type 4 khi tư vấn ART.</a:t>
            </a:r>
          </a:p>
          <a:p>
            <a:pPr>
              <a:spcBef>
                <a:spcPts val="500"/>
              </a:spcBef>
              <a:spcAft>
                <a:spcPts val="200"/>
              </a:spcAft>
            </a:pPr>
            <a:r>
              <a:rPr sz="2800">
                <a:solidFill>
                  <a:srgbClr val="1A2F2F"/>
                </a:solidFill>
                <a:latin typeface="Arial"/>
              </a:rPr>
              <a:t>  –  Là vùng xám cần cá thể hoá theo </a:t>
            </a:r>
            <a:r>
              <a:rPr lang="en-US" sz="2800">
                <a:solidFill>
                  <a:srgbClr val="1A2F2F"/>
                </a:solidFill>
                <a:latin typeface="Arial"/>
              </a:rPr>
              <a:t>tinh trạng : Chuyển phôi thất bại liên tiếp (RIF)</a:t>
            </a:r>
            <a:r>
              <a:rPr sz="2800">
                <a:solidFill>
                  <a:srgbClr val="1A2F2F"/>
                </a:solidFill>
                <a:latin typeface="Arial"/>
              </a:rPr>
              <a:t>, phôi quý, kích thước và diện tiếp xúc nội mạc.</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C2555-950D-460A-23FE-3DE0DF860F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7A05AA7-B1F7-908F-C1CA-F2DFB2419AB9}"/>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4902A2A2-FD80-89BC-8E7A-E26E0F074B0F}"/>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3</a:t>
            </a:r>
          </a:p>
        </p:txBody>
      </p:sp>
      <p:sp>
        <p:nvSpPr>
          <p:cNvPr id="5" name="Rectangle 4">
            <a:extLst>
              <a:ext uri="{FF2B5EF4-FFF2-40B4-BE49-F238E27FC236}">
                <a16:creationId xmlns:a16="http://schemas.microsoft.com/office/drawing/2014/main" id="{A0B4E7AF-1A5C-FA18-F2A6-E32FAA478256}"/>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8300D02A-9000-6A49-97D2-9302EFC9D91C}"/>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12B19D87-7D6B-D27C-D1BC-C614020137BC}"/>
              </a:ext>
            </a:extLst>
          </p:cNvPr>
          <p:cNvPicPr>
            <a:picLocks noChangeAspect="1"/>
          </p:cNvPicPr>
          <p:nvPr/>
        </p:nvPicPr>
        <p:blipFill>
          <a:blip r:embed="rId3"/>
          <a:stretch>
            <a:fillRect/>
          </a:stretch>
        </p:blipFill>
        <p:spPr>
          <a:xfrm>
            <a:off x="320040" y="1470084"/>
            <a:ext cx="5176519" cy="4847658"/>
          </a:xfrm>
          <a:prstGeom prst="rect">
            <a:avLst/>
          </a:prstGeom>
        </p:spPr>
      </p:pic>
      <p:sp>
        <p:nvSpPr>
          <p:cNvPr id="8" name="TextBox 7">
            <a:extLst>
              <a:ext uri="{FF2B5EF4-FFF2-40B4-BE49-F238E27FC236}">
                <a16:creationId xmlns:a16="http://schemas.microsoft.com/office/drawing/2014/main" id="{76601D7E-A5A0-C6DF-07F1-26CDF7E6F34F}"/>
              </a:ext>
            </a:extLst>
          </p:cNvPr>
          <p:cNvSpPr txBox="1"/>
          <p:nvPr/>
        </p:nvSpPr>
        <p:spPr>
          <a:xfrm>
            <a:off x="5937162" y="1841321"/>
            <a:ext cx="5044010" cy="37856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3 </a:t>
            </a:r>
            <a:endParaRPr kumimoji="0" lang="en-US" sz="20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âm đạo cho thấy u xơ FIGO 3 (mũi tên trắng) và mối tương quan của nó với buồng nội mạc tử cung (mũi tên vàng).</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ngang trên siêu âm ngả âm đạo cho thấy u xơ FIGO 3 tiếp xúc với nội mạc tử cung nhưng không có thành phần nào lấn vào dưới niêm mạc (các mũi tên).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c:</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3D cho thấy mối tương quan của u xơ với buồng nội mạc tử cung (các mũi tên).</a:t>
            </a:r>
          </a:p>
        </p:txBody>
      </p:sp>
    </p:spTree>
    <p:extLst>
      <p:ext uri="{BB962C8B-B14F-4D97-AF65-F5344CB8AC3E}">
        <p14:creationId xmlns:p14="http://schemas.microsoft.com/office/powerpoint/2010/main" val="1114323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500" b="1" i="0">
                <a:solidFill>
                  <a:srgbClr val="0D2B2B"/>
                </a:solidFill>
                <a:latin typeface="Arial"/>
              </a:rPr>
              <a:t>FIGO 4 — trong cơ, không chạm buồng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5776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U nằm trọn trong cơ.</a:t>
            </a:r>
          </a:p>
          <a:p>
            <a:pPr>
              <a:spcBef>
                <a:spcPts val="500"/>
              </a:spcBef>
              <a:spcAft>
                <a:spcPts val="200"/>
              </a:spcAft>
            </a:pPr>
            <a:r>
              <a:rPr sz="2400">
                <a:solidFill>
                  <a:srgbClr val="1A2F2F"/>
                </a:solidFill>
                <a:latin typeface="Arial"/>
              </a:rPr>
              <a:t>  –  Quyết định theo kích thước, số lượng, triệu chứng, tuổi noãn và số phôi hiện có.</a:t>
            </a:r>
          </a:p>
          <a:p>
            <a:pPr>
              <a:spcBef>
                <a:spcPts val="500"/>
              </a:spcBef>
              <a:spcAft>
                <a:spcPts val="200"/>
              </a:spcAft>
            </a:pPr>
            <a:r>
              <a:rPr sz="2400">
                <a:solidFill>
                  <a:srgbClr val="1A2F2F"/>
                </a:solidFill>
                <a:latin typeface="Arial"/>
              </a:rPr>
              <a:t>  –  Không tự động mổ chỉ vì IVF.</a:t>
            </a:r>
          </a:p>
          <a:p>
            <a:pPr>
              <a:spcBef>
                <a:spcPts val="500"/>
              </a:spcBef>
              <a:spcAft>
                <a:spcPts val="200"/>
              </a:spcAft>
            </a:pPr>
            <a:r>
              <a:rPr sz="2400">
                <a:solidFill>
                  <a:srgbClr val="1A2F2F"/>
                </a:solidFill>
                <a:latin typeface="Arial"/>
              </a:rPr>
              <a:t>  –  Khi phân loại mơ hồ giữa 3 và 4, dùng 3D, bơm nước buồng tử cung hoặc MRI theo câu hỏi.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9BAD9-3BE3-7FE9-D167-5EC72C2B61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EA118EA-621F-DC6A-C232-E3322800CB50}"/>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9936519-D904-1900-8F17-753E43AFDC72}"/>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4</a:t>
            </a:r>
          </a:p>
        </p:txBody>
      </p:sp>
      <p:sp>
        <p:nvSpPr>
          <p:cNvPr id="7" name="Rectangle 6">
            <a:extLst>
              <a:ext uri="{FF2B5EF4-FFF2-40B4-BE49-F238E27FC236}">
                <a16:creationId xmlns:a16="http://schemas.microsoft.com/office/drawing/2014/main" id="{C4A860F7-AD20-DC8F-D517-5AF9F886F366}"/>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026" name="Picture 2" descr="FIGO 4—intramural leiomyoma with no endometrial or subserosal contact. a Longitudinal and b transverse view on transvaginal ultrasound demonstrating FIGO 4 leiomyoma (white arrows) and the endometrial cavity (yellow arrow). c 3-D ultrasound demonstrating FIGO 4 leiomyoma. Note that the mass has no contact with the endometrium or the serosa. d Illustration depicting FIGO 4 leiomyoma">
            <a:extLst>
              <a:ext uri="{FF2B5EF4-FFF2-40B4-BE49-F238E27FC236}">
                <a16:creationId xmlns:a16="http://schemas.microsoft.com/office/drawing/2014/main" id="{B6E2F58F-B95F-568A-BF8D-AAC36DDB7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338" y="1204332"/>
            <a:ext cx="5335074" cy="497142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76E55DC-4BFF-3C98-E364-6BC23F505767}"/>
              </a:ext>
            </a:extLst>
          </p:cNvPr>
          <p:cNvSpPr txBox="1"/>
          <p:nvPr/>
        </p:nvSpPr>
        <p:spPr>
          <a:xfrm>
            <a:off x="6286822" y="2015644"/>
            <a:ext cx="5348727" cy="203132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4 </a:t>
            </a: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và </a:t>
            </a: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ngang trên siêu âm ngả âm đạo cho thấy u xơ FIGO 4 (mũi tên trắng) và buồng nội mạc tử cung (mũi tên vàng).</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c:</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3D mô tả u xơ FIGO 4. Lưu ý rằng khối u không có bất kỳ điểm tiếp xúc nào với nội mạc tử cung hoặc lớp thanh mạc.</a:t>
            </a:r>
          </a:p>
        </p:txBody>
      </p:sp>
    </p:spTree>
    <p:extLst>
      <p:ext uri="{BB962C8B-B14F-4D97-AF65-F5344CB8AC3E}">
        <p14:creationId xmlns:p14="http://schemas.microsoft.com/office/powerpoint/2010/main" val="2981725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FIGO 5–7 và type 8</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5–7: dưới thanh mạc, xa buồng tử cung hơn.</a:t>
            </a:r>
          </a:p>
          <a:p>
            <a:pPr>
              <a:spcBef>
                <a:spcPts val="500"/>
              </a:spcBef>
              <a:spcAft>
                <a:spcPts val="200"/>
              </a:spcAft>
            </a:pPr>
            <a:r>
              <a:rPr sz="2000">
                <a:solidFill>
                  <a:srgbClr val="1A2F2F"/>
                </a:solidFill>
                <a:latin typeface="Arial"/>
              </a:rPr>
              <a:t>  –  Thường không ảnh hưởng khả năng làm tổ nếu nhỏ và không triệu chứng.</a:t>
            </a:r>
          </a:p>
          <a:p>
            <a:pPr>
              <a:spcBef>
                <a:spcPts val="500"/>
              </a:spcBef>
              <a:spcAft>
                <a:spcPts val="200"/>
              </a:spcAft>
            </a:pPr>
            <a:r>
              <a:rPr sz="2000">
                <a:solidFill>
                  <a:srgbClr val="1A2F2F"/>
                </a:solidFill>
                <a:latin typeface="Arial"/>
              </a:rPr>
              <a:t>  –  Mổ khi có triệu chứng, khối lớn, xoắn, hoặc cản thao tác.</a:t>
            </a:r>
          </a:p>
          <a:p>
            <a:pPr>
              <a:spcBef>
                <a:spcPts val="500"/>
              </a:spcBef>
              <a:spcAft>
                <a:spcPts val="200"/>
              </a:spcAft>
            </a:pPr>
            <a:r>
              <a:rPr sz="2000">
                <a:solidFill>
                  <a:srgbClr val="1A2F2F"/>
                </a:solidFill>
                <a:latin typeface="Arial"/>
              </a:rPr>
              <a:t>  –  Type 8: cổ tử cung, dây chằng rộng, vị trí đặc biệt — lập bản đồ MRI riêng.</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849FE-2F55-29ED-56BE-286F04382D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0598CC-FFEA-25C0-10C3-080E425CBD92}"/>
              </a:ext>
            </a:extLst>
          </p:cNvPr>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EEE445C8-8F14-828F-AEA6-385308FB05D8}"/>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BBD1CAD2-5C1E-10B6-79F3-0575E8571F86}"/>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 FIGO type 5–7</a:t>
            </a:r>
          </a:p>
        </p:txBody>
      </p:sp>
      <p:sp>
        <p:nvSpPr>
          <p:cNvPr id="5" name="Rectangle 4">
            <a:extLst>
              <a:ext uri="{FF2B5EF4-FFF2-40B4-BE49-F238E27FC236}">
                <a16:creationId xmlns:a16="http://schemas.microsoft.com/office/drawing/2014/main" id="{6712FA16-2B2A-8427-1091-F1EF972CB49E}"/>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980A352F-FC45-0D28-3175-87D21DB0BD4B}"/>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2050" name="Picture 2" descr="FIGO 5—subserosal fibroid with less than 50% subserosal component and more than 50% intramural component. a Longitudinal view on transvaginal ultrasound demonstrating FIGO 5 leiomyoma (white arrow). In addition, note that a FIGO 2 submucosal leiomyoma with &lt; 50% submucosal component (yellow arrow). b Illustration depicting FIGO 5 leiomyoma">
            <a:extLst>
              <a:ext uri="{FF2B5EF4-FFF2-40B4-BE49-F238E27FC236}">
                <a16:creationId xmlns:a16="http://schemas.microsoft.com/office/drawing/2014/main" id="{5ADBD38D-1D43-D8FE-45A0-473AF6329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 y="1636757"/>
            <a:ext cx="8096250" cy="4048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AE12043-A454-3139-5429-56A7B4A57031}"/>
              </a:ext>
            </a:extLst>
          </p:cNvPr>
          <p:cNvSpPr txBox="1"/>
          <p:nvPr/>
        </p:nvSpPr>
        <p:spPr>
          <a:xfrm>
            <a:off x="8224449" y="2003751"/>
            <a:ext cx="3754191" cy="203132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5 </a:t>
            </a: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âm đạo cho thấy u xơ FIGO 5 (mũi tên trắng). Ngoài ra, lưu ý thêm một u xơ dưới niêm mạc FIGO 2 với thành phần dưới niêm mạc dưới 50% (mũi tên vàng).</a:t>
            </a:r>
          </a:p>
        </p:txBody>
      </p:sp>
    </p:spTree>
    <p:extLst>
      <p:ext uri="{BB962C8B-B14F-4D97-AF65-F5344CB8AC3E}">
        <p14:creationId xmlns:p14="http://schemas.microsoft.com/office/powerpoint/2010/main" val="2882022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E3AB3-2B9E-7DB4-8590-F91D37D6D45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881085-C1D1-C958-ED59-03C04E16C1CD}"/>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253E1E7-D58F-EA51-2455-63BF53D32DD3}"/>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 FIGO type 5–7</a:t>
            </a:r>
          </a:p>
        </p:txBody>
      </p:sp>
      <p:sp>
        <p:nvSpPr>
          <p:cNvPr id="5" name="Rectangle 4">
            <a:extLst>
              <a:ext uri="{FF2B5EF4-FFF2-40B4-BE49-F238E27FC236}">
                <a16:creationId xmlns:a16="http://schemas.microsoft.com/office/drawing/2014/main" id="{95F5192A-4161-4C96-6B84-F690C4FB7A9F}"/>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79A40D2C-FB0C-10D6-AF1F-AC80491CDF35}"/>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8C7B1217-8255-6406-C617-9FFF21545437}"/>
              </a:ext>
            </a:extLst>
          </p:cNvPr>
          <p:cNvPicPr>
            <a:picLocks noChangeAspect="1"/>
          </p:cNvPicPr>
          <p:nvPr/>
        </p:nvPicPr>
        <p:blipFill>
          <a:blip r:embed="rId3"/>
          <a:stretch>
            <a:fillRect/>
          </a:stretch>
        </p:blipFill>
        <p:spPr>
          <a:xfrm>
            <a:off x="548640" y="1642550"/>
            <a:ext cx="6368967" cy="4533206"/>
          </a:xfrm>
          <a:prstGeom prst="rect">
            <a:avLst/>
          </a:prstGeom>
        </p:spPr>
      </p:pic>
      <p:sp>
        <p:nvSpPr>
          <p:cNvPr id="12" name="TextBox 11">
            <a:extLst>
              <a:ext uri="{FF2B5EF4-FFF2-40B4-BE49-F238E27FC236}">
                <a16:creationId xmlns:a16="http://schemas.microsoft.com/office/drawing/2014/main" id="{48F14305-7191-79A8-D774-AEBA4B6188D7}"/>
              </a:ext>
            </a:extLst>
          </p:cNvPr>
          <p:cNvSpPr txBox="1"/>
          <p:nvPr/>
        </p:nvSpPr>
        <p:spPr>
          <a:xfrm>
            <a:off x="7116866" y="1719120"/>
            <a:ext cx="4861774" cy="224676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FIGO 6 </a:t>
            </a:r>
            <a:endParaRPr kumimoji="0" lang="en-US" sz="20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và </a:t>
            </a: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ngang trên siêu âm ngả âm đạo cho thấy u xơ FIGO 6 (các mũi tên).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2000" b="1" i="0" u="none" strike="noStrike" kern="1200" cap="none" spc="0" normalizeH="0" baseline="0" noProof="0">
                <a:ln>
                  <a:noFill/>
                </a:ln>
                <a:solidFill>
                  <a:prstClr val="black"/>
                </a:solidFill>
                <a:effectLst/>
                <a:uLnTx/>
                <a:uFillTx/>
                <a:latin typeface="Arial" panose="020B0604020202020204" pitchFamily="34" charset="0"/>
                <a:ea typeface="+mn-ea"/>
                <a:cs typeface="+mn-cs"/>
              </a:rPr>
              <a:t>c:</a:t>
            </a:r>
            <a:r>
              <a:rPr kumimoji="0" lang="vi-VN" sz="20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Doppler màu cho thấy bản đồ mạch máu của khối u và lớp cơ tử cung xung quanh.</a:t>
            </a:r>
          </a:p>
        </p:txBody>
      </p:sp>
    </p:spTree>
    <p:extLst>
      <p:ext uri="{BB962C8B-B14F-4D97-AF65-F5344CB8AC3E}">
        <p14:creationId xmlns:p14="http://schemas.microsoft.com/office/powerpoint/2010/main" val="2668165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025C1-7E6A-63B2-BF3E-C8F3966FFF0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0634CE2-9EC4-A809-3BAE-D4E6D2558819}"/>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7F468CBF-F878-C043-F569-E7CB3DEB74E7}"/>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5–7</a:t>
            </a:r>
          </a:p>
        </p:txBody>
      </p:sp>
      <p:sp>
        <p:nvSpPr>
          <p:cNvPr id="5" name="Rectangle 4">
            <a:extLst>
              <a:ext uri="{FF2B5EF4-FFF2-40B4-BE49-F238E27FC236}">
                <a16:creationId xmlns:a16="http://schemas.microsoft.com/office/drawing/2014/main" id="{67BD4975-F14D-A846-B1F7-F0249D2A3F48}"/>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060AE246-03F6-C104-F5D6-B7E686CF91FB}"/>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3074" name="Picture 2" descr="FIGO 7—pedunculated subserosal leiomyoma. a, b Longitudinal view on transabdominal ultrasound demonstrating FIGO 7 leiomyoma (yellow arrow) with fibroid (F) and stalk (s). c Illustration depicting FIGO 7 leiomyoma">
            <a:extLst>
              <a:ext uri="{FF2B5EF4-FFF2-40B4-BE49-F238E27FC236}">
                <a16:creationId xmlns:a16="http://schemas.microsoft.com/office/drawing/2014/main" id="{7B68ED29-285E-E309-FFCA-664B3B502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44" y="1408938"/>
            <a:ext cx="9815335" cy="27021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DA695C9-7E4C-EE08-9BCB-6F0D424B6887}"/>
              </a:ext>
            </a:extLst>
          </p:cNvPr>
          <p:cNvSpPr txBox="1"/>
          <p:nvPr/>
        </p:nvSpPr>
        <p:spPr>
          <a:xfrm>
            <a:off x="2960854" y="4654992"/>
            <a:ext cx="6091706" cy="9233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IGO 7 </a:t>
            </a:r>
            <a:endParaRPr kumimoji="0" lang="en-US" sz="1800" b="1"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 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bụng cho thấy u xơ FIGO 7 (mũi tên vàng) với khối u (F) và cuống u (s).</a:t>
            </a:r>
          </a:p>
        </p:txBody>
      </p:sp>
    </p:spTree>
    <p:extLst>
      <p:ext uri="{BB962C8B-B14F-4D97-AF65-F5344CB8AC3E}">
        <p14:creationId xmlns:p14="http://schemas.microsoft.com/office/powerpoint/2010/main" val="1646627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669A-B2AE-07FD-FB1A-32F066F6C7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6C76DD-DC7E-413D-59DA-FBCFDE88064E}"/>
              </a:ext>
            </a:extLst>
          </p:cNvPr>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63F98E80-CDD5-381A-08E0-E92DE870B1ED}"/>
              </a:ext>
            </a:extLst>
          </p:cNvPr>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E3F339FF-AC2E-B865-1815-25129F22A2D3}"/>
              </a:ext>
            </a:extLst>
          </p:cNvPr>
          <p:cNvSpPr txBox="1"/>
          <p:nvPr/>
        </p:nvSpPr>
        <p:spPr>
          <a:xfrm>
            <a:off x="566928" y="416093"/>
            <a:ext cx="11247120" cy="621709"/>
          </a:xfrm>
          <a:prstGeom prst="rect">
            <a:avLst/>
          </a:prstGeom>
          <a:noFill/>
        </p:spPr>
        <p:txBody>
          <a:bodyPr wrap="square" lIns="36576" tIns="18288" rIns="36576" bIns="18288"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800" b="1" i="0" u="none" strike="noStrike" kern="1200" cap="none" spc="0" normalizeH="0" baseline="0" noProof="0">
                <a:ln>
                  <a:noFill/>
                </a:ln>
                <a:solidFill>
                  <a:srgbClr val="0D2B2B"/>
                </a:solidFill>
                <a:effectLst/>
                <a:uLnTx/>
                <a:uFillTx/>
                <a:latin typeface="Arial"/>
                <a:ea typeface="+mn-ea"/>
                <a:cs typeface="+mn-cs"/>
              </a:rPr>
              <a:t>FIGO type 8</a:t>
            </a:r>
          </a:p>
        </p:txBody>
      </p:sp>
      <p:sp>
        <p:nvSpPr>
          <p:cNvPr id="5" name="Rectangle 4">
            <a:extLst>
              <a:ext uri="{FF2B5EF4-FFF2-40B4-BE49-F238E27FC236}">
                <a16:creationId xmlns:a16="http://schemas.microsoft.com/office/drawing/2014/main" id="{F569703D-D3C2-C8C7-6A2F-91227B29C6CB}"/>
              </a:ext>
            </a:extLst>
          </p:cNvPr>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3650AA88-0560-7D2F-2FDF-C901A6598C32}"/>
              </a:ext>
            </a:extLst>
          </p:cNvPr>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4098" name="Picture 2" descr="FIGO 8—extrauterine leiomyoma. a Longitudinal view on transabdominal and b transvaginal ultrasound demonstrating a cervical fibroid. c Illustration depicting FIGO 8 leiomyoma">
            <a:extLst>
              <a:ext uri="{FF2B5EF4-FFF2-40B4-BE49-F238E27FC236}">
                <a16:creationId xmlns:a16="http://schemas.microsoft.com/office/drawing/2014/main" id="{B3BD587F-137C-FDC8-4E64-8981A6C863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599" y="1546098"/>
            <a:ext cx="9381625" cy="279241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8137D67-81F4-C7B7-6DCF-1CD4F57551E4}"/>
              </a:ext>
            </a:extLst>
          </p:cNvPr>
          <p:cNvSpPr txBox="1"/>
          <p:nvPr/>
        </p:nvSpPr>
        <p:spPr>
          <a:xfrm>
            <a:off x="2234484" y="4665523"/>
            <a:ext cx="8029978"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IGO 8 — U xơ tử cung ngoài tử cung (vị trí đặc biệt).</a:t>
            </a: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a:</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Mặt cắt dọc trên siêu âm ngả bụng và </a:t>
            </a:r>
            <a:r>
              <a:rPr kumimoji="0" lang="vi-VN"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b:</a:t>
            </a: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siêu âm ngả âm đạo cho thấy một khối u xơ ở cổ tử cung.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847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46871"/>
            <a:ext cx="11247120" cy="560153"/>
          </a:xfrm>
          <a:prstGeom prst="rect">
            <a:avLst/>
          </a:prstGeom>
          <a:noFill/>
        </p:spPr>
        <p:txBody>
          <a:bodyPr wrap="square" lIns="36576" tIns="18288" rIns="36576" bIns="18288" anchor="ctr">
            <a:spAutoFit/>
          </a:bodyPr>
          <a:lstStyle/>
          <a:p>
            <a:pPr algn="l"/>
            <a:r>
              <a:rPr sz="3400" b="1" i="0">
                <a:solidFill>
                  <a:srgbClr val="0D2B2B"/>
                </a:solidFill>
                <a:latin typeface="Arial"/>
              </a:rPr>
              <a:t>Type 3 và type 4</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2200" b="1" i="0">
                <a:solidFill>
                  <a:srgbClr val="00977A"/>
                </a:solidFill>
                <a:latin typeface="Arial"/>
              </a:rPr>
              <a:t>Type 3</a:t>
            </a:r>
          </a:p>
        </p:txBody>
      </p:sp>
      <p:sp>
        <p:nvSpPr>
          <p:cNvPr id="9" name="TextBox 8"/>
          <p:cNvSpPr txBox="1"/>
          <p:nvPr/>
        </p:nvSpPr>
        <p:spPr>
          <a:xfrm>
            <a:off x="640080" y="2468880"/>
            <a:ext cx="5029200" cy="2516073"/>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Chạm nội mạc.</a:t>
            </a:r>
          </a:p>
          <a:p>
            <a:pPr>
              <a:spcBef>
                <a:spcPts val="500"/>
              </a:spcBef>
              <a:spcAft>
                <a:spcPts val="200"/>
              </a:spcAft>
            </a:pPr>
            <a:r>
              <a:rPr sz="2800">
                <a:solidFill>
                  <a:srgbClr val="1A2F2F"/>
                </a:solidFill>
                <a:latin typeface="Arial"/>
              </a:rPr>
              <a:t>  –  Không lồi buồng tử cung.</a:t>
            </a:r>
          </a:p>
          <a:p>
            <a:pPr>
              <a:spcBef>
                <a:spcPts val="500"/>
              </a:spcBef>
              <a:spcAft>
                <a:spcPts val="200"/>
              </a:spcAft>
            </a:pPr>
            <a:r>
              <a:rPr sz="2800">
                <a:solidFill>
                  <a:srgbClr val="1A2F2F"/>
                </a:solidFill>
                <a:latin typeface="Arial"/>
              </a:rPr>
              <a:t>  –  Nội soi buồng tử cung có thể không thấy rõ.</a:t>
            </a:r>
          </a:p>
          <a:p>
            <a:pPr>
              <a:spcBef>
                <a:spcPts val="500"/>
              </a:spcBef>
              <a:spcAft>
                <a:spcPts val="200"/>
              </a:spcAft>
            </a:pPr>
            <a:r>
              <a:rPr sz="2800">
                <a:solidFill>
                  <a:srgbClr val="1A2F2F"/>
                </a:solidFill>
                <a:latin typeface="Arial"/>
              </a:rPr>
              <a:t>  –  Vùng xám trong ART.</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2200" b="1" i="0">
                <a:solidFill>
                  <a:srgbClr val="E53E3E"/>
                </a:solidFill>
                <a:latin typeface="Arial"/>
              </a:rPr>
              <a:t>Type 4</a:t>
            </a:r>
          </a:p>
        </p:txBody>
      </p:sp>
      <p:sp>
        <p:nvSpPr>
          <p:cNvPr id="13" name="TextBox 12"/>
          <p:cNvSpPr txBox="1"/>
          <p:nvPr/>
        </p:nvSpPr>
        <p:spPr>
          <a:xfrm>
            <a:off x="6519672" y="2468880"/>
            <a:ext cx="5029200" cy="2946961"/>
          </a:xfrm>
          <a:prstGeom prst="rect">
            <a:avLst/>
          </a:prstGeom>
          <a:noFill/>
        </p:spPr>
        <p:txBody>
          <a:bodyPr wrap="square" lIns="36576" rIns="36576">
            <a:spAutoFit/>
          </a:bodyPr>
          <a:lstStyle/>
          <a:p>
            <a:pPr>
              <a:spcBef>
                <a:spcPts val="500"/>
              </a:spcBef>
              <a:spcAft>
                <a:spcPts val="200"/>
              </a:spcAft>
            </a:pPr>
            <a:r>
              <a:rPr sz="2800">
                <a:solidFill>
                  <a:srgbClr val="FFFFFF"/>
                </a:solidFill>
                <a:latin typeface="Arial"/>
              </a:rPr>
              <a:t>  –  Không chạm buồng tử cung.</a:t>
            </a:r>
          </a:p>
          <a:p>
            <a:pPr>
              <a:spcBef>
                <a:spcPts val="500"/>
              </a:spcBef>
              <a:spcAft>
                <a:spcPts val="200"/>
              </a:spcAft>
            </a:pPr>
            <a:r>
              <a:rPr sz="2800">
                <a:solidFill>
                  <a:srgbClr val="FFFFFF"/>
                </a:solidFill>
                <a:latin typeface="Arial"/>
              </a:rPr>
              <a:t>  –  Trong cơ thật sự.</a:t>
            </a:r>
          </a:p>
          <a:p>
            <a:pPr>
              <a:spcBef>
                <a:spcPts val="500"/>
              </a:spcBef>
              <a:spcAft>
                <a:spcPts val="200"/>
              </a:spcAft>
            </a:pPr>
            <a:r>
              <a:rPr sz="2800">
                <a:solidFill>
                  <a:srgbClr val="FFFFFF"/>
                </a:solidFill>
                <a:latin typeface="Arial"/>
              </a:rPr>
              <a:t>  –  Theo dõi hoặc cá thể hoá.</a:t>
            </a:r>
          </a:p>
          <a:p>
            <a:pPr>
              <a:spcBef>
                <a:spcPts val="500"/>
              </a:spcBef>
              <a:spcAft>
                <a:spcPts val="200"/>
              </a:spcAft>
            </a:pPr>
            <a:r>
              <a:rPr sz="2800">
                <a:solidFill>
                  <a:srgbClr val="FFFFFF"/>
                </a:solidFill>
                <a:latin typeface="Arial"/>
              </a:rPr>
              <a:t>  –  Không tự động mổ nếu nhỏ, buồng tử cung ổn.</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05856" y="3657600"/>
            <a:ext cx="777240" cy="777240"/>
          </a:xfrm>
          <a:prstGeom prst="rect">
            <a:avLst/>
          </a:prstGeom>
          <a:noFill/>
        </p:spPr>
        <p:txBody>
          <a:bodyPr wrap="square" lIns="36576" tIns="18288" rIns="36576" bIns="18288" anchor="ctr">
            <a:spAutoFit/>
          </a:bodyPr>
          <a:lstStyle/>
          <a:p>
            <a:pPr algn="ctr"/>
            <a:r>
              <a:rPr sz="2400" b="1" i="0">
                <a:solidFill>
                  <a:srgbClr val="FFFFFF"/>
                </a:solidFill>
                <a:latin typeface="Arial"/>
              </a:rPr>
              <a:t>VS</a:t>
            </a:r>
          </a:p>
        </p:txBody>
      </p:sp>
      <p:sp>
        <p:nvSpPr>
          <p:cNvPr id="16" name="Rectangle 1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16039"/>
            <a:ext cx="11247120" cy="1021818"/>
          </a:xfrm>
          <a:prstGeom prst="rect">
            <a:avLst/>
          </a:prstGeom>
          <a:noFill/>
        </p:spPr>
        <p:txBody>
          <a:bodyPr wrap="square" lIns="36576" tIns="18288" rIns="36576" bIns="18288" anchor="ctr">
            <a:spAutoFit/>
          </a:bodyPr>
          <a:lstStyle/>
          <a:p>
            <a:pPr algn="l"/>
            <a:r>
              <a:rPr lang="en-US" sz="3200" b="1" i="0">
                <a:solidFill>
                  <a:srgbClr val="0D2B2B"/>
                </a:solidFill>
                <a:latin typeface="Arial"/>
              </a:rPr>
              <a:t>Những công cụ phân loại</a:t>
            </a:r>
            <a:r>
              <a:rPr sz="3200" b="1" i="0">
                <a:solidFill>
                  <a:srgbClr val="0D2B2B"/>
                </a:solidFill>
                <a:latin typeface="Arial"/>
              </a:rPr>
              <a:t> hỗ trợ: PALM-COEIN, Wamsteker, Lasmar STEPW</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946961"/>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PALM-COEIN đặt u xơ trong nhóm nguyên nhân rong kinh cường kinh cấu trúc.</a:t>
            </a:r>
          </a:p>
          <a:p>
            <a:pPr>
              <a:spcBef>
                <a:spcPts val="500"/>
              </a:spcBef>
              <a:spcAft>
                <a:spcPts val="200"/>
              </a:spcAft>
            </a:pPr>
            <a:r>
              <a:rPr sz="2800">
                <a:solidFill>
                  <a:srgbClr val="1A2F2F"/>
                </a:solidFill>
                <a:latin typeface="Arial"/>
              </a:rPr>
              <a:t>  –  Wamsteker phân loại u dưới niêm mạc theo độ sâu xâm nhập cơ.</a:t>
            </a:r>
          </a:p>
          <a:p>
            <a:pPr>
              <a:spcBef>
                <a:spcPts val="500"/>
              </a:spcBef>
              <a:spcAft>
                <a:spcPts val="200"/>
              </a:spcAft>
            </a:pPr>
            <a:r>
              <a:rPr sz="2800">
                <a:solidFill>
                  <a:srgbClr val="1A2F2F"/>
                </a:solidFill>
                <a:latin typeface="Arial"/>
              </a:rPr>
              <a:t>  –  Lasmar STEPW đánh giá khả năng cắt nội soi buồng tử cung một hay nhiều thì.</a:t>
            </a:r>
          </a:p>
          <a:p>
            <a:pPr>
              <a:spcBef>
                <a:spcPts val="500"/>
              </a:spcBef>
              <a:spcAft>
                <a:spcPts val="200"/>
              </a:spcAft>
            </a:pPr>
            <a:r>
              <a:rPr sz="2800">
                <a:solidFill>
                  <a:srgbClr val="1A2F2F"/>
                </a:solidFill>
                <a:latin typeface="Arial"/>
              </a:rPr>
              <a:t>  </a:t>
            </a:r>
            <a:r>
              <a:rPr lang="en-US" sz="2800">
                <a:solidFill>
                  <a:srgbClr val="1A2F2F"/>
                </a:solidFill>
                <a:latin typeface="Arial"/>
              </a:rPr>
              <a:t>→ </a:t>
            </a:r>
            <a:r>
              <a:rPr sz="2800">
                <a:solidFill>
                  <a:srgbClr val="1A2F2F"/>
                </a:solidFill>
                <a:latin typeface="Arial"/>
              </a:rPr>
              <a:t>FIGO vẫn là ngôn ngữ chính của ART.</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4</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Triệu chứng và biểu hiện lâm sàng</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31482"/>
            <a:ext cx="11247120" cy="590931"/>
          </a:xfrm>
          <a:prstGeom prst="rect">
            <a:avLst/>
          </a:prstGeom>
          <a:noFill/>
        </p:spPr>
        <p:txBody>
          <a:bodyPr wrap="square" lIns="36576" tIns="18288" rIns="36576" bIns="18288" anchor="ctr">
            <a:spAutoFit/>
          </a:bodyPr>
          <a:lstStyle/>
          <a:p>
            <a:pPr algn="l"/>
            <a:r>
              <a:rPr sz="3600" b="1" i="0">
                <a:solidFill>
                  <a:srgbClr val="0D2B2B"/>
                </a:solidFill>
                <a:latin typeface="Arial"/>
              </a:rPr>
              <a:t>Nhiều u xơ không có triệu chứng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487861"/>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Phát hiện tình cờ qua siêu âm ở phụ nữ khám hiếm muộn/ART là rất phổ biến.</a:t>
            </a:r>
          </a:p>
          <a:p>
            <a:pPr>
              <a:spcBef>
                <a:spcPts val="500"/>
              </a:spcBef>
              <a:spcAft>
                <a:spcPts val="200"/>
              </a:spcAft>
            </a:pPr>
            <a:r>
              <a:rPr sz="2400">
                <a:solidFill>
                  <a:srgbClr val="1A2F2F"/>
                </a:solidFill>
                <a:latin typeface="Arial"/>
              </a:rPr>
              <a:t>  –  U nhỏ dưới thanh mạc thường im lặng cho đến khi đủ lớn hoặc có biến chứng.</a:t>
            </a:r>
          </a:p>
          <a:p>
            <a:pPr>
              <a:spcBef>
                <a:spcPts val="500"/>
              </a:spcBef>
              <a:spcAft>
                <a:spcPts val="200"/>
              </a:spcAft>
            </a:pPr>
            <a:r>
              <a:rPr sz="2400">
                <a:solidFill>
                  <a:srgbClr val="1A2F2F"/>
                </a:solidFill>
                <a:latin typeface="Arial"/>
              </a:rPr>
              <a:t>  –  Vì vậy 'có u xơ' cần nối với triệu chứng và mục tiêu bệnh nhân chứ không đứng riêng.</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Ba nhóm triệu chứng cần tách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554480"/>
            <a:ext cx="3474719" cy="640080"/>
          </a:xfrm>
          <a:prstGeom prst="rect">
            <a:avLst/>
          </a:prstGeom>
          <a:noFill/>
        </p:spPr>
        <p:txBody>
          <a:bodyPr wrap="square" lIns="36576" tIns="18288" rIns="36576" bIns="18288" anchor="ctr">
            <a:spAutoFit/>
          </a:bodyPr>
          <a:lstStyle/>
          <a:p>
            <a:pPr algn="ctr"/>
            <a:r>
              <a:rPr sz="2200" b="1" i="0">
                <a:solidFill>
                  <a:srgbClr val="FFFFFF"/>
                </a:solidFill>
                <a:latin typeface="Arial"/>
              </a:rPr>
              <a:t>Chảy máu</a:t>
            </a:r>
          </a:p>
        </p:txBody>
      </p:sp>
      <p:sp>
        <p:nvSpPr>
          <p:cNvPr id="9" name="TextBox 8"/>
          <p:cNvSpPr txBox="1"/>
          <p:nvPr/>
        </p:nvSpPr>
        <p:spPr>
          <a:xfrm>
            <a:off x="594360" y="2331720"/>
            <a:ext cx="3383279"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Rong kinh, cường kinh.</a:t>
            </a:r>
          </a:p>
          <a:p>
            <a:pPr>
              <a:spcBef>
                <a:spcPts val="500"/>
              </a:spcBef>
              <a:spcAft>
                <a:spcPts val="200"/>
              </a:spcAft>
            </a:pPr>
            <a:r>
              <a:rPr sz="2400">
                <a:solidFill>
                  <a:srgbClr val="1A2F2F"/>
                </a:solidFill>
                <a:latin typeface="Arial"/>
              </a:rPr>
              <a:t>  –  Thiếu máu, mệt mỏi.</a:t>
            </a:r>
          </a:p>
          <a:p>
            <a:pPr>
              <a:spcBef>
                <a:spcPts val="500"/>
              </a:spcBef>
              <a:spcAft>
                <a:spcPts val="200"/>
              </a:spcAft>
            </a:pPr>
            <a:r>
              <a:rPr sz="2400">
                <a:solidFill>
                  <a:srgbClr val="1A2F2F"/>
                </a:solidFill>
                <a:latin typeface="Arial"/>
              </a:rPr>
              <a:t>  –  Liên hệ PALM-COEIN.</a:t>
            </a:r>
          </a:p>
        </p:txBody>
      </p:sp>
      <p:sp>
        <p:nvSpPr>
          <p:cNvPr id="10" name="Rectangle 9"/>
          <p:cNvSpPr/>
          <p:nvPr/>
        </p:nvSpPr>
        <p:spPr>
          <a:xfrm>
            <a:off x="4206239"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06239" y="1554480"/>
            <a:ext cx="3749039"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399" y="1554480"/>
            <a:ext cx="3474719" cy="640080"/>
          </a:xfrm>
          <a:prstGeom prst="rect">
            <a:avLst/>
          </a:prstGeom>
          <a:noFill/>
        </p:spPr>
        <p:txBody>
          <a:bodyPr wrap="square" lIns="36576" tIns="18288" rIns="36576" bIns="18288" anchor="ctr">
            <a:spAutoFit/>
          </a:bodyPr>
          <a:lstStyle/>
          <a:p>
            <a:pPr algn="ctr"/>
            <a:r>
              <a:rPr sz="2200" b="1" i="0">
                <a:solidFill>
                  <a:srgbClr val="FFFFFF"/>
                </a:solidFill>
                <a:latin typeface="Arial"/>
              </a:rPr>
              <a:t>Khối và chèn ép</a:t>
            </a:r>
          </a:p>
        </p:txBody>
      </p:sp>
      <p:sp>
        <p:nvSpPr>
          <p:cNvPr id="13" name="TextBox 12"/>
          <p:cNvSpPr txBox="1"/>
          <p:nvPr/>
        </p:nvSpPr>
        <p:spPr>
          <a:xfrm>
            <a:off x="4434839" y="2331720"/>
            <a:ext cx="3383279"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Đau vùng chậu, đau giao hợp.</a:t>
            </a:r>
          </a:p>
          <a:p>
            <a:pPr>
              <a:spcBef>
                <a:spcPts val="500"/>
              </a:spcBef>
              <a:spcAft>
                <a:spcPts val="200"/>
              </a:spcAft>
            </a:pPr>
            <a:r>
              <a:rPr sz="2400">
                <a:solidFill>
                  <a:srgbClr val="1A2F2F"/>
                </a:solidFill>
                <a:latin typeface="Arial"/>
              </a:rPr>
              <a:t>  –  Tiểu nhiều, táo bón.</a:t>
            </a:r>
          </a:p>
          <a:p>
            <a:pPr>
              <a:spcBef>
                <a:spcPts val="500"/>
              </a:spcBef>
              <a:spcAft>
                <a:spcPts val="200"/>
              </a:spcAft>
            </a:pPr>
            <a:r>
              <a:rPr sz="2400">
                <a:solidFill>
                  <a:srgbClr val="1A2F2F"/>
                </a:solidFill>
                <a:latin typeface="Arial"/>
              </a:rPr>
              <a:t>  –  Bụng to, sờ thấy khối.</a:t>
            </a:r>
          </a:p>
        </p:txBody>
      </p:sp>
      <p:sp>
        <p:nvSpPr>
          <p:cNvPr id="14" name="Rectangle 13"/>
          <p:cNvSpPr/>
          <p:nvPr/>
        </p:nvSpPr>
        <p:spPr>
          <a:xfrm>
            <a:off x="8046718" y="1554480"/>
            <a:ext cx="3749039" cy="470916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18" y="1554480"/>
            <a:ext cx="3749039" cy="6400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83878" y="1554480"/>
            <a:ext cx="3474719" cy="640080"/>
          </a:xfrm>
          <a:prstGeom prst="rect">
            <a:avLst/>
          </a:prstGeom>
          <a:noFill/>
        </p:spPr>
        <p:txBody>
          <a:bodyPr wrap="square" lIns="36576" tIns="18288" rIns="36576" bIns="18288" anchor="ctr">
            <a:spAutoFit/>
          </a:bodyPr>
          <a:lstStyle/>
          <a:p>
            <a:pPr algn="ctr"/>
            <a:r>
              <a:rPr sz="2200" b="1" i="0">
                <a:solidFill>
                  <a:srgbClr val="FFFFFF"/>
                </a:solidFill>
                <a:latin typeface="Arial"/>
              </a:rPr>
              <a:t>Sinh sản và thai kỳ</a:t>
            </a:r>
          </a:p>
        </p:txBody>
      </p:sp>
      <p:sp>
        <p:nvSpPr>
          <p:cNvPr id="17" name="TextBox 16"/>
          <p:cNvSpPr txBox="1"/>
          <p:nvPr/>
        </p:nvSpPr>
        <p:spPr>
          <a:xfrm>
            <a:off x="8229598" y="2331720"/>
            <a:ext cx="3383279"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Hiếm muộn, sảy thai.</a:t>
            </a:r>
          </a:p>
          <a:p>
            <a:pPr>
              <a:spcBef>
                <a:spcPts val="500"/>
              </a:spcBef>
              <a:spcAft>
                <a:spcPts val="200"/>
              </a:spcAft>
            </a:pPr>
            <a:r>
              <a:rPr sz="2400">
                <a:solidFill>
                  <a:srgbClr val="1A2F2F"/>
                </a:solidFill>
                <a:latin typeface="Arial"/>
              </a:rPr>
              <a:t>  –  Thất bại làm tổ/thất bại chuyển phôi lặp lại.</a:t>
            </a:r>
          </a:p>
          <a:p>
            <a:pPr>
              <a:spcBef>
                <a:spcPts val="500"/>
              </a:spcBef>
              <a:spcAft>
                <a:spcPts val="200"/>
              </a:spcAft>
            </a:pPr>
            <a:r>
              <a:rPr sz="2400">
                <a:solidFill>
                  <a:srgbClr val="1A2F2F"/>
                </a:solidFill>
                <a:latin typeface="Arial"/>
              </a:rPr>
              <a:t>  –  Biến chứng thai kỳ</a:t>
            </a:r>
          </a:p>
        </p:txBody>
      </p:sp>
      <p:sp>
        <p:nvSpPr>
          <p:cNvPr id="18" name="Rectangle 17"/>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100" b="1" i="0">
                <a:solidFill>
                  <a:srgbClr val="0D2B2B"/>
                </a:solidFill>
                <a:latin typeface="Arial"/>
              </a:rPr>
              <a:t>Triệu chứng thường gặp — Zimmermann 2012 (PMID 22448610)</a:t>
            </a:r>
          </a:p>
        </p:txBody>
      </p:sp>
      <p:sp>
        <p:nvSpPr>
          <p:cNvPr id="5" name="Rectangle 4"/>
          <p:cNvSpPr/>
          <p:nvPr/>
        </p:nvSpPr>
        <p:spPr>
          <a:xfrm>
            <a:off x="403373" y="1352169"/>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3" name="Group 32">
            <a:extLst>
              <a:ext uri="{FF2B5EF4-FFF2-40B4-BE49-F238E27FC236}">
                <a16:creationId xmlns:a16="http://schemas.microsoft.com/office/drawing/2014/main" id="{DB575CEA-35F8-00B4-201E-1B32935BA62E}"/>
              </a:ext>
            </a:extLst>
          </p:cNvPr>
          <p:cNvGrpSpPr/>
          <p:nvPr/>
        </p:nvGrpSpPr>
        <p:grpSpPr>
          <a:xfrm>
            <a:off x="1435608" y="1717040"/>
            <a:ext cx="2139696" cy="4526280"/>
            <a:chOff x="365760" y="1691640"/>
            <a:chExt cx="2139696" cy="4526280"/>
          </a:xfrm>
        </p:grpSpPr>
        <p:sp>
          <p:nvSpPr>
            <p:cNvPr id="6" name="Rectangle 5"/>
            <p:cNvSpPr/>
            <p:nvPr/>
          </p:nvSpPr>
          <p:spPr>
            <a:xfrm>
              <a:off x="365760" y="1691640"/>
              <a:ext cx="2139696"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2139696"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65960"/>
              <a:ext cx="1956815" cy="1645920"/>
            </a:xfrm>
            <a:prstGeom prst="rect">
              <a:avLst/>
            </a:prstGeom>
            <a:noFill/>
          </p:spPr>
          <p:txBody>
            <a:bodyPr wrap="square" lIns="36576" tIns="18288" rIns="36576" bIns="18288" anchor="ctr">
              <a:spAutoFit/>
            </a:bodyPr>
            <a:lstStyle/>
            <a:p>
              <a:pPr algn="ctr"/>
              <a:r>
                <a:rPr sz="5000" b="1" i="0">
                  <a:solidFill>
                    <a:srgbClr val="00977A"/>
                  </a:solidFill>
                  <a:latin typeface="Arial"/>
                </a:rPr>
                <a:t>59,8%</a:t>
              </a:r>
            </a:p>
          </p:txBody>
        </p:sp>
        <p:sp>
          <p:nvSpPr>
            <p:cNvPr id="9" name="TextBox 8"/>
            <p:cNvSpPr txBox="1"/>
            <p:nvPr/>
          </p:nvSpPr>
          <p:spPr>
            <a:xfrm>
              <a:off x="457200" y="3611880"/>
              <a:ext cx="1956815" cy="457200"/>
            </a:xfrm>
            <a:prstGeom prst="rect">
              <a:avLst/>
            </a:prstGeom>
            <a:noFill/>
          </p:spPr>
          <p:txBody>
            <a:bodyPr wrap="square" lIns="36576" tIns="18288" rIns="36576" bIns="18288">
              <a:spAutoFit/>
            </a:bodyPr>
            <a:lstStyle/>
            <a:p>
              <a:pPr algn="ctr"/>
              <a:r>
                <a:rPr sz="2000" b="1" i="0">
                  <a:solidFill>
                    <a:srgbClr val="0D2B2B"/>
                  </a:solidFill>
                  <a:latin typeface="Arial"/>
                </a:rPr>
                <a:t>có u xơ</a:t>
              </a:r>
            </a:p>
          </p:txBody>
        </p:sp>
        <p:sp>
          <p:nvSpPr>
            <p:cNvPr id="10" name="TextBox 9"/>
            <p:cNvSpPr txBox="1"/>
            <p:nvPr/>
          </p:nvSpPr>
          <p:spPr>
            <a:xfrm>
              <a:off x="502920" y="4160520"/>
              <a:ext cx="1865376" cy="1965960"/>
            </a:xfrm>
            <a:prstGeom prst="rect">
              <a:avLst/>
            </a:prstGeom>
            <a:noFill/>
          </p:spPr>
          <p:txBody>
            <a:bodyPr wrap="square" lIns="36576" tIns="18288" rIns="36576" bIns="18288">
              <a:spAutoFit/>
            </a:bodyPr>
            <a:lstStyle/>
            <a:p>
              <a:pPr algn="ctr"/>
              <a:r>
                <a:rPr sz="1800" b="0" i="0">
                  <a:solidFill>
                    <a:srgbClr val="728C8C"/>
                  </a:solidFill>
                  <a:latin typeface="Arial"/>
                </a:rPr>
                <a:t>kinh nhiều</a:t>
              </a:r>
            </a:p>
          </p:txBody>
        </p:sp>
      </p:grpSp>
      <p:sp>
        <p:nvSpPr>
          <p:cNvPr id="16" name="Rectangle 15"/>
          <p:cNvSpPr/>
          <p:nvPr/>
        </p:nvSpPr>
        <p:spPr>
          <a:xfrm>
            <a:off x="3916208" y="1691640"/>
            <a:ext cx="2139696"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916208" y="1691640"/>
            <a:ext cx="2139696"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07648" y="1965960"/>
            <a:ext cx="1956815" cy="1645920"/>
          </a:xfrm>
          <a:prstGeom prst="rect">
            <a:avLst/>
          </a:prstGeom>
          <a:noFill/>
        </p:spPr>
        <p:txBody>
          <a:bodyPr wrap="square" lIns="36576" tIns="18288" rIns="36576" bIns="18288" anchor="ctr">
            <a:spAutoFit/>
          </a:bodyPr>
          <a:lstStyle/>
          <a:p>
            <a:pPr algn="ctr"/>
            <a:r>
              <a:rPr sz="5000" b="1" i="0">
                <a:solidFill>
                  <a:srgbClr val="F59E0B"/>
                </a:solidFill>
                <a:latin typeface="Arial"/>
              </a:rPr>
              <a:t>32,6%</a:t>
            </a:r>
          </a:p>
        </p:txBody>
      </p:sp>
      <p:sp>
        <p:nvSpPr>
          <p:cNvPr id="19" name="TextBox 18"/>
          <p:cNvSpPr txBox="1"/>
          <p:nvPr/>
        </p:nvSpPr>
        <p:spPr>
          <a:xfrm>
            <a:off x="4007648" y="3611880"/>
            <a:ext cx="1956815" cy="457200"/>
          </a:xfrm>
          <a:prstGeom prst="rect">
            <a:avLst/>
          </a:prstGeom>
          <a:noFill/>
        </p:spPr>
        <p:txBody>
          <a:bodyPr wrap="square" lIns="36576" tIns="18288" rIns="36576" bIns="18288">
            <a:spAutoFit/>
          </a:bodyPr>
          <a:lstStyle/>
          <a:p>
            <a:pPr algn="ctr"/>
            <a:r>
              <a:rPr sz="2000" b="1" i="0">
                <a:solidFill>
                  <a:srgbClr val="0D2B2B"/>
                </a:solidFill>
                <a:latin typeface="Arial"/>
              </a:rPr>
              <a:t>có u xơ</a:t>
            </a:r>
          </a:p>
        </p:txBody>
      </p:sp>
      <p:sp>
        <p:nvSpPr>
          <p:cNvPr id="20" name="TextBox 19"/>
          <p:cNvSpPr txBox="1"/>
          <p:nvPr/>
        </p:nvSpPr>
        <p:spPr>
          <a:xfrm>
            <a:off x="4053368" y="4160520"/>
            <a:ext cx="1865376" cy="1965960"/>
          </a:xfrm>
          <a:prstGeom prst="rect">
            <a:avLst/>
          </a:prstGeom>
          <a:noFill/>
        </p:spPr>
        <p:txBody>
          <a:bodyPr wrap="square" lIns="36576" tIns="18288" rIns="36576" bIns="18288">
            <a:spAutoFit/>
          </a:bodyPr>
          <a:lstStyle/>
          <a:p>
            <a:pPr algn="ctr"/>
            <a:r>
              <a:rPr sz="1800" b="0" i="0">
                <a:solidFill>
                  <a:srgbClr val="728C8C"/>
                </a:solidFill>
                <a:latin typeface="Arial"/>
              </a:rPr>
              <a:t>đè bàng quang</a:t>
            </a:r>
          </a:p>
        </p:txBody>
      </p:sp>
      <p:sp>
        <p:nvSpPr>
          <p:cNvPr id="21" name="Rectangle 20"/>
          <p:cNvSpPr/>
          <p:nvPr/>
        </p:nvSpPr>
        <p:spPr>
          <a:xfrm>
            <a:off x="6238784" y="1691640"/>
            <a:ext cx="2139696"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38784" y="1691640"/>
            <a:ext cx="2139696"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0224" y="1965960"/>
            <a:ext cx="1956815" cy="1645920"/>
          </a:xfrm>
          <a:prstGeom prst="rect">
            <a:avLst/>
          </a:prstGeom>
          <a:noFill/>
        </p:spPr>
        <p:txBody>
          <a:bodyPr wrap="square" lIns="36576" tIns="18288" rIns="36576" bIns="18288" anchor="ctr">
            <a:spAutoFit/>
          </a:bodyPr>
          <a:lstStyle/>
          <a:p>
            <a:pPr algn="ctr"/>
            <a:r>
              <a:rPr sz="5000" b="1" i="0">
                <a:solidFill>
                  <a:srgbClr val="E53E3E"/>
                </a:solidFill>
                <a:latin typeface="Arial"/>
              </a:rPr>
              <a:t>23,5%</a:t>
            </a:r>
          </a:p>
        </p:txBody>
      </p:sp>
      <p:sp>
        <p:nvSpPr>
          <p:cNvPr id="24" name="TextBox 23"/>
          <p:cNvSpPr txBox="1"/>
          <p:nvPr/>
        </p:nvSpPr>
        <p:spPr>
          <a:xfrm>
            <a:off x="6330224" y="3611880"/>
            <a:ext cx="1956815" cy="457200"/>
          </a:xfrm>
          <a:prstGeom prst="rect">
            <a:avLst/>
          </a:prstGeom>
          <a:noFill/>
        </p:spPr>
        <p:txBody>
          <a:bodyPr wrap="square" lIns="36576" tIns="18288" rIns="36576" bIns="18288">
            <a:spAutoFit/>
          </a:bodyPr>
          <a:lstStyle/>
          <a:p>
            <a:pPr algn="ctr"/>
            <a:r>
              <a:rPr sz="2000" b="1" i="0">
                <a:solidFill>
                  <a:srgbClr val="0D2B2B"/>
                </a:solidFill>
                <a:latin typeface="Arial"/>
              </a:rPr>
              <a:t>có u xơ</a:t>
            </a:r>
          </a:p>
        </p:txBody>
      </p:sp>
      <p:sp>
        <p:nvSpPr>
          <p:cNvPr id="25" name="TextBox 24"/>
          <p:cNvSpPr txBox="1"/>
          <p:nvPr/>
        </p:nvSpPr>
        <p:spPr>
          <a:xfrm>
            <a:off x="6375944" y="4160520"/>
            <a:ext cx="1865376" cy="1965960"/>
          </a:xfrm>
          <a:prstGeom prst="rect">
            <a:avLst/>
          </a:prstGeom>
          <a:noFill/>
        </p:spPr>
        <p:txBody>
          <a:bodyPr wrap="square" lIns="36576" tIns="18288" rIns="36576" bIns="18288">
            <a:spAutoFit/>
          </a:bodyPr>
          <a:lstStyle/>
          <a:p>
            <a:pPr algn="ctr"/>
            <a:r>
              <a:rPr sz="1800" b="0" i="0">
                <a:solidFill>
                  <a:srgbClr val="728C8C"/>
                </a:solidFill>
                <a:latin typeface="Arial"/>
              </a:rPr>
              <a:t>đau khi giao hợp</a:t>
            </a:r>
          </a:p>
        </p:txBody>
      </p:sp>
      <p:sp>
        <p:nvSpPr>
          <p:cNvPr id="26" name="Rectangle 25"/>
          <p:cNvSpPr/>
          <p:nvPr/>
        </p:nvSpPr>
        <p:spPr>
          <a:xfrm>
            <a:off x="8561360" y="1691640"/>
            <a:ext cx="2139696"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561360" y="1691640"/>
            <a:ext cx="2139696"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52800" y="1965960"/>
            <a:ext cx="1956815" cy="1645920"/>
          </a:xfrm>
          <a:prstGeom prst="rect">
            <a:avLst/>
          </a:prstGeom>
          <a:noFill/>
        </p:spPr>
        <p:txBody>
          <a:bodyPr wrap="square" lIns="36576" tIns="18288" rIns="36576" bIns="18288" anchor="ctr">
            <a:spAutoFit/>
          </a:bodyPr>
          <a:lstStyle/>
          <a:p>
            <a:pPr algn="ctr"/>
            <a:r>
              <a:rPr sz="5000" b="1" i="0">
                <a:solidFill>
                  <a:srgbClr val="00977A"/>
                </a:solidFill>
                <a:latin typeface="Arial"/>
              </a:rPr>
              <a:t>53,7%</a:t>
            </a:r>
          </a:p>
        </p:txBody>
      </p:sp>
      <p:sp>
        <p:nvSpPr>
          <p:cNvPr id="29" name="TextBox 28"/>
          <p:cNvSpPr txBox="1"/>
          <p:nvPr/>
        </p:nvSpPr>
        <p:spPr>
          <a:xfrm>
            <a:off x="8652800" y="3611880"/>
            <a:ext cx="1956815" cy="457200"/>
          </a:xfrm>
          <a:prstGeom prst="rect">
            <a:avLst/>
          </a:prstGeom>
          <a:noFill/>
        </p:spPr>
        <p:txBody>
          <a:bodyPr wrap="square" lIns="36576" tIns="18288" rIns="36576" bIns="18288">
            <a:spAutoFit/>
          </a:bodyPr>
          <a:lstStyle/>
          <a:p>
            <a:pPr algn="ctr"/>
            <a:r>
              <a:rPr sz="2000" b="1" i="0">
                <a:solidFill>
                  <a:srgbClr val="0D2B2B"/>
                </a:solidFill>
                <a:latin typeface="Arial"/>
              </a:rPr>
              <a:t>có u xơ</a:t>
            </a:r>
          </a:p>
        </p:txBody>
      </p:sp>
      <p:sp>
        <p:nvSpPr>
          <p:cNvPr id="30" name="TextBox 29"/>
          <p:cNvSpPr txBox="1"/>
          <p:nvPr/>
        </p:nvSpPr>
        <p:spPr>
          <a:xfrm>
            <a:off x="8698520" y="4160520"/>
            <a:ext cx="1865376" cy="1965960"/>
          </a:xfrm>
          <a:prstGeom prst="rect">
            <a:avLst/>
          </a:prstGeom>
          <a:noFill/>
        </p:spPr>
        <p:txBody>
          <a:bodyPr wrap="square" lIns="36576" tIns="18288" rIns="36576" bIns="18288">
            <a:spAutoFit/>
          </a:bodyPr>
          <a:lstStyle/>
          <a:p>
            <a:pPr algn="ctr"/>
            <a:r>
              <a:rPr sz="1800" b="0" i="0">
                <a:solidFill>
                  <a:srgbClr val="728C8C"/>
                </a:solidFill>
                <a:latin typeface="Arial"/>
              </a:rPr>
              <a:t>ảnh hưởng chất lượng cuộc sống 12 tháng qua</a:t>
            </a:r>
          </a:p>
        </p:txBody>
      </p:sp>
      <p:sp>
        <p:nvSpPr>
          <p:cNvPr id="31" name="Rectangle 30"/>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69954"/>
            <a:ext cx="11247120" cy="513987"/>
          </a:xfrm>
          <a:prstGeom prst="rect">
            <a:avLst/>
          </a:prstGeom>
          <a:noFill/>
        </p:spPr>
        <p:txBody>
          <a:bodyPr wrap="square" lIns="36576" tIns="18288" rIns="36576" bIns="18288" anchor="ctr">
            <a:spAutoFit/>
          </a:bodyPr>
          <a:lstStyle/>
          <a:p>
            <a:pPr algn="l"/>
            <a:r>
              <a:rPr sz="3100" b="1" i="0">
                <a:solidFill>
                  <a:srgbClr val="0D2B2B"/>
                </a:solidFill>
                <a:latin typeface="Arial"/>
              </a:rPr>
              <a:t>Triệu chứng sinh sản </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426305"/>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Hiếm muộn: u xơ là nguyên nhân duy nhất ở khoảng 2–3% các ca; gặp u xơ ở khoảng 5–10% dân số hiếm muộn.</a:t>
            </a:r>
          </a:p>
          <a:p>
            <a:pPr>
              <a:spcBef>
                <a:spcPts val="500"/>
              </a:spcBef>
              <a:spcAft>
                <a:spcPts val="200"/>
              </a:spcAft>
            </a:pPr>
            <a:r>
              <a:rPr sz="2800">
                <a:solidFill>
                  <a:srgbClr val="1A2F2F"/>
                </a:solidFill>
                <a:latin typeface="Arial"/>
              </a:rPr>
              <a:t>  –  Sảy thai, thất bại làm tổ lặp lại cần đánh giá đồng thời: phôi, nội mạc, lạc nội mạc, polyp, viêm nội mạc, ứ dịch vòi trứng, yếu tố nam.</a:t>
            </a:r>
          </a:p>
          <a:p>
            <a:pPr>
              <a:spcBef>
                <a:spcPts val="500"/>
              </a:spcBef>
              <a:spcAft>
                <a:spcPts val="200"/>
              </a:spcAft>
            </a:pPr>
            <a:r>
              <a:rPr sz="2800">
                <a:solidFill>
                  <a:srgbClr val="1A2F2F"/>
                </a:solidFill>
                <a:latin typeface="Arial"/>
              </a:rPr>
              <a:t>  –  Đừng quy RIF cho u xơ trước khi khảo sát đầy đủ.</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Biến chứng thai kỳ liên quan u xơ</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Sảy thai, sinh non.</a:t>
            </a:r>
          </a:p>
          <a:p>
            <a:pPr>
              <a:spcBef>
                <a:spcPts val="500"/>
              </a:spcBef>
              <a:spcAft>
                <a:spcPts val="200"/>
              </a:spcAft>
            </a:pPr>
            <a:r>
              <a:rPr sz="2800">
                <a:solidFill>
                  <a:srgbClr val="1A2F2F"/>
                </a:solidFill>
                <a:latin typeface="Arial"/>
              </a:rPr>
              <a:t>  –  Ngôi bất thường, nhau bám bất thường, nhau tiền đạo.</a:t>
            </a:r>
          </a:p>
          <a:p>
            <a:pPr>
              <a:spcBef>
                <a:spcPts val="500"/>
              </a:spcBef>
              <a:spcAft>
                <a:spcPts val="200"/>
              </a:spcAft>
            </a:pPr>
            <a:r>
              <a:rPr sz="2800">
                <a:solidFill>
                  <a:srgbClr val="1A2F2F"/>
                </a:solidFill>
                <a:latin typeface="Arial"/>
              </a:rPr>
              <a:t>  –  Tăng tỉ lệ mổ lấy thai.</a:t>
            </a:r>
          </a:p>
          <a:p>
            <a:pPr>
              <a:spcBef>
                <a:spcPts val="500"/>
              </a:spcBef>
              <a:spcAft>
                <a:spcPts val="200"/>
              </a:spcAft>
            </a:pPr>
            <a:r>
              <a:rPr sz="2800">
                <a:solidFill>
                  <a:srgbClr val="1A2F2F"/>
                </a:solidFill>
                <a:latin typeface="Arial"/>
              </a:rPr>
              <a:t>  –  Băng huyết sau sinh do rối loạn co hồi tử cung quanh vị trí u.</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5</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Chẩn đoán và hình ảnh học</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Khai thác bệnh sử và khám lâm sàng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516073"/>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Hỏi về chu kỳ kinh, lượng máu, thiếu máu; đau và chèn ép.</a:t>
            </a:r>
          </a:p>
          <a:p>
            <a:pPr>
              <a:spcBef>
                <a:spcPts val="500"/>
              </a:spcBef>
              <a:spcAft>
                <a:spcPts val="200"/>
              </a:spcAft>
            </a:pPr>
            <a:r>
              <a:rPr sz="2800">
                <a:solidFill>
                  <a:srgbClr val="1A2F2F"/>
                </a:solidFill>
                <a:latin typeface="Arial"/>
              </a:rPr>
              <a:t>  –  Tiền sử ART: thất bại làm tổ, sảy thai, số lần chuyển phôi.</a:t>
            </a:r>
          </a:p>
          <a:p>
            <a:pPr>
              <a:spcBef>
                <a:spcPts val="500"/>
              </a:spcBef>
              <a:spcAft>
                <a:spcPts val="200"/>
              </a:spcAft>
            </a:pPr>
            <a:r>
              <a:rPr sz="2800">
                <a:solidFill>
                  <a:srgbClr val="1A2F2F"/>
                </a:solidFill>
                <a:latin typeface="Arial"/>
              </a:rPr>
              <a:t>  –  Khám: kích thước tử cung, khối bất thường, tình trạng cổ tử cung và phần phụ.</a:t>
            </a:r>
          </a:p>
          <a:p>
            <a:pPr>
              <a:spcBef>
                <a:spcPts val="500"/>
              </a:spcBef>
              <a:spcAft>
                <a:spcPts val="200"/>
              </a:spcAft>
            </a:pPr>
            <a:r>
              <a:rPr sz="2800">
                <a:solidFill>
                  <a:srgbClr val="1A2F2F"/>
                </a:solidFill>
                <a:latin typeface="Arial"/>
              </a:rPr>
              <a:t>  –  Dựa vào câu trả lời để chọn công cụ hình ảnh phù hợp.</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So sánh công cụ hình ảnh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4105849469"/>
              </p:ext>
            </p:extLst>
          </p:nvPr>
        </p:nvGraphicFramePr>
        <p:xfrm>
          <a:off x="365760" y="1600200"/>
          <a:ext cx="11430000" cy="470916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2400" b="1">
                          <a:solidFill>
                            <a:srgbClr val="FFFFFF"/>
                          </a:solidFill>
                          <a:latin typeface="Arial"/>
                        </a:rPr>
                        <a:t>Công cụ</a:t>
                      </a:r>
                    </a:p>
                  </a:txBody>
                  <a:tcPr>
                    <a:solidFill>
                      <a:srgbClr val="0D2B2B"/>
                    </a:solidFill>
                  </a:tcPr>
                </a:tc>
                <a:tc>
                  <a:txBody>
                    <a:bodyPr/>
                    <a:lstStyle/>
                    <a:p>
                      <a:pPr algn="ctr"/>
                      <a:r>
                        <a:rPr sz="2400" b="1">
                          <a:solidFill>
                            <a:srgbClr val="FFFFFF"/>
                          </a:solidFill>
                          <a:latin typeface="Arial"/>
                        </a:rPr>
                        <a:t>Mạnh nhất khi</a:t>
                      </a:r>
                    </a:p>
                  </a:txBody>
                  <a:tcPr>
                    <a:solidFill>
                      <a:srgbClr val="0D2B2B"/>
                    </a:solidFill>
                  </a:tcPr>
                </a:tc>
                <a:tc>
                  <a:txBody>
                    <a:bodyPr/>
                    <a:lstStyle/>
                    <a:p>
                      <a:pPr algn="ctr"/>
                      <a:r>
                        <a:rPr sz="2400" b="1">
                          <a:solidFill>
                            <a:srgbClr val="FFFFFF"/>
                          </a:solidFill>
                          <a:latin typeface="Arial"/>
                        </a:rPr>
                        <a:t>Giới hạn</a:t>
                      </a:r>
                    </a:p>
                  </a:txBody>
                  <a:tcPr>
                    <a:solidFill>
                      <a:srgbClr val="0D2B2B"/>
                    </a:solidFill>
                  </a:tcPr>
                </a:tc>
                <a:extLst>
                  <a:ext uri="{0D108BD9-81ED-4DB2-BD59-A6C34878D82A}">
                    <a16:rowId xmlns:a16="http://schemas.microsoft.com/office/drawing/2014/main" val="10000"/>
                  </a:ext>
                </a:extLst>
              </a:tr>
              <a:tr h="594360">
                <a:tc>
                  <a:txBody>
                    <a:bodyPr/>
                    <a:lstStyle/>
                    <a:p>
                      <a:pPr algn="ctr"/>
                      <a:r>
                        <a:rPr sz="2400" b="0">
                          <a:solidFill>
                            <a:srgbClr val="1A2F2F"/>
                          </a:solidFill>
                          <a:latin typeface="Arial"/>
                        </a:rPr>
                        <a:t>Siêu âm qua ngã âm đạo 2D</a:t>
                      </a:r>
                    </a:p>
                  </a:txBody>
                  <a:tcPr>
                    <a:solidFill>
                      <a:srgbClr val="E8F8F5"/>
                    </a:solidFill>
                  </a:tcPr>
                </a:tc>
                <a:tc>
                  <a:txBody>
                    <a:bodyPr/>
                    <a:lstStyle/>
                    <a:p>
                      <a:pPr algn="ctr"/>
                      <a:r>
                        <a:rPr sz="2400" b="0">
                          <a:solidFill>
                            <a:srgbClr val="1A2F2F"/>
                          </a:solidFill>
                          <a:latin typeface="Arial"/>
                        </a:rPr>
                        <a:t>Bước đầu tiên</a:t>
                      </a:r>
                    </a:p>
                  </a:txBody>
                  <a:tcPr>
                    <a:solidFill>
                      <a:srgbClr val="E8F8F5"/>
                    </a:solidFill>
                  </a:tcPr>
                </a:tc>
                <a:tc>
                  <a:txBody>
                    <a:bodyPr/>
                    <a:lstStyle/>
                    <a:p>
                      <a:pPr algn="ctr"/>
                      <a:r>
                        <a:rPr sz="2400" b="0">
                          <a:solidFill>
                            <a:srgbClr val="1A2F2F"/>
                          </a:solidFill>
                          <a:latin typeface="Arial"/>
                        </a:rPr>
                        <a:t>Không đủ nếu buồng tử cung chưa rõ</a:t>
                      </a:r>
                    </a:p>
                  </a:txBody>
                  <a:tcPr>
                    <a:solidFill>
                      <a:srgbClr val="E8F8F5"/>
                    </a:solidFill>
                  </a:tcPr>
                </a:tc>
                <a:extLst>
                  <a:ext uri="{0D108BD9-81ED-4DB2-BD59-A6C34878D82A}">
                    <a16:rowId xmlns:a16="http://schemas.microsoft.com/office/drawing/2014/main" val="10001"/>
                  </a:ext>
                </a:extLst>
              </a:tr>
              <a:tr h="594360">
                <a:tc>
                  <a:txBody>
                    <a:bodyPr/>
                    <a:lstStyle/>
                    <a:p>
                      <a:pPr algn="ctr"/>
                      <a:r>
                        <a:rPr sz="2400" b="0">
                          <a:solidFill>
                            <a:srgbClr val="1A2F2F"/>
                          </a:solidFill>
                          <a:latin typeface="Arial"/>
                        </a:rPr>
                        <a:t>Siêu âm qua ngã âm đạo 3D</a:t>
                      </a:r>
                    </a:p>
                  </a:txBody>
                  <a:tcPr>
                    <a:solidFill>
                      <a:srgbClr val="FFFFFF"/>
                    </a:solidFill>
                  </a:tcPr>
                </a:tc>
                <a:tc>
                  <a:txBody>
                    <a:bodyPr/>
                    <a:lstStyle/>
                    <a:p>
                      <a:pPr algn="ctr"/>
                      <a:r>
                        <a:rPr sz="2400" b="0">
                          <a:solidFill>
                            <a:srgbClr val="1A2F2F"/>
                          </a:solidFill>
                          <a:latin typeface="Arial"/>
                        </a:rPr>
                        <a:t>Phân biệt type 3/4, dựng bản đồ buồng tử cung</a:t>
                      </a:r>
                    </a:p>
                  </a:txBody>
                  <a:tcPr>
                    <a:solidFill>
                      <a:srgbClr val="FFFFFF"/>
                    </a:solidFill>
                  </a:tcPr>
                </a:tc>
                <a:tc>
                  <a:txBody>
                    <a:bodyPr/>
                    <a:lstStyle/>
                    <a:p>
                      <a:pPr algn="ctr"/>
                      <a:r>
                        <a:rPr sz="2400" b="0">
                          <a:solidFill>
                            <a:srgbClr val="1A2F2F"/>
                          </a:solidFill>
                          <a:latin typeface="Arial"/>
                        </a:rPr>
                        <a:t>Cần kinh nghiệm người làm</a:t>
                      </a:r>
                    </a:p>
                  </a:txBody>
                  <a:tcPr>
                    <a:solidFill>
                      <a:srgbClr val="FFFFFF"/>
                    </a:solidFill>
                  </a:tcPr>
                </a:tc>
                <a:extLst>
                  <a:ext uri="{0D108BD9-81ED-4DB2-BD59-A6C34878D82A}">
                    <a16:rowId xmlns:a16="http://schemas.microsoft.com/office/drawing/2014/main" val="10002"/>
                  </a:ext>
                </a:extLst>
              </a:tr>
              <a:tr h="594360">
                <a:tc>
                  <a:txBody>
                    <a:bodyPr/>
                    <a:lstStyle/>
                    <a:p>
                      <a:pPr algn="ctr"/>
                      <a:r>
                        <a:rPr sz="2400" b="0">
                          <a:solidFill>
                            <a:srgbClr val="1A2F2F"/>
                          </a:solidFill>
                          <a:latin typeface="Arial"/>
                        </a:rPr>
                        <a:t>Bơm nước buồng tử cung (SIS)</a:t>
                      </a:r>
                    </a:p>
                  </a:txBody>
                  <a:tcPr>
                    <a:solidFill>
                      <a:srgbClr val="E8F8F5"/>
                    </a:solidFill>
                  </a:tcPr>
                </a:tc>
                <a:tc>
                  <a:txBody>
                    <a:bodyPr/>
                    <a:lstStyle/>
                    <a:p>
                      <a:pPr algn="ctr"/>
                      <a:r>
                        <a:rPr sz="2400" b="0">
                          <a:solidFill>
                            <a:srgbClr val="1A2F2F"/>
                          </a:solidFill>
                          <a:latin typeface="Arial"/>
                        </a:rPr>
                        <a:t>Làm rõ đường viền buồng tử cung</a:t>
                      </a:r>
                    </a:p>
                  </a:txBody>
                  <a:tcPr>
                    <a:solidFill>
                      <a:srgbClr val="E8F8F5"/>
                    </a:solidFill>
                  </a:tcPr>
                </a:tc>
                <a:tc>
                  <a:txBody>
                    <a:bodyPr/>
                    <a:lstStyle/>
                    <a:p>
                      <a:pPr algn="ctr"/>
                      <a:r>
                        <a:rPr sz="2400" b="0">
                          <a:solidFill>
                            <a:srgbClr val="1A2F2F"/>
                          </a:solidFill>
                          <a:latin typeface="Arial"/>
                        </a:rPr>
                        <a:t>Rất hữu ích trước chuyển phôi</a:t>
                      </a:r>
                    </a:p>
                  </a:txBody>
                  <a:tcPr>
                    <a:solidFill>
                      <a:srgbClr val="E8F8F5"/>
                    </a:solidFill>
                  </a:tcPr>
                </a:tc>
                <a:extLst>
                  <a:ext uri="{0D108BD9-81ED-4DB2-BD59-A6C34878D82A}">
                    <a16:rowId xmlns:a16="http://schemas.microsoft.com/office/drawing/2014/main" val="10003"/>
                  </a:ext>
                </a:extLst>
              </a:tr>
              <a:tr h="594360">
                <a:tc>
                  <a:txBody>
                    <a:bodyPr/>
                    <a:lstStyle/>
                    <a:p>
                      <a:pPr algn="ctr"/>
                      <a:r>
                        <a:rPr sz="2400" b="0">
                          <a:solidFill>
                            <a:srgbClr val="1A2F2F"/>
                          </a:solidFill>
                          <a:latin typeface="Arial"/>
                        </a:rPr>
                        <a:t>Nội soi buồng tử cung</a:t>
                      </a:r>
                    </a:p>
                  </a:txBody>
                  <a:tcPr>
                    <a:solidFill>
                      <a:srgbClr val="FFFFFF"/>
                    </a:solidFill>
                  </a:tcPr>
                </a:tc>
                <a:tc>
                  <a:txBody>
                    <a:bodyPr/>
                    <a:lstStyle/>
                    <a:p>
                      <a:pPr algn="ctr"/>
                      <a:r>
                        <a:rPr sz="2400" b="0">
                          <a:solidFill>
                            <a:srgbClr val="1A2F2F"/>
                          </a:solidFill>
                          <a:latin typeface="Arial"/>
                        </a:rPr>
                        <a:t>Chẩn đoán và xử trí tổn thương buồng</a:t>
                      </a:r>
                    </a:p>
                  </a:txBody>
                  <a:tcPr>
                    <a:solidFill>
                      <a:srgbClr val="FFFFFF"/>
                    </a:solidFill>
                  </a:tcPr>
                </a:tc>
                <a:tc>
                  <a:txBody>
                    <a:bodyPr/>
                    <a:lstStyle/>
                    <a:p>
                      <a:pPr algn="ctr"/>
                      <a:r>
                        <a:rPr sz="2400" b="0">
                          <a:solidFill>
                            <a:srgbClr val="1A2F2F"/>
                          </a:solidFill>
                          <a:latin typeface="Arial"/>
                        </a:rPr>
                        <a:t>Không khảo sát hết phần cơ tử cung</a:t>
                      </a:r>
                    </a:p>
                  </a:txBody>
                  <a:tcPr>
                    <a:solidFill>
                      <a:srgbClr val="FFFFFF"/>
                    </a:solidFill>
                  </a:tcPr>
                </a:tc>
                <a:extLst>
                  <a:ext uri="{0D108BD9-81ED-4DB2-BD59-A6C34878D82A}">
                    <a16:rowId xmlns:a16="http://schemas.microsoft.com/office/drawing/2014/main" val="10004"/>
                  </a:ext>
                </a:extLst>
              </a:tr>
              <a:tr h="594360">
                <a:tc>
                  <a:txBody>
                    <a:bodyPr/>
                    <a:lstStyle/>
                    <a:p>
                      <a:pPr algn="ctr"/>
                      <a:r>
                        <a:rPr sz="2400" b="0">
                          <a:solidFill>
                            <a:srgbClr val="1A2F2F"/>
                          </a:solidFill>
                          <a:latin typeface="Arial"/>
                        </a:rPr>
                        <a:t>Cộng hưởng từ (MRI)</a:t>
                      </a:r>
                    </a:p>
                  </a:txBody>
                  <a:tcPr>
                    <a:solidFill>
                      <a:srgbClr val="E8F8F5"/>
                    </a:solidFill>
                  </a:tcPr>
                </a:tc>
                <a:tc>
                  <a:txBody>
                    <a:bodyPr/>
                    <a:lstStyle/>
                    <a:p>
                      <a:pPr algn="ctr"/>
                      <a:r>
                        <a:rPr sz="2400" b="0">
                          <a:solidFill>
                            <a:srgbClr val="1A2F2F"/>
                          </a:solidFill>
                          <a:latin typeface="Arial"/>
                        </a:rPr>
                        <a:t>Đa u/nghi lạc nội mạc/dấu hiệu bất thường</a:t>
                      </a:r>
                    </a:p>
                  </a:txBody>
                  <a:tcPr>
                    <a:solidFill>
                      <a:srgbClr val="E8F8F5"/>
                    </a:solidFill>
                  </a:tcPr>
                </a:tc>
                <a:tc>
                  <a:txBody>
                    <a:bodyPr/>
                    <a:lstStyle/>
                    <a:p>
                      <a:pPr algn="ctr"/>
                      <a:r>
                        <a:rPr sz="2400" b="0">
                          <a:solidFill>
                            <a:srgbClr val="1A2F2F"/>
                          </a:solidFill>
                          <a:latin typeface="Arial"/>
                        </a:rPr>
                        <a:t>Không dùng thường quy</a:t>
                      </a:r>
                    </a:p>
                  </a:txBody>
                  <a:tcPr>
                    <a:solidFill>
                      <a:srgbClr val="E8F8F5"/>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62260"/>
            <a:ext cx="11247120" cy="529376"/>
          </a:xfrm>
          <a:prstGeom prst="rect">
            <a:avLst/>
          </a:prstGeom>
          <a:noFill/>
        </p:spPr>
        <p:txBody>
          <a:bodyPr wrap="square" lIns="36576" tIns="18288" rIns="36576" bIns="18288" anchor="ctr">
            <a:spAutoFit/>
          </a:bodyPr>
          <a:lstStyle/>
          <a:p>
            <a:pPr algn="l"/>
            <a:r>
              <a:rPr sz="3200" b="1" i="0">
                <a:solidFill>
                  <a:srgbClr val="0D2B2B"/>
                </a:solidFill>
                <a:latin typeface="Arial"/>
              </a:rPr>
              <a:t>2D TVUS</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516073"/>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Ghi nhận kích thước, vị trí, số lượng u và mối liên quan buồng tử cung tương đối.</a:t>
            </a:r>
          </a:p>
          <a:p>
            <a:pPr>
              <a:spcBef>
                <a:spcPts val="500"/>
              </a:spcBef>
              <a:spcAft>
                <a:spcPts val="200"/>
              </a:spcAft>
            </a:pPr>
            <a:r>
              <a:rPr sz="2800">
                <a:solidFill>
                  <a:srgbClr val="1A2F2F"/>
                </a:solidFill>
                <a:latin typeface="Arial"/>
              </a:rPr>
              <a:t>  –  Không phân biệt tốt type 3 với type 4 ở nhiều ca.</a:t>
            </a:r>
          </a:p>
          <a:p>
            <a:pPr>
              <a:spcBef>
                <a:spcPts val="500"/>
              </a:spcBef>
              <a:spcAft>
                <a:spcPts val="200"/>
              </a:spcAft>
            </a:pPr>
            <a:r>
              <a:rPr sz="2800">
                <a:solidFill>
                  <a:srgbClr val="1A2F2F"/>
                </a:solidFill>
                <a:latin typeface="Arial"/>
              </a:rPr>
              <a:t>  –  Không đánh giá được mặt phẳng buồng tử cung toàn diện.</a:t>
            </a:r>
          </a:p>
          <a:p>
            <a:pPr>
              <a:spcBef>
                <a:spcPts val="500"/>
              </a:spcBef>
              <a:spcAft>
                <a:spcPts val="200"/>
              </a:spcAft>
            </a:pPr>
            <a:r>
              <a:rPr sz="2800">
                <a:solidFill>
                  <a:srgbClr val="1A2F2F"/>
                </a:solidFill>
                <a:latin typeface="Arial"/>
              </a:rPr>
              <a:t>  –  Làm lại sau can thiệp nếu cần, đặc biệt khi phôi quý.</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39177"/>
            <a:ext cx="11247120" cy="575542"/>
          </a:xfrm>
          <a:prstGeom prst="rect">
            <a:avLst/>
          </a:prstGeom>
          <a:noFill/>
        </p:spPr>
        <p:txBody>
          <a:bodyPr wrap="square" lIns="36576" tIns="18288" rIns="36576" bIns="18288" anchor="ctr">
            <a:spAutoFit/>
          </a:bodyPr>
          <a:lstStyle/>
          <a:p>
            <a:pPr algn="l"/>
            <a:r>
              <a:rPr sz="3500" b="1" i="0">
                <a:solidFill>
                  <a:srgbClr val="0D2B2B"/>
                </a:solidFill>
                <a:latin typeface="Arial"/>
              </a:rPr>
              <a:t>3D TVUS</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516073"/>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Dựng được mặt phẳng vành của buồng tử cung.</a:t>
            </a:r>
          </a:p>
          <a:p>
            <a:pPr>
              <a:spcBef>
                <a:spcPts val="500"/>
              </a:spcBef>
              <a:spcAft>
                <a:spcPts val="200"/>
              </a:spcAft>
            </a:pPr>
            <a:r>
              <a:rPr sz="2800">
                <a:solidFill>
                  <a:srgbClr val="1A2F2F"/>
                </a:solidFill>
                <a:latin typeface="Arial"/>
              </a:rPr>
              <a:t>  –  Phân biệt type 3 với type 4 khi 2D mơ hồ.</a:t>
            </a:r>
          </a:p>
          <a:p>
            <a:pPr>
              <a:spcBef>
                <a:spcPts val="500"/>
              </a:spcBef>
              <a:spcAft>
                <a:spcPts val="200"/>
              </a:spcAft>
            </a:pPr>
            <a:r>
              <a:rPr sz="2800">
                <a:solidFill>
                  <a:srgbClr val="1A2F2F"/>
                </a:solidFill>
                <a:latin typeface="Arial"/>
              </a:rPr>
              <a:t>  –  Đo khoảng cách u tới nội mạc chính xác hơn.</a:t>
            </a:r>
          </a:p>
          <a:p>
            <a:pPr>
              <a:spcBef>
                <a:spcPts val="500"/>
              </a:spcBef>
              <a:spcAft>
                <a:spcPts val="200"/>
              </a:spcAft>
            </a:pPr>
            <a:r>
              <a:rPr sz="2800">
                <a:solidFill>
                  <a:srgbClr val="1A2F2F"/>
                </a:solidFill>
                <a:latin typeface="Arial"/>
              </a:rPr>
              <a:t>  –  Hữu ích trước chuyển phôi khi cần chứng minh buồng tử cung lành.</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SIS</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1838965"/>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Làm rõ đường viền buồng tử cung.</a:t>
            </a:r>
          </a:p>
          <a:p>
            <a:pPr>
              <a:spcBef>
                <a:spcPts val="500"/>
              </a:spcBef>
              <a:spcAft>
                <a:spcPts val="200"/>
              </a:spcAft>
            </a:pPr>
            <a:r>
              <a:rPr sz="2400">
                <a:solidFill>
                  <a:srgbClr val="1A2F2F"/>
                </a:solidFill>
                <a:latin typeface="Arial"/>
              </a:rPr>
              <a:t>  –  Phát hiện u dưới niêm mạc và polyp nhỏ trong buồng.</a:t>
            </a:r>
          </a:p>
          <a:p>
            <a:pPr>
              <a:spcBef>
                <a:spcPts val="500"/>
              </a:spcBef>
              <a:spcAft>
                <a:spcPts val="200"/>
              </a:spcAft>
            </a:pPr>
            <a:r>
              <a:rPr sz="2400">
                <a:solidFill>
                  <a:srgbClr val="1A2F2F"/>
                </a:solidFill>
                <a:latin typeface="Arial"/>
              </a:rPr>
              <a:t>  –  Rẻ và nhanh hơn một lần chuyển phôi thất bại.</a:t>
            </a:r>
          </a:p>
          <a:p>
            <a:pPr>
              <a:spcBef>
                <a:spcPts val="500"/>
              </a:spcBef>
              <a:spcAft>
                <a:spcPts val="200"/>
              </a:spcAft>
            </a:pPr>
            <a:r>
              <a:rPr sz="2400">
                <a:solidFill>
                  <a:srgbClr val="1A2F2F"/>
                </a:solidFill>
                <a:latin typeface="Arial"/>
              </a:rPr>
              <a:t>  </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69954"/>
            <a:ext cx="11247120" cy="513987"/>
          </a:xfrm>
          <a:prstGeom prst="rect">
            <a:avLst/>
          </a:prstGeom>
          <a:noFill/>
        </p:spPr>
        <p:txBody>
          <a:bodyPr wrap="square" lIns="36576" tIns="18288" rIns="36576" bIns="18288" anchor="ctr">
            <a:spAutoFit/>
          </a:bodyPr>
          <a:lstStyle/>
          <a:p>
            <a:pPr algn="l"/>
            <a:r>
              <a:rPr sz="3100" b="1" i="0">
                <a:solidFill>
                  <a:srgbClr val="0D2B2B"/>
                </a:solidFill>
                <a:latin typeface="Arial"/>
              </a:rPr>
              <a:t>Nội soi buồng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51790" y="1600200"/>
            <a:ext cx="11064240" cy="1379865"/>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Phù hợp cho type 0–2.</a:t>
            </a:r>
          </a:p>
          <a:p>
            <a:pPr>
              <a:spcBef>
                <a:spcPts val="500"/>
              </a:spcBef>
              <a:spcAft>
                <a:spcPts val="200"/>
              </a:spcAft>
            </a:pPr>
            <a:r>
              <a:rPr sz="2400">
                <a:solidFill>
                  <a:srgbClr val="1A2F2F"/>
                </a:solidFill>
                <a:latin typeface="Arial"/>
              </a:rPr>
              <a:t>  –  Không khảo sát được phần cơ tử cung.</a:t>
            </a:r>
          </a:p>
          <a:p>
            <a:pPr>
              <a:spcBef>
                <a:spcPts val="500"/>
              </a:spcBef>
              <a:spcAft>
                <a:spcPts val="200"/>
              </a:spcAft>
            </a:pPr>
            <a:r>
              <a:rPr sz="2400">
                <a:solidFill>
                  <a:srgbClr val="1A2F2F"/>
                </a:solidFill>
                <a:latin typeface="Arial"/>
              </a:rPr>
              <a:t>  –  Can thiệp quá mức dễ làm tổn thương nội mạc và gây dính.</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MRI</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298065"/>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Đa u hoặc u lớn làm siêu âm khó lập bản đồ.</a:t>
            </a:r>
          </a:p>
          <a:p>
            <a:pPr>
              <a:spcBef>
                <a:spcPts val="500"/>
              </a:spcBef>
              <a:spcAft>
                <a:spcPts val="200"/>
              </a:spcAft>
            </a:pPr>
            <a:r>
              <a:rPr sz="2000">
                <a:solidFill>
                  <a:srgbClr val="1A2F2F"/>
                </a:solidFill>
                <a:latin typeface="Arial"/>
              </a:rPr>
              <a:t>  –  Nghi lạc nội mạc tử cung đi kèm.</a:t>
            </a:r>
          </a:p>
          <a:p>
            <a:pPr>
              <a:spcBef>
                <a:spcPts val="500"/>
              </a:spcBef>
              <a:spcAft>
                <a:spcPts val="200"/>
              </a:spcAft>
            </a:pPr>
            <a:r>
              <a:rPr sz="2000">
                <a:solidFill>
                  <a:srgbClr val="1A2F2F"/>
                </a:solidFill>
                <a:latin typeface="Arial"/>
              </a:rPr>
              <a:t>  –  Dấu hiệu nghi ung thư cơ trơn tử cung (sarcom) hoặc STUMP</a:t>
            </a:r>
            <a:r>
              <a:rPr lang="en-US" sz="2000">
                <a:solidFill>
                  <a:srgbClr val="1A2F2F"/>
                </a:solidFill>
                <a:latin typeface="Arial"/>
              </a:rPr>
              <a:t> (</a:t>
            </a:r>
            <a:r>
              <a:rPr lang="vi-VN" sz="2000"/>
              <a:t>u cơ trơn có tiềm năng ác tính không chắc chắn</a:t>
            </a:r>
            <a:r>
              <a:rPr lang="en-US" sz="2000"/>
              <a:t>) </a:t>
            </a:r>
            <a:r>
              <a:rPr sz="2000">
                <a:solidFill>
                  <a:srgbClr val="1A2F2F"/>
                </a:solidFill>
                <a:latin typeface="Arial"/>
              </a:rPr>
              <a:t>.</a:t>
            </a:r>
          </a:p>
          <a:p>
            <a:pPr>
              <a:spcBef>
                <a:spcPts val="500"/>
              </a:spcBef>
              <a:spcAft>
                <a:spcPts val="200"/>
              </a:spcAft>
            </a:pPr>
            <a:r>
              <a:rPr sz="2000">
                <a:solidFill>
                  <a:srgbClr val="1A2F2F"/>
                </a:solidFill>
                <a:latin typeface="Arial"/>
              </a:rPr>
              <a:t>  –  Lập kế hoạch phẫu thuật cho ca khó.</a:t>
            </a:r>
          </a:p>
          <a:p>
            <a:pPr>
              <a:spcBef>
                <a:spcPts val="500"/>
              </a:spcBef>
              <a:spcAft>
                <a:spcPts val="200"/>
              </a:spcAft>
            </a:pPr>
            <a:r>
              <a:rPr sz="2000">
                <a:solidFill>
                  <a:srgbClr val="1A2F2F"/>
                </a:solidFill>
                <a:latin typeface="Arial"/>
              </a:rPr>
              <a:t>  –  Không dùng thường quy cho mọi bệnh nhân ART.</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71348"/>
            <a:ext cx="11247120" cy="621709"/>
          </a:xfrm>
          <a:prstGeom prst="rect">
            <a:avLst/>
          </a:prstGeom>
          <a:noFill/>
        </p:spPr>
        <p:txBody>
          <a:bodyPr wrap="square" lIns="36576" tIns="18288" rIns="36576" bIns="18288" anchor="ctr">
            <a:spAutoFit/>
          </a:bodyPr>
          <a:lstStyle/>
          <a:p>
            <a:pPr algn="l"/>
            <a:r>
              <a:rPr lang="en-US" sz="3800" b="1" i="0">
                <a:solidFill>
                  <a:srgbClr val="0D2B2B"/>
                </a:solidFill>
                <a:latin typeface="Arial"/>
              </a:rPr>
              <a:t>Tiếp cận chẩn đoán đa bước</a:t>
            </a:r>
            <a:endParaRPr sz="3800" b="1" i="0">
              <a:solidFill>
                <a:srgbClr val="0D2B2B"/>
              </a:solidFill>
              <a:latin typeface="Arial"/>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0" y="1691640"/>
            <a:ext cx="758952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1691640"/>
            <a:ext cx="6350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80" y="1691640"/>
            <a:ext cx="7223760" cy="640080"/>
          </a:xfrm>
          <a:prstGeom prst="rect">
            <a:avLst/>
          </a:prstGeom>
          <a:noFill/>
        </p:spPr>
        <p:txBody>
          <a:bodyPr wrap="square" lIns="36576" tIns="18288" rIns="36576" bIns="18288" anchor="ctr">
            <a:spAutoFit/>
          </a:bodyPr>
          <a:lstStyle/>
          <a:p>
            <a:pPr algn="ctr"/>
            <a:r>
              <a:rPr sz="1900" b="1" i="0">
                <a:solidFill>
                  <a:srgbClr val="FFFFFF"/>
                </a:solidFill>
                <a:latin typeface="Arial"/>
              </a:rPr>
              <a:t>Siêu âm 2D TVUS — ghi nhận FIGO nghi ngờ.</a:t>
            </a:r>
          </a:p>
        </p:txBody>
      </p:sp>
      <p:sp>
        <p:nvSpPr>
          <p:cNvPr id="9" name="TextBox 8"/>
          <p:cNvSpPr txBox="1"/>
          <p:nvPr/>
        </p:nvSpPr>
        <p:spPr>
          <a:xfrm>
            <a:off x="2286000" y="233172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0" name="Rectangle 9"/>
          <p:cNvSpPr/>
          <p:nvPr/>
        </p:nvSpPr>
        <p:spPr>
          <a:xfrm>
            <a:off x="2286000" y="3002280"/>
            <a:ext cx="7589520" cy="6400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3002280"/>
            <a:ext cx="7223760" cy="640080"/>
          </a:xfrm>
          <a:prstGeom prst="rect">
            <a:avLst/>
          </a:prstGeom>
          <a:noFill/>
        </p:spPr>
        <p:txBody>
          <a:bodyPr wrap="square" lIns="36576" tIns="18288" rIns="36576" bIns="18288" anchor="ctr">
            <a:spAutoFit/>
          </a:bodyPr>
          <a:lstStyle/>
          <a:p>
            <a:pPr algn="ctr"/>
            <a:r>
              <a:rPr sz="1800" b="0" i="0">
                <a:solidFill>
                  <a:srgbClr val="0D2B2B"/>
                </a:solidFill>
                <a:latin typeface="Arial"/>
              </a:rPr>
              <a:t>Buồng tử cung chưa rõ/type 3–4? → 3D TVUS hoặc bơm nước buồng tử cung.</a:t>
            </a:r>
          </a:p>
        </p:txBody>
      </p:sp>
      <p:sp>
        <p:nvSpPr>
          <p:cNvPr id="12" name="TextBox 11"/>
          <p:cNvSpPr txBox="1"/>
          <p:nvPr/>
        </p:nvSpPr>
        <p:spPr>
          <a:xfrm>
            <a:off x="2286000" y="364236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3" name="Rectangle 12"/>
          <p:cNvSpPr/>
          <p:nvPr/>
        </p:nvSpPr>
        <p:spPr>
          <a:xfrm>
            <a:off x="2286000" y="4312920"/>
            <a:ext cx="7589520" cy="6400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68880" y="4312920"/>
            <a:ext cx="7223760" cy="640080"/>
          </a:xfrm>
          <a:prstGeom prst="rect">
            <a:avLst/>
          </a:prstGeom>
          <a:noFill/>
        </p:spPr>
        <p:txBody>
          <a:bodyPr wrap="square" lIns="36576" tIns="18288" rIns="36576" bIns="18288" anchor="ctr">
            <a:spAutoFit/>
          </a:bodyPr>
          <a:lstStyle/>
          <a:p>
            <a:pPr algn="ctr"/>
            <a:r>
              <a:rPr sz="1800" b="0" i="0">
                <a:solidFill>
                  <a:srgbClr val="0D2B2B"/>
                </a:solidFill>
                <a:latin typeface="Arial"/>
              </a:rPr>
              <a:t>Tổn thương trong buồng nghi ngờ? → nội soi buồng tử cung.</a:t>
            </a:r>
          </a:p>
        </p:txBody>
      </p:sp>
      <p:sp>
        <p:nvSpPr>
          <p:cNvPr id="15" name="TextBox 14"/>
          <p:cNvSpPr txBox="1"/>
          <p:nvPr/>
        </p:nvSpPr>
        <p:spPr>
          <a:xfrm>
            <a:off x="2286000" y="4953000"/>
            <a:ext cx="7589520" cy="67056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6" name="Rectangle 15"/>
          <p:cNvSpPr/>
          <p:nvPr/>
        </p:nvSpPr>
        <p:spPr>
          <a:xfrm>
            <a:off x="2286000" y="5623560"/>
            <a:ext cx="758952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86000" y="5623560"/>
            <a:ext cx="6350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68880" y="5623560"/>
            <a:ext cx="7223760" cy="640080"/>
          </a:xfrm>
          <a:prstGeom prst="rect">
            <a:avLst/>
          </a:prstGeom>
          <a:noFill/>
        </p:spPr>
        <p:txBody>
          <a:bodyPr wrap="square" lIns="36576" tIns="18288" rIns="36576" bIns="18288" anchor="ctr">
            <a:spAutoFit/>
          </a:bodyPr>
          <a:lstStyle/>
          <a:p>
            <a:pPr algn="ctr"/>
            <a:r>
              <a:rPr sz="1800" b="1" i="0">
                <a:solidFill>
                  <a:srgbClr val="FFFFFF"/>
                </a:solidFill>
                <a:latin typeface="Arial"/>
              </a:rPr>
              <a:t>Đa u, u lớn, nghi lạc nội mạc hoặc nghi sarcom → MRI.</a:t>
            </a:r>
          </a:p>
        </p:txBody>
      </p:sp>
      <p:sp>
        <p:nvSpPr>
          <p:cNvPr id="19" name="Rectangle 18"/>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Mẫu báo cáo siêu âm tối thiểu trước ART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3065" y="1408938"/>
            <a:ext cx="9502677" cy="3126497"/>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Số lượng u và ba chiều kích thước.</a:t>
            </a:r>
          </a:p>
          <a:p>
            <a:pPr>
              <a:spcBef>
                <a:spcPts val="500"/>
              </a:spcBef>
              <a:spcAft>
                <a:spcPts val="200"/>
              </a:spcAft>
            </a:pPr>
            <a:r>
              <a:rPr sz="2800">
                <a:solidFill>
                  <a:srgbClr val="1A2F2F"/>
                </a:solidFill>
                <a:latin typeface="Arial"/>
              </a:rPr>
              <a:t>  –  FIGO type và vị trí.</a:t>
            </a:r>
          </a:p>
          <a:p>
            <a:pPr>
              <a:spcBef>
                <a:spcPts val="500"/>
              </a:spcBef>
              <a:spcAft>
                <a:spcPts val="200"/>
              </a:spcAft>
            </a:pPr>
            <a:r>
              <a:rPr sz="2800">
                <a:solidFill>
                  <a:srgbClr val="1A2F2F"/>
                </a:solidFill>
                <a:latin typeface="Arial"/>
              </a:rPr>
              <a:t>  –  Khoảng cách tới nội mạc.</a:t>
            </a:r>
            <a:endParaRPr lang="en-US" sz="2800">
              <a:solidFill>
                <a:srgbClr val="1A2F2F"/>
              </a:solidFill>
              <a:latin typeface="Arial"/>
            </a:endParaRPr>
          </a:p>
          <a:p>
            <a:pPr>
              <a:spcBef>
                <a:spcPts val="500"/>
              </a:spcBef>
              <a:spcAft>
                <a:spcPts val="200"/>
              </a:spcAft>
            </a:pPr>
            <a:r>
              <a:rPr lang="vi-VN" sz="2800">
                <a:solidFill>
                  <a:srgbClr val="1A2F2F"/>
                </a:solidFill>
                <a:latin typeface="Arial"/>
              </a:rPr>
              <a:t> –  Có hay không biến dạng buồng tử cung.</a:t>
            </a:r>
          </a:p>
          <a:p>
            <a:pPr>
              <a:spcBef>
                <a:spcPts val="500"/>
              </a:spcBef>
              <a:spcAft>
                <a:spcPts val="200"/>
              </a:spcAft>
            </a:pPr>
            <a:r>
              <a:rPr lang="vi-VN" sz="2800">
                <a:solidFill>
                  <a:srgbClr val="1A2F2F"/>
                </a:solidFill>
                <a:latin typeface="Arial"/>
              </a:rPr>
              <a:t>  –  Liên quan cổ tử cung, lỗ vòi trứng, buồng trứng.</a:t>
            </a:r>
          </a:p>
          <a:p>
            <a:pPr>
              <a:spcBef>
                <a:spcPts val="500"/>
              </a:spcBef>
              <a:spcAft>
                <a:spcPts val="200"/>
              </a:spcAft>
            </a:pPr>
            <a:r>
              <a:rPr lang="vi-VN" sz="2800">
                <a:solidFill>
                  <a:srgbClr val="1A2F2F"/>
                </a:solidFill>
                <a:latin typeface="Arial"/>
              </a:rPr>
              <a:t>  –  Lạc nội mạc/polyp/dính đi kèm.</a:t>
            </a:r>
            <a:endParaRPr sz="2800">
              <a:solidFill>
                <a:srgbClr val="1A2F2F"/>
              </a:solidFill>
              <a:latin typeface="Arial"/>
            </a:endParaRPr>
          </a:p>
        </p:txBody>
      </p:sp>
      <p:sp>
        <p:nvSpPr>
          <p:cNvPr id="9" name="Rectangle 8"/>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8E1E3-E11E-77AE-FFCF-7E149B728777}"/>
              </a:ext>
            </a:extLst>
          </p:cNvPr>
          <p:cNvPicPr>
            <a:picLocks noChangeAspect="1"/>
          </p:cNvPicPr>
          <p:nvPr/>
        </p:nvPicPr>
        <p:blipFill>
          <a:blip r:embed="rId2"/>
          <a:stretch>
            <a:fillRect/>
          </a:stretch>
        </p:blipFill>
        <p:spPr>
          <a:xfrm>
            <a:off x="2717442" y="378139"/>
            <a:ext cx="6306592" cy="5005231"/>
          </a:xfrm>
          <a:prstGeom prst="rect">
            <a:avLst/>
          </a:prstGeom>
        </p:spPr>
      </p:pic>
      <p:sp>
        <p:nvSpPr>
          <p:cNvPr id="6" name="TextBox 5">
            <a:extLst>
              <a:ext uri="{FF2B5EF4-FFF2-40B4-BE49-F238E27FC236}">
                <a16:creationId xmlns:a16="http://schemas.microsoft.com/office/drawing/2014/main" id="{392B6A3C-09A0-180C-461C-FD87764608AA}"/>
              </a:ext>
            </a:extLst>
          </p:cNvPr>
          <p:cNvSpPr txBox="1"/>
          <p:nvPr/>
        </p:nvSpPr>
        <p:spPr>
          <a:xfrm>
            <a:off x="1035721" y="5601322"/>
            <a:ext cx="1115310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 xơ tử cung trong cơ – FIGO 3 với mạch máu tăng sinh ngoại vi</a:t>
            </a:r>
          </a:p>
        </p:txBody>
      </p:sp>
    </p:spTree>
    <p:extLst>
      <p:ext uri="{BB962C8B-B14F-4D97-AF65-F5344CB8AC3E}">
        <p14:creationId xmlns:p14="http://schemas.microsoft.com/office/powerpoint/2010/main" val="860427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FFBD0-4D1A-E7E7-6B4D-8391788DA3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612144-E9D7-21DA-90E6-ABDB4D6129E6}"/>
              </a:ext>
            </a:extLst>
          </p:cNvPr>
          <p:cNvPicPr>
            <a:picLocks noChangeAspect="1"/>
          </p:cNvPicPr>
          <p:nvPr/>
        </p:nvPicPr>
        <p:blipFill>
          <a:blip r:embed="rId2"/>
          <a:stretch>
            <a:fillRect/>
          </a:stretch>
        </p:blipFill>
        <p:spPr>
          <a:xfrm>
            <a:off x="2163650" y="172140"/>
            <a:ext cx="6542468" cy="5135944"/>
          </a:xfrm>
          <a:prstGeom prst="rect">
            <a:avLst/>
          </a:prstGeom>
        </p:spPr>
      </p:pic>
      <p:sp>
        <p:nvSpPr>
          <p:cNvPr id="4" name="TextBox 3">
            <a:extLst>
              <a:ext uri="{FF2B5EF4-FFF2-40B4-BE49-F238E27FC236}">
                <a16:creationId xmlns:a16="http://schemas.microsoft.com/office/drawing/2014/main" id="{5A817C58-BD83-F123-6A50-0191831B6A11}"/>
              </a:ext>
            </a:extLst>
          </p:cNvPr>
          <p:cNvSpPr txBox="1"/>
          <p:nvPr/>
        </p:nvSpPr>
        <p:spPr>
          <a:xfrm>
            <a:off x="1648495" y="5628067"/>
            <a:ext cx="810081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U xơ tử cung có cuống – FIGO 7 với mạch máu đi trong cuống</a:t>
            </a:r>
            <a:endParaRPr kumimoji="0" lang="vi-VN"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3096147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B923BF-DBFE-8BAC-C1D8-54390F0D8BE9}"/>
              </a:ext>
            </a:extLst>
          </p:cNvPr>
          <p:cNvPicPr>
            <a:picLocks noChangeAspect="1"/>
          </p:cNvPicPr>
          <p:nvPr/>
        </p:nvPicPr>
        <p:blipFill>
          <a:blip r:embed="rId2"/>
          <a:stretch>
            <a:fillRect/>
          </a:stretch>
        </p:blipFill>
        <p:spPr>
          <a:xfrm>
            <a:off x="244697" y="315530"/>
            <a:ext cx="6027315" cy="4687912"/>
          </a:xfrm>
          <a:prstGeom prst="rect">
            <a:avLst/>
          </a:prstGeom>
        </p:spPr>
      </p:pic>
      <p:pic>
        <p:nvPicPr>
          <p:cNvPr id="8" name="Picture 7">
            <a:extLst>
              <a:ext uri="{FF2B5EF4-FFF2-40B4-BE49-F238E27FC236}">
                <a16:creationId xmlns:a16="http://schemas.microsoft.com/office/drawing/2014/main" id="{EE0304BF-813E-140C-E4BB-E7236F4DFCB6}"/>
              </a:ext>
            </a:extLst>
          </p:cNvPr>
          <p:cNvPicPr>
            <a:picLocks noChangeAspect="1"/>
          </p:cNvPicPr>
          <p:nvPr/>
        </p:nvPicPr>
        <p:blipFill>
          <a:blip r:embed="rId3"/>
          <a:stretch>
            <a:fillRect/>
          </a:stretch>
        </p:blipFill>
        <p:spPr>
          <a:xfrm>
            <a:off x="5966093" y="2036737"/>
            <a:ext cx="6333231" cy="4896755"/>
          </a:xfrm>
          <a:prstGeom prst="rect">
            <a:avLst/>
          </a:prstGeom>
        </p:spPr>
      </p:pic>
      <p:sp>
        <p:nvSpPr>
          <p:cNvPr id="9" name="TextBox 8">
            <a:extLst>
              <a:ext uri="{FF2B5EF4-FFF2-40B4-BE49-F238E27FC236}">
                <a16:creationId xmlns:a16="http://schemas.microsoft.com/office/drawing/2014/main" id="{FE9FC608-0427-0B99-7D19-809AD4D9DD04}"/>
              </a:ext>
            </a:extLst>
          </p:cNvPr>
          <p:cNvSpPr txBox="1"/>
          <p:nvPr/>
        </p:nvSpPr>
        <p:spPr>
          <a:xfrm>
            <a:off x="6593983" y="449322"/>
            <a:ext cx="4584879"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Cấu trúc hồi âm không đồng nhất trong buồng tử cung</a:t>
            </a:r>
            <a:endParaRPr kumimoji="0" lang="vi-VN"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TextBox 9">
            <a:extLst>
              <a:ext uri="{FF2B5EF4-FFF2-40B4-BE49-F238E27FC236}">
                <a16:creationId xmlns:a16="http://schemas.microsoft.com/office/drawing/2014/main" id="{7D7F0A6B-0B30-F99D-F3B3-81749ACF66CE}"/>
              </a:ext>
            </a:extLst>
          </p:cNvPr>
          <p:cNvSpPr txBox="1"/>
          <p:nvPr/>
        </p:nvSpPr>
        <p:spPr>
          <a:xfrm>
            <a:off x="1352281" y="5589431"/>
            <a:ext cx="4468969"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Nhiều mạch máu nuôi – đặc điểm điển hình của u xơ tử cung</a:t>
            </a:r>
            <a:endParaRPr kumimoji="0" lang="vi-VN"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545023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Submucosal leiomyoma in 49-year-old woman. A, Sagittal sonogram of uterus shows large, heterogeneous leiomyoma that obscures visualization of endometrial canal. B, Sonogram obtained after saline infusion shows large leiomyoma involving posterior endometrial wall. This proved to be intramural myoma with significant submucosal extension. ">
            <a:extLst>
              <a:ext uri="{FF2B5EF4-FFF2-40B4-BE49-F238E27FC236}">
                <a16:creationId xmlns:a16="http://schemas.microsoft.com/office/drawing/2014/main" id="{79892EC8-1DF4-E39C-4AC7-E2A75241DE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831" y="976313"/>
            <a:ext cx="12070994" cy="4700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5533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23524F-08AE-8538-E06C-C86B9273600A}"/>
              </a:ext>
            </a:extLst>
          </p:cNvPr>
          <p:cNvPicPr>
            <a:picLocks noChangeAspect="1"/>
          </p:cNvPicPr>
          <p:nvPr/>
        </p:nvPicPr>
        <p:blipFill>
          <a:blip r:embed="rId2"/>
          <a:stretch>
            <a:fillRect/>
          </a:stretch>
        </p:blipFill>
        <p:spPr>
          <a:xfrm>
            <a:off x="827704" y="-254737"/>
            <a:ext cx="4903395" cy="4909076"/>
          </a:xfrm>
          <a:prstGeom prst="rect">
            <a:avLst/>
          </a:prstGeom>
        </p:spPr>
      </p:pic>
      <p:pic>
        <p:nvPicPr>
          <p:cNvPr id="5" name="Picture 4">
            <a:extLst>
              <a:ext uri="{FF2B5EF4-FFF2-40B4-BE49-F238E27FC236}">
                <a16:creationId xmlns:a16="http://schemas.microsoft.com/office/drawing/2014/main" id="{7ED7D86A-E546-90D1-0CA9-BDE174A539B4}"/>
              </a:ext>
            </a:extLst>
          </p:cNvPr>
          <p:cNvPicPr>
            <a:picLocks noChangeAspect="1"/>
          </p:cNvPicPr>
          <p:nvPr/>
        </p:nvPicPr>
        <p:blipFill>
          <a:blip r:embed="rId3"/>
          <a:stretch>
            <a:fillRect/>
          </a:stretch>
        </p:blipFill>
        <p:spPr>
          <a:xfrm>
            <a:off x="5850854" y="2199801"/>
            <a:ext cx="5006036" cy="5069605"/>
          </a:xfrm>
          <a:prstGeom prst="rect">
            <a:avLst/>
          </a:prstGeom>
        </p:spPr>
      </p:pic>
      <p:sp>
        <p:nvSpPr>
          <p:cNvPr id="6" name="TextBox 5">
            <a:extLst>
              <a:ext uri="{FF2B5EF4-FFF2-40B4-BE49-F238E27FC236}">
                <a16:creationId xmlns:a16="http://schemas.microsoft.com/office/drawing/2014/main" id="{5209C1BA-5D0D-1849-E595-0185528BF0E6}"/>
              </a:ext>
            </a:extLst>
          </p:cNvPr>
          <p:cNvSpPr txBox="1"/>
          <p:nvPr/>
        </p:nvSpPr>
        <p:spPr>
          <a:xfrm>
            <a:off x="6094412" y="669701"/>
            <a:ext cx="5702636"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Hình ảnh siêu âm 2D bơm nước cho thấy 1 nhân xơ dưới niêm mạc xuất phát từ thành trước</a:t>
            </a:r>
            <a:endParaRPr kumimoji="0" lang="vi-VN"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EC966AC8-6775-642D-19E2-53B8FCA2B691}"/>
              </a:ext>
            </a:extLst>
          </p:cNvPr>
          <p:cNvSpPr txBox="1"/>
          <p:nvPr/>
        </p:nvSpPr>
        <p:spPr>
          <a:xfrm>
            <a:off x="776383" y="5396247"/>
            <a:ext cx="5006036"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Hình ảnh siêu âm 3D bơm nước cho thấy 2 nhan xơ tử cung</a:t>
            </a:r>
            <a:endParaRPr kumimoji="0" lang="vi-VN" sz="24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38877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308AC8C5-564B-2DC4-B9C5-FB6C0F4056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36" r="12345" b="10277"/>
          <a:stretch>
            <a:fillRect/>
          </a:stretch>
        </p:blipFill>
        <p:spPr bwMode="auto">
          <a:xfrm>
            <a:off x="88994" y="90152"/>
            <a:ext cx="5027028" cy="311024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577D030C-0CBD-FE10-1775-B616E8562F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906" r="4975" b="10909"/>
          <a:stretch>
            <a:fillRect/>
          </a:stretch>
        </p:blipFill>
        <p:spPr bwMode="auto">
          <a:xfrm>
            <a:off x="5116021" y="-138448"/>
            <a:ext cx="5702233" cy="3155324"/>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a:extLst>
              <a:ext uri="{FF2B5EF4-FFF2-40B4-BE49-F238E27FC236}">
                <a16:creationId xmlns:a16="http://schemas.microsoft.com/office/drawing/2014/main" id="{E7C280C2-FBAF-6785-4554-0BB81F1BEA7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38" t="18990" r="5404" b="10826"/>
          <a:stretch>
            <a:fillRect/>
          </a:stretch>
        </p:blipFill>
        <p:spPr bwMode="auto">
          <a:xfrm>
            <a:off x="88994" y="3429000"/>
            <a:ext cx="5512159" cy="3155324"/>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a:extLst>
              <a:ext uri="{FF2B5EF4-FFF2-40B4-BE49-F238E27FC236}">
                <a16:creationId xmlns:a16="http://schemas.microsoft.com/office/drawing/2014/main" id="{88D9598E-526D-7825-39B6-77EE09AE386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493" t="8820" r="26651" b="1003"/>
          <a:stretch>
            <a:fillRect/>
          </a:stretch>
        </p:blipFill>
        <p:spPr bwMode="auto">
          <a:xfrm>
            <a:off x="5731099" y="2979581"/>
            <a:ext cx="2691684" cy="4054162"/>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a:extLst>
              <a:ext uri="{FF2B5EF4-FFF2-40B4-BE49-F238E27FC236}">
                <a16:creationId xmlns:a16="http://schemas.microsoft.com/office/drawing/2014/main" id="{D75A2E9B-22AC-3FD1-760A-053053CC3D0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8064" t="9824" r="24934" b="2231"/>
          <a:stretch>
            <a:fillRect/>
          </a:stretch>
        </p:blipFill>
        <p:spPr bwMode="auto">
          <a:xfrm>
            <a:off x="8552729" y="3079929"/>
            <a:ext cx="2820473" cy="3953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18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AAC61E-FF57-9052-3602-85D208C44E64}"/>
              </a:ext>
            </a:extLst>
          </p:cNvPr>
          <p:cNvPicPr>
            <a:picLocks noChangeAspect="1"/>
          </p:cNvPicPr>
          <p:nvPr/>
        </p:nvPicPr>
        <p:blipFill>
          <a:blip r:embed="rId2"/>
          <a:stretch>
            <a:fillRect/>
          </a:stretch>
        </p:blipFill>
        <p:spPr>
          <a:xfrm>
            <a:off x="2456736" y="237425"/>
            <a:ext cx="7588786" cy="5267983"/>
          </a:xfrm>
          <a:prstGeom prst="rect">
            <a:avLst/>
          </a:prstGeom>
        </p:spPr>
      </p:pic>
      <p:sp>
        <p:nvSpPr>
          <p:cNvPr id="4" name="TextBox 3">
            <a:extLst>
              <a:ext uri="{FF2B5EF4-FFF2-40B4-BE49-F238E27FC236}">
                <a16:creationId xmlns:a16="http://schemas.microsoft.com/office/drawing/2014/main" id="{0D758E22-AE2A-B6FE-11D4-D07F53E2484E}"/>
              </a:ext>
            </a:extLst>
          </p:cNvPr>
          <p:cNvSpPr txBox="1"/>
          <p:nvPr/>
        </p:nvSpPr>
        <p:spPr>
          <a:xfrm>
            <a:off x="2318193" y="5789578"/>
            <a:ext cx="8018665"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Siêu âm bơm nước cho thể hiện u xơ tử cung dưới niêm mạc trên  3  mặt cắt vuông góc</a:t>
            </a:r>
          </a:p>
        </p:txBody>
      </p:sp>
    </p:spTree>
    <p:extLst>
      <p:ext uri="{BB962C8B-B14F-4D97-AF65-F5344CB8AC3E}">
        <p14:creationId xmlns:p14="http://schemas.microsoft.com/office/powerpoint/2010/main" val="24539391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14E301-0E2E-1A68-576D-FDA1C545BBEB}"/>
              </a:ext>
            </a:extLst>
          </p:cNvPr>
          <p:cNvPicPr>
            <a:picLocks noChangeAspect="1"/>
          </p:cNvPicPr>
          <p:nvPr/>
        </p:nvPicPr>
        <p:blipFill>
          <a:blip r:embed="rId2"/>
          <a:stretch>
            <a:fillRect/>
          </a:stretch>
        </p:blipFill>
        <p:spPr>
          <a:xfrm>
            <a:off x="151477" y="0"/>
            <a:ext cx="4881497" cy="3734732"/>
          </a:xfrm>
          <a:prstGeom prst="rect">
            <a:avLst/>
          </a:prstGeom>
        </p:spPr>
      </p:pic>
      <p:pic>
        <p:nvPicPr>
          <p:cNvPr id="5" name="Picture 4">
            <a:extLst>
              <a:ext uri="{FF2B5EF4-FFF2-40B4-BE49-F238E27FC236}">
                <a16:creationId xmlns:a16="http://schemas.microsoft.com/office/drawing/2014/main" id="{63E0C51C-6183-8FB9-92BB-FFFCF9B29F2D}"/>
              </a:ext>
            </a:extLst>
          </p:cNvPr>
          <p:cNvPicPr>
            <a:picLocks noChangeAspect="1"/>
          </p:cNvPicPr>
          <p:nvPr/>
        </p:nvPicPr>
        <p:blipFill>
          <a:blip r:embed="rId3"/>
          <a:stretch>
            <a:fillRect/>
          </a:stretch>
        </p:blipFill>
        <p:spPr>
          <a:xfrm>
            <a:off x="5735727" y="-87027"/>
            <a:ext cx="4202277" cy="3908785"/>
          </a:xfrm>
          <a:prstGeom prst="rect">
            <a:avLst/>
          </a:prstGeom>
        </p:spPr>
      </p:pic>
      <p:pic>
        <p:nvPicPr>
          <p:cNvPr id="7" name="Picture 6">
            <a:extLst>
              <a:ext uri="{FF2B5EF4-FFF2-40B4-BE49-F238E27FC236}">
                <a16:creationId xmlns:a16="http://schemas.microsoft.com/office/drawing/2014/main" id="{B37D4DE5-1B57-F446-C53A-D11ECBDAB7F4}"/>
              </a:ext>
            </a:extLst>
          </p:cNvPr>
          <p:cNvPicPr>
            <a:picLocks noChangeAspect="1"/>
          </p:cNvPicPr>
          <p:nvPr/>
        </p:nvPicPr>
        <p:blipFill>
          <a:blip r:embed="rId4"/>
          <a:stretch>
            <a:fillRect/>
          </a:stretch>
        </p:blipFill>
        <p:spPr>
          <a:xfrm>
            <a:off x="635862" y="3429000"/>
            <a:ext cx="3716098" cy="3908784"/>
          </a:xfrm>
          <a:prstGeom prst="rect">
            <a:avLst/>
          </a:prstGeom>
        </p:spPr>
      </p:pic>
      <p:sp>
        <p:nvSpPr>
          <p:cNvPr id="12" name="TextBox 11">
            <a:extLst>
              <a:ext uri="{FF2B5EF4-FFF2-40B4-BE49-F238E27FC236}">
                <a16:creationId xmlns:a16="http://schemas.microsoft.com/office/drawing/2014/main" id="{96477222-09DE-A0B0-7224-A9B29808DB24}"/>
              </a:ext>
            </a:extLst>
          </p:cNvPr>
          <p:cNvSpPr txBox="1"/>
          <p:nvPr/>
        </p:nvSpPr>
        <p:spPr>
          <a:xfrm>
            <a:off x="4617076" y="4424004"/>
            <a:ext cx="7295882" cy="2118529"/>
          </a:xfrm>
          <a:prstGeom prst="rect">
            <a:avLst/>
          </a:prstGeom>
          <a:noFill/>
        </p:spPr>
        <p:txBody>
          <a:bodyPr wrap="square">
            <a:spAutoFit/>
          </a:bodyPr>
          <a:lstStyle/>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Siêu âm 2D cho thấy một tổn thương cấu trúc không đồng nhất kích thước lớn (mũi tên) nằm ở vùng đáy và thành trước tử cung.</a:t>
            </a: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285750" marR="0" lvl="0" indent="-28575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rPr>
              <a:t>Siêu âm bơm nước buồng tử cung 3D (3D SIS) bộc lộ một khối nhân xơ chân rộng ở vùng đáy - thành trước (mũi tên), nhô vào lòng tử cung chiếm hơn 50% thể tích khối.</a:t>
            </a:r>
          </a:p>
        </p:txBody>
      </p:sp>
    </p:spTree>
    <p:extLst>
      <p:ext uri="{BB962C8B-B14F-4D97-AF65-F5344CB8AC3E}">
        <p14:creationId xmlns:p14="http://schemas.microsoft.com/office/powerpoint/2010/main" val="378030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6</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Cơ chế ảnh hưởng ART</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2100" b="0" i="1">
                <a:solidFill>
                  <a:srgbClr val="728C8C"/>
                </a:solidFill>
                <a:latin typeface="Arial"/>
              </a:rPr>
              <a:t>Từ hình học buồng tử cung đến kết quả chuyển phôi</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lang="en-US" sz="3800" b="1" i="0">
                <a:solidFill>
                  <a:srgbClr val="0D2B2B"/>
                </a:solidFill>
                <a:latin typeface="Arial"/>
              </a:rPr>
              <a:t>Có phải mọi u xơ đều ảnh hưởng? </a:t>
            </a:r>
            <a:endParaRPr sz="3800" b="1" i="0">
              <a:solidFill>
                <a:srgbClr val="0D2B2B"/>
              </a:solidFill>
              <a:latin typeface="Arial"/>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1995418"/>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Không phải mọi u xơ đều làm giảm kết quả ART.</a:t>
            </a:r>
          </a:p>
          <a:p>
            <a:pPr>
              <a:spcBef>
                <a:spcPts val="500"/>
              </a:spcBef>
              <a:spcAft>
                <a:spcPts val="200"/>
              </a:spcAft>
            </a:pPr>
            <a:r>
              <a:rPr sz="2800">
                <a:solidFill>
                  <a:srgbClr val="1A2F2F"/>
                </a:solidFill>
                <a:latin typeface="Arial"/>
              </a:rPr>
              <a:t>  –  Quan hệ với buồng tử cung và nội mạc mới quyết định nhiều nhất.</a:t>
            </a:r>
          </a:p>
          <a:p>
            <a:pPr>
              <a:spcBef>
                <a:spcPts val="500"/>
              </a:spcBef>
              <a:spcAft>
                <a:spcPts val="200"/>
              </a:spcAft>
            </a:pPr>
            <a:r>
              <a:rPr sz="2800">
                <a:solidFill>
                  <a:srgbClr val="1A2F2F"/>
                </a:solidFill>
                <a:latin typeface="Arial"/>
              </a:rPr>
              <a:t>  </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lang="en-US" sz="3800" b="1" i="0">
                <a:solidFill>
                  <a:srgbClr val="0D2B2B"/>
                </a:solidFill>
                <a:latin typeface="Arial"/>
              </a:rPr>
              <a:t>Cơ </a:t>
            </a:r>
            <a:r>
              <a:rPr sz="3800" b="1" i="0">
                <a:solidFill>
                  <a:srgbClr val="0D2B2B"/>
                </a:solidFill>
                <a:latin typeface="Arial"/>
              </a:rPr>
              <a:t>chế ảnh hưởng ART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194560"/>
            <a:ext cx="1993392"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ectangle 6"/>
          <p:cNvSpPr/>
          <p:nvPr/>
        </p:nvSpPr>
        <p:spPr>
          <a:xfrm>
            <a:off x="365760" y="2194560"/>
            <a:ext cx="1993392"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365760" y="2220027"/>
            <a:ext cx="1993392" cy="406265"/>
          </a:xfrm>
          <a:prstGeom prst="rect">
            <a:avLst/>
          </a:prstGeom>
          <a:noFill/>
        </p:spPr>
        <p:txBody>
          <a:bodyPr wrap="square" lIns="36576" tIns="18288" rIns="36576" bIns="18288" anchor="ctr">
            <a:spAutoFit/>
          </a:bodyPr>
          <a:lstStyle/>
          <a:p>
            <a:pPr algn="ctr"/>
            <a:r>
              <a:rPr sz="2400" b="1" i="0">
                <a:solidFill>
                  <a:srgbClr val="FFFFFF"/>
                </a:solidFill>
                <a:latin typeface="Arial"/>
              </a:rPr>
              <a:t>1</a:t>
            </a:r>
          </a:p>
        </p:txBody>
      </p:sp>
      <p:sp>
        <p:nvSpPr>
          <p:cNvPr id="9" name="TextBox 8"/>
          <p:cNvSpPr txBox="1"/>
          <p:nvPr/>
        </p:nvSpPr>
        <p:spPr>
          <a:xfrm>
            <a:off x="457200" y="2736997"/>
            <a:ext cx="1810512" cy="652486"/>
          </a:xfrm>
          <a:prstGeom prst="rect">
            <a:avLst/>
          </a:prstGeom>
          <a:noFill/>
        </p:spPr>
        <p:txBody>
          <a:bodyPr wrap="square" lIns="36576" tIns="18288" rIns="36576" bIns="18288" anchor="ctr">
            <a:spAutoFit/>
          </a:bodyPr>
          <a:lstStyle/>
          <a:p>
            <a:pPr algn="ctr"/>
            <a:r>
              <a:rPr sz="2000" b="1" i="0">
                <a:solidFill>
                  <a:srgbClr val="0D2B2B"/>
                </a:solidFill>
                <a:latin typeface="Arial"/>
              </a:rPr>
              <a:t>Buồng tử cung</a:t>
            </a:r>
          </a:p>
        </p:txBody>
      </p:sp>
      <p:sp>
        <p:nvSpPr>
          <p:cNvPr id="10" name="TextBox 9"/>
          <p:cNvSpPr txBox="1"/>
          <p:nvPr/>
        </p:nvSpPr>
        <p:spPr>
          <a:xfrm>
            <a:off x="502920" y="3474720"/>
            <a:ext cx="1719072" cy="960263"/>
          </a:xfrm>
          <a:prstGeom prst="rect">
            <a:avLst/>
          </a:prstGeom>
          <a:noFill/>
        </p:spPr>
        <p:txBody>
          <a:bodyPr wrap="square" lIns="36576" tIns="18288" rIns="36576" bIns="18288">
            <a:spAutoFit/>
          </a:bodyPr>
          <a:lstStyle/>
          <a:p>
            <a:pPr algn="l"/>
            <a:r>
              <a:rPr sz="2000" b="0" i="0">
                <a:solidFill>
                  <a:srgbClr val="1A2F2F"/>
                </a:solidFill>
                <a:latin typeface="Arial"/>
              </a:rPr>
              <a:t>U lồi làm thay đổi hình học nơi phôi bám.</a:t>
            </a:r>
          </a:p>
        </p:txBody>
      </p:sp>
      <p:sp>
        <p:nvSpPr>
          <p:cNvPr id="12" name="Rectangle 11"/>
          <p:cNvSpPr/>
          <p:nvPr/>
        </p:nvSpPr>
        <p:spPr>
          <a:xfrm>
            <a:off x="2724912" y="2194560"/>
            <a:ext cx="1993392"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Rectangle 12"/>
          <p:cNvSpPr/>
          <p:nvPr/>
        </p:nvSpPr>
        <p:spPr>
          <a:xfrm>
            <a:off x="2724912" y="2194560"/>
            <a:ext cx="1993392" cy="4572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2724912" y="2220027"/>
            <a:ext cx="1993392" cy="406265"/>
          </a:xfrm>
          <a:prstGeom prst="rect">
            <a:avLst/>
          </a:prstGeom>
          <a:noFill/>
        </p:spPr>
        <p:txBody>
          <a:bodyPr wrap="square" lIns="36576" tIns="18288" rIns="36576" bIns="18288" anchor="ctr">
            <a:spAutoFit/>
          </a:bodyPr>
          <a:lstStyle/>
          <a:p>
            <a:pPr algn="ctr"/>
            <a:r>
              <a:rPr sz="2400" b="1" i="0">
                <a:solidFill>
                  <a:srgbClr val="FFFFFF"/>
                </a:solidFill>
                <a:latin typeface="Arial"/>
              </a:rPr>
              <a:t>2</a:t>
            </a:r>
          </a:p>
        </p:txBody>
      </p:sp>
      <p:sp>
        <p:nvSpPr>
          <p:cNvPr id="15" name="TextBox 14"/>
          <p:cNvSpPr txBox="1"/>
          <p:nvPr/>
        </p:nvSpPr>
        <p:spPr>
          <a:xfrm>
            <a:off x="2816352" y="2860107"/>
            <a:ext cx="1810512" cy="406265"/>
          </a:xfrm>
          <a:prstGeom prst="rect">
            <a:avLst/>
          </a:prstGeom>
          <a:noFill/>
        </p:spPr>
        <p:txBody>
          <a:bodyPr wrap="square" lIns="36576" tIns="18288" rIns="36576" bIns="18288" anchor="ctr">
            <a:spAutoFit/>
          </a:bodyPr>
          <a:lstStyle/>
          <a:p>
            <a:pPr algn="ctr"/>
            <a:r>
              <a:rPr sz="2400" b="1" i="0">
                <a:solidFill>
                  <a:srgbClr val="0D2B2B"/>
                </a:solidFill>
                <a:latin typeface="Arial"/>
              </a:rPr>
              <a:t>Nội mạc</a:t>
            </a:r>
          </a:p>
        </p:txBody>
      </p:sp>
      <p:sp>
        <p:nvSpPr>
          <p:cNvPr id="16" name="TextBox 15"/>
          <p:cNvSpPr txBox="1"/>
          <p:nvPr/>
        </p:nvSpPr>
        <p:spPr>
          <a:xfrm>
            <a:off x="2862072" y="3474720"/>
            <a:ext cx="1719072" cy="1421928"/>
          </a:xfrm>
          <a:prstGeom prst="rect">
            <a:avLst/>
          </a:prstGeom>
          <a:noFill/>
        </p:spPr>
        <p:txBody>
          <a:bodyPr wrap="square" lIns="36576" tIns="18288" rIns="36576" bIns="18288">
            <a:spAutoFit/>
          </a:bodyPr>
          <a:lstStyle/>
          <a:p>
            <a:pPr algn="l"/>
            <a:r>
              <a:rPr b="0" i="0">
                <a:solidFill>
                  <a:srgbClr val="1A2F2F"/>
                </a:solidFill>
                <a:latin typeface="Arial"/>
              </a:rPr>
              <a:t>Tín hiệu tiếp nhận phôi bị ảnh hưởng khi u chạm nội mạc.</a:t>
            </a:r>
          </a:p>
        </p:txBody>
      </p:sp>
      <p:sp>
        <p:nvSpPr>
          <p:cNvPr id="18" name="Rectangle 17"/>
          <p:cNvSpPr/>
          <p:nvPr/>
        </p:nvSpPr>
        <p:spPr>
          <a:xfrm>
            <a:off x="5055602" y="2194560"/>
            <a:ext cx="1993392"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Rectangle 18"/>
          <p:cNvSpPr/>
          <p:nvPr/>
        </p:nvSpPr>
        <p:spPr>
          <a:xfrm>
            <a:off x="5084064" y="2194560"/>
            <a:ext cx="1993392" cy="4572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084064" y="2220027"/>
            <a:ext cx="1993392" cy="406265"/>
          </a:xfrm>
          <a:prstGeom prst="rect">
            <a:avLst/>
          </a:prstGeom>
          <a:noFill/>
        </p:spPr>
        <p:txBody>
          <a:bodyPr wrap="square" lIns="36576" tIns="18288" rIns="36576" bIns="18288" anchor="ctr">
            <a:spAutoFit/>
          </a:bodyPr>
          <a:lstStyle/>
          <a:p>
            <a:pPr algn="ctr"/>
            <a:r>
              <a:rPr sz="2400" b="1" i="0">
                <a:solidFill>
                  <a:srgbClr val="FFFFFF"/>
                </a:solidFill>
                <a:latin typeface="Arial"/>
              </a:rPr>
              <a:t>3</a:t>
            </a:r>
          </a:p>
        </p:txBody>
      </p:sp>
      <p:sp>
        <p:nvSpPr>
          <p:cNvPr id="21" name="TextBox 20"/>
          <p:cNvSpPr txBox="1"/>
          <p:nvPr/>
        </p:nvSpPr>
        <p:spPr>
          <a:xfrm>
            <a:off x="5175504" y="2736997"/>
            <a:ext cx="1810512" cy="652486"/>
          </a:xfrm>
          <a:prstGeom prst="rect">
            <a:avLst/>
          </a:prstGeom>
          <a:noFill/>
        </p:spPr>
        <p:txBody>
          <a:bodyPr wrap="square" lIns="36576" tIns="18288" rIns="36576" bIns="18288" anchor="ctr">
            <a:spAutoFit/>
          </a:bodyPr>
          <a:lstStyle/>
          <a:p>
            <a:pPr algn="ctr"/>
            <a:r>
              <a:rPr sz="2000" b="1" i="0">
                <a:solidFill>
                  <a:srgbClr val="0D2B2B"/>
                </a:solidFill>
                <a:latin typeface="Arial"/>
              </a:rPr>
              <a:t>Viêm và tưới máu</a:t>
            </a:r>
          </a:p>
        </p:txBody>
      </p:sp>
      <p:sp>
        <p:nvSpPr>
          <p:cNvPr id="22" name="TextBox 21"/>
          <p:cNvSpPr txBox="1"/>
          <p:nvPr/>
        </p:nvSpPr>
        <p:spPr>
          <a:xfrm>
            <a:off x="5221224" y="3474720"/>
            <a:ext cx="1719072" cy="1144929"/>
          </a:xfrm>
          <a:prstGeom prst="rect">
            <a:avLst/>
          </a:prstGeom>
          <a:noFill/>
        </p:spPr>
        <p:txBody>
          <a:bodyPr wrap="square" lIns="36576" tIns="18288" rIns="36576" bIns="18288">
            <a:spAutoFit/>
          </a:bodyPr>
          <a:lstStyle/>
          <a:p>
            <a:pPr algn="l"/>
            <a:r>
              <a:rPr b="0" i="0">
                <a:solidFill>
                  <a:srgbClr val="1A2F2F"/>
                </a:solidFill>
                <a:latin typeface="Arial"/>
              </a:rPr>
              <a:t>Môi trường quanh u xơ thay đổi vi môi trường.</a:t>
            </a:r>
          </a:p>
        </p:txBody>
      </p:sp>
      <p:sp>
        <p:nvSpPr>
          <p:cNvPr id="24" name="Rectangle 23"/>
          <p:cNvSpPr/>
          <p:nvPr/>
        </p:nvSpPr>
        <p:spPr>
          <a:xfrm>
            <a:off x="7443216" y="2194560"/>
            <a:ext cx="1993392"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Rectangle 24"/>
          <p:cNvSpPr/>
          <p:nvPr/>
        </p:nvSpPr>
        <p:spPr>
          <a:xfrm>
            <a:off x="7443216" y="2194560"/>
            <a:ext cx="199339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TextBox 25"/>
          <p:cNvSpPr txBox="1"/>
          <p:nvPr/>
        </p:nvSpPr>
        <p:spPr>
          <a:xfrm>
            <a:off x="7443216" y="2220027"/>
            <a:ext cx="1993392" cy="406265"/>
          </a:xfrm>
          <a:prstGeom prst="rect">
            <a:avLst/>
          </a:prstGeom>
          <a:noFill/>
        </p:spPr>
        <p:txBody>
          <a:bodyPr wrap="square" lIns="36576" tIns="18288" rIns="36576" bIns="18288" anchor="ctr">
            <a:spAutoFit/>
          </a:bodyPr>
          <a:lstStyle/>
          <a:p>
            <a:pPr algn="ctr"/>
            <a:r>
              <a:rPr sz="2400" b="1" i="0">
                <a:solidFill>
                  <a:srgbClr val="FFFFFF"/>
                </a:solidFill>
                <a:latin typeface="Arial"/>
              </a:rPr>
              <a:t>4</a:t>
            </a:r>
          </a:p>
        </p:txBody>
      </p:sp>
      <p:sp>
        <p:nvSpPr>
          <p:cNvPr id="27" name="TextBox 26"/>
          <p:cNvSpPr txBox="1"/>
          <p:nvPr/>
        </p:nvSpPr>
        <p:spPr>
          <a:xfrm>
            <a:off x="7534656" y="2860107"/>
            <a:ext cx="1810512" cy="406265"/>
          </a:xfrm>
          <a:prstGeom prst="rect">
            <a:avLst/>
          </a:prstGeom>
          <a:noFill/>
        </p:spPr>
        <p:txBody>
          <a:bodyPr wrap="square" lIns="36576" tIns="18288" rIns="36576" bIns="18288" anchor="ctr">
            <a:spAutoFit/>
          </a:bodyPr>
          <a:lstStyle/>
          <a:p>
            <a:pPr algn="ctr"/>
            <a:r>
              <a:rPr sz="2400" b="1" i="0">
                <a:solidFill>
                  <a:srgbClr val="0D2B2B"/>
                </a:solidFill>
                <a:latin typeface="Arial"/>
              </a:rPr>
              <a:t>Co bóp</a:t>
            </a:r>
          </a:p>
        </p:txBody>
      </p:sp>
      <p:sp>
        <p:nvSpPr>
          <p:cNvPr id="28" name="TextBox 27"/>
          <p:cNvSpPr txBox="1"/>
          <p:nvPr/>
        </p:nvSpPr>
        <p:spPr>
          <a:xfrm>
            <a:off x="7580376" y="3474720"/>
            <a:ext cx="1719072" cy="1144929"/>
          </a:xfrm>
          <a:prstGeom prst="rect">
            <a:avLst/>
          </a:prstGeom>
          <a:noFill/>
        </p:spPr>
        <p:txBody>
          <a:bodyPr wrap="square" lIns="36576" tIns="18288" rIns="36576" bIns="18288">
            <a:spAutoFit/>
          </a:bodyPr>
          <a:lstStyle/>
          <a:p>
            <a:pPr algn="l"/>
            <a:r>
              <a:rPr b="0" i="0">
                <a:solidFill>
                  <a:srgbClr val="1A2F2F"/>
                </a:solidFill>
                <a:latin typeface="Arial"/>
              </a:rPr>
              <a:t>Nhu động quanh thời điểm làm tổ có thể rối loạn.</a:t>
            </a:r>
          </a:p>
        </p:txBody>
      </p:sp>
      <p:sp>
        <p:nvSpPr>
          <p:cNvPr id="30" name="Rectangle 29"/>
          <p:cNvSpPr/>
          <p:nvPr/>
        </p:nvSpPr>
        <p:spPr>
          <a:xfrm>
            <a:off x="9802368" y="2194560"/>
            <a:ext cx="1993392" cy="3017520"/>
          </a:xfrm>
          <a:prstGeom prst="rect">
            <a:avLst/>
          </a:prstGeom>
          <a:solidFill>
            <a:srgbClr val="FFFFFF"/>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ectangle 30"/>
          <p:cNvSpPr/>
          <p:nvPr/>
        </p:nvSpPr>
        <p:spPr>
          <a:xfrm>
            <a:off x="9802368" y="2194560"/>
            <a:ext cx="1993392" cy="4572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TextBox 31"/>
          <p:cNvSpPr txBox="1"/>
          <p:nvPr/>
        </p:nvSpPr>
        <p:spPr>
          <a:xfrm>
            <a:off x="9802368" y="2220027"/>
            <a:ext cx="1993392" cy="406265"/>
          </a:xfrm>
          <a:prstGeom prst="rect">
            <a:avLst/>
          </a:prstGeom>
          <a:noFill/>
        </p:spPr>
        <p:txBody>
          <a:bodyPr wrap="square" lIns="36576" tIns="18288" rIns="36576" bIns="18288" anchor="ctr">
            <a:spAutoFit/>
          </a:bodyPr>
          <a:lstStyle/>
          <a:p>
            <a:pPr algn="ctr"/>
            <a:r>
              <a:rPr sz="2400" b="1" i="0">
                <a:solidFill>
                  <a:srgbClr val="FFFFFF"/>
                </a:solidFill>
                <a:latin typeface="Arial"/>
              </a:rPr>
              <a:t>5</a:t>
            </a:r>
          </a:p>
        </p:txBody>
      </p:sp>
      <p:sp>
        <p:nvSpPr>
          <p:cNvPr id="33" name="TextBox 32"/>
          <p:cNvSpPr txBox="1"/>
          <p:nvPr/>
        </p:nvSpPr>
        <p:spPr>
          <a:xfrm>
            <a:off x="9893808" y="2890885"/>
            <a:ext cx="1810512" cy="344710"/>
          </a:xfrm>
          <a:prstGeom prst="rect">
            <a:avLst/>
          </a:prstGeom>
          <a:noFill/>
        </p:spPr>
        <p:txBody>
          <a:bodyPr wrap="square" lIns="36576" tIns="18288" rIns="36576" bIns="18288" anchor="ctr">
            <a:spAutoFit/>
          </a:bodyPr>
          <a:lstStyle/>
          <a:p>
            <a:pPr algn="ctr"/>
            <a:r>
              <a:rPr sz="2000" b="1" i="0">
                <a:solidFill>
                  <a:srgbClr val="0D2B2B"/>
                </a:solidFill>
                <a:latin typeface="Arial"/>
              </a:rPr>
              <a:t>Thao tác ART</a:t>
            </a:r>
          </a:p>
        </p:txBody>
      </p:sp>
      <p:sp>
        <p:nvSpPr>
          <p:cNvPr id="34" name="TextBox 33"/>
          <p:cNvSpPr txBox="1"/>
          <p:nvPr/>
        </p:nvSpPr>
        <p:spPr>
          <a:xfrm>
            <a:off x="9939528" y="3474720"/>
            <a:ext cx="1719072" cy="1144929"/>
          </a:xfrm>
          <a:prstGeom prst="rect">
            <a:avLst/>
          </a:prstGeom>
          <a:noFill/>
        </p:spPr>
        <p:txBody>
          <a:bodyPr wrap="square" lIns="36576" tIns="18288" rIns="36576" bIns="18288">
            <a:spAutoFit/>
          </a:bodyPr>
          <a:lstStyle/>
          <a:p>
            <a:pPr algn="l"/>
            <a:r>
              <a:rPr b="0" i="0">
                <a:solidFill>
                  <a:srgbClr val="1A2F2F"/>
                </a:solidFill>
                <a:latin typeface="Arial"/>
              </a:rPr>
              <a:t>U cản chọc hút noãn hoặc làm khó chuyển phôi.</a:t>
            </a:r>
          </a:p>
        </p:txBody>
      </p:sp>
      <p:sp>
        <p:nvSpPr>
          <p:cNvPr id="35" name="Rectangle 34"/>
          <p:cNvSpPr/>
          <p:nvPr/>
        </p:nvSpPr>
        <p:spPr>
          <a:xfrm>
            <a:off x="365760" y="5486400"/>
            <a:ext cx="11430000" cy="64008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p:cNvSpPr txBox="1"/>
          <p:nvPr/>
        </p:nvSpPr>
        <p:spPr>
          <a:xfrm>
            <a:off x="502920" y="5603307"/>
            <a:ext cx="11155680" cy="406265"/>
          </a:xfrm>
          <a:prstGeom prst="rect">
            <a:avLst/>
          </a:prstGeom>
          <a:noFill/>
        </p:spPr>
        <p:txBody>
          <a:bodyPr wrap="square" lIns="36576" tIns="18288" rIns="36576" bIns="18288" anchor="ctr">
            <a:spAutoFit/>
          </a:bodyPr>
          <a:lstStyle/>
          <a:p>
            <a:pPr algn="l"/>
            <a:r>
              <a:rPr sz="2400" b="1" i="0">
                <a:solidFill>
                  <a:srgbClr val="FFFFFF"/>
                </a:solidFill>
                <a:latin typeface="Arial"/>
              </a:rPr>
              <a:t>▶ HẬU QUẢ:  Giảm làm tổ, tăng sảy thai và tăng biến chứng thai kỳ.</a:t>
            </a:r>
          </a:p>
        </p:txBody>
      </p:sp>
      <p:sp>
        <p:nvSpPr>
          <p:cNvPr id="37" name="Rectangle 3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0–2 ảnh hưởng trực tiếp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513" y="1783080"/>
            <a:ext cx="5212080" cy="467820"/>
          </a:xfrm>
          <a:prstGeom prst="rect">
            <a:avLst/>
          </a:prstGeom>
          <a:noFill/>
        </p:spPr>
        <p:txBody>
          <a:bodyPr wrap="square" lIns="36576" tIns="18288" rIns="36576" bIns="18288">
            <a:spAutoFit/>
          </a:bodyPr>
          <a:lstStyle/>
          <a:p>
            <a:pPr algn="ctr"/>
            <a:r>
              <a:rPr sz="2800" b="1" i="0">
                <a:solidFill>
                  <a:srgbClr val="00977A"/>
                </a:solidFill>
                <a:latin typeface="Arial"/>
              </a:rPr>
              <a:t>Vì sao</a:t>
            </a:r>
          </a:p>
        </p:txBody>
      </p:sp>
      <p:sp>
        <p:nvSpPr>
          <p:cNvPr id="9" name="TextBox 8"/>
          <p:cNvSpPr txBox="1"/>
          <p:nvPr/>
        </p:nvSpPr>
        <p:spPr>
          <a:xfrm>
            <a:off x="640080" y="2468880"/>
            <a:ext cx="5029200"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Méo buồng tử cung.</a:t>
            </a:r>
          </a:p>
          <a:p>
            <a:pPr>
              <a:spcBef>
                <a:spcPts val="500"/>
              </a:spcBef>
              <a:spcAft>
                <a:spcPts val="200"/>
              </a:spcAft>
            </a:pPr>
            <a:r>
              <a:rPr sz="2400">
                <a:solidFill>
                  <a:srgbClr val="1A2F2F"/>
                </a:solidFill>
                <a:latin typeface="Arial"/>
              </a:rPr>
              <a:t>  –  Mất vùng nội mạc lành để phôi bám.</a:t>
            </a:r>
          </a:p>
          <a:p>
            <a:pPr>
              <a:spcBef>
                <a:spcPts val="500"/>
              </a:spcBef>
              <a:spcAft>
                <a:spcPts val="200"/>
              </a:spcAft>
            </a:pPr>
            <a:r>
              <a:rPr sz="2400">
                <a:solidFill>
                  <a:srgbClr val="1A2F2F"/>
                </a:solidFill>
                <a:latin typeface="Arial"/>
              </a:rPr>
              <a:t>  –  Có thể rối loạn vi môi trường quanh u.</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105" y="1783080"/>
            <a:ext cx="5212080" cy="467820"/>
          </a:xfrm>
          <a:prstGeom prst="rect">
            <a:avLst/>
          </a:prstGeom>
          <a:noFill/>
        </p:spPr>
        <p:txBody>
          <a:bodyPr wrap="square" lIns="36576" tIns="18288" rIns="36576" bIns="18288">
            <a:spAutoFit/>
          </a:bodyPr>
          <a:lstStyle/>
          <a:p>
            <a:pPr algn="ctr"/>
            <a:r>
              <a:rPr sz="2800" b="1" i="0">
                <a:solidFill>
                  <a:srgbClr val="E53E3E"/>
                </a:solidFill>
                <a:latin typeface="Arial"/>
              </a:rPr>
              <a:t>Hệ quả</a:t>
            </a:r>
          </a:p>
        </p:txBody>
      </p:sp>
      <p:sp>
        <p:nvSpPr>
          <p:cNvPr id="13" name="TextBox 12"/>
          <p:cNvSpPr txBox="1"/>
          <p:nvPr/>
        </p:nvSpPr>
        <p:spPr>
          <a:xfrm>
            <a:off x="6519545" y="2468880"/>
            <a:ext cx="5029200" cy="1749197"/>
          </a:xfrm>
          <a:prstGeom prst="rect">
            <a:avLst/>
          </a:prstGeom>
          <a:noFill/>
        </p:spPr>
        <p:txBody>
          <a:bodyPr wrap="square" lIns="36576" rIns="36576">
            <a:spAutoFit/>
          </a:bodyPr>
          <a:lstStyle/>
          <a:p>
            <a:pPr>
              <a:spcBef>
                <a:spcPts val="500"/>
              </a:spcBef>
              <a:spcAft>
                <a:spcPts val="200"/>
              </a:spcAft>
            </a:pPr>
            <a:r>
              <a:rPr sz="2400">
                <a:solidFill>
                  <a:srgbClr val="FFFFFF"/>
                </a:solidFill>
                <a:latin typeface="Arial"/>
              </a:rPr>
              <a:t>  –  Giảm tỉ lệ làm tổ.</a:t>
            </a:r>
          </a:p>
          <a:p>
            <a:pPr>
              <a:spcBef>
                <a:spcPts val="500"/>
              </a:spcBef>
              <a:spcAft>
                <a:spcPts val="200"/>
              </a:spcAft>
            </a:pPr>
            <a:r>
              <a:rPr sz="2400">
                <a:solidFill>
                  <a:srgbClr val="FFFFFF"/>
                </a:solidFill>
                <a:latin typeface="Arial"/>
              </a:rPr>
              <a:t>  –  Tăng sảy thai sớm.</a:t>
            </a:r>
          </a:p>
          <a:p>
            <a:pPr>
              <a:spcBef>
                <a:spcPts val="500"/>
              </a:spcBef>
              <a:spcAft>
                <a:spcPts val="200"/>
              </a:spcAft>
            </a:pPr>
            <a:r>
              <a:rPr sz="2400">
                <a:solidFill>
                  <a:srgbClr val="FFFFFF"/>
                </a:solidFill>
                <a:latin typeface="Arial"/>
              </a:rPr>
              <a:t>  –  Có thể ảnh hưởng co bóp tử cung.</a:t>
            </a:r>
          </a:p>
        </p:txBody>
      </p:sp>
      <p:sp>
        <p:nvSpPr>
          <p:cNvPr id="16" name="Rectangle 1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3 và 4 — vùng cơ chế khó phân tách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467820"/>
          </a:xfrm>
          <a:prstGeom prst="rect">
            <a:avLst/>
          </a:prstGeom>
          <a:noFill/>
        </p:spPr>
        <p:txBody>
          <a:bodyPr wrap="square" lIns="36576" tIns="18288" rIns="36576" bIns="18288">
            <a:spAutoFit/>
          </a:bodyPr>
          <a:lstStyle/>
          <a:p>
            <a:pPr algn="ctr"/>
            <a:r>
              <a:rPr sz="2800" b="1" i="0">
                <a:solidFill>
                  <a:srgbClr val="00977A"/>
                </a:solidFill>
                <a:latin typeface="Arial"/>
              </a:rPr>
              <a:t>Type 3</a:t>
            </a:r>
          </a:p>
        </p:txBody>
      </p:sp>
      <p:sp>
        <p:nvSpPr>
          <p:cNvPr id="9" name="TextBox 8"/>
          <p:cNvSpPr txBox="1"/>
          <p:nvPr/>
        </p:nvSpPr>
        <p:spPr>
          <a:xfrm>
            <a:off x="640080" y="2468880"/>
            <a:ext cx="5029200" cy="2118529"/>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Chạm nội mạc nhưng không lồi buồng tử cung.</a:t>
            </a:r>
          </a:p>
          <a:p>
            <a:pPr>
              <a:spcBef>
                <a:spcPts val="500"/>
              </a:spcBef>
              <a:spcAft>
                <a:spcPts val="200"/>
              </a:spcAft>
            </a:pPr>
            <a:r>
              <a:rPr sz="2400">
                <a:solidFill>
                  <a:srgbClr val="1A2F2F"/>
                </a:solidFill>
                <a:latin typeface="Arial"/>
              </a:rPr>
              <a:t>  –  Vi môi trường nội mạc tại vị trí chạm có thể bị ảnh hưởng.</a:t>
            </a:r>
          </a:p>
          <a:p>
            <a:pPr>
              <a:spcBef>
                <a:spcPts val="500"/>
              </a:spcBef>
              <a:spcAft>
                <a:spcPts val="200"/>
              </a:spcAft>
            </a:pPr>
            <a:r>
              <a:rPr sz="2400">
                <a:solidFill>
                  <a:srgbClr val="1A2F2F"/>
                </a:solidFill>
                <a:latin typeface="Arial"/>
              </a:rPr>
              <a:t>  –  Hệ quả khó lường.</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467820"/>
          </a:xfrm>
          <a:prstGeom prst="rect">
            <a:avLst/>
          </a:prstGeom>
          <a:noFill/>
        </p:spPr>
        <p:txBody>
          <a:bodyPr wrap="square" lIns="36576" tIns="18288" rIns="36576" bIns="18288">
            <a:spAutoFit/>
          </a:bodyPr>
          <a:lstStyle/>
          <a:p>
            <a:pPr algn="ctr"/>
            <a:r>
              <a:rPr sz="2800" b="1" i="0">
                <a:solidFill>
                  <a:srgbClr val="E53E3E"/>
                </a:solidFill>
                <a:latin typeface="Arial"/>
              </a:rPr>
              <a:t>Type 4</a:t>
            </a:r>
          </a:p>
        </p:txBody>
      </p:sp>
      <p:sp>
        <p:nvSpPr>
          <p:cNvPr id="13" name="TextBox 12"/>
          <p:cNvSpPr txBox="1"/>
          <p:nvPr/>
        </p:nvSpPr>
        <p:spPr>
          <a:xfrm>
            <a:off x="6519672" y="2468880"/>
            <a:ext cx="5029200" cy="1749197"/>
          </a:xfrm>
          <a:prstGeom prst="rect">
            <a:avLst/>
          </a:prstGeom>
          <a:noFill/>
        </p:spPr>
        <p:txBody>
          <a:bodyPr wrap="square" lIns="36576" rIns="36576">
            <a:spAutoFit/>
          </a:bodyPr>
          <a:lstStyle/>
          <a:p>
            <a:pPr>
              <a:spcBef>
                <a:spcPts val="500"/>
              </a:spcBef>
              <a:spcAft>
                <a:spcPts val="200"/>
              </a:spcAft>
            </a:pPr>
            <a:r>
              <a:rPr sz="2400">
                <a:solidFill>
                  <a:srgbClr val="FFFFFF"/>
                </a:solidFill>
                <a:latin typeface="Arial"/>
              </a:rPr>
              <a:t>  –  Không chạm nội mạc.</a:t>
            </a:r>
          </a:p>
          <a:p>
            <a:pPr>
              <a:spcBef>
                <a:spcPts val="500"/>
              </a:spcBef>
              <a:spcAft>
                <a:spcPts val="200"/>
              </a:spcAft>
            </a:pPr>
            <a:r>
              <a:rPr sz="2400">
                <a:solidFill>
                  <a:srgbClr val="FFFFFF"/>
                </a:solidFill>
                <a:latin typeface="Arial"/>
              </a:rPr>
              <a:t>  –  Ảnh hưởng phụ thuộc kích thước, số lượng, vị trí.</a:t>
            </a:r>
          </a:p>
          <a:p>
            <a:pPr>
              <a:spcBef>
                <a:spcPts val="500"/>
              </a:spcBef>
              <a:spcAft>
                <a:spcPts val="200"/>
              </a:spcAft>
            </a:pPr>
            <a:r>
              <a:rPr sz="2400">
                <a:solidFill>
                  <a:srgbClr val="FFFFFF"/>
                </a:solidFill>
                <a:latin typeface="Arial"/>
              </a:rPr>
              <a:t>  </a:t>
            </a:r>
          </a:p>
        </p:txBody>
      </p:sp>
      <p:sp>
        <p:nvSpPr>
          <p:cNvPr id="16" name="Rectangle 1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100" b="1" i="0">
                <a:solidFill>
                  <a:srgbClr val="0D2B2B"/>
                </a:solidFill>
                <a:latin typeface="Arial"/>
              </a:rPr>
              <a:t>U xơ trong cơ và kết quả sinh sản — meta-analysis 2024 (PMID 38935974)</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27203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65960"/>
            <a:ext cx="2537460" cy="1645920"/>
          </a:xfrm>
          <a:prstGeom prst="rect">
            <a:avLst/>
          </a:prstGeom>
          <a:noFill/>
        </p:spPr>
        <p:txBody>
          <a:bodyPr wrap="square" lIns="36576" tIns="18288" rIns="36576" bIns="18288" anchor="ctr">
            <a:spAutoFit/>
          </a:bodyPr>
          <a:lstStyle/>
          <a:p>
            <a:pPr algn="ctr"/>
            <a:r>
              <a:rPr sz="5000" b="1" i="0">
                <a:solidFill>
                  <a:srgbClr val="00977A"/>
                </a:solidFill>
                <a:latin typeface="Arial"/>
              </a:rPr>
              <a:t>OR 0,53</a:t>
            </a:r>
          </a:p>
        </p:txBody>
      </p:sp>
      <p:sp>
        <p:nvSpPr>
          <p:cNvPr id="9" name="TextBox 8"/>
          <p:cNvSpPr txBox="1"/>
          <p:nvPr/>
        </p:nvSpPr>
        <p:spPr>
          <a:xfrm>
            <a:off x="457200" y="3611880"/>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u &lt;3 cm</a:t>
            </a:r>
          </a:p>
        </p:txBody>
      </p:sp>
      <p:sp>
        <p:nvSpPr>
          <p:cNvPr id="10" name="TextBox 9"/>
          <p:cNvSpPr txBox="1"/>
          <p:nvPr/>
        </p:nvSpPr>
        <p:spPr>
          <a:xfrm>
            <a:off x="502920" y="4160520"/>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giảm tỉ lệ có thai lâm sàng</a:t>
            </a:r>
          </a:p>
        </p:txBody>
      </p:sp>
      <p:sp>
        <p:nvSpPr>
          <p:cNvPr id="11" name="Rectangle 10"/>
          <p:cNvSpPr/>
          <p:nvPr/>
        </p:nvSpPr>
        <p:spPr>
          <a:xfrm>
            <a:off x="3268980" y="1691640"/>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68980" y="1691640"/>
            <a:ext cx="27203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60420" y="1965960"/>
            <a:ext cx="2537460" cy="1645920"/>
          </a:xfrm>
          <a:prstGeom prst="rect">
            <a:avLst/>
          </a:prstGeom>
          <a:noFill/>
        </p:spPr>
        <p:txBody>
          <a:bodyPr wrap="square" lIns="36576" tIns="18288" rIns="36576" bIns="18288" anchor="ctr">
            <a:spAutoFit/>
          </a:bodyPr>
          <a:lstStyle/>
          <a:p>
            <a:pPr algn="ctr"/>
            <a:r>
              <a:rPr sz="5000" b="1" i="0">
                <a:solidFill>
                  <a:srgbClr val="00977A"/>
                </a:solidFill>
                <a:latin typeface="Arial"/>
              </a:rPr>
              <a:t>OR 0,59</a:t>
            </a:r>
          </a:p>
        </p:txBody>
      </p:sp>
      <p:sp>
        <p:nvSpPr>
          <p:cNvPr id="14" name="TextBox 13"/>
          <p:cNvSpPr txBox="1"/>
          <p:nvPr/>
        </p:nvSpPr>
        <p:spPr>
          <a:xfrm>
            <a:off x="3360420" y="3611880"/>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u &lt;3 cm</a:t>
            </a:r>
          </a:p>
        </p:txBody>
      </p:sp>
      <p:sp>
        <p:nvSpPr>
          <p:cNvPr id="15" name="TextBox 14"/>
          <p:cNvSpPr txBox="1"/>
          <p:nvPr/>
        </p:nvSpPr>
        <p:spPr>
          <a:xfrm>
            <a:off x="3406140" y="4160520"/>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giảm tỉ lệ thai tiến triển/sanh sống</a:t>
            </a:r>
          </a:p>
        </p:txBody>
      </p:sp>
      <p:sp>
        <p:nvSpPr>
          <p:cNvPr id="16" name="Rectangle 15"/>
          <p:cNvSpPr/>
          <p:nvPr/>
        </p:nvSpPr>
        <p:spPr>
          <a:xfrm>
            <a:off x="6172200" y="1691640"/>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1691640"/>
            <a:ext cx="272034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1965960"/>
            <a:ext cx="2537460" cy="1645920"/>
          </a:xfrm>
          <a:prstGeom prst="rect">
            <a:avLst/>
          </a:prstGeom>
          <a:noFill/>
        </p:spPr>
        <p:txBody>
          <a:bodyPr wrap="square" lIns="36576" tIns="18288" rIns="36576" bIns="18288" anchor="ctr">
            <a:spAutoFit/>
          </a:bodyPr>
          <a:lstStyle/>
          <a:p>
            <a:pPr algn="ctr"/>
            <a:r>
              <a:rPr sz="5000" b="1" i="0">
                <a:solidFill>
                  <a:srgbClr val="F59E0B"/>
                </a:solidFill>
                <a:latin typeface="Arial"/>
              </a:rPr>
              <a:t>OR 0,43</a:t>
            </a:r>
          </a:p>
        </p:txBody>
      </p:sp>
      <p:sp>
        <p:nvSpPr>
          <p:cNvPr id="19" name="TextBox 18"/>
          <p:cNvSpPr txBox="1"/>
          <p:nvPr/>
        </p:nvSpPr>
        <p:spPr>
          <a:xfrm>
            <a:off x="6263640" y="3611880"/>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u 3–6 cm</a:t>
            </a:r>
          </a:p>
        </p:txBody>
      </p:sp>
      <p:sp>
        <p:nvSpPr>
          <p:cNvPr id="20" name="TextBox 19"/>
          <p:cNvSpPr txBox="1"/>
          <p:nvPr/>
        </p:nvSpPr>
        <p:spPr>
          <a:xfrm>
            <a:off x="6309360" y="4160520"/>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giảm tỉ lệ có thai lâm sàng</a:t>
            </a:r>
          </a:p>
        </p:txBody>
      </p:sp>
      <p:sp>
        <p:nvSpPr>
          <p:cNvPr id="21" name="Rectangle 20"/>
          <p:cNvSpPr/>
          <p:nvPr/>
        </p:nvSpPr>
        <p:spPr>
          <a:xfrm>
            <a:off x="9075420" y="1691640"/>
            <a:ext cx="272034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75420" y="1691640"/>
            <a:ext cx="27203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66860" y="1965960"/>
            <a:ext cx="2537460" cy="1645920"/>
          </a:xfrm>
          <a:prstGeom prst="rect">
            <a:avLst/>
          </a:prstGeom>
          <a:noFill/>
        </p:spPr>
        <p:txBody>
          <a:bodyPr wrap="square" lIns="36576" tIns="18288" rIns="36576" bIns="18288" anchor="ctr">
            <a:spAutoFit/>
          </a:bodyPr>
          <a:lstStyle/>
          <a:p>
            <a:pPr algn="ctr"/>
            <a:r>
              <a:rPr sz="5000" b="1" i="0">
                <a:solidFill>
                  <a:srgbClr val="E53E3E"/>
                </a:solidFill>
                <a:latin typeface="Arial"/>
              </a:rPr>
              <a:t>OR 0,62</a:t>
            </a:r>
          </a:p>
        </p:txBody>
      </p:sp>
      <p:sp>
        <p:nvSpPr>
          <p:cNvPr id="24" name="TextBox 23"/>
          <p:cNvSpPr txBox="1"/>
          <p:nvPr/>
        </p:nvSpPr>
        <p:spPr>
          <a:xfrm>
            <a:off x="9166860" y="3611880"/>
            <a:ext cx="2537460" cy="457200"/>
          </a:xfrm>
          <a:prstGeom prst="rect">
            <a:avLst/>
          </a:prstGeom>
          <a:noFill/>
        </p:spPr>
        <p:txBody>
          <a:bodyPr wrap="square" lIns="36576" tIns="18288" rIns="36576" bIns="18288">
            <a:spAutoFit/>
          </a:bodyPr>
          <a:lstStyle/>
          <a:p>
            <a:pPr algn="ctr"/>
            <a:r>
              <a:rPr sz="2000" b="1" i="0">
                <a:solidFill>
                  <a:srgbClr val="0D2B2B"/>
                </a:solidFill>
                <a:latin typeface="Arial"/>
              </a:rPr>
              <a:t>nhiều u</a:t>
            </a:r>
          </a:p>
        </p:txBody>
      </p:sp>
      <p:sp>
        <p:nvSpPr>
          <p:cNvPr id="25" name="TextBox 24"/>
          <p:cNvSpPr txBox="1"/>
          <p:nvPr/>
        </p:nvSpPr>
        <p:spPr>
          <a:xfrm>
            <a:off x="9212580" y="4160520"/>
            <a:ext cx="2446020" cy="1965960"/>
          </a:xfrm>
          <a:prstGeom prst="rect">
            <a:avLst/>
          </a:prstGeom>
          <a:noFill/>
        </p:spPr>
        <p:txBody>
          <a:bodyPr wrap="square" lIns="36576" tIns="18288" rIns="36576" bIns="18288">
            <a:spAutoFit/>
          </a:bodyPr>
          <a:lstStyle/>
          <a:p>
            <a:pPr algn="ctr"/>
            <a:r>
              <a:rPr sz="1800" b="0" i="0">
                <a:solidFill>
                  <a:srgbClr val="728C8C"/>
                </a:solidFill>
                <a:latin typeface="Arial"/>
              </a:rPr>
              <a:t>giảm tỉ lệ có thai lâm sàng</a:t>
            </a:r>
          </a:p>
        </p:txBody>
      </p:sp>
      <p:sp>
        <p:nvSpPr>
          <p:cNvPr id="26" name="Rectangle 2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Type 5–7</a:t>
            </a:r>
            <a:r>
              <a:rPr lang="en-US" sz="3800" b="1" i="0">
                <a:solidFill>
                  <a:srgbClr val="0D2B2B"/>
                </a:solidFill>
                <a:latin typeface="Arial"/>
              </a:rPr>
              <a:t> và type 8</a:t>
            </a:r>
            <a:endParaRPr sz="3800" b="1" i="0">
              <a:solidFill>
                <a:srgbClr val="0D2B2B"/>
              </a:solidFill>
              <a:latin typeface="Arial"/>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1838965"/>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U dưới thanh mạc nhỏ thường không ảnh hưởng khả năng làm tổ.</a:t>
            </a:r>
          </a:p>
          <a:p>
            <a:pPr>
              <a:spcBef>
                <a:spcPts val="500"/>
              </a:spcBef>
              <a:spcAft>
                <a:spcPts val="200"/>
              </a:spcAft>
            </a:pPr>
            <a:r>
              <a:rPr sz="2400">
                <a:solidFill>
                  <a:srgbClr val="1A2F2F"/>
                </a:solidFill>
                <a:latin typeface="Arial"/>
              </a:rPr>
              <a:t>  –  Lo ngại chính là thao tác: u đẩy lệch buồng trứng, cản chọc hút noãn.</a:t>
            </a:r>
          </a:p>
          <a:p>
            <a:pPr>
              <a:spcBef>
                <a:spcPts val="500"/>
              </a:spcBef>
              <a:spcAft>
                <a:spcPts val="200"/>
              </a:spcAft>
            </a:pPr>
            <a:r>
              <a:rPr sz="2400">
                <a:solidFill>
                  <a:srgbClr val="1A2F2F"/>
                </a:solidFill>
                <a:latin typeface="Arial"/>
              </a:rPr>
              <a:t>  –  U cổ tử cung hoặc u làm biến dạng trục tử cung có thể làm khó chuyển phôi.</a:t>
            </a:r>
          </a:p>
          <a:p>
            <a:pPr>
              <a:spcBef>
                <a:spcPts val="500"/>
              </a:spcBef>
              <a:spcAft>
                <a:spcPts val="200"/>
              </a:spcAft>
            </a:pPr>
            <a:r>
              <a:rPr sz="2400">
                <a:solidFill>
                  <a:srgbClr val="1A2F2F"/>
                </a:solidFill>
                <a:latin typeface="Arial"/>
              </a:rPr>
              <a:t>  </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7</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Xử trí theo FIGO</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23360" y="4343400"/>
            <a:ext cx="7772400" cy="1371600"/>
          </a:xfrm>
          <a:prstGeom prst="rect">
            <a:avLst/>
          </a:prstGeom>
          <a:noFill/>
        </p:spPr>
        <p:txBody>
          <a:bodyPr wrap="square" lIns="36576" tIns="18288" rIns="36576" bIns="18288">
            <a:spAutoFit/>
          </a:bodyPr>
          <a:lstStyle/>
          <a:p>
            <a:pPr algn="l"/>
            <a:r>
              <a:rPr sz="2100" b="0" i="1">
                <a:solidFill>
                  <a:srgbClr val="728C8C"/>
                </a:solidFill>
                <a:latin typeface="Arial"/>
              </a:rPr>
              <a:t>Cùng là u xơ, hành động khác nhau</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Quyết định theo FIGO trước ART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02348950"/>
              </p:ext>
            </p:extLst>
          </p:nvPr>
        </p:nvGraphicFramePr>
        <p:xfrm>
          <a:off x="365760" y="1600200"/>
          <a:ext cx="11430000" cy="448056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2400" b="1">
                          <a:solidFill>
                            <a:srgbClr val="FFFFFF"/>
                          </a:solidFill>
                          <a:latin typeface="Arial"/>
                        </a:rPr>
                        <a:t>FIGO</a:t>
                      </a:r>
                    </a:p>
                  </a:txBody>
                  <a:tcPr>
                    <a:solidFill>
                      <a:srgbClr val="0D2B2B"/>
                    </a:solidFill>
                  </a:tcPr>
                </a:tc>
                <a:tc>
                  <a:txBody>
                    <a:bodyPr/>
                    <a:lstStyle/>
                    <a:p>
                      <a:pPr algn="ctr"/>
                      <a:r>
                        <a:rPr sz="2400" b="1">
                          <a:solidFill>
                            <a:srgbClr val="FFFFFF"/>
                          </a:solidFill>
                          <a:latin typeface="Arial"/>
                        </a:rPr>
                        <a:t>Vấn đề chính</a:t>
                      </a:r>
                    </a:p>
                  </a:txBody>
                  <a:tcPr>
                    <a:solidFill>
                      <a:srgbClr val="0D2B2B"/>
                    </a:solidFill>
                  </a:tcPr>
                </a:tc>
                <a:tc>
                  <a:txBody>
                    <a:bodyPr/>
                    <a:lstStyle/>
                    <a:p>
                      <a:pPr algn="ctr"/>
                      <a:r>
                        <a:rPr sz="2400" b="1">
                          <a:solidFill>
                            <a:srgbClr val="FFFFFF"/>
                          </a:solidFill>
                          <a:latin typeface="Arial"/>
                        </a:rPr>
                        <a:t>Hành động</a:t>
                      </a:r>
                    </a:p>
                  </a:txBody>
                  <a:tcPr>
                    <a:solidFill>
                      <a:srgbClr val="0D2B2B"/>
                    </a:solidFill>
                  </a:tcPr>
                </a:tc>
                <a:extLst>
                  <a:ext uri="{0D108BD9-81ED-4DB2-BD59-A6C34878D82A}">
                    <a16:rowId xmlns:a16="http://schemas.microsoft.com/office/drawing/2014/main" val="10000"/>
                  </a:ext>
                </a:extLst>
              </a:tr>
              <a:tr h="594360">
                <a:tc>
                  <a:txBody>
                    <a:bodyPr/>
                    <a:lstStyle/>
                    <a:p>
                      <a:pPr algn="ctr"/>
                      <a:r>
                        <a:rPr sz="2400" b="0">
                          <a:solidFill>
                            <a:srgbClr val="1A2F2F"/>
                          </a:solidFill>
                          <a:latin typeface="Arial"/>
                        </a:rPr>
                        <a:t>0–2</a:t>
                      </a:r>
                    </a:p>
                  </a:txBody>
                  <a:tcPr>
                    <a:solidFill>
                      <a:srgbClr val="E8F8F5"/>
                    </a:solidFill>
                  </a:tcPr>
                </a:tc>
                <a:tc>
                  <a:txBody>
                    <a:bodyPr/>
                    <a:lstStyle/>
                    <a:p>
                      <a:pPr algn="ctr"/>
                      <a:r>
                        <a:rPr sz="2400" b="0">
                          <a:solidFill>
                            <a:srgbClr val="1A2F2F"/>
                          </a:solidFill>
                          <a:latin typeface="Arial"/>
                        </a:rPr>
                        <a:t>Làm biến dạng buồng tử cung</a:t>
                      </a:r>
                    </a:p>
                  </a:txBody>
                  <a:tcPr>
                    <a:solidFill>
                      <a:srgbClr val="E8F8F5"/>
                    </a:solidFill>
                  </a:tcPr>
                </a:tc>
                <a:tc>
                  <a:txBody>
                    <a:bodyPr/>
                    <a:lstStyle/>
                    <a:p>
                      <a:pPr algn="ctr"/>
                      <a:r>
                        <a:rPr sz="2400" b="0">
                          <a:solidFill>
                            <a:srgbClr val="1A2F2F"/>
                          </a:solidFill>
                          <a:latin typeface="Arial"/>
                        </a:rPr>
                        <a:t>Thường sửa buồng tử cung trước chuyển phôi</a:t>
                      </a:r>
                    </a:p>
                  </a:txBody>
                  <a:tcPr>
                    <a:solidFill>
                      <a:srgbClr val="E8F8F5"/>
                    </a:solidFill>
                  </a:tcPr>
                </a:tc>
                <a:extLst>
                  <a:ext uri="{0D108BD9-81ED-4DB2-BD59-A6C34878D82A}">
                    <a16:rowId xmlns:a16="http://schemas.microsoft.com/office/drawing/2014/main" val="10001"/>
                  </a:ext>
                </a:extLst>
              </a:tr>
              <a:tr h="594360">
                <a:tc>
                  <a:txBody>
                    <a:bodyPr/>
                    <a:lstStyle/>
                    <a:p>
                      <a:pPr algn="ctr"/>
                      <a:r>
                        <a:rPr sz="2400" b="0">
                          <a:solidFill>
                            <a:srgbClr val="1A2F2F"/>
                          </a:solidFill>
                          <a:latin typeface="Arial"/>
                        </a:rPr>
                        <a:t>3</a:t>
                      </a:r>
                    </a:p>
                  </a:txBody>
                  <a:tcPr>
                    <a:solidFill>
                      <a:srgbClr val="FFFFFF"/>
                    </a:solidFill>
                  </a:tcPr>
                </a:tc>
                <a:tc>
                  <a:txBody>
                    <a:bodyPr/>
                    <a:lstStyle/>
                    <a:p>
                      <a:pPr algn="ctr"/>
                      <a:r>
                        <a:rPr sz="2400" b="0">
                          <a:solidFill>
                            <a:srgbClr val="1A2F2F"/>
                          </a:solidFill>
                          <a:latin typeface="Arial"/>
                        </a:rPr>
                        <a:t>Chạm nội mạc không lồi buồng</a:t>
                      </a:r>
                    </a:p>
                  </a:txBody>
                  <a:tcPr>
                    <a:solidFill>
                      <a:srgbClr val="FFFFFF"/>
                    </a:solidFill>
                  </a:tcPr>
                </a:tc>
                <a:tc>
                  <a:txBody>
                    <a:bodyPr/>
                    <a:lstStyle/>
                    <a:p>
                      <a:pPr algn="ctr"/>
                      <a:r>
                        <a:rPr sz="2400" b="0">
                          <a:solidFill>
                            <a:srgbClr val="1A2F2F"/>
                          </a:solidFill>
                          <a:latin typeface="Arial"/>
                        </a:rPr>
                        <a:t>Hội chẩn và cá thể hóa</a:t>
                      </a:r>
                    </a:p>
                  </a:txBody>
                  <a:tcPr>
                    <a:solidFill>
                      <a:srgbClr val="FFFFFF"/>
                    </a:solidFill>
                  </a:tcPr>
                </a:tc>
                <a:extLst>
                  <a:ext uri="{0D108BD9-81ED-4DB2-BD59-A6C34878D82A}">
                    <a16:rowId xmlns:a16="http://schemas.microsoft.com/office/drawing/2014/main" val="10002"/>
                  </a:ext>
                </a:extLst>
              </a:tr>
              <a:tr h="594360">
                <a:tc>
                  <a:txBody>
                    <a:bodyPr/>
                    <a:lstStyle/>
                    <a:p>
                      <a:pPr algn="ctr"/>
                      <a:r>
                        <a:rPr sz="2400" b="0">
                          <a:solidFill>
                            <a:srgbClr val="1A2F2F"/>
                          </a:solidFill>
                          <a:latin typeface="Arial"/>
                        </a:rPr>
                        <a:t>4</a:t>
                      </a:r>
                    </a:p>
                  </a:txBody>
                  <a:tcPr>
                    <a:solidFill>
                      <a:srgbClr val="E8F8F5"/>
                    </a:solidFill>
                  </a:tcPr>
                </a:tc>
                <a:tc>
                  <a:txBody>
                    <a:bodyPr/>
                    <a:lstStyle/>
                    <a:p>
                      <a:pPr algn="ctr"/>
                      <a:r>
                        <a:rPr sz="2400" b="0">
                          <a:solidFill>
                            <a:srgbClr val="1A2F2F"/>
                          </a:solidFill>
                          <a:latin typeface="Arial"/>
                        </a:rPr>
                        <a:t>Không chạm buồng tử cung</a:t>
                      </a:r>
                    </a:p>
                  </a:txBody>
                  <a:tcPr>
                    <a:solidFill>
                      <a:srgbClr val="E8F8F5"/>
                    </a:solidFill>
                  </a:tcPr>
                </a:tc>
                <a:tc>
                  <a:txBody>
                    <a:bodyPr/>
                    <a:lstStyle/>
                    <a:p>
                      <a:pPr algn="ctr"/>
                      <a:r>
                        <a:rPr lang="en-US" sz="2400" b="0">
                          <a:solidFill>
                            <a:srgbClr val="1A2F2F"/>
                          </a:solidFill>
                          <a:latin typeface="Arial"/>
                        </a:rPr>
                        <a:t>Dựa vào </a:t>
                      </a:r>
                      <a:r>
                        <a:rPr sz="2400" b="0">
                          <a:solidFill>
                            <a:srgbClr val="1A2F2F"/>
                          </a:solidFill>
                          <a:latin typeface="Arial"/>
                        </a:rPr>
                        <a:t>kích thước</a:t>
                      </a:r>
                      <a:r>
                        <a:rPr lang="en-US" sz="2400" b="0">
                          <a:solidFill>
                            <a:srgbClr val="1A2F2F"/>
                          </a:solidFill>
                          <a:latin typeface="Arial"/>
                        </a:rPr>
                        <a:t> u </a:t>
                      </a:r>
                      <a:r>
                        <a:rPr sz="2400" b="0">
                          <a:solidFill>
                            <a:srgbClr val="1A2F2F"/>
                          </a:solidFill>
                          <a:latin typeface="Arial"/>
                        </a:rPr>
                        <a:t>, tuổi, số phôi</a:t>
                      </a:r>
                    </a:p>
                  </a:txBody>
                  <a:tcPr>
                    <a:solidFill>
                      <a:srgbClr val="E8F8F5"/>
                    </a:solidFill>
                  </a:tcPr>
                </a:tc>
                <a:extLst>
                  <a:ext uri="{0D108BD9-81ED-4DB2-BD59-A6C34878D82A}">
                    <a16:rowId xmlns:a16="http://schemas.microsoft.com/office/drawing/2014/main" val="10003"/>
                  </a:ext>
                </a:extLst>
              </a:tr>
              <a:tr h="594360">
                <a:tc>
                  <a:txBody>
                    <a:bodyPr/>
                    <a:lstStyle/>
                    <a:p>
                      <a:pPr algn="ctr"/>
                      <a:r>
                        <a:rPr sz="2400" b="0">
                          <a:solidFill>
                            <a:srgbClr val="1A2F2F"/>
                          </a:solidFill>
                          <a:latin typeface="Arial"/>
                        </a:rPr>
                        <a:t>5–7</a:t>
                      </a:r>
                    </a:p>
                  </a:txBody>
                  <a:tcPr>
                    <a:solidFill>
                      <a:srgbClr val="FFFFFF"/>
                    </a:solidFill>
                  </a:tcPr>
                </a:tc>
                <a:tc>
                  <a:txBody>
                    <a:bodyPr/>
                    <a:lstStyle/>
                    <a:p>
                      <a:pPr algn="ctr"/>
                      <a:r>
                        <a:rPr sz="2400" b="0">
                          <a:solidFill>
                            <a:srgbClr val="1A2F2F"/>
                          </a:solidFill>
                          <a:latin typeface="Arial"/>
                        </a:rPr>
                        <a:t>Dưới thanh mạc</a:t>
                      </a:r>
                    </a:p>
                  </a:txBody>
                  <a:tcPr>
                    <a:solidFill>
                      <a:srgbClr val="FFFFFF"/>
                    </a:solidFill>
                  </a:tcPr>
                </a:tc>
                <a:tc>
                  <a:txBody>
                    <a:bodyPr/>
                    <a:lstStyle/>
                    <a:p>
                      <a:pPr algn="ctr"/>
                      <a:r>
                        <a:rPr sz="2400" b="0">
                          <a:solidFill>
                            <a:srgbClr val="1A2F2F"/>
                          </a:solidFill>
                          <a:latin typeface="Arial"/>
                        </a:rPr>
                        <a:t>Không mổ chỉ vì IVF nếu nhỏ</a:t>
                      </a:r>
                    </a:p>
                  </a:txBody>
                  <a:tcPr>
                    <a:solidFill>
                      <a:srgbClr val="FFFFFF"/>
                    </a:solidFill>
                  </a:tcPr>
                </a:tc>
                <a:extLst>
                  <a:ext uri="{0D108BD9-81ED-4DB2-BD59-A6C34878D82A}">
                    <a16:rowId xmlns:a16="http://schemas.microsoft.com/office/drawing/2014/main" val="10004"/>
                  </a:ext>
                </a:extLst>
              </a:tr>
              <a:tr h="594360">
                <a:tc>
                  <a:txBody>
                    <a:bodyPr/>
                    <a:lstStyle/>
                    <a:p>
                      <a:pPr algn="ctr"/>
                      <a:r>
                        <a:rPr sz="2400" b="0">
                          <a:solidFill>
                            <a:srgbClr val="1A2F2F"/>
                          </a:solidFill>
                          <a:latin typeface="Arial"/>
                        </a:rPr>
                        <a:t>8</a:t>
                      </a:r>
                    </a:p>
                  </a:txBody>
                  <a:tcPr>
                    <a:solidFill>
                      <a:srgbClr val="E8F8F5"/>
                    </a:solidFill>
                  </a:tcPr>
                </a:tc>
                <a:tc>
                  <a:txBody>
                    <a:bodyPr/>
                    <a:lstStyle/>
                    <a:p>
                      <a:pPr algn="ctr"/>
                      <a:r>
                        <a:rPr sz="2400" b="0">
                          <a:solidFill>
                            <a:srgbClr val="1A2F2F"/>
                          </a:solidFill>
                          <a:latin typeface="Arial"/>
                        </a:rPr>
                        <a:t>Vị trí đặc biệt</a:t>
                      </a:r>
                    </a:p>
                  </a:txBody>
                  <a:tcPr>
                    <a:solidFill>
                      <a:srgbClr val="E8F8F5"/>
                    </a:solidFill>
                  </a:tcPr>
                </a:tc>
                <a:tc>
                  <a:txBody>
                    <a:bodyPr/>
                    <a:lstStyle/>
                    <a:p>
                      <a:pPr algn="ctr"/>
                      <a:r>
                        <a:rPr sz="2400" b="0">
                          <a:solidFill>
                            <a:srgbClr val="1A2F2F"/>
                          </a:solidFill>
                          <a:latin typeface="Arial"/>
                        </a:rPr>
                        <a:t>MRI/kế hoạch riêng</a:t>
                      </a:r>
                    </a:p>
                  </a:txBody>
                  <a:tcPr>
                    <a:solidFill>
                      <a:srgbClr val="E8F8F5"/>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0 — trong buồng tử cung có cuống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946961"/>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Thường xử trí trước chuyển phôi.</a:t>
            </a:r>
          </a:p>
          <a:p>
            <a:pPr>
              <a:spcBef>
                <a:spcPts val="500"/>
              </a:spcBef>
              <a:spcAft>
                <a:spcPts val="200"/>
              </a:spcAft>
            </a:pPr>
            <a:r>
              <a:rPr sz="2800">
                <a:solidFill>
                  <a:srgbClr val="1A2F2F"/>
                </a:solidFill>
                <a:latin typeface="Arial"/>
              </a:rPr>
              <a:t>  –  </a:t>
            </a:r>
            <a:r>
              <a:rPr sz="2800" b="1" i="1">
                <a:solidFill>
                  <a:srgbClr val="1A2F2F"/>
                </a:solidFill>
                <a:latin typeface="Arial"/>
              </a:rPr>
              <a:t>Đường nội soi buồng tử cung</a:t>
            </a:r>
            <a:r>
              <a:rPr sz="2800">
                <a:solidFill>
                  <a:srgbClr val="1A2F2F"/>
                </a:solidFill>
                <a:latin typeface="Arial"/>
              </a:rPr>
              <a:t> phù hợp nhất với tổn thương có cuống.</a:t>
            </a:r>
          </a:p>
          <a:p>
            <a:pPr>
              <a:spcBef>
                <a:spcPts val="500"/>
              </a:spcBef>
              <a:spcAft>
                <a:spcPts val="200"/>
              </a:spcAft>
            </a:pPr>
            <a:r>
              <a:rPr sz="2800">
                <a:solidFill>
                  <a:srgbClr val="1A2F2F"/>
                </a:solidFill>
                <a:latin typeface="Arial"/>
              </a:rPr>
              <a:t>  –  Tránh đốt sâu để bảo vệ nội mạc.</a:t>
            </a:r>
          </a:p>
          <a:p>
            <a:pPr>
              <a:spcBef>
                <a:spcPts val="500"/>
              </a:spcBef>
              <a:spcAft>
                <a:spcPts val="200"/>
              </a:spcAft>
            </a:pPr>
            <a:r>
              <a:rPr sz="2800">
                <a:solidFill>
                  <a:srgbClr val="1A2F2F"/>
                </a:solidFill>
                <a:latin typeface="Arial"/>
              </a:rPr>
              <a:t>  –  Kiểm tra lại buồng tử cung sau thủ thuật ở ca khó hoặc polyp/dính đi kèm.</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Type 1</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331407"/>
          </a:xfrm>
          <a:prstGeom prst="rect">
            <a:avLst/>
          </a:prstGeom>
          <a:noFill/>
        </p:spPr>
        <p:txBody>
          <a:bodyPr wrap="square" lIns="36576" rIns="36576">
            <a:spAutoFit/>
          </a:bodyPr>
          <a:lstStyle/>
          <a:p>
            <a:pPr>
              <a:spcBef>
                <a:spcPts val="500"/>
              </a:spcBef>
              <a:spcAft>
                <a:spcPts val="200"/>
              </a:spcAft>
            </a:pPr>
            <a:r>
              <a:rPr sz="3200">
                <a:solidFill>
                  <a:srgbClr val="1A2F2F"/>
                </a:solidFill>
                <a:latin typeface="Arial"/>
              </a:rPr>
              <a:t>  –  Cắt từng lớp qua </a:t>
            </a:r>
            <a:r>
              <a:rPr sz="3200" b="1" i="1">
                <a:solidFill>
                  <a:srgbClr val="1A2F2F"/>
                </a:solidFill>
                <a:latin typeface="Arial"/>
              </a:rPr>
              <a:t>nội soi buồng tử cung.</a:t>
            </a:r>
          </a:p>
          <a:p>
            <a:pPr>
              <a:spcBef>
                <a:spcPts val="500"/>
              </a:spcBef>
              <a:spcAft>
                <a:spcPts val="200"/>
              </a:spcAft>
            </a:pPr>
            <a:r>
              <a:rPr sz="3200">
                <a:solidFill>
                  <a:srgbClr val="1A2F2F"/>
                </a:solidFill>
                <a:latin typeface="Arial"/>
              </a:rPr>
              <a:t>  –  Bảo vệ lớp đáy nội mạc.</a:t>
            </a:r>
          </a:p>
          <a:p>
            <a:pPr>
              <a:spcBef>
                <a:spcPts val="500"/>
              </a:spcBef>
              <a:spcAft>
                <a:spcPts val="200"/>
              </a:spcAft>
            </a:pPr>
            <a:r>
              <a:rPr sz="3200">
                <a:solidFill>
                  <a:srgbClr val="1A2F2F"/>
                </a:solidFill>
                <a:latin typeface="Arial"/>
              </a:rPr>
              <a:t>  –  Tránh đốt rộng hoặc cắt sâu gây sẹo dày.</a:t>
            </a:r>
          </a:p>
          <a:p>
            <a:pPr>
              <a:spcBef>
                <a:spcPts val="500"/>
              </a:spcBef>
              <a:spcAft>
                <a:spcPts val="200"/>
              </a:spcAft>
            </a:pPr>
            <a:r>
              <a:rPr sz="3200">
                <a:solidFill>
                  <a:srgbClr val="1A2F2F"/>
                </a:solidFill>
                <a:latin typeface="Arial"/>
              </a:rPr>
              <a:t>  –  </a:t>
            </a:r>
            <a:r>
              <a:rPr lang="en-US" sz="3200">
                <a:solidFill>
                  <a:srgbClr val="1A2F2F"/>
                </a:solidFill>
                <a:latin typeface="Arial"/>
              </a:rPr>
              <a:t>Phẫu thuật nhiều thì </a:t>
            </a:r>
            <a:r>
              <a:rPr sz="3200">
                <a:solidFill>
                  <a:srgbClr val="1A2F2F"/>
                </a:solidFill>
                <a:latin typeface="Arial"/>
              </a:rPr>
              <a:t>nếu u lớn hoặc vị trí khó.</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Type 2</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Nguy cơ thủng, dính, quá tải dịch.</a:t>
            </a:r>
          </a:p>
          <a:p>
            <a:pPr>
              <a:spcBef>
                <a:spcPts val="500"/>
              </a:spcBef>
              <a:spcAft>
                <a:spcPts val="200"/>
              </a:spcAft>
            </a:pPr>
            <a:r>
              <a:rPr sz="2800">
                <a:solidFill>
                  <a:srgbClr val="1A2F2F"/>
                </a:solidFill>
                <a:latin typeface="Arial"/>
              </a:rPr>
              <a:t>  –  Có thể chia hai thì để an toàn.</a:t>
            </a:r>
          </a:p>
          <a:p>
            <a:pPr>
              <a:spcBef>
                <a:spcPts val="500"/>
              </a:spcBef>
              <a:spcAft>
                <a:spcPts val="200"/>
              </a:spcAft>
            </a:pPr>
            <a:r>
              <a:rPr sz="2800">
                <a:solidFill>
                  <a:srgbClr val="1A2F2F"/>
                </a:solidFill>
                <a:latin typeface="Arial"/>
              </a:rPr>
              <a:t>  –  Lấy sạch bằng mọi giá chưa chắc tốt cho ART.</a:t>
            </a:r>
          </a:p>
          <a:p>
            <a:pPr>
              <a:spcBef>
                <a:spcPts val="500"/>
              </a:spcBef>
              <a:spcAft>
                <a:spcPts val="200"/>
              </a:spcAft>
            </a:pPr>
            <a:r>
              <a:rPr sz="2800">
                <a:solidFill>
                  <a:srgbClr val="1A2F2F"/>
                </a:solidFill>
                <a:latin typeface="Arial"/>
              </a:rPr>
              <a:t>  –  Bảo vệ lớp đáy nội mạc là ưu tiên.</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3 — vùng xám cần cá thể hoá</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605842"/>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Chạm nội mạc, không lồi buồng tử cung.</a:t>
            </a:r>
          </a:p>
          <a:p>
            <a:pPr>
              <a:spcBef>
                <a:spcPts val="500"/>
              </a:spcBef>
              <a:spcAft>
                <a:spcPts val="200"/>
              </a:spcAft>
            </a:pPr>
            <a:r>
              <a:rPr sz="2800">
                <a:solidFill>
                  <a:srgbClr val="1A2F2F"/>
                </a:solidFill>
                <a:latin typeface="Arial"/>
              </a:rPr>
              <a:t>  –  Bằng chứng còn chưa đủ để mổ mọi ca.</a:t>
            </a:r>
          </a:p>
          <a:p>
            <a:pPr>
              <a:spcBef>
                <a:spcPts val="500"/>
              </a:spcBef>
              <a:spcAft>
                <a:spcPts val="200"/>
              </a:spcAft>
            </a:pPr>
            <a:r>
              <a:rPr sz="2800">
                <a:solidFill>
                  <a:srgbClr val="1A2F2F"/>
                </a:solidFill>
                <a:latin typeface="Arial"/>
              </a:rPr>
              <a:t>  –  Xác nhận bằng 3D/SIS/MRI khi phân loại chưa chắc.</a:t>
            </a:r>
          </a:p>
          <a:p>
            <a:pPr>
              <a:spcBef>
                <a:spcPts val="500"/>
              </a:spcBef>
              <a:spcAft>
                <a:spcPts val="200"/>
              </a:spcAft>
            </a:pPr>
            <a:r>
              <a:rPr sz="2800">
                <a:solidFill>
                  <a:srgbClr val="1A2F2F"/>
                </a:solidFill>
                <a:latin typeface="Arial"/>
              </a:rPr>
              <a:t>  –  Cân nhắc RIF, phôi quý, tuổi, kích thước, diện tiếp xúc nội mạc.</a:t>
            </a:r>
          </a:p>
          <a:p>
            <a:pPr>
              <a:spcBef>
                <a:spcPts val="500"/>
              </a:spcBef>
              <a:spcAft>
                <a:spcPts val="200"/>
              </a:spcAft>
            </a:pPr>
            <a:r>
              <a:rPr sz="2800">
                <a:solidFill>
                  <a:srgbClr val="1A2F2F"/>
                </a:solidFill>
                <a:latin typeface="Arial"/>
              </a:rPr>
              <a:t>  –  Quyết định cần hội chẩn và trao đổi với bệnh nhân.</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sz="3800" b="1" i="0">
                <a:solidFill>
                  <a:srgbClr val="0D2B2B"/>
                </a:solidFill>
                <a:latin typeface="Arial"/>
              </a:rPr>
              <a:t>Type 4</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Kích thước và số lượng u.</a:t>
            </a:r>
          </a:p>
          <a:p>
            <a:pPr>
              <a:spcBef>
                <a:spcPts val="500"/>
              </a:spcBef>
              <a:spcAft>
                <a:spcPts val="200"/>
              </a:spcAft>
            </a:pPr>
            <a:r>
              <a:rPr sz="2800">
                <a:solidFill>
                  <a:srgbClr val="1A2F2F"/>
                </a:solidFill>
                <a:latin typeface="Arial"/>
              </a:rPr>
              <a:t>  –  Triệu chứng kèm theo.</a:t>
            </a:r>
          </a:p>
          <a:p>
            <a:pPr>
              <a:spcBef>
                <a:spcPts val="500"/>
              </a:spcBef>
              <a:spcAft>
                <a:spcPts val="200"/>
              </a:spcAft>
            </a:pPr>
            <a:r>
              <a:rPr sz="2800">
                <a:solidFill>
                  <a:srgbClr val="1A2F2F"/>
                </a:solidFill>
                <a:latin typeface="Arial"/>
              </a:rPr>
              <a:t>  –  Tuổi, AMH, số phôi hiện có.</a:t>
            </a:r>
          </a:p>
          <a:p>
            <a:pPr>
              <a:spcBef>
                <a:spcPts val="500"/>
              </a:spcBef>
              <a:spcAft>
                <a:spcPts val="200"/>
              </a:spcAft>
            </a:pPr>
            <a:r>
              <a:rPr sz="2800">
                <a:solidFill>
                  <a:srgbClr val="1A2F2F"/>
                </a:solidFill>
                <a:latin typeface="Arial"/>
              </a:rPr>
              <a:t>  –  Nguy cơ phẫu thuật: sẹo, dính, thời gian chờ.</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5–7 — thường không mổ chỉ vì IVF</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Xa buồng tử cung, ít ảnh hưởng khả năng làm tổ nếu nhỏ.</a:t>
            </a:r>
          </a:p>
          <a:p>
            <a:pPr>
              <a:spcBef>
                <a:spcPts val="500"/>
              </a:spcBef>
              <a:spcAft>
                <a:spcPts val="200"/>
              </a:spcAft>
            </a:pPr>
            <a:r>
              <a:rPr sz="2800">
                <a:solidFill>
                  <a:srgbClr val="1A2F2F"/>
                </a:solidFill>
                <a:latin typeface="Arial"/>
              </a:rPr>
              <a:t>  –  Mổ khi có triệu chứng, khối lớn, xoắn, cản thao tác ART.</a:t>
            </a:r>
          </a:p>
          <a:p>
            <a:pPr>
              <a:spcBef>
                <a:spcPts val="500"/>
              </a:spcBef>
              <a:spcAft>
                <a:spcPts val="200"/>
              </a:spcAft>
            </a:pPr>
            <a:r>
              <a:rPr sz="2800">
                <a:solidFill>
                  <a:srgbClr val="1A2F2F"/>
                </a:solidFill>
                <a:latin typeface="Arial"/>
              </a:rPr>
              <a:t>  –  Theo dõi nếu không triệu chứng và buồng tử cung ổn.</a:t>
            </a:r>
          </a:p>
          <a:p>
            <a:pPr>
              <a:spcBef>
                <a:spcPts val="500"/>
              </a:spcBef>
              <a:spcAft>
                <a:spcPts val="200"/>
              </a:spcAft>
            </a:pPr>
            <a:r>
              <a:rPr sz="2800">
                <a:solidFill>
                  <a:srgbClr val="1A2F2F"/>
                </a:solidFill>
                <a:latin typeface="Arial"/>
              </a:rPr>
              <a:t>  –  Không mổ chỉ để cải thiện IVF đơn thuần khi u nhỏ.</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8 — vị trí đặc biệt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1838965"/>
          </a:xfrm>
          <a:prstGeom prst="rect">
            <a:avLst/>
          </a:prstGeom>
          <a:noFill/>
        </p:spPr>
        <p:txBody>
          <a:bodyPr wrap="square" lIns="36576" rIns="36576">
            <a:spAutoFit/>
          </a:bodyPr>
          <a:lstStyle/>
          <a:p>
            <a:pPr>
              <a:spcBef>
                <a:spcPts val="500"/>
              </a:spcBef>
              <a:spcAft>
                <a:spcPts val="200"/>
              </a:spcAft>
            </a:pPr>
            <a:r>
              <a:rPr sz="2400">
                <a:solidFill>
                  <a:srgbClr val="1A2F2F"/>
                </a:solidFill>
                <a:latin typeface="Arial"/>
              </a:rPr>
              <a:t>  –  Cổ tử cung, dây chằng rộng, ký sinh hoặc vị trí đặc biệt.</a:t>
            </a:r>
          </a:p>
          <a:p>
            <a:pPr>
              <a:spcBef>
                <a:spcPts val="500"/>
              </a:spcBef>
              <a:spcAft>
                <a:spcPts val="200"/>
              </a:spcAft>
            </a:pPr>
            <a:r>
              <a:rPr sz="2400">
                <a:solidFill>
                  <a:srgbClr val="1A2F2F"/>
                </a:solidFill>
                <a:latin typeface="Arial"/>
              </a:rPr>
              <a:t>  –  Có thể gần bàng quang, niệu quản, mạch máu.</a:t>
            </a:r>
          </a:p>
          <a:p>
            <a:pPr>
              <a:spcBef>
                <a:spcPts val="500"/>
              </a:spcBef>
              <a:spcAft>
                <a:spcPts val="200"/>
              </a:spcAft>
            </a:pPr>
            <a:r>
              <a:rPr sz="2400">
                <a:solidFill>
                  <a:srgbClr val="1A2F2F"/>
                </a:solidFill>
                <a:latin typeface="Arial"/>
              </a:rPr>
              <a:t>  –  MRI có ích khi bản đồ phức tạp.</a:t>
            </a:r>
          </a:p>
          <a:p>
            <a:pPr>
              <a:spcBef>
                <a:spcPts val="500"/>
              </a:spcBef>
              <a:spcAft>
                <a:spcPts val="200"/>
              </a:spcAft>
            </a:pPr>
            <a:r>
              <a:rPr sz="2400">
                <a:solidFill>
                  <a:srgbClr val="1A2F2F"/>
                </a:solidFill>
                <a:latin typeface="Arial"/>
              </a:rPr>
              <a:t>  –  Cần cá thể hoá và phẫu thuật viên kinh nghiệm.</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657600" cy="68580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371600"/>
            <a:ext cx="3200400" cy="4114800"/>
          </a:xfrm>
          <a:prstGeom prst="rect">
            <a:avLst/>
          </a:prstGeom>
          <a:noFill/>
        </p:spPr>
        <p:txBody>
          <a:bodyPr wrap="square" lIns="36576" tIns="18288" rIns="36576" bIns="18288" anchor="ctr">
            <a:spAutoFit/>
          </a:bodyPr>
          <a:lstStyle/>
          <a:p>
            <a:pPr algn="ctr"/>
            <a:r>
              <a:rPr sz="16000" b="1" i="0">
                <a:solidFill>
                  <a:srgbClr val="FFFFFF"/>
                </a:solidFill>
                <a:latin typeface="Arial"/>
              </a:rPr>
              <a:t>8</a:t>
            </a:r>
          </a:p>
        </p:txBody>
      </p:sp>
      <p:sp>
        <p:nvSpPr>
          <p:cNvPr id="5" name="Rectangle 4"/>
          <p:cNvSpPr/>
          <p:nvPr/>
        </p:nvSpPr>
        <p:spPr>
          <a:xfrm>
            <a:off x="3657600" y="1097280"/>
            <a:ext cx="38100" cy="466344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23360" y="1828800"/>
            <a:ext cx="7772400" cy="2194560"/>
          </a:xfrm>
          <a:prstGeom prst="rect">
            <a:avLst/>
          </a:prstGeom>
          <a:noFill/>
        </p:spPr>
        <p:txBody>
          <a:bodyPr wrap="square" lIns="36576" tIns="18288" rIns="36576" bIns="18288" anchor="t">
            <a:spAutoFit/>
          </a:bodyPr>
          <a:lstStyle/>
          <a:p>
            <a:pPr algn="l"/>
            <a:r>
              <a:rPr sz="4400" b="1" i="0">
                <a:solidFill>
                  <a:srgbClr val="FFFFFF"/>
                </a:solidFill>
                <a:latin typeface="Arial"/>
              </a:rPr>
              <a:t>Phương pháp điều trị</a:t>
            </a:r>
          </a:p>
        </p:txBody>
      </p:sp>
      <p:sp>
        <p:nvSpPr>
          <p:cNvPr id="7" name="Rectangle 6"/>
          <p:cNvSpPr/>
          <p:nvPr/>
        </p:nvSpPr>
        <p:spPr>
          <a:xfrm>
            <a:off x="4023360" y="4160520"/>
            <a:ext cx="2286000" cy="25400"/>
          </a:xfrm>
          <a:prstGeom prst="rect">
            <a:avLst/>
          </a:prstGeom>
          <a:solidFill>
            <a:srgbClr val="00CC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42838"/>
            <a:ext cx="11247120" cy="606320"/>
          </a:xfrm>
          <a:prstGeom prst="rect">
            <a:avLst/>
          </a:prstGeom>
          <a:noFill/>
        </p:spPr>
        <p:txBody>
          <a:bodyPr wrap="square" lIns="36576" tIns="18288" rIns="36576" bIns="18288" anchor="ctr">
            <a:spAutoFit/>
          </a:bodyPr>
          <a:lstStyle/>
          <a:p>
            <a:pPr algn="l"/>
            <a:r>
              <a:rPr lang="en-US" sz="3700" b="1" i="0">
                <a:solidFill>
                  <a:srgbClr val="0D2B2B"/>
                </a:solidFill>
                <a:latin typeface="Arial"/>
              </a:rPr>
              <a:t>Mục tiêu</a:t>
            </a:r>
            <a:r>
              <a:rPr sz="3700" b="1" i="0">
                <a:solidFill>
                  <a:srgbClr val="0D2B2B"/>
                </a:solidFill>
                <a:latin typeface="Arial"/>
              </a:rPr>
              <a:t> điều trị</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0236772" cy="3647152"/>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Giảm máu/đau.</a:t>
            </a:r>
          </a:p>
          <a:p>
            <a:pPr>
              <a:spcBef>
                <a:spcPts val="500"/>
              </a:spcBef>
              <a:spcAft>
                <a:spcPts val="200"/>
              </a:spcAft>
            </a:pPr>
            <a:r>
              <a:rPr sz="2800">
                <a:solidFill>
                  <a:srgbClr val="1A2F2F"/>
                </a:solidFill>
                <a:latin typeface="Arial"/>
              </a:rPr>
              <a:t>  –  Sửa thiếu máu.</a:t>
            </a:r>
          </a:p>
          <a:p>
            <a:pPr>
              <a:spcBef>
                <a:spcPts val="500"/>
              </a:spcBef>
              <a:spcAft>
                <a:spcPts val="200"/>
              </a:spcAft>
            </a:pPr>
            <a:r>
              <a:rPr sz="2800">
                <a:solidFill>
                  <a:srgbClr val="1A2F2F"/>
                </a:solidFill>
                <a:latin typeface="Arial"/>
              </a:rPr>
              <a:t>  –  Giảm thể tích khối u.</a:t>
            </a:r>
          </a:p>
          <a:p>
            <a:pPr>
              <a:spcBef>
                <a:spcPts val="500"/>
              </a:spcBef>
              <a:spcAft>
                <a:spcPts val="200"/>
              </a:spcAft>
            </a:pPr>
            <a:r>
              <a:rPr sz="2800">
                <a:solidFill>
                  <a:srgbClr val="1A2F2F"/>
                </a:solidFill>
                <a:latin typeface="Arial"/>
              </a:rPr>
              <a:t>  –  Phục hồi buồng tử cung</a:t>
            </a:r>
            <a:endParaRPr lang="en-US" sz="2800">
              <a:solidFill>
                <a:srgbClr val="1A2F2F"/>
              </a:solidFill>
              <a:latin typeface="Arial"/>
            </a:endParaRPr>
          </a:p>
          <a:p>
            <a:pPr>
              <a:spcBef>
                <a:spcPts val="500"/>
              </a:spcBef>
              <a:spcAft>
                <a:spcPts val="200"/>
              </a:spcAft>
            </a:pPr>
            <a:r>
              <a:rPr lang="vi-VN" sz="2800">
                <a:solidFill>
                  <a:srgbClr val="1A2F2F"/>
                </a:solidFill>
                <a:latin typeface="Arial"/>
              </a:rPr>
              <a:t> –  Tạo điều kiện chọc hút noãn/chuyển phôi.</a:t>
            </a:r>
          </a:p>
          <a:p>
            <a:pPr>
              <a:spcBef>
                <a:spcPts val="500"/>
              </a:spcBef>
              <a:spcAft>
                <a:spcPts val="200"/>
              </a:spcAft>
            </a:pPr>
            <a:r>
              <a:rPr lang="vi-VN" sz="2800">
                <a:solidFill>
                  <a:srgbClr val="1A2F2F"/>
                </a:solidFill>
                <a:latin typeface="Arial"/>
              </a:rPr>
              <a:t>  –  Bảo vệ thời gian noãn.</a:t>
            </a:r>
          </a:p>
          <a:p>
            <a:pPr>
              <a:spcBef>
                <a:spcPts val="500"/>
              </a:spcBef>
              <a:spcAft>
                <a:spcPts val="200"/>
              </a:spcAft>
            </a:pPr>
            <a:r>
              <a:rPr lang="vi-VN" sz="2800">
                <a:solidFill>
                  <a:srgbClr val="1A2F2F"/>
                </a:solidFill>
                <a:latin typeface="Arial"/>
              </a:rPr>
              <a:t>  –  Giảm nguy cơ thai kỳ.</a:t>
            </a:r>
            <a:endParaRPr sz="2800">
              <a:solidFill>
                <a:srgbClr val="1A2F2F"/>
              </a:solidFill>
              <a:latin typeface="Arial"/>
            </a:endParaRPr>
          </a:p>
        </p:txBody>
      </p:sp>
      <p:sp>
        <p:nvSpPr>
          <p:cNvPr id="9" name="Rectangle 8"/>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16093"/>
            <a:ext cx="11247120" cy="621709"/>
          </a:xfrm>
          <a:prstGeom prst="rect">
            <a:avLst/>
          </a:prstGeom>
          <a:noFill/>
        </p:spPr>
        <p:txBody>
          <a:bodyPr wrap="square" lIns="36576" tIns="18288" rIns="36576" bIns="18288" anchor="ctr">
            <a:spAutoFit/>
          </a:bodyPr>
          <a:lstStyle/>
          <a:p>
            <a:pPr algn="l"/>
            <a:r>
              <a:rPr lang="en-US" sz="3800" b="1" i="0">
                <a:solidFill>
                  <a:srgbClr val="0D2B2B"/>
                </a:solidFill>
                <a:latin typeface="Arial"/>
              </a:rPr>
              <a:t>Các phương pháp</a:t>
            </a:r>
            <a:endParaRPr sz="3800" b="1" i="0">
              <a:solidFill>
                <a:srgbClr val="0D2B2B"/>
              </a:solidFill>
              <a:latin typeface="Arial"/>
            </a:endParaRP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11149934"/>
              </p:ext>
            </p:extLst>
          </p:nvPr>
        </p:nvGraphicFramePr>
        <p:xfrm>
          <a:off x="365760" y="1600200"/>
          <a:ext cx="11430000" cy="38862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2400" b="1">
                          <a:solidFill>
                            <a:srgbClr val="FFFFFF"/>
                          </a:solidFill>
                          <a:latin typeface="Arial"/>
                        </a:rPr>
                        <a:t>Nhóm</a:t>
                      </a:r>
                    </a:p>
                  </a:txBody>
                  <a:tcPr>
                    <a:solidFill>
                      <a:srgbClr val="0D2B2B"/>
                    </a:solidFill>
                  </a:tcPr>
                </a:tc>
                <a:tc>
                  <a:txBody>
                    <a:bodyPr/>
                    <a:lstStyle/>
                    <a:p>
                      <a:pPr algn="ctr"/>
                      <a:r>
                        <a:rPr sz="2400" b="1">
                          <a:solidFill>
                            <a:srgbClr val="FFFFFF"/>
                          </a:solidFill>
                          <a:latin typeface="Arial"/>
                        </a:rPr>
                        <a:t>Thay đổi gì</a:t>
                      </a:r>
                    </a:p>
                  </a:txBody>
                  <a:tcPr>
                    <a:solidFill>
                      <a:srgbClr val="0D2B2B"/>
                    </a:solidFill>
                  </a:tcPr>
                </a:tc>
                <a:tc>
                  <a:txBody>
                    <a:bodyPr/>
                    <a:lstStyle/>
                    <a:p>
                      <a:pPr algn="ctr"/>
                      <a:r>
                        <a:rPr sz="2400" b="1">
                          <a:solidFill>
                            <a:srgbClr val="FFFFFF"/>
                          </a:solidFill>
                          <a:latin typeface="Arial"/>
                        </a:rPr>
                        <a:t>Không thay đổi gì</a:t>
                      </a:r>
                    </a:p>
                  </a:txBody>
                  <a:tcPr>
                    <a:solidFill>
                      <a:srgbClr val="0D2B2B"/>
                    </a:solidFill>
                  </a:tcPr>
                </a:tc>
                <a:extLst>
                  <a:ext uri="{0D108BD9-81ED-4DB2-BD59-A6C34878D82A}">
                    <a16:rowId xmlns:a16="http://schemas.microsoft.com/office/drawing/2014/main" val="10000"/>
                  </a:ext>
                </a:extLst>
              </a:tr>
              <a:tr h="594360">
                <a:tc>
                  <a:txBody>
                    <a:bodyPr/>
                    <a:lstStyle/>
                    <a:p>
                      <a:pPr algn="ctr"/>
                      <a:r>
                        <a:rPr sz="2400" b="0">
                          <a:solidFill>
                            <a:srgbClr val="1A2F2F"/>
                          </a:solidFill>
                          <a:latin typeface="Arial"/>
                        </a:rPr>
                        <a:t>Sắt, NSAID, axit tranexamic</a:t>
                      </a:r>
                    </a:p>
                  </a:txBody>
                  <a:tcPr>
                    <a:solidFill>
                      <a:srgbClr val="E8F8F5"/>
                    </a:solidFill>
                  </a:tcPr>
                </a:tc>
                <a:tc>
                  <a:txBody>
                    <a:bodyPr/>
                    <a:lstStyle/>
                    <a:p>
                      <a:pPr algn="ctr"/>
                      <a:r>
                        <a:rPr sz="2400" b="0">
                          <a:solidFill>
                            <a:srgbClr val="1A2F2F"/>
                          </a:solidFill>
                          <a:latin typeface="Arial"/>
                        </a:rPr>
                        <a:t>Giảm triệu chứng và sửa thiếu máu</a:t>
                      </a:r>
                    </a:p>
                  </a:txBody>
                  <a:tcPr>
                    <a:solidFill>
                      <a:srgbClr val="E8F8F5"/>
                    </a:solidFill>
                  </a:tcPr>
                </a:tc>
                <a:tc>
                  <a:txBody>
                    <a:bodyPr/>
                    <a:lstStyle/>
                    <a:p>
                      <a:pPr algn="ctr"/>
                      <a:r>
                        <a:rPr sz="2400" b="0">
                          <a:solidFill>
                            <a:srgbClr val="1A2F2F"/>
                          </a:solidFill>
                          <a:latin typeface="Arial"/>
                        </a:rPr>
                        <a:t>Không sửa được buồng tử cung</a:t>
                      </a:r>
                    </a:p>
                  </a:txBody>
                  <a:tcPr>
                    <a:solidFill>
                      <a:srgbClr val="E8F8F5"/>
                    </a:solidFill>
                  </a:tcPr>
                </a:tc>
                <a:extLst>
                  <a:ext uri="{0D108BD9-81ED-4DB2-BD59-A6C34878D82A}">
                    <a16:rowId xmlns:a16="http://schemas.microsoft.com/office/drawing/2014/main" val="10001"/>
                  </a:ext>
                </a:extLst>
              </a:tr>
              <a:tr h="594360">
                <a:tc>
                  <a:txBody>
                    <a:bodyPr/>
                    <a:lstStyle/>
                    <a:p>
                      <a:pPr algn="ctr"/>
                      <a:r>
                        <a:rPr sz="2400" b="0">
                          <a:solidFill>
                            <a:srgbClr val="1A2F2F"/>
                          </a:solidFill>
                          <a:latin typeface="Arial"/>
                        </a:rPr>
                        <a:t>Nội tiết/GnRH</a:t>
                      </a:r>
                    </a:p>
                  </a:txBody>
                  <a:tcPr>
                    <a:solidFill>
                      <a:srgbClr val="FFFFFF"/>
                    </a:solidFill>
                  </a:tcPr>
                </a:tc>
                <a:tc>
                  <a:txBody>
                    <a:bodyPr/>
                    <a:lstStyle/>
                    <a:p>
                      <a:pPr algn="ctr"/>
                      <a:r>
                        <a:rPr sz="2400" b="0">
                          <a:solidFill>
                            <a:srgbClr val="1A2F2F"/>
                          </a:solidFill>
                          <a:latin typeface="Arial"/>
                        </a:rPr>
                        <a:t>Cầu nối trước mổ, giảm chảy máu</a:t>
                      </a:r>
                    </a:p>
                  </a:txBody>
                  <a:tcPr>
                    <a:solidFill>
                      <a:srgbClr val="FFFFFF"/>
                    </a:solidFill>
                  </a:tcPr>
                </a:tc>
                <a:tc>
                  <a:txBody>
                    <a:bodyPr/>
                    <a:lstStyle/>
                    <a:p>
                      <a:pPr algn="ctr"/>
                      <a:r>
                        <a:rPr sz="2400" b="0">
                          <a:solidFill>
                            <a:srgbClr val="1A2F2F"/>
                          </a:solidFill>
                          <a:latin typeface="Arial"/>
                        </a:rPr>
                        <a:t>Không chữa được cấu trúc</a:t>
                      </a:r>
                    </a:p>
                  </a:txBody>
                  <a:tcPr>
                    <a:solidFill>
                      <a:srgbClr val="FFFFFF"/>
                    </a:solidFill>
                  </a:tcPr>
                </a:tc>
                <a:extLst>
                  <a:ext uri="{0D108BD9-81ED-4DB2-BD59-A6C34878D82A}">
                    <a16:rowId xmlns:a16="http://schemas.microsoft.com/office/drawing/2014/main" val="10002"/>
                  </a:ext>
                </a:extLst>
              </a:tr>
              <a:tr h="594360">
                <a:tc>
                  <a:txBody>
                    <a:bodyPr/>
                    <a:lstStyle/>
                    <a:p>
                      <a:pPr algn="ctr"/>
                      <a:r>
                        <a:rPr sz="2400" b="0">
                          <a:solidFill>
                            <a:srgbClr val="1A2F2F"/>
                          </a:solidFill>
                          <a:latin typeface="Arial"/>
                        </a:rPr>
                        <a:t>Bóc u</a:t>
                      </a:r>
                    </a:p>
                  </a:txBody>
                  <a:tcPr>
                    <a:solidFill>
                      <a:srgbClr val="E8F8F5"/>
                    </a:solidFill>
                  </a:tcPr>
                </a:tc>
                <a:tc>
                  <a:txBody>
                    <a:bodyPr/>
                    <a:lstStyle/>
                    <a:p>
                      <a:pPr algn="ctr"/>
                      <a:r>
                        <a:rPr sz="2400" b="0">
                          <a:solidFill>
                            <a:srgbClr val="1A2F2F"/>
                          </a:solidFill>
                          <a:latin typeface="Arial"/>
                        </a:rPr>
                        <a:t>Có thể sửa buồng tử cung/lấy u</a:t>
                      </a:r>
                    </a:p>
                  </a:txBody>
                  <a:tcPr>
                    <a:solidFill>
                      <a:srgbClr val="E8F8F5"/>
                    </a:solidFill>
                  </a:tcPr>
                </a:tc>
                <a:tc>
                  <a:txBody>
                    <a:bodyPr/>
                    <a:lstStyle/>
                    <a:p>
                      <a:pPr algn="ctr"/>
                      <a:r>
                        <a:rPr sz="2400" b="0">
                          <a:solidFill>
                            <a:srgbClr val="1A2F2F"/>
                          </a:solidFill>
                          <a:latin typeface="Arial"/>
                        </a:rPr>
                        <a:t>Dính, sẹo, thời gian chờ</a:t>
                      </a:r>
                    </a:p>
                  </a:txBody>
                  <a:tcPr>
                    <a:solidFill>
                      <a:srgbClr val="E8F8F5"/>
                    </a:solidFill>
                  </a:tcPr>
                </a:tc>
                <a:extLst>
                  <a:ext uri="{0D108BD9-81ED-4DB2-BD59-A6C34878D82A}">
                    <a16:rowId xmlns:a16="http://schemas.microsoft.com/office/drawing/2014/main" val="10003"/>
                  </a:ext>
                </a:extLst>
              </a:tr>
              <a:tr h="594360">
                <a:tc>
                  <a:txBody>
                    <a:bodyPr/>
                    <a:lstStyle/>
                    <a:p>
                      <a:pPr algn="ctr"/>
                      <a:r>
                        <a:rPr sz="2400" b="0">
                          <a:solidFill>
                            <a:srgbClr val="1A2F2F"/>
                          </a:solidFill>
                          <a:latin typeface="Arial"/>
                        </a:rPr>
                        <a:t>Nút mạch, siêu âm hội tụ, đốt</a:t>
                      </a:r>
                    </a:p>
                  </a:txBody>
                  <a:tcPr>
                    <a:solidFill>
                      <a:srgbClr val="FFFFFF"/>
                    </a:solidFill>
                  </a:tcPr>
                </a:tc>
                <a:tc>
                  <a:txBody>
                    <a:bodyPr/>
                    <a:lstStyle/>
                    <a:p>
                      <a:pPr algn="ctr"/>
                      <a:r>
                        <a:rPr sz="2400" b="0">
                          <a:solidFill>
                            <a:srgbClr val="1A2F2F"/>
                          </a:solidFill>
                          <a:latin typeface="Arial"/>
                        </a:rPr>
                        <a:t>Giảm thể tích và triệu chứng</a:t>
                      </a:r>
                    </a:p>
                  </a:txBody>
                  <a:tcPr>
                    <a:solidFill>
                      <a:srgbClr val="FFFFFF"/>
                    </a:solidFill>
                  </a:tcPr>
                </a:tc>
                <a:tc>
                  <a:txBody>
                    <a:bodyPr/>
                    <a:lstStyle/>
                    <a:p>
                      <a:pPr algn="ctr"/>
                      <a:r>
                        <a:rPr sz="2400" b="0">
                          <a:solidFill>
                            <a:srgbClr val="1A2F2F"/>
                          </a:solidFill>
                          <a:latin typeface="Arial"/>
                        </a:rPr>
                        <a:t>Còn bất định về kết quả ART</a:t>
                      </a:r>
                    </a:p>
                  </a:txBody>
                  <a:tcP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Sắt, NSAID, axit tranexamic</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Sắt (uống/tiêm): sửa thiếu máu, là cầu nối phổ biến nhất.</a:t>
            </a:r>
          </a:p>
          <a:p>
            <a:pPr>
              <a:spcBef>
                <a:spcPts val="500"/>
              </a:spcBef>
              <a:spcAft>
                <a:spcPts val="200"/>
              </a:spcAft>
            </a:pPr>
            <a:r>
              <a:rPr sz="2800">
                <a:solidFill>
                  <a:srgbClr val="1A2F2F"/>
                </a:solidFill>
                <a:latin typeface="Arial"/>
              </a:rPr>
              <a:t>  –  NSAID: giảm đau và giảm máu mức độ nhất định.</a:t>
            </a:r>
          </a:p>
          <a:p>
            <a:pPr>
              <a:spcBef>
                <a:spcPts val="500"/>
              </a:spcBef>
              <a:spcAft>
                <a:spcPts val="200"/>
              </a:spcAft>
            </a:pPr>
            <a:r>
              <a:rPr sz="2800">
                <a:solidFill>
                  <a:srgbClr val="1A2F2F"/>
                </a:solidFill>
                <a:latin typeface="Arial"/>
              </a:rPr>
              <a:t>  –  Axit tranexamic: giảm chảy máu nặng ngắn hạn.</a:t>
            </a:r>
          </a:p>
          <a:p>
            <a:pPr>
              <a:spcBef>
                <a:spcPts val="500"/>
              </a:spcBef>
              <a:spcAft>
                <a:spcPts val="200"/>
              </a:spcAft>
            </a:pPr>
            <a:r>
              <a:rPr sz="2800">
                <a:solidFill>
                  <a:srgbClr val="1A2F2F"/>
                </a:solidFill>
                <a:latin typeface="Arial"/>
              </a:rPr>
              <a:t>  –  Cả ba đều không sửa được cấu trúc buồng tử cung.</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700" b="1" i="0">
                <a:solidFill>
                  <a:srgbClr val="0D2B2B"/>
                </a:solidFill>
                <a:latin typeface="Arial"/>
              </a:rPr>
              <a:t>Nội tiết — COC/progestin/LNG-IUS và GnRH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3377848"/>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COC/progestin/LNG-IUS kiểm soát triệu chứng chọn lọc; cần cân nhắc kế hoạch ART.</a:t>
            </a:r>
          </a:p>
          <a:p>
            <a:pPr>
              <a:spcBef>
                <a:spcPts val="500"/>
              </a:spcBef>
              <a:spcAft>
                <a:spcPts val="200"/>
              </a:spcAft>
            </a:pPr>
            <a:r>
              <a:rPr sz="2800">
                <a:solidFill>
                  <a:srgbClr val="1A2F2F"/>
                </a:solidFill>
                <a:latin typeface="Arial"/>
              </a:rPr>
              <a:t>  –  Đồng vận GnRH/đối vận GnRH ± bổ sung nội tiết (add-back) giảm chảy máu và thể tích tạm thời.</a:t>
            </a:r>
          </a:p>
          <a:p>
            <a:pPr>
              <a:spcBef>
                <a:spcPts val="500"/>
              </a:spcBef>
              <a:spcAft>
                <a:spcPts val="200"/>
              </a:spcAft>
            </a:pPr>
            <a:r>
              <a:rPr sz="2800">
                <a:solidFill>
                  <a:srgbClr val="1A2F2F"/>
                </a:solidFill>
                <a:latin typeface="Arial"/>
              </a:rPr>
              <a:t>  –  Dùng làm cầu nối trước mổ hoặc trước chuyển phôi.</a:t>
            </a:r>
          </a:p>
          <a:p>
            <a:pPr>
              <a:spcBef>
                <a:spcPts val="500"/>
              </a:spcBef>
              <a:spcAft>
                <a:spcPts val="200"/>
              </a:spcAft>
            </a:pPr>
            <a:r>
              <a:rPr sz="2800">
                <a:solidFill>
                  <a:srgbClr val="1A2F2F"/>
                </a:solidFill>
                <a:latin typeface="Arial"/>
              </a:rPr>
              <a:t>  –  Không chứng minh được khoang tử cung sẵn sàng để chuyển phôi.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Bóc u qua nội soi buồng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Phù hợp type 0–2.</a:t>
            </a:r>
          </a:p>
          <a:p>
            <a:pPr>
              <a:spcBef>
                <a:spcPts val="500"/>
              </a:spcBef>
              <a:spcAft>
                <a:spcPts val="200"/>
              </a:spcAft>
            </a:pPr>
            <a:r>
              <a:rPr sz="2800">
                <a:solidFill>
                  <a:srgbClr val="1A2F2F"/>
                </a:solidFill>
                <a:latin typeface="Arial"/>
              </a:rPr>
              <a:t>  –  Sửa buồng tử cung và bảo vệ nội mạc.</a:t>
            </a:r>
          </a:p>
          <a:p>
            <a:pPr>
              <a:spcBef>
                <a:spcPts val="500"/>
              </a:spcBef>
              <a:spcAft>
                <a:spcPts val="200"/>
              </a:spcAft>
            </a:pPr>
            <a:r>
              <a:rPr sz="2800">
                <a:solidFill>
                  <a:srgbClr val="1A2F2F"/>
                </a:solidFill>
                <a:latin typeface="Arial"/>
              </a:rPr>
              <a:t>  –  Nguy cơ: thủng, quá tải dịch, đốt sâu, dính sau mổ.</a:t>
            </a:r>
          </a:p>
          <a:p>
            <a:pPr>
              <a:spcBef>
                <a:spcPts val="500"/>
              </a:spcBef>
              <a:spcAft>
                <a:spcPts val="200"/>
              </a:spcAft>
            </a:pPr>
            <a:r>
              <a:rPr sz="2800">
                <a:solidFill>
                  <a:srgbClr val="1A2F2F"/>
                </a:solidFill>
                <a:latin typeface="Arial"/>
              </a:rPr>
              <a:t>  –  </a:t>
            </a:r>
            <a:r>
              <a:rPr lang="en-US" sz="2800">
                <a:solidFill>
                  <a:srgbClr val="1A2F2F"/>
                </a:solidFill>
                <a:latin typeface="Arial"/>
              </a:rPr>
              <a:t>Mổ nhiều thì </a:t>
            </a:r>
            <a:r>
              <a:rPr sz="2800">
                <a:solidFill>
                  <a:srgbClr val="1A2F2F"/>
                </a:solidFill>
                <a:latin typeface="Arial"/>
              </a:rPr>
              <a:t>khi u lớn hoặc xâm nhập sâu vào cơ.</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Type 2: an toàn hơn là lấy sạch</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605842"/>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Có phần sâu trong cơ.</a:t>
            </a:r>
          </a:p>
          <a:p>
            <a:pPr>
              <a:spcBef>
                <a:spcPts val="500"/>
              </a:spcBef>
              <a:spcAft>
                <a:spcPts val="200"/>
              </a:spcAft>
            </a:pPr>
            <a:r>
              <a:rPr sz="2800">
                <a:solidFill>
                  <a:srgbClr val="1A2F2F"/>
                </a:solidFill>
                <a:latin typeface="Arial"/>
              </a:rPr>
              <a:t>  –  Không cố 'đào' khi mất an toàn.</a:t>
            </a:r>
          </a:p>
          <a:p>
            <a:pPr>
              <a:spcBef>
                <a:spcPts val="500"/>
              </a:spcBef>
              <a:spcAft>
                <a:spcPts val="200"/>
              </a:spcAft>
            </a:pPr>
            <a:r>
              <a:rPr sz="2800">
                <a:solidFill>
                  <a:srgbClr val="1A2F2F"/>
                </a:solidFill>
                <a:latin typeface="Arial"/>
              </a:rPr>
              <a:t>  –  Có thể chia thì phẫu thuật.</a:t>
            </a:r>
          </a:p>
          <a:p>
            <a:pPr>
              <a:spcBef>
                <a:spcPts val="500"/>
              </a:spcBef>
              <a:spcAft>
                <a:spcPts val="200"/>
              </a:spcAft>
            </a:pPr>
            <a:r>
              <a:rPr sz="2800">
                <a:solidFill>
                  <a:srgbClr val="1A2F2F"/>
                </a:solidFill>
                <a:latin typeface="Arial"/>
              </a:rPr>
              <a:t>  –  Bảo vệ lớp đáy nội mạc là ưu tiên.</a:t>
            </a:r>
          </a:p>
          <a:p>
            <a:pPr>
              <a:spcBef>
                <a:spcPts val="500"/>
              </a:spcBef>
              <a:spcAft>
                <a:spcPts val="200"/>
              </a:spcAft>
            </a:pPr>
            <a:r>
              <a:rPr sz="2800">
                <a:solidFill>
                  <a:srgbClr val="1A2F2F"/>
                </a:solidFill>
                <a:latin typeface="Arial"/>
              </a:rPr>
              <a:t>  </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UAE — nút mạch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085186"/>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Giảm triệu chứng ở ca chọn lọc.</a:t>
            </a:r>
          </a:p>
          <a:p>
            <a:pPr>
              <a:spcBef>
                <a:spcPts val="500"/>
              </a:spcBef>
              <a:spcAft>
                <a:spcPts val="200"/>
              </a:spcAft>
            </a:pPr>
            <a:r>
              <a:rPr sz="2800">
                <a:solidFill>
                  <a:srgbClr val="1A2F2F"/>
                </a:solidFill>
                <a:latin typeface="Arial"/>
              </a:rPr>
              <a:t>  –  Không dùng thường quy khi đang tích cực mong thai.</a:t>
            </a:r>
          </a:p>
          <a:p>
            <a:pPr>
              <a:spcBef>
                <a:spcPts val="500"/>
              </a:spcBef>
              <a:spcAft>
                <a:spcPts val="200"/>
              </a:spcAft>
            </a:pPr>
            <a:r>
              <a:rPr sz="2800">
                <a:solidFill>
                  <a:srgbClr val="1A2F2F"/>
                </a:solidFill>
                <a:latin typeface="Arial"/>
              </a:rPr>
              <a:t>  –  Lo ngại ảnh hưởng nội mạc, buồng trứng và tử cung.</a:t>
            </a:r>
          </a:p>
          <a:p>
            <a:pPr>
              <a:spcBef>
                <a:spcPts val="500"/>
              </a:spcBef>
              <a:spcAft>
                <a:spcPts val="200"/>
              </a:spcAft>
            </a:pPr>
            <a:r>
              <a:rPr sz="2800">
                <a:solidFill>
                  <a:srgbClr val="1A2F2F"/>
                </a:solidFill>
                <a:latin typeface="Arial"/>
              </a:rPr>
              <a:t>  –  Không thay thế chỉ định mổ cho ART.</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HIFU/MRgFUS và RFA/TRFA</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2946961"/>
          </a:xfrm>
          <a:prstGeom prst="rect">
            <a:avLst/>
          </a:prstGeom>
          <a:noFill/>
        </p:spPr>
        <p:txBody>
          <a:bodyPr wrap="square" lIns="36576" rIns="36576">
            <a:spAutoFit/>
          </a:bodyPr>
          <a:lstStyle/>
          <a:p>
            <a:pPr>
              <a:spcBef>
                <a:spcPts val="500"/>
              </a:spcBef>
              <a:spcAft>
                <a:spcPts val="200"/>
              </a:spcAft>
            </a:pPr>
            <a:r>
              <a:rPr sz="2800">
                <a:solidFill>
                  <a:srgbClr val="1A2F2F"/>
                </a:solidFill>
                <a:latin typeface="Arial"/>
              </a:rPr>
              <a:t>  –  HIFU/MRgFUS: vai trò chọn lọc; cần đánh giá lại cấu trúc và mục tiêu ART.</a:t>
            </a:r>
          </a:p>
          <a:p>
            <a:pPr>
              <a:spcBef>
                <a:spcPts val="500"/>
              </a:spcBef>
              <a:spcAft>
                <a:spcPts val="200"/>
              </a:spcAft>
            </a:pPr>
            <a:r>
              <a:rPr sz="2800">
                <a:solidFill>
                  <a:srgbClr val="1A2F2F"/>
                </a:solidFill>
                <a:latin typeface="Arial"/>
              </a:rPr>
              <a:t>  –  RFA/TRFA: dữ liệu giảm thể tích tốt nhưng còn bất định về ART/thai kỳ.</a:t>
            </a:r>
          </a:p>
          <a:p>
            <a:pPr>
              <a:spcBef>
                <a:spcPts val="500"/>
              </a:spcBef>
              <a:spcAft>
                <a:spcPts val="200"/>
              </a:spcAft>
            </a:pPr>
            <a:r>
              <a:rPr sz="2800">
                <a:solidFill>
                  <a:srgbClr val="1A2F2F"/>
                </a:solidFill>
                <a:latin typeface="Arial"/>
              </a:rPr>
              <a:t>  –  Cả hai cần tư vấn về thời gian chờ trước khi cố thai.</a:t>
            </a:r>
          </a:p>
          <a:p>
            <a:pPr>
              <a:spcBef>
                <a:spcPts val="500"/>
              </a:spcBef>
              <a:spcAft>
                <a:spcPts val="200"/>
              </a:spcAft>
            </a:pPr>
            <a:r>
              <a:rPr sz="2800">
                <a:solidFill>
                  <a:srgbClr val="1A2F2F"/>
                </a:solidFill>
                <a:latin typeface="Arial"/>
              </a:rPr>
              <a:t>  –  Không dùng thường quy khi đang tích cực mong thai.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Mục tiêu → phương pháp → kiểm tra lại</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5760" y="1600200"/>
          <a:ext cx="11430000" cy="29718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1700" b="1">
                          <a:solidFill>
                            <a:srgbClr val="FFFFFF"/>
                          </a:solidFill>
                          <a:latin typeface="Arial"/>
                        </a:rPr>
                        <a:t>Mục tiêu</a:t>
                      </a:r>
                    </a:p>
                  </a:txBody>
                  <a:tcPr>
                    <a:solidFill>
                      <a:srgbClr val="0D2B2B"/>
                    </a:solidFill>
                  </a:tcPr>
                </a:tc>
                <a:tc>
                  <a:txBody>
                    <a:bodyPr/>
                    <a:lstStyle/>
                    <a:p>
                      <a:pPr algn="ctr"/>
                      <a:r>
                        <a:rPr sz="1700" b="1">
                          <a:solidFill>
                            <a:srgbClr val="FFFFFF"/>
                          </a:solidFill>
                          <a:latin typeface="Arial"/>
                        </a:rPr>
                        <a:t>Có thể đạt</a:t>
                      </a:r>
                    </a:p>
                  </a:txBody>
                  <a:tcPr>
                    <a:solidFill>
                      <a:srgbClr val="0D2B2B"/>
                    </a:solidFill>
                  </a:tcPr>
                </a:tc>
                <a:tc>
                  <a:txBody>
                    <a:bodyPr/>
                    <a:lstStyle/>
                    <a:p>
                      <a:pPr algn="ctr"/>
                      <a:r>
                        <a:rPr sz="1700" b="1">
                          <a:solidFill>
                            <a:srgbClr val="FFFFFF"/>
                          </a:solidFill>
                          <a:latin typeface="Arial"/>
                        </a:rPr>
                        <a:t>Cần kiểm tra lại</a:t>
                      </a:r>
                    </a:p>
                  </a:txBody>
                  <a:tcPr>
                    <a:solidFill>
                      <a:srgbClr val="0D2B2B"/>
                    </a:solidFill>
                  </a:tcPr>
                </a:tc>
                <a:extLst>
                  <a:ext uri="{0D108BD9-81ED-4DB2-BD59-A6C34878D82A}">
                    <a16:rowId xmlns:a16="http://schemas.microsoft.com/office/drawing/2014/main" val="10000"/>
                  </a:ext>
                </a:extLst>
              </a:tr>
              <a:tr h="594360">
                <a:tc>
                  <a:txBody>
                    <a:bodyPr/>
                    <a:lstStyle/>
                    <a:p>
                      <a:pPr algn="ctr"/>
                      <a:r>
                        <a:rPr sz="1600" b="0">
                          <a:solidFill>
                            <a:srgbClr val="1A2F2F"/>
                          </a:solidFill>
                          <a:latin typeface="Arial"/>
                        </a:rPr>
                        <a:t>Máu và đau</a:t>
                      </a:r>
                    </a:p>
                  </a:txBody>
                  <a:tcPr>
                    <a:solidFill>
                      <a:srgbClr val="E8F8F5"/>
                    </a:solidFill>
                  </a:tcPr>
                </a:tc>
                <a:tc>
                  <a:txBody>
                    <a:bodyPr/>
                    <a:lstStyle/>
                    <a:p>
                      <a:pPr algn="ctr"/>
                      <a:r>
                        <a:rPr sz="1600" b="0">
                          <a:solidFill>
                            <a:srgbClr val="1A2F2F"/>
                          </a:solidFill>
                          <a:latin typeface="Arial"/>
                        </a:rPr>
                        <a:t>Thuốc và cầu nối</a:t>
                      </a:r>
                    </a:p>
                  </a:txBody>
                  <a:tcPr>
                    <a:solidFill>
                      <a:srgbClr val="E8F8F5"/>
                    </a:solidFill>
                  </a:tcPr>
                </a:tc>
                <a:tc>
                  <a:txBody>
                    <a:bodyPr/>
                    <a:lstStyle/>
                    <a:p>
                      <a:pPr algn="ctr"/>
                      <a:r>
                        <a:rPr sz="1600" b="0">
                          <a:solidFill>
                            <a:srgbClr val="1A2F2F"/>
                          </a:solidFill>
                          <a:latin typeface="Arial"/>
                        </a:rPr>
                        <a:t>Hb và triệu chứng</a:t>
                      </a:r>
                    </a:p>
                  </a:txBody>
                  <a:tcPr>
                    <a:solidFill>
                      <a:srgbClr val="E8F8F5"/>
                    </a:solidFill>
                  </a:tcPr>
                </a:tc>
                <a:extLst>
                  <a:ext uri="{0D108BD9-81ED-4DB2-BD59-A6C34878D82A}">
                    <a16:rowId xmlns:a16="http://schemas.microsoft.com/office/drawing/2014/main" val="10001"/>
                  </a:ext>
                </a:extLst>
              </a:tr>
              <a:tr h="594360">
                <a:tc>
                  <a:txBody>
                    <a:bodyPr/>
                    <a:lstStyle/>
                    <a:p>
                      <a:pPr algn="ctr"/>
                      <a:r>
                        <a:rPr sz="1600" b="0">
                          <a:solidFill>
                            <a:srgbClr val="1A2F2F"/>
                          </a:solidFill>
                          <a:latin typeface="Arial"/>
                        </a:rPr>
                        <a:t>Thể tích khối u</a:t>
                      </a:r>
                    </a:p>
                  </a:txBody>
                  <a:tcPr>
                    <a:solidFill>
                      <a:srgbClr val="FFFFFF"/>
                    </a:solidFill>
                  </a:tcPr>
                </a:tc>
                <a:tc>
                  <a:txBody>
                    <a:bodyPr/>
                    <a:lstStyle/>
                    <a:p>
                      <a:pPr algn="ctr"/>
                      <a:r>
                        <a:rPr sz="1600" b="0">
                          <a:solidFill>
                            <a:srgbClr val="1A2F2F"/>
                          </a:solidFill>
                          <a:latin typeface="Arial"/>
                        </a:rPr>
                        <a:t>GnRH, UAE, HIFU, đốt</a:t>
                      </a:r>
                    </a:p>
                  </a:txBody>
                  <a:tcPr>
                    <a:solidFill>
                      <a:srgbClr val="FFFFFF"/>
                    </a:solidFill>
                  </a:tcPr>
                </a:tc>
                <a:tc>
                  <a:txBody>
                    <a:bodyPr/>
                    <a:lstStyle/>
                    <a:p>
                      <a:pPr algn="ctr"/>
                      <a:r>
                        <a:rPr sz="1600" b="0">
                          <a:solidFill>
                            <a:srgbClr val="1A2F2F"/>
                          </a:solidFill>
                          <a:latin typeface="Arial"/>
                        </a:rPr>
                        <a:t>Buồng tử cung và thời điểm</a:t>
                      </a:r>
                    </a:p>
                  </a:txBody>
                  <a:tcPr>
                    <a:solidFill>
                      <a:srgbClr val="FFFFFF"/>
                    </a:solidFill>
                  </a:tcPr>
                </a:tc>
                <a:extLst>
                  <a:ext uri="{0D108BD9-81ED-4DB2-BD59-A6C34878D82A}">
                    <a16:rowId xmlns:a16="http://schemas.microsoft.com/office/drawing/2014/main" val="10002"/>
                  </a:ext>
                </a:extLst>
              </a:tr>
              <a:tr h="594360">
                <a:tc>
                  <a:txBody>
                    <a:bodyPr/>
                    <a:lstStyle/>
                    <a:p>
                      <a:pPr algn="ctr"/>
                      <a:r>
                        <a:rPr sz="1600" b="0">
                          <a:solidFill>
                            <a:srgbClr val="1A2F2F"/>
                          </a:solidFill>
                          <a:latin typeface="Arial"/>
                        </a:rPr>
                        <a:t>Buồng tử cung</a:t>
                      </a:r>
                    </a:p>
                  </a:txBody>
                  <a:tcPr>
                    <a:solidFill>
                      <a:srgbClr val="E8F8F5"/>
                    </a:solidFill>
                  </a:tcPr>
                </a:tc>
                <a:tc>
                  <a:txBody>
                    <a:bodyPr/>
                    <a:lstStyle/>
                    <a:p>
                      <a:pPr algn="ctr"/>
                      <a:r>
                        <a:rPr sz="1600" b="0">
                          <a:solidFill>
                            <a:srgbClr val="1A2F2F"/>
                          </a:solidFill>
                          <a:latin typeface="Arial"/>
                        </a:rPr>
                        <a:t>Bóc u chọn lọc</a:t>
                      </a:r>
                    </a:p>
                  </a:txBody>
                  <a:tcPr>
                    <a:solidFill>
                      <a:srgbClr val="E8F8F5"/>
                    </a:solidFill>
                  </a:tcPr>
                </a:tc>
                <a:tc>
                  <a:txBody>
                    <a:bodyPr/>
                    <a:lstStyle/>
                    <a:p>
                      <a:pPr algn="ctr"/>
                      <a:r>
                        <a:rPr sz="1600" b="0">
                          <a:solidFill>
                            <a:srgbClr val="1A2F2F"/>
                          </a:solidFill>
                          <a:latin typeface="Arial"/>
                        </a:rPr>
                        <a:t>Bơm nước, 3D, nội soi buồng</a:t>
                      </a:r>
                    </a:p>
                  </a:txBody>
                  <a:tcPr>
                    <a:solidFill>
                      <a:srgbClr val="E8F8F5"/>
                    </a:solidFill>
                  </a:tcPr>
                </a:tc>
                <a:extLst>
                  <a:ext uri="{0D108BD9-81ED-4DB2-BD59-A6C34878D82A}">
                    <a16:rowId xmlns:a16="http://schemas.microsoft.com/office/drawing/2014/main" val="10003"/>
                  </a:ext>
                </a:extLst>
              </a:tr>
              <a:tr h="594360">
                <a:tc>
                  <a:txBody>
                    <a:bodyPr/>
                    <a:lstStyle/>
                    <a:p>
                      <a:pPr algn="ctr"/>
                      <a:r>
                        <a:rPr sz="1600" b="0">
                          <a:solidFill>
                            <a:srgbClr val="1A2F2F"/>
                          </a:solidFill>
                          <a:latin typeface="Arial"/>
                        </a:rPr>
                        <a:t>Tuổi noãn</a:t>
                      </a:r>
                    </a:p>
                  </a:txBody>
                  <a:tcPr>
                    <a:solidFill>
                      <a:srgbClr val="FFFFFF"/>
                    </a:solidFill>
                  </a:tcPr>
                </a:tc>
                <a:tc>
                  <a:txBody>
                    <a:bodyPr/>
                    <a:lstStyle/>
                    <a:p>
                      <a:pPr algn="ctr"/>
                      <a:r>
                        <a:rPr sz="1600" b="0">
                          <a:solidFill>
                            <a:srgbClr val="1A2F2F"/>
                          </a:solidFill>
                          <a:latin typeface="Arial"/>
                        </a:rPr>
                        <a:t>Tạo và trữ phôi</a:t>
                      </a:r>
                    </a:p>
                  </a:txBody>
                  <a:tcPr>
                    <a:solidFill>
                      <a:srgbClr val="FFFFFF"/>
                    </a:solidFill>
                  </a:tcPr>
                </a:tc>
                <a:tc>
                  <a:txBody>
                    <a:bodyPr/>
                    <a:lstStyle/>
                    <a:p>
                      <a:pPr algn="ctr"/>
                      <a:r>
                        <a:rPr sz="1600" b="0">
                          <a:solidFill>
                            <a:srgbClr val="1A2F2F"/>
                          </a:solidFill>
                          <a:latin typeface="Arial"/>
                        </a:rPr>
                        <a:t>Số phôi và AMH</a:t>
                      </a:r>
                    </a:p>
                  </a:txBody>
                  <a:tcP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Quyết định tạo và trữ phôi</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365760" y="1600200"/>
          <a:ext cx="11430000" cy="237744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94360">
                <a:tc>
                  <a:txBody>
                    <a:bodyPr/>
                    <a:lstStyle/>
                    <a:p>
                      <a:pPr algn="ctr"/>
                      <a:r>
                        <a:rPr sz="1700" b="1">
                          <a:solidFill>
                            <a:srgbClr val="FFFFFF"/>
                          </a:solidFill>
                          <a:latin typeface="Arial"/>
                        </a:rPr>
                        <a:t>Chiến lược</a:t>
                      </a:r>
                    </a:p>
                  </a:txBody>
                  <a:tcPr>
                    <a:solidFill>
                      <a:srgbClr val="0D2B2B"/>
                    </a:solidFill>
                  </a:tcPr>
                </a:tc>
                <a:tc>
                  <a:txBody>
                    <a:bodyPr/>
                    <a:lstStyle/>
                    <a:p>
                      <a:pPr algn="ctr"/>
                      <a:r>
                        <a:rPr sz="1700" b="1">
                          <a:solidFill>
                            <a:srgbClr val="FFFFFF"/>
                          </a:solidFill>
                          <a:latin typeface="Arial"/>
                        </a:rPr>
                        <a:t>Ứng viên</a:t>
                      </a:r>
                    </a:p>
                  </a:txBody>
                  <a:tcPr>
                    <a:solidFill>
                      <a:srgbClr val="0D2B2B"/>
                    </a:solidFill>
                  </a:tcPr>
                </a:tc>
                <a:tc>
                  <a:txBody>
                    <a:bodyPr/>
                    <a:lstStyle/>
                    <a:p>
                      <a:pPr algn="ctr"/>
                      <a:r>
                        <a:rPr sz="1700" b="1">
                          <a:solidFill>
                            <a:srgbClr val="FFFFFF"/>
                          </a:solidFill>
                          <a:latin typeface="Arial"/>
                        </a:rPr>
                        <a:t>Lý do</a:t>
                      </a:r>
                    </a:p>
                  </a:txBody>
                  <a:tcPr>
                    <a:solidFill>
                      <a:srgbClr val="0D2B2B"/>
                    </a:solidFill>
                  </a:tcPr>
                </a:tc>
                <a:extLst>
                  <a:ext uri="{0D108BD9-81ED-4DB2-BD59-A6C34878D82A}">
                    <a16:rowId xmlns:a16="http://schemas.microsoft.com/office/drawing/2014/main" val="10000"/>
                  </a:ext>
                </a:extLst>
              </a:tr>
              <a:tr h="594360">
                <a:tc>
                  <a:txBody>
                    <a:bodyPr/>
                    <a:lstStyle/>
                    <a:p>
                      <a:pPr algn="ctr"/>
                      <a:r>
                        <a:rPr sz="1600" b="0">
                          <a:solidFill>
                            <a:srgbClr val="1A2F2F"/>
                          </a:solidFill>
                          <a:latin typeface="Arial"/>
                        </a:rPr>
                        <a:t>Tạo/trữ phôi trước</a:t>
                      </a:r>
                    </a:p>
                  </a:txBody>
                  <a:tcPr>
                    <a:solidFill>
                      <a:srgbClr val="E8F8F5"/>
                    </a:solidFill>
                  </a:tcPr>
                </a:tc>
                <a:tc>
                  <a:txBody>
                    <a:bodyPr/>
                    <a:lstStyle/>
                    <a:p>
                      <a:pPr algn="ctr"/>
                      <a:r>
                        <a:rPr sz="1600" b="0">
                          <a:solidFill>
                            <a:srgbClr val="1A2F2F"/>
                          </a:solidFill>
                          <a:latin typeface="Arial"/>
                        </a:rPr>
                        <a:t>Tuổi cao/AMH thấp, u chưa cản chọc hút noãn</a:t>
                      </a:r>
                    </a:p>
                  </a:txBody>
                  <a:tcPr>
                    <a:solidFill>
                      <a:srgbClr val="E8F8F5"/>
                    </a:solidFill>
                  </a:tcPr>
                </a:tc>
                <a:tc>
                  <a:txBody>
                    <a:bodyPr/>
                    <a:lstStyle/>
                    <a:p>
                      <a:pPr algn="ctr"/>
                      <a:r>
                        <a:rPr sz="1600" b="0">
                          <a:solidFill>
                            <a:srgbClr val="1A2F2F"/>
                          </a:solidFill>
                          <a:latin typeface="Arial"/>
                        </a:rPr>
                        <a:t>Bảo vệ tuổi noãn</a:t>
                      </a:r>
                    </a:p>
                  </a:txBody>
                  <a:tcPr>
                    <a:solidFill>
                      <a:srgbClr val="E8F8F5"/>
                    </a:solidFill>
                  </a:tcPr>
                </a:tc>
                <a:extLst>
                  <a:ext uri="{0D108BD9-81ED-4DB2-BD59-A6C34878D82A}">
                    <a16:rowId xmlns:a16="http://schemas.microsoft.com/office/drawing/2014/main" val="10001"/>
                  </a:ext>
                </a:extLst>
              </a:tr>
              <a:tr h="594360">
                <a:tc>
                  <a:txBody>
                    <a:bodyPr/>
                    <a:lstStyle/>
                    <a:p>
                      <a:pPr algn="ctr"/>
                      <a:r>
                        <a:rPr sz="1600" b="0">
                          <a:solidFill>
                            <a:srgbClr val="1A2F2F"/>
                          </a:solidFill>
                          <a:latin typeface="Arial"/>
                        </a:rPr>
                        <a:t>Xử trí u trước</a:t>
                      </a:r>
                    </a:p>
                  </a:txBody>
                  <a:tcPr>
                    <a:solidFill>
                      <a:srgbClr val="FFFFFF"/>
                    </a:solidFill>
                  </a:tcPr>
                </a:tc>
                <a:tc>
                  <a:txBody>
                    <a:bodyPr/>
                    <a:lstStyle/>
                    <a:p>
                      <a:pPr algn="ctr"/>
                      <a:r>
                        <a:rPr sz="1600" b="0">
                          <a:solidFill>
                            <a:srgbClr val="1A2F2F"/>
                          </a:solidFill>
                          <a:latin typeface="Arial"/>
                        </a:rPr>
                        <a:t>Buồng tử cung méo rõ, type 0–2 lớn</a:t>
                      </a:r>
                    </a:p>
                  </a:txBody>
                  <a:tcPr>
                    <a:solidFill>
                      <a:srgbClr val="FFFFFF"/>
                    </a:solidFill>
                  </a:tcPr>
                </a:tc>
                <a:tc>
                  <a:txBody>
                    <a:bodyPr/>
                    <a:lstStyle/>
                    <a:p>
                      <a:pPr algn="ctr"/>
                      <a:r>
                        <a:rPr sz="1600" b="0">
                          <a:solidFill>
                            <a:srgbClr val="1A2F2F"/>
                          </a:solidFill>
                          <a:latin typeface="Arial"/>
                        </a:rPr>
                        <a:t>Không chuyển phôi vào buồng tử cung xấu</a:t>
                      </a:r>
                    </a:p>
                  </a:txBody>
                  <a:tcPr>
                    <a:solidFill>
                      <a:srgbClr val="FFFFFF"/>
                    </a:solidFill>
                  </a:tcPr>
                </a:tc>
                <a:extLst>
                  <a:ext uri="{0D108BD9-81ED-4DB2-BD59-A6C34878D82A}">
                    <a16:rowId xmlns:a16="http://schemas.microsoft.com/office/drawing/2014/main" val="10002"/>
                  </a:ext>
                </a:extLst>
              </a:tr>
              <a:tr h="594360">
                <a:tc>
                  <a:txBody>
                    <a:bodyPr/>
                    <a:lstStyle/>
                    <a:p>
                      <a:pPr algn="ctr"/>
                      <a:r>
                        <a:rPr sz="1600" b="0">
                          <a:solidFill>
                            <a:srgbClr val="1A2F2F"/>
                          </a:solidFill>
                          <a:latin typeface="Arial"/>
                        </a:rPr>
                        <a:t>Đánh giá lại buồng tử cung</a:t>
                      </a:r>
                    </a:p>
                  </a:txBody>
                  <a:tcPr>
                    <a:solidFill>
                      <a:srgbClr val="E8F8F5"/>
                    </a:solidFill>
                  </a:tcPr>
                </a:tc>
                <a:tc>
                  <a:txBody>
                    <a:bodyPr/>
                    <a:lstStyle/>
                    <a:p>
                      <a:pPr algn="ctr"/>
                      <a:r>
                        <a:rPr sz="1600" b="0">
                          <a:solidFill>
                            <a:srgbClr val="1A2F2F"/>
                          </a:solidFill>
                          <a:latin typeface="Arial"/>
                        </a:rPr>
                        <a:t>Sau mổ hoặc sau can thiệp</a:t>
                      </a:r>
                    </a:p>
                  </a:txBody>
                  <a:tcPr>
                    <a:solidFill>
                      <a:srgbClr val="E8F8F5"/>
                    </a:solidFill>
                  </a:tcPr>
                </a:tc>
                <a:tc>
                  <a:txBody>
                    <a:bodyPr/>
                    <a:lstStyle/>
                    <a:p>
                      <a:pPr algn="ctr"/>
                      <a:r>
                        <a:rPr sz="1600" b="0">
                          <a:solidFill>
                            <a:srgbClr val="1A2F2F"/>
                          </a:solidFill>
                          <a:latin typeface="Arial"/>
                        </a:rPr>
                        <a:t>Chứng minh buồng tử cung trước chuyển phôi</a:t>
                      </a:r>
                    </a:p>
                  </a:txBody>
                  <a:tcPr>
                    <a:solidFill>
                      <a:srgbClr val="E8F8F5"/>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600" b="1" i="0">
                <a:solidFill>
                  <a:srgbClr val="0D2B2B"/>
                </a:solidFill>
                <a:latin typeface="Arial"/>
              </a:rPr>
              <a:t>Ưu tiên tạo và trữ phôi trước — ai phù hợp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Tuổi cao hoặc AMH/AFC thấp.</a:t>
            </a:r>
          </a:p>
          <a:p>
            <a:pPr>
              <a:spcBef>
                <a:spcPts val="500"/>
              </a:spcBef>
              <a:spcAft>
                <a:spcPts val="200"/>
              </a:spcAft>
            </a:pPr>
            <a:r>
              <a:rPr sz="2000">
                <a:solidFill>
                  <a:srgbClr val="1A2F2F"/>
                </a:solidFill>
                <a:latin typeface="Arial"/>
              </a:rPr>
              <a:t>  –  U chưa cản chọc hút noãn.</a:t>
            </a:r>
          </a:p>
          <a:p>
            <a:pPr>
              <a:spcBef>
                <a:spcPts val="500"/>
              </a:spcBef>
              <a:spcAft>
                <a:spcPts val="200"/>
              </a:spcAft>
            </a:pPr>
            <a:r>
              <a:rPr sz="2000">
                <a:solidFill>
                  <a:srgbClr val="1A2F2F"/>
                </a:solidFill>
                <a:latin typeface="Arial"/>
              </a:rPr>
              <a:t>  –  Buồng tử cung chưa cần sửa ngay.</a:t>
            </a:r>
          </a:p>
          <a:p>
            <a:pPr>
              <a:spcBef>
                <a:spcPts val="500"/>
              </a:spcBef>
              <a:spcAft>
                <a:spcPts val="200"/>
              </a:spcAft>
            </a:pPr>
            <a:r>
              <a:rPr sz="2000">
                <a:solidFill>
                  <a:srgbClr val="1A2F2F"/>
                </a:solidFill>
                <a:latin typeface="Arial"/>
              </a:rPr>
              <a:t>  –  Cần bảo vệ cơ hội tạo phôi.</a:t>
            </a:r>
          </a:p>
          <a:p>
            <a:pPr>
              <a:spcBef>
                <a:spcPts val="500"/>
              </a:spcBef>
              <a:spcAft>
                <a:spcPts val="200"/>
              </a:spcAft>
            </a:pPr>
            <a:r>
              <a:rPr sz="2000">
                <a:solidFill>
                  <a:srgbClr val="1A2F2F"/>
                </a:solidFill>
                <a:latin typeface="Arial"/>
              </a:rPr>
              <a:t>  –  Sẵn sàng chuyển phôi trữ sau khi tối ưu tử cung.</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Ưu tiên xử trí u trước — ai phù hợp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Type 0–2 lớn hoặc méo buồng tử cung rõ.</a:t>
            </a:r>
          </a:p>
          <a:p>
            <a:pPr>
              <a:spcBef>
                <a:spcPts val="500"/>
              </a:spcBef>
              <a:spcAft>
                <a:spcPts val="200"/>
              </a:spcAft>
            </a:pPr>
            <a:r>
              <a:rPr sz="2000">
                <a:solidFill>
                  <a:srgbClr val="1A2F2F"/>
                </a:solidFill>
                <a:latin typeface="Arial"/>
              </a:rPr>
              <a:t>  –  U cản chọc hút noãn hoặc chuyển phôi.</a:t>
            </a:r>
          </a:p>
          <a:p>
            <a:pPr>
              <a:spcBef>
                <a:spcPts val="500"/>
              </a:spcBef>
              <a:spcAft>
                <a:spcPts val="200"/>
              </a:spcAft>
            </a:pPr>
            <a:r>
              <a:rPr sz="2000">
                <a:solidFill>
                  <a:srgbClr val="1A2F2F"/>
                </a:solidFill>
                <a:latin typeface="Arial"/>
              </a:rPr>
              <a:t>  –  Thiếu máu hoặc triệu chứng nặng.</a:t>
            </a:r>
          </a:p>
          <a:p>
            <a:pPr>
              <a:spcBef>
                <a:spcPts val="500"/>
              </a:spcBef>
              <a:spcAft>
                <a:spcPts val="200"/>
              </a:spcAft>
            </a:pPr>
            <a:r>
              <a:rPr sz="2000">
                <a:solidFill>
                  <a:srgbClr val="1A2F2F"/>
                </a:solidFill>
                <a:latin typeface="Arial"/>
              </a:rPr>
              <a:t>  –  Dấu hiệu bất thường nghi ác tính.</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Chuyển phôi tươi và chuyển phôi trữ</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554480"/>
            <a:ext cx="5577840" cy="4709160"/>
          </a:xfrm>
          <a:prstGeom prst="rect">
            <a:avLst/>
          </a:prstGeom>
          <a:solidFill>
            <a:srgbClr val="E8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557784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783080"/>
            <a:ext cx="5212080" cy="502920"/>
          </a:xfrm>
          <a:prstGeom prst="rect">
            <a:avLst/>
          </a:prstGeom>
          <a:noFill/>
        </p:spPr>
        <p:txBody>
          <a:bodyPr wrap="square" lIns="36576" tIns="18288" rIns="36576" bIns="18288">
            <a:spAutoFit/>
          </a:bodyPr>
          <a:lstStyle/>
          <a:p>
            <a:pPr algn="ctr"/>
            <a:r>
              <a:rPr sz="2200" b="1" i="0">
                <a:solidFill>
                  <a:srgbClr val="00977A"/>
                </a:solidFill>
                <a:latin typeface="Arial"/>
              </a:rPr>
              <a:t>Tươi</a:t>
            </a:r>
          </a:p>
        </p:txBody>
      </p:sp>
      <p:sp>
        <p:nvSpPr>
          <p:cNvPr id="9" name="TextBox 8"/>
          <p:cNvSpPr txBox="1"/>
          <p:nvPr/>
        </p:nvSpPr>
        <p:spPr>
          <a:xfrm>
            <a:off x="640080" y="2468880"/>
            <a:ext cx="5029200" cy="3657600"/>
          </a:xfrm>
          <a:prstGeom prst="rect">
            <a:avLst/>
          </a:prstGeom>
          <a:noFill/>
        </p:spPr>
        <p:txBody>
          <a:bodyPr wrap="square" lIns="36576" rIns="36576">
            <a:spAutoFit/>
          </a:bodyPr>
          <a:lstStyle/>
          <a:p>
            <a:pPr>
              <a:spcBef>
                <a:spcPts val="500"/>
              </a:spcBef>
              <a:spcAft>
                <a:spcPts val="200"/>
              </a:spcAft>
            </a:pPr>
            <a:r>
              <a:rPr sz="1900">
                <a:solidFill>
                  <a:srgbClr val="1A2F2F"/>
                </a:solidFill>
                <a:latin typeface="Arial"/>
              </a:rPr>
              <a:t>  –  Ít thời gian chuẩn bị tử cung.</a:t>
            </a:r>
          </a:p>
          <a:p>
            <a:pPr>
              <a:spcBef>
                <a:spcPts val="500"/>
              </a:spcBef>
              <a:spcAft>
                <a:spcPts val="200"/>
              </a:spcAft>
            </a:pPr>
            <a:r>
              <a:rPr sz="1900">
                <a:solidFill>
                  <a:srgbClr val="1A2F2F"/>
                </a:solidFill>
                <a:latin typeface="Arial"/>
              </a:rPr>
              <a:t>  –  Tránh nếu buồng tử cung chưa rõ.</a:t>
            </a:r>
          </a:p>
          <a:p>
            <a:pPr>
              <a:spcBef>
                <a:spcPts val="500"/>
              </a:spcBef>
              <a:spcAft>
                <a:spcPts val="200"/>
              </a:spcAft>
            </a:pPr>
            <a:r>
              <a:rPr sz="1900">
                <a:solidFill>
                  <a:srgbClr val="1A2F2F"/>
                </a:solidFill>
                <a:latin typeface="Arial"/>
              </a:rPr>
              <a:t>  –  Không phù hợp khi cần mổ hoặc can thiệp.</a:t>
            </a:r>
          </a:p>
        </p:txBody>
      </p:sp>
      <p:sp>
        <p:nvSpPr>
          <p:cNvPr id="10" name="Rectangle 9"/>
          <p:cNvSpPr/>
          <p:nvPr/>
        </p:nvSpPr>
        <p:spPr>
          <a:xfrm>
            <a:off x="6245352" y="1554480"/>
            <a:ext cx="5577840" cy="4709160"/>
          </a:xfrm>
          <a:prstGeom prst="rect">
            <a:avLst/>
          </a:prstGeom>
          <a:solidFill>
            <a:srgbClr val="0D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557784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2" y="1783080"/>
            <a:ext cx="5212080" cy="502920"/>
          </a:xfrm>
          <a:prstGeom prst="rect">
            <a:avLst/>
          </a:prstGeom>
          <a:noFill/>
        </p:spPr>
        <p:txBody>
          <a:bodyPr wrap="square" lIns="36576" tIns="18288" rIns="36576" bIns="18288">
            <a:spAutoFit/>
          </a:bodyPr>
          <a:lstStyle/>
          <a:p>
            <a:pPr algn="ctr"/>
            <a:r>
              <a:rPr sz="2200" b="1" i="0">
                <a:solidFill>
                  <a:srgbClr val="E53E3E"/>
                </a:solidFill>
                <a:latin typeface="Arial"/>
              </a:rPr>
              <a:t>Trữ</a:t>
            </a:r>
          </a:p>
        </p:txBody>
      </p:sp>
      <p:sp>
        <p:nvSpPr>
          <p:cNvPr id="13" name="TextBox 12"/>
          <p:cNvSpPr txBox="1"/>
          <p:nvPr/>
        </p:nvSpPr>
        <p:spPr>
          <a:xfrm>
            <a:off x="6519672" y="2468880"/>
            <a:ext cx="5029200" cy="3657600"/>
          </a:xfrm>
          <a:prstGeom prst="rect">
            <a:avLst/>
          </a:prstGeom>
          <a:noFill/>
        </p:spPr>
        <p:txBody>
          <a:bodyPr wrap="square" lIns="36576" rIns="36576">
            <a:spAutoFit/>
          </a:bodyPr>
          <a:lstStyle/>
          <a:p>
            <a:pPr>
              <a:spcBef>
                <a:spcPts val="500"/>
              </a:spcBef>
              <a:spcAft>
                <a:spcPts val="200"/>
              </a:spcAft>
            </a:pPr>
            <a:r>
              <a:rPr sz="1900">
                <a:solidFill>
                  <a:srgbClr val="FFFFFF"/>
                </a:solidFill>
                <a:latin typeface="Arial"/>
              </a:rPr>
              <a:t>  –  Tách tạo phôi khỏi chuẩn bị tử cung.</a:t>
            </a:r>
          </a:p>
          <a:p>
            <a:pPr>
              <a:spcBef>
                <a:spcPts val="500"/>
              </a:spcBef>
              <a:spcAft>
                <a:spcPts val="200"/>
              </a:spcAft>
            </a:pPr>
            <a:r>
              <a:rPr sz="1900">
                <a:solidFill>
                  <a:srgbClr val="FFFFFF"/>
                </a:solidFill>
                <a:latin typeface="Arial"/>
              </a:rPr>
              <a:t>  –  Cho thời gian sửa và đánh giá lại.</a:t>
            </a:r>
          </a:p>
          <a:p>
            <a:pPr>
              <a:spcBef>
                <a:spcPts val="500"/>
              </a:spcBef>
              <a:spcAft>
                <a:spcPts val="200"/>
              </a:spcAft>
            </a:pPr>
            <a:r>
              <a:rPr sz="1900">
                <a:solidFill>
                  <a:srgbClr val="FFFFFF"/>
                </a:solidFill>
                <a:latin typeface="Arial"/>
              </a:rPr>
              <a:t>  –  Phù hợp với phôi quý và ca chọn lọc.</a:t>
            </a:r>
          </a:p>
        </p:txBody>
      </p:sp>
      <p:sp>
        <p:nvSpPr>
          <p:cNvPr id="14" name="Rectangle 13"/>
          <p:cNvSpPr/>
          <p:nvPr/>
        </p:nvSpPr>
        <p:spPr>
          <a:xfrm>
            <a:off x="5705856" y="3657600"/>
            <a:ext cx="7772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05856" y="3657600"/>
            <a:ext cx="777240" cy="777240"/>
          </a:xfrm>
          <a:prstGeom prst="rect">
            <a:avLst/>
          </a:prstGeom>
          <a:noFill/>
        </p:spPr>
        <p:txBody>
          <a:bodyPr wrap="square" lIns="36576" tIns="18288" rIns="36576" bIns="18288" anchor="ctr">
            <a:spAutoFit/>
          </a:bodyPr>
          <a:lstStyle/>
          <a:p>
            <a:pPr algn="ctr"/>
            <a:r>
              <a:rPr sz="2400" b="1" i="0">
                <a:solidFill>
                  <a:srgbClr val="FFFFFF"/>
                </a:solidFill>
                <a:latin typeface="Arial"/>
              </a:rPr>
              <a:t>VS</a:t>
            </a:r>
          </a:p>
        </p:txBody>
      </p:sp>
      <p:sp>
        <p:nvSpPr>
          <p:cNvPr id="16" name="Rectangle 1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Thuật toán chọn thứ tự ART</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0" y="1691640"/>
            <a:ext cx="758952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0" y="1691640"/>
            <a:ext cx="63500" cy="64008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80" y="1691640"/>
            <a:ext cx="7223760" cy="640080"/>
          </a:xfrm>
          <a:prstGeom prst="rect">
            <a:avLst/>
          </a:prstGeom>
          <a:noFill/>
        </p:spPr>
        <p:txBody>
          <a:bodyPr wrap="square" lIns="36576" tIns="18288" rIns="36576" bIns="18288" anchor="ctr">
            <a:spAutoFit/>
          </a:bodyPr>
          <a:lstStyle/>
          <a:p>
            <a:pPr algn="ctr"/>
            <a:r>
              <a:rPr sz="1900" b="1" i="0">
                <a:solidFill>
                  <a:srgbClr val="FFFFFF"/>
                </a:solidFill>
                <a:latin typeface="Arial"/>
              </a:rPr>
              <a:t>Đánh giá FIGO và buồng tử cung.</a:t>
            </a:r>
          </a:p>
        </p:txBody>
      </p:sp>
      <p:sp>
        <p:nvSpPr>
          <p:cNvPr id="9" name="TextBox 8"/>
          <p:cNvSpPr txBox="1"/>
          <p:nvPr/>
        </p:nvSpPr>
        <p:spPr>
          <a:xfrm>
            <a:off x="2286000" y="2331720"/>
            <a:ext cx="7589520" cy="34290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0" name="Rectangle 9"/>
          <p:cNvSpPr/>
          <p:nvPr/>
        </p:nvSpPr>
        <p:spPr>
          <a:xfrm>
            <a:off x="2286000" y="2674620"/>
            <a:ext cx="7589520" cy="6400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68880" y="2674620"/>
            <a:ext cx="7223760" cy="640080"/>
          </a:xfrm>
          <a:prstGeom prst="rect">
            <a:avLst/>
          </a:prstGeom>
          <a:noFill/>
        </p:spPr>
        <p:txBody>
          <a:bodyPr wrap="square" lIns="36576" tIns="18288" rIns="36576" bIns="18288" anchor="ctr">
            <a:spAutoFit/>
          </a:bodyPr>
          <a:lstStyle/>
          <a:p>
            <a:pPr algn="ctr"/>
            <a:r>
              <a:rPr sz="1900" b="0" i="0">
                <a:solidFill>
                  <a:srgbClr val="0D2B2B"/>
                </a:solidFill>
                <a:latin typeface="Arial"/>
              </a:rPr>
              <a:t>Nút nghẽn là noãn hay tử cung?</a:t>
            </a:r>
          </a:p>
        </p:txBody>
      </p:sp>
      <p:sp>
        <p:nvSpPr>
          <p:cNvPr id="12" name="TextBox 11"/>
          <p:cNvSpPr txBox="1"/>
          <p:nvPr/>
        </p:nvSpPr>
        <p:spPr>
          <a:xfrm>
            <a:off x="2286000" y="3314700"/>
            <a:ext cx="7589520" cy="34290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3" name="Rectangle 12"/>
          <p:cNvSpPr/>
          <p:nvPr/>
        </p:nvSpPr>
        <p:spPr>
          <a:xfrm>
            <a:off x="2286000" y="3657600"/>
            <a:ext cx="7589520" cy="6400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68880" y="3657600"/>
            <a:ext cx="7223760" cy="640080"/>
          </a:xfrm>
          <a:prstGeom prst="rect">
            <a:avLst/>
          </a:prstGeom>
          <a:noFill/>
        </p:spPr>
        <p:txBody>
          <a:bodyPr wrap="square" lIns="36576" tIns="18288" rIns="36576" bIns="18288" anchor="ctr">
            <a:spAutoFit/>
          </a:bodyPr>
          <a:lstStyle/>
          <a:p>
            <a:pPr algn="ctr"/>
            <a:r>
              <a:rPr sz="1900" b="0" i="0">
                <a:solidFill>
                  <a:srgbClr val="0D2B2B"/>
                </a:solidFill>
                <a:latin typeface="Arial"/>
              </a:rPr>
              <a:t>Tạo và trữ phôi nếu noãn là nút nghẽn.</a:t>
            </a:r>
          </a:p>
        </p:txBody>
      </p:sp>
      <p:sp>
        <p:nvSpPr>
          <p:cNvPr id="15" name="TextBox 14"/>
          <p:cNvSpPr txBox="1"/>
          <p:nvPr/>
        </p:nvSpPr>
        <p:spPr>
          <a:xfrm>
            <a:off x="2286000" y="4297680"/>
            <a:ext cx="7589520" cy="34290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6" name="Rectangle 15"/>
          <p:cNvSpPr/>
          <p:nvPr/>
        </p:nvSpPr>
        <p:spPr>
          <a:xfrm>
            <a:off x="2286000" y="4640580"/>
            <a:ext cx="7589520" cy="6400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68880" y="4640580"/>
            <a:ext cx="7223760" cy="640080"/>
          </a:xfrm>
          <a:prstGeom prst="rect">
            <a:avLst/>
          </a:prstGeom>
          <a:noFill/>
        </p:spPr>
        <p:txBody>
          <a:bodyPr wrap="square" lIns="36576" tIns="18288" rIns="36576" bIns="18288" anchor="ctr">
            <a:spAutoFit/>
          </a:bodyPr>
          <a:lstStyle/>
          <a:p>
            <a:pPr algn="ctr"/>
            <a:r>
              <a:rPr sz="1900" b="0" i="0">
                <a:solidFill>
                  <a:srgbClr val="0D2B2B"/>
                </a:solidFill>
                <a:latin typeface="Arial"/>
              </a:rPr>
              <a:t>Sửa buồng tử cung nếu đó là nút nghẽn.</a:t>
            </a:r>
          </a:p>
        </p:txBody>
      </p:sp>
      <p:sp>
        <p:nvSpPr>
          <p:cNvPr id="18" name="TextBox 17"/>
          <p:cNvSpPr txBox="1"/>
          <p:nvPr/>
        </p:nvSpPr>
        <p:spPr>
          <a:xfrm>
            <a:off x="2286000" y="5280660"/>
            <a:ext cx="7589520" cy="342900"/>
          </a:xfrm>
          <a:prstGeom prst="rect">
            <a:avLst/>
          </a:prstGeom>
          <a:noFill/>
        </p:spPr>
        <p:txBody>
          <a:bodyPr wrap="square" lIns="36576" tIns="18288" rIns="36576" bIns="18288" anchor="ctr">
            <a:spAutoFit/>
          </a:bodyPr>
          <a:lstStyle/>
          <a:p>
            <a:pPr algn="ctr"/>
            <a:r>
              <a:rPr sz="1800" b="1" i="0">
                <a:solidFill>
                  <a:srgbClr val="00977A"/>
                </a:solidFill>
                <a:latin typeface="Arial"/>
              </a:rPr>
              <a:t>▼</a:t>
            </a:r>
          </a:p>
        </p:txBody>
      </p:sp>
      <p:sp>
        <p:nvSpPr>
          <p:cNvPr id="19" name="Rectangle 18"/>
          <p:cNvSpPr/>
          <p:nvPr/>
        </p:nvSpPr>
        <p:spPr>
          <a:xfrm>
            <a:off x="2286000" y="5623560"/>
            <a:ext cx="758952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86000" y="5623560"/>
            <a:ext cx="63500" cy="64008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68880" y="5623560"/>
            <a:ext cx="7223760" cy="640080"/>
          </a:xfrm>
          <a:prstGeom prst="rect">
            <a:avLst/>
          </a:prstGeom>
          <a:noFill/>
        </p:spPr>
        <p:txBody>
          <a:bodyPr wrap="square" lIns="36576" tIns="18288" rIns="36576" bIns="18288" anchor="ctr">
            <a:spAutoFit/>
          </a:bodyPr>
          <a:lstStyle/>
          <a:p>
            <a:pPr algn="ctr"/>
            <a:r>
              <a:rPr sz="1900" b="1" i="0">
                <a:solidFill>
                  <a:srgbClr val="FFFFFF"/>
                </a:solidFill>
                <a:latin typeface="Arial"/>
              </a:rPr>
              <a:t>Đánh giá lại buồng tử cung trước chuyển phôi.</a:t>
            </a:r>
          </a:p>
        </p:txBody>
      </p:sp>
      <p:sp>
        <p:nvSpPr>
          <p:cNvPr id="22" name="Rectangle 21"/>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Thời gian chờ sau bóc u</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Không có một mốc duy nhất cho mọi ca.</a:t>
            </a:r>
          </a:p>
          <a:p>
            <a:pPr>
              <a:spcBef>
                <a:spcPts val="500"/>
              </a:spcBef>
              <a:spcAft>
                <a:spcPts val="200"/>
              </a:spcAft>
            </a:pPr>
            <a:r>
              <a:rPr sz="2000">
                <a:solidFill>
                  <a:srgbClr val="1A2F2F"/>
                </a:solidFill>
                <a:latin typeface="Arial"/>
              </a:rPr>
              <a:t>  –  Phụ thuộc đường mổ, độ sâu đường rạch, số lớp khâu.</a:t>
            </a:r>
          </a:p>
          <a:p>
            <a:pPr>
              <a:spcBef>
                <a:spcPts val="500"/>
              </a:spcBef>
              <a:spcAft>
                <a:spcPts val="200"/>
              </a:spcAft>
            </a:pPr>
            <a:r>
              <a:rPr sz="2000">
                <a:solidFill>
                  <a:srgbClr val="1A2F2F"/>
                </a:solidFill>
                <a:latin typeface="Arial"/>
              </a:rPr>
              <a:t>  –  Phụ thuộc có mở vào buồng tử cung hay không.</a:t>
            </a:r>
          </a:p>
          <a:p>
            <a:pPr>
              <a:spcBef>
                <a:spcPts val="500"/>
              </a:spcBef>
              <a:spcAft>
                <a:spcPts val="200"/>
              </a:spcAft>
            </a:pPr>
            <a:r>
              <a:rPr sz="2000">
                <a:solidFill>
                  <a:srgbClr val="1A2F2F"/>
                </a:solidFill>
                <a:latin typeface="Arial"/>
              </a:rPr>
              <a:t>  –  Cần thời gian lành sẹo cơ tử cung trước thai.</a:t>
            </a:r>
          </a:p>
          <a:p>
            <a:pPr>
              <a:spcBef>
                <a:spcPts val="500"/>
              </a:spcBef>
              <a:spcAft>
                <a:spcPts val="200"/>
              </a:spcAft>
            </a:pPr>
            <a:r>
              <a:rPr sz="2000">
                <a:solidFill>
                  <a:srgbClr val="1A2F2F"/>
                </a:solidFill>
                <a:latin typeface="Arial"/>
              </a:rPr>
              <a:t>  –  Tư vấn thai kỳ và lựa chọn sinh mổ chọn lọc sau đường bụng vào cơ.</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Theo dõi khi chưa can thiệp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Tái khám theo triệu chứng.</a:t>
            </a:r>
          </a:p>
          <a:p>
            <a:pPr>
              <a:spcBef>
                <a:spcPts val="500"/>
              </a:spcBef>
              <a:spcAft>
                <a:spcPts val="200"/>
              </a:spcAft>
            </a:pPr>
            <a:r>
              <a:rPr sz="2000">
                <a:solidFill>
                  <a:srgbClr val="1A2F2F"/>
                </a:solidFill>
                <a:latin typeface="Arial"/>
              </a:rPr>
              <a:t>  –  Chụp lại hình ảnh khi kế hoạch ART thay đổi.</a:t>
            </a:r>
          </a:p>
          <a:p>
            <a:pPr>
              <a:spcBef>
                <a:spcPts val="500"/>
              </a:spcBef>
              <a:spcAft>
                <a:spcPts val="200"/>
              </a:spcAft>
            </a:pPr>
            <a:r>
              <a:rPr sz="2000">
                <a:solidFill>
                  <a:srgbClr val="1A2F2F"/>
                </a:solidFill>
                <a:latin typeface="Arial"/>
              </a:rPr>
              <a:t>  –  Theo dõi chảy máu và thiếu máu.</a:t>
            </a:r>
          </a:p>
          <a:p>
            <a:pPr>
              <a:spcBef>
                <a:spcPts val="500"/>
              </a:spcBef>
              <a:spcAft>
                <a:spcPts val="200"/>
              </a:spcAft>
            </a:pPr>
            <a:r>
              <a:rPr sz="2000">
                <a:solidFill>
                  <a:srgbClr val="1A2F2F"/>
                </a:solidFill>
                <a:latin typeface="Arial"/>
              </a:rPr>
              <a:t>  –  Ghi nhận khi bệnh nhân quyết định chuyển sang can thiệp.</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Sau nội soi buồng tử cung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Theo dõi ra máu và đau.</a:t>
            </a:r>
          </a:p>
          <a:p>
            <a:pPr>
              <a:spcBef>
                <a:spcPts val="500"/>
              </a:spcBef>
              <a:spcAft>
                <a:spcPts val="200"/>
              </a:spcAft>
            </a:pPr>
            <a:r>
              <a:rPr sz="2000">
                <a:solidFill>
                  <a:srgbClr val="1A2F2F"/>
                </a:solidFill>
                <a:latin typeface="Arial"/>
              </a:rPr>
              <a:t>  –  Nghi dính nếu kinh ít rõ.</a:t>
            </a:r>
          </a:p>
          <a:p>
            <a:pPr>
              <a:spcBef>
                <a:spcPts val="500"/>
              </a:spcBef>
              <a:spcAft>
                <a:spcPts val="200"/>
              </a:spcAft>
            </a:pPr>
            <a:r>
              <a:rPr sz="2000">
                <a:solidFill>
                  <a:srgbClr val="1A2F2F"/>
                </a:solidFill>
                <a:latin typeface="Arial"/>
              </a:rPr>
              <a:t>  –  Đánh giá lại buồng tử cung ở ca nguy cơ cao.</a:t>
            </a:r>
          </a:p>
          <a:p>
            <a:pPr>
              <a:spcBef>
                <a:spcPts val="500"/>
              </a:spcBef>
              <a:spcAft>
                <a:spcPts val="200"/>
              </a:spcAft>
            </a:pPr>
            <a:r>
              <a:rPr sz="2000">
                <a:solidFill>
                  <a:srgbClr val="1A2F2F"/>
                </a:solidFill>
                <a:latin typeface="Arial"/>
              </a:rPr>
              <a:t>  –  Đợi buồng tử cung lành trước chuyển phôi.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700" b="1" i="0">
                <a:solidFill>
                  <a:srgbClr val="0D2B2B"/>
                </a:solidFill>
                <a:latin typeface="Arial"/>
              </a:rPr>
              <a:t>Sau bóc u đường bụng hoặc nội soi ổ bụng</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Theo dõi đau và thiếu máu.</a:t>
            </a:r>
          </a:p>
          <a:p>
            <a:pPr>
              <a:spcBef>
                <a:spcPts val="500"/>
              </a:spcBef>
              <a:spcAft>
                <a:spcPts val="200"/>
              </a:spcAft>
            </a:pPr>
            <a:r>
              <a:rPr sz="2000">
                <a:solidFill>
                  <a:srgbClr val="1A2F2F"/>
                </a:solidFill>
                <a:latin typeface="Arial"/>
              </a:rPr>
              <a:t>  –  Sẹo cơ tử cung và nguy cơ vỡ tử cung thấp nhưng cần tư vấn.</a:t>
            </a:r>
          </a:p>
          <a:p>
            <a:pPr>
              <a:spcBef>
                <a:spcPts val="500"/>
              </a:spcBef>
              <a:spcAft>
                <a:spcPts val="200"/>
              </a:spcAft>
            </a:pPr>
            <a:r>
              <a:rPr sz="2000">
                <a:solidFill>
                  <a:srgbClr val="1A2F2F"/>
                </a:solidFill>
                <a:latin typeface="Arial"/>
              </a:rPr>
              <a:t>  –  Việc mở vào buồng tử cung và thời gian chờ.</a:t>
            </a:r>
          </a:p>
          <a:p>
            <a:pPr>
              <a:spcBef>
                <a:spcPts val="500"/>
              </a:spcBef>
              <a:spcAft>
                <a:spcPts val="200"/>
              </a:spcAft>
            </a:pPr>
            <a:r>
              <a:rPr sz="2000">
                <a:solidFill>
                  <a:srgbClr val="1A2F2F"/>
                </a:solidFill>
                <a:latin typeface="Arial"/>
              </a:rPr>
              <a:t>  –  Nguy cơ u tái phát và u còn lại.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Tư vấn thai kỳ sau bóc u</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600200"/>
            <a:ext cx="11064240" cy="4709160"/>
          </a:xfrm>
          <a:prstGeom prst="rect">
            <a:avLst/>
          </a:prstGeom>
          <a:noFill/>
        </p:spPr>
        <p:txBody>
          <a:bodyPr wrap="square" lIns="36576" rIns="36576">
            <a:spAutoFit/>
          </a:bodyPr>
          <a:lstStyle/>
          <a:p>
            <a:pPr>
              <a:spcBef>
                <a:spcPts val="500"/>
              </a:spcBef>
              <a:spcAft>
                <a:spcPts val="200"/>
              </a:spcAft>
            </a:pPr>
            <a:r>
              <a:rPr sz="2000">
                <a:solidFill>
                  <a:srgbClr val="1A2F2F"/>
                </a:solidFill>
                <a:latin typeface="Arial"/>
              </a:rPr>
              <a:t>  –  Có thể cần theo dõi thai kỳ nguy cơ cao.</a:t>
            </a:r>
          </a:p>
          <a:p>
            <a:pPr>
              <a:spcBef>
                <a:spcPts val="500"/>
              </a:spcBef>
              <a:spcAft>
                <a:spcPts val="200"/>
              </a:spcAft>
            </a:pPr>
            <a:r>
              <a:rPr sz="2000">
                <a:solidFill>
                  <a:srgbClr val="1A2F2F"/>
                </a:solidFill>
                <a:latin typeface="Arial"/>
              </a:rPr>
              <a:t>  –  Kế hoạch sinh phụ thuộc độ sâu và việc mở vào buồng tử cung.</a:t>
            </a:r>
          </a:p>
          <a:p>
            <a:pPr>
              <a:spcBef>
                <a:spcPts val="500"/>
              </a:spcBef>
              <a:spcAft>
                <a:spcPts val="200"/>
              </a:spcAft>
            </a:pPr>
            <a:r>
              <a:rPr sz="2000">
                <a:solidFill>
                  <a:srgbClr val="1A2F2F"/>
                </a:solidFill>
                <a:latin typeface="Arial"/>
              </a:rPr>
              <a:t>  –  Tư vấn nguy cơ u tái phát và u còn lại.</a:t>
            </a:r>
          </a:p>
          <a:p>
            <a:pPr>
              <a:spcBef>
                <a:spcPts val="500"/>
              </a:spcBef>
              <a:spcAft>
                <a:spcPts val="200"/>
              </a:spcAft>
            </a:pPr>
            <a:r>
              <a:rPr sz="2000">
                <a:solidFill>
                  <a:srgbClr val="1A2F2F"/>
                </a:solidFill>
                <a:latin typeface="Arial"/>
              </a:rPr>
              <a:t>  –  Ghi rõ thông tin mổ cho bác sĩ sản khoa theo dõi.</a:t>
            </a:r>
          </a:p>
        </p:txBody>
      </p:sp>
      <p:sp>
        <p:nvSpPr>
          <p:cNvPr id="7" name="Rectangle 6"/>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469954"/>
            <a:ext cx="11247120" cy="513987"/>
          </a:xfrm>
          <a:prstGeom prst="rect">
            <a:avLst/>
          </a:prstGeom>
          <a:noFill/>
        </p:spPr>
        <p:txBody>
          <a:bodyPr wrap="square" lIns="36576" tIns="18288" rIns="36576" bIns="18288" anchor="ctr">
            <a:spAutoFit/>
          </a:bodyPr>
          <a:lstStyle/>
          <a:p>
            <a:pPr algn="l"/>
            <a:r>
              <a:rPr sz="3100" b="1" i="0">
                <a:solidFill>
                  <a:srgbClr val="0D2B2B"/>
                </a:solidFill>
                <a:latin typeface="Arial"/>
              </a:rPr>
              <a:t>Số liệu can thiệp</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91640"/>
            <a:ext cx="175260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65960"/>
            <a:ext cx="1569720" cy="1645920"/>
          </a:xfrm>
          <a:prstGeom prst="rect">
            <a:avLst/>
          </a:prstGeom>
          <a:noFill/>
        </p:spPr>
        <p:txBody>
          <a:bodyPr wrap="square" lIns="36576" tIns="18288" rIns="36576" bIns="18288" anchor="ctr">
            <a:spAutoFit/>
          </a:bodyPr>
          <a:lstStyle/>
          <a:p>
            <a:pPr algn="ctr"/>
            <a:r>
              <a:rPr sz="5000" b="1" i="0">
                <a:solidFill>
                  <a:srgbClr val="00977A"/>
                </a:solidFill>
                <a:latin typeface="Arial"/>
              </a:rPr>
              <a:t>11,9%</a:t>
            </a:r>
          </a:p>
        </p:txBody>
      </p:sp>
      <p:sp>
        <p:nvSpPr>
          <p:cNvPr id="9" name="TextBox 8"/>
          <p:cNvSpPr txBox="1"/>
          <p:nvPr/>
        </p:nvSpPr>
        <p:spPr>
          <a:xfrm>
            <a:off x="45720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UAE</a:t>
            </a:r>
          </a:p>
        </p:txBody>
      </p:sp>
      <p:sp>
        <p:nvSpPr>
          <p:cNvPr id="10" name="TextBox 9"/>
          <p:cNvSpPr txBox="1"/>
          <p:nvPr/>
        </p:nvSpPr>
        <p:spPr>
          <a:xfrm>
            <a:off x="502920" y="4160520"/>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tỉ lệ sanh sống (live birth) sau nút mạch</a:t>
            </a:r>
          </a:p>
        </p:txBody>
      </p:sp>
      <p:sp>
        <p:nvSpPr>
          <p:cNvPr id="11" name="Rectangle 10"/>
          <p:cNvSpPr/>
          <p:nvPr/>
        </p:nvSpPr>
        <p:spPr>
          <a:xfrm>
            <a:off x="230124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01240" y="1691640"/>
            <a:ext cx="175260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92680" y="1965960"/>
            <a:ext cx="1569720" cy="1645920"/>
          </a:xfrm>
          <a:prstGeom prst="rect">
            <a:avLst/>
          </a:prstGeom>
          <a:noFill/>
        </p:spPr>
        <p:txBody>
          <a:bodyPr wrap="square" lIns="36576" tIns="18288" rIns="36576" bIns="18288" anchor="ctr">
            <a:spAutoFit/>
          </a:bodyPr>
          <a:lstStyle/>
          <a:p>
            <a:pPr algn="ctr"/>
            <a:r>
              <a:rPr sz="5000" b="1" i="0">
                <a:solidFill>
                  <a:srgbClr val="00977A"/>
                </a:solidFill>
                <a:latin typeface="Arial"/>
              </a:rPr>
              <a:t>27,4%</a:t>
            </a:r>
          </a:p>
        </p:txBody>
      </p:sp>
      <p:sp>
        <p:nvSpPr>
          <p:cNvPr id="14" name="TextBox 13"/>
          <p:cNvSpPr txBox="1"/>
          <p:nvPr/>
        </p:nvSpPr>
        <p:spPr>
          <a:xfrm>
            <a:off x="239268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UAE</a:t>
            </a:r>
          </a:p>
        </p:txBody>
      </p:sp>
      <p:sp>
        <p:nvSpPr>
          <p:cNvPr id="15" name="TextBox 14"/>
          <p:cNvSpPr txBox="1"/>
          <p:nvPr/>
        </p:nvSpPr>
        <p:spPr>
          <a:xfrm>
            <a:off x="2456688" y="4507992"/>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tỉ lệ sảy thai sau nút mạch</a:t>
            </a:r>
          </a:p>
        </p:txBody>
      </p:sp>
      <p:sp>
        <p:nvSpPr>
          <p:cNvPr id="16" name="Rectangle 15"/>
          <p:cNvSpPr/>
          <p:nvPr/>
        </p:nvSpPr>
        <p:spPr>
          <a:xfrm>
            <a:off x="423672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36720" y="1691640"/>
            <a:ext cx="175260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28160" y="1965960"/>
            <a:ext cx="1569720" cy="1645920"/>
          </a:xfrm>
          <a:prstGeom prst="rect">
            <a:avLst/>
          </a:prstGeom>
          <a:noFill/>
        </p:spPr>
        <p:txBody>
          <a:bodyPr wrap="square" lIns="36576" tIns="18288" rIns="36576" bIns="18288" anchor="ctr">
            <a:spAutoFit/>
          </a:bodyPr>
          <a:lstStyle/>
          <a:p>
            <a:pPr algn="ctr"/>
            <a:r>
              <a:rPr sz="5000" b="1" i="0">
                <a:solidFill>
                  <a:srgbClr val="F59E0B"/>
                </a:solidFill>
                <a:latin typeface="Arial"/>
              </a:rPr>
              <a:t>49,4%</a:t>
            </a:r>
          </a:p>
        </p:txBody>
      </p:sp>
      <p:sp>
        <p:nvSpPr>
          <p:cNvPr id="19" name="TextBox 18"/>
          <p:cNvSpPr txBox="1"/>
          <p:nvPr/>
        </p:nvSpPr>
        <p:spPr>
          <a:xfrm>
            <a:off x="432816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RFA 6 tháng</a:t>
            </a:r>
          </a:p>
        </p:txBody>
      </p:sp>
      <p:sp>
        <p:nvSpPr>
          <p:cNvPr id="20" name="TextBox 19"/>
          <p:cNvSpPr txBox="1"/>
          <p:nvPr/>
        </p:nvSpPr>
        <p:spPr>
          <a:xfrm>
            <a:off x="4392168" y="4521336"/>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giảm thể tích u type 2–5</a:t>
            </a:r>
          </a:p>
        </p:txBody>
      </p:sp>
      <p:sp>
        <p:nvSpPr>
          <p:cNvPr id="21" name="Rectangle 20"/>
          <p:cNvSpPr/>
          <p:nvPr/>
        </p:nvSpPr>
        <p:spPr>
          <a:xfrm>
            <a:off x="617220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1691640"/>
            <a:ext cx="1752600" cy="508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1965960"/>
            <a:ext cx="1569720" cy="1645920"/>
          </a:xfrm>
          <a:prstGeom prst="rect">
            <a:avLst/>
          </a:prstGeom>
          <a:noFill/>
        </p:spPr>
        <p:txBody>
          <a:bodyPr wrap="square" lIns="36576" tIns="18288" rIns="36576" bIns="18288" anchor="ctr">
            <a:spAutoFit/>
          </a:bodyPr>
          <a:lstStyle/>
          <a:p>
            <a:pPr algn="ctr"/>
            <a:r>
              <a:rPr sz="5000" b="1" i="0">
                <a:solidFill>
                  <a:srgbClr val="E53E3E"/>
                </a:solidFill>
                <a:latin typeface="Arial"/>
              </a:rPr>
              <a:t>69,8%</a:t>
            </a:r>
          </a:p>
        </p:txBody>
      </p:sp>
      <p:sp>
        <p:nvSpPr>
          <p:cNvPr id="24" name="TextBox 23"/>
          <p:cNvSpPr txBox="1"/>
          <p:nvPr/>
        </p:nvSpPr>
        <p:spPr>
          <a:xfrm>
            <a:off x="626364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RFA 12 tháng</a:t>
            </a:r>
          </a:p>
        </p:txBody>
      </p:sp>
      <p:sp>
        <p:nvSpPr>
          <p:cNvPr id="25" name="TextBox 24"/>
          <p:cNvSpPr txBox="1"/>
          <p:nvPr/>
        </p:nvSpPr>
        <p:spPr>
          <a:xfrm>
            <a:off x="6263640" y="4475480"/>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giảm thể tích u type 2–5</a:t>
            </a:r>
          </a:p>
        </p:txBody>
      </p:sp>
      <p:sp>
        <p:nvSpPr>
          <p:cNvPr id="26" name="Rectangle 25"/>
          <p:cNvSpPr/>
          <p:nvPr/>
        </p:nvSpPr>
        <p:spPr>
          <a:xfrm>
            <a:off x="810768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107680" y="1691640"/>
            <a:ext cx="175260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99120" y="1965960"/>
            <a:ext cx="1569720" cy="1645920"/>
          </a:xfrm>
          <a:prstGeom prst="rect">
            <a:avLst/>
          </a:prstGeom>
          <a:noFill/>
        </p:spPr>
        <p:txBody>
          <a:bodyPr wrap="square" lIns="36576" tIns="18288" rIns="36576" bIns="18288" anchor="ctr">
            <a:spAutoFit/>
          </a:bodyPr>
          <a:lstStyle/>
          <a:p>
            <a:pPr algn="ctr"/>
            <a:r>
              <a:rPr sz="5000" b="1" i="0">
                <a:solidFill>
                  <a:srgbClr val="00977A"/>
                </a:solidFill>
                <a:latin typeface="Arial"/>
              </a:rPr>
              <a:t>0,4%</a:t>
            </a:r>
          </a:p>
        </p:txBody>
      </p:sp>
      <p:sp>
        <p:nvSpPr>
          <p:cNvPr id="29" name="TextBox 28"/>
          <p:cNvSpPr txBox="1"/>
          <p:nvPr/>
        </p:nvSpPr>
        <p:spPr>
          <a:xfrm>
            <a:off x="819912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bóc u</a:t>
            </a:r>
          </a:p>
        </p:txBody>
      </p:sp>
      <p:sp>
        <p:nvSpPr>
          <p:cNvPr id="30" name="TextBox 29"/>
          <p:cNvSpPr txBox="1"/>
          <p:nvPr/>
        </p:nvSpPr>
        <p:spPr>
          <a:xfrm>
            <a:off x="8171688" y="4160520"/>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nguy cơ vỡ tử cung sau mổ</a:t>
            </a:r>
          </a:p>
        </p:txBody>
      </p:sp>
      <p:sp>
        <p:nvSpPr>
          <p:cNvPr id="31" name="Rectangle 30"/>
          <p:cNvSpPr/>
          <p:nvPr/>
        </p:nvSpPr>
        <p:spPr>
          <a:xfrm>
            <a:off x="10043160" y="1691640"/>
            <a:ext cx="1752600" cy="4526280"/>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043160" y="1691640"/>
            <a:ext cx="1752600" cy="5080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134600" y="1965960"/>
            <a:ext cx="1569720" cy="1645920"/>
          </a:xfrm>
          <a:prstGeom prst="rect">
            <a:avLst/>
          </a:prstGeom>
          <a:noFill/>
        </p:spPr>
        <p:txBody>
          <a:bodyPr wrap="square" lIns="36576" tIns="18288" rIns="36576" bIns="18288" anchor="ctr">
            <a:spAutoFit/>
          </a:bodyPr>
          <a:lstStyle/>
          <a:p>
            <a:pPr algn="ctr"/>
            <a:r>
              <a:rPr sz="3900" b="1" i="0">
                <a:solidFill>
                  <a:srgbClr val="00977A"/>
                </a:solidFill>
                <a:latin typeface="Arial"/>
              </a:rPr>
              <a:t>~18 tháng</a:t>
            </a:r>
          </a:p>
        </p:txBody>
      </p:sp>
      <p:sp>
        <p:nvSpPr>
          <p:cNvPr id="34" name="TextBox 33"/>
          <p:cNvSpPr txBox="1"/>
          <p:nvPr/>
        </p:nvSpPr>
        <p:spPr>
          <a:xfrm>
            <a:off x="10134600" y="3611880"/>
            <a:ext cx="1569720" cy="457200"/>
          </a:xfrm>
          <a:prstGeom prst="rect">
            <a:avLst/>
          </a:prstGeom>
          <a:noFill/>
        </p:spPr>
        <p:txBody>
          <a:bodyPr wrap="square" lIns="36576" tIns="18288" rIns="36576" bIns="18288">
            <a:spAutoFit/>
          </a:bodyPr>
          <a:lstStyle/>
          <a:p>
            <a:pPr algn="ctr"/>
            <a:r>
              <a:rPr sz="2000" b="1" i="0">
                <a:solidFill>
                  <a:srgbClr val="0D2B2B"/>
                </a:solidFill>
                <a:latin typeface="Arial"/>
              </a:rPr>
              <a:t>sau mổ</a:t>
            </a:r>
          </a:p>
        </p:txBody>
      </p:sp>
      <p:sp>
        <p:nvSpPr>
          <p:cNvPr id="35" name="TextBox 34"/>
          <p:cNvSpPr txBox="1"/>
          <p:nvPr/>
        </p:nvSpPr>
        <p:spPr>
          <a:xfrm>
            <a:off x="10134600" y="4160520"/>
            <a:ext cx="1478280" cy="1965960"/>
          </a:xfrm>
          <a:prstGeom prst="rect">
            <a:avLst/>
          </a:prstGeom>
          <a:noFill/>
        </p:spPr>
        <p:txBody>
          <a:bodyPr wrap="square" lIns="36576" tIns="18288" rIns="36576" bIns="18288">
            <a:spAutoFit/>
          </a:bodyPr>
          <a:lstStyle/>
          <a:p>
            <a:pPr algn="ctr"/>
            <a:r>
              <a:rPr sz="1800" b="0" i="0">
                <a:solidFill>
                  <a:srgbClr val="728C8C"/>
                </a:solidFill>
                <a:latin typeface="Arial"/>
              </a:rPr>
              <a:t>thời gian trung bình đến có thai</a:t>
            </a:r>
          </a:p>
        </p:txBody>
      </p:sp>
      <p:sp>
        <p:nvSpPr>
          <p:cNvPr id="36" name="Rectangle 35"/>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6F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92608"/>
            <a:ext cx="63500" cy="960120"/>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01168"/>
            <a:ext cx="11247120" cy="1051560"/>
          </a:xfrm>
          <a:prstGeom prst="rect">
            <a:avLst/>
          </a:prstGeom>
          <a:noFill/>
        </p:spPr>
        <p:txBody>
          <a:bodyPr wrap="square" lIns="36576" tIns="18288" rIns="36576" bIns="18288" anchor="ctr">
            <a:spAutoFit/>
          </a:bodyPr>
          <a:lstStyle/>
          <a:p>
            <a:pPr algn="l"/>
            <a:r>
              <a:rPr sz="3800" b="1" i="0">
                <a:solidFill>
                  <a:srgbClr val="0D2B2B"/>
                </a:solidFill>
                <a:latin typeface="Arial"/>
              </a:rPr>
              <a:t>Take-home cá nhân</a:t>
            </a:r>
          </a:p>
        </p:txBody>
      </p:sp>
      <p:sp>
        <p:nvSpPr>
          <p:cNvPr id="5" name="Rectangle 4"/>
          <p:cNvSpPr/>
          <p:nvPr/>
        </p:nvSpPr>
        <p:spPr>
          <a:xfrm>
            <a:off x="548640" y="1389888"/>
            <a:ext cx="11338560" cy="1905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600200"/>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600200"/>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600200"/>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9" name="TextBox 8"/>
          <p:cNvSpPr txBox="1"/>
          <p:nvPr/>
        </p:nvSpPr>
        <p:spPr>
          <a:xfrm>
            <a:off x="1188720" y="1600200"/>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Điều trị bệnh nhân, không điều trị hình ảnh.</a:t>
            </a:r>
          </a:p>
        </p:txBody>
      </p:sp>
      <p:sp>
        <p:nvSpPr>
          <p:cNvPr id="10" name="Rectangle 9"/>
          <p:cNvSpPr/>
          <p:nvPr/>
        </p:nvSpPr>
        <p:spPr>
          <a:xfrm>
            <a:off x="365760" y="2188845"/>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2188845"/>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188845"/>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13" name="TextBox 12"/>
          <p:cNvSpPr txBox="1"/>
          <p:nvPr/>
        </p:nvSpPr>
        <p:spPr>
          <a:xfrm>
            <a:off x="1188720" y="2188845"/>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FIGO + buồng tử cung là ngôn ngữ quyết định ART.</a:t>
            </a:r>
          </a:p>
        </p:txBody>
      </p:sp>
      <p:sp>
        <p:nvSpPr>
          <p:cNvPr id="14" name="Rectangle 13"/>
          <p:cNvSpPr/>
          <p:nvPr/>
        </p:nvSpPr>
        <p:spPr>
          <a:xfrm>
            <a:off x="365760" y="2777490"/>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777490"/>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777490"/>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17" name="TextBox 16"/>
          <p:cNvSpPr txBox="1"/>
          <p:nvPr/>
        </p:nvSpPr>
        <p:spPr>
          <a:xfrm>
            <a:off x="1188720" y="2777490"/>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Type 0–2 là nhóm rõ nhất, cần sửa buồng tử cung trước chuyển phôi.</a:t>
            </a:r>
          </a:p>
        </p:txBody>
      </p:sp>
      <p:sp>
        <p:nvSpPr>
          <p:cNvPr id="18" name="Rectangle 17"/>
          <p:cNvSpPr/>
          <p:nvPr/>
        </p:nvSpPr>
        <p:spPr>
          <a:xfrm>
            <a:off x="365760" y="3366135"/>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3366135"/>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3366135"/>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21" name="TextBox 20"/>
          <p:cNvSpPr txBox="1"/>
          <p:nvPr/>
        </p:nvSpPr>
        <p:spPr>
          <a:xfrm>
            <a:off x="1188720" y="3366135"/>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Type 3 là vùng xám riêng, không gộp chung type 4.</a:t>
            </a:r>
          </a:p>
        </p:txBody>
      </p:sp>
      <p:sp>
        <p:nvSpPr>
          <p:cNvPr id="22" name="Rectangle 21"/>
          <p:cNvSpPr/>
          <p:nvPr/>
        </p:nvSpPr>
        <p:spPr>
          <a:xfrm>
            <a:off x="365760" y="3954780"/>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3954780"/>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3954780"/>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25" name="TextBox 24"/>
          <p:cNvSpPr txBox="1"/>
          <p:nvPr/>
        </p:nvSpPr>
        <p:spPr>
          <a:xfrm>
            <a:off x="1188720" y="3954780"/>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Type 5–7 nhỏ và 4 nhỏ ở DOR thường không đáng trì hoãn IVF.</a:t>
            </a:r>
          </a:p>
        </p:txBody>
      </p:sp>
      <p:sp>
        <p:nvSpPr>
          <p:cNvPr id="26" name="Rectangle 25"/>
          <p:cNvSpPr/>
          <p:nvPr/>
        </p:nvSpPr>
        <p:spPr>
          <a:xfrm>
            <a:off x="365760" y="4543425"/>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4543425"/>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4543425"/>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29" name="TextBox 28"/>
          <p:cNvSpPr txBox="1"/>
          <p:nvPr/>
        </p:nvSpPr>
        <p:spPr>
          <a:xfrm>
            <a:off x="1188720" y="4543425"/>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Thuốc giảm triệu chứng không chứng minh buồng tử cung sẵn sàng.</a:t>
            </a:r>
          </a:p>
        </p:txBody>
      </p:sp>
      <p:sp>
        <p:nvSpPr>
          <p:cNvPr id="30" name="Rectangle 29"/>
          <p:cNvSpPr/>
          <p:nvPr/>
        </p:nvSpPr>
        <p:spPr>
          <a:xfrm>
            <a:off x="365760" y="5132070"/>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5132070"/>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8640" y="5132070"/>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33" name="TextBox 32"/>
          <p:cNvSpPr txBox="1"/>
          <p:nvPr/>
        </p:nvSpPr>
        <p:spPr>
          <a:xfrm>
            <a:off x="1188720" y="5132070"/>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Tạo và trữ phôi là chiến lược thời gian khi noãn là nút nghẽn.</a:t>
            </a:r>
          </a:p>
        </p:txBody>
      </p:sp>
      <p:sp>
        <p:nvSpPr>
          <p:cNvPr id="34" name="Rectangle 33"/>
          <p:cNvSpPr/>
          <p:nvPr/>
        </p:nvSpPr>
        <p:spPr>
          <a:xfrm>
            <a:off x="365760" y="5720715"/>
            <a:ext cx="11430000" cy="515493"/>
          </a:xfrm>
          <a:prstGeom prst="rect">
            <a:avLst/>
          </a:prstGeom>
          <a:solidFill>
            <a:srgbClr val="E8F8F5"/>
          </a:solidFill>
          <a:ln w="9525">
            <a:solidFill>
              <a:srgbClr val="C8E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65760" y="5720715"/>
            <a:ext cx="63500" cy="515493"/>
          </a:xfrm>
          <a:prstGeom prst="rect">
            <a:avLst/>
          </a:prstGeom>
          <a:solidFill>
            <a:srgbClr val="0097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5720715"/>
            <a:ext cx="548640" cy="515493"/>
          </a:xfrm>
          <a:prstGeom prst="rect">
            <a:avLst/>
          </a:prstGeom>
          <a:noFill/>
        </p:spPr>
        <p:txBody>
          <a:bodyPr wrap="square" lIns="36576" tIns="18288" rIns="36576" bIns="18288" anchor="ctr">
            <a:spAutoFit/>
          </a:bodyPr>
          <a:lstStyle/>
          <a:p>
            <a:pPr algn="ctr"/>
            <a:r>
              <a:rPr sz="3000" b="1" i="0">
                <a:solidFill>
                  <a:srgbClr val="00977A"/>
                </a:solidFill>
                <a:latin typeface="Arial"/>
              </a:rPr>
              <a:t>✓</a:t>
            </a:r>
          </a:p>
        </p:txBody>
      </p:sp>
      <p:sp>
        <p:nvSpPr>
          <p:cNvPr id="37" name="TextBox 36"/>
          <p:cNvSpPr txBox="1"/>
          <p:nvPr/>
        </p:nvSpPr>
        <p:spPr>
          <a:xfrm>
            <a:off x="1188720" y="5720715"/>
            <a:ext cx="10515600" cy="515493"/>
          </a:xfrm>
          <a:prstGeom prst="rect">
            <a:avLst/>
          </a:prstGeom>
          <a:noFill/>
        </p:spPr>
        <p:txBody>
          <a:bodyPr wrap="square" lIns="36576" tIns="18288" rIns="36576" bIns="18288" anchor="ctr">
            <a:spAutoFit/>
          </a:bodyPr>
          <a:lstStyle/>
          <a:p>
            <a:pPr algn="l"/>
            <a:r>
              <a:rPr sz="2000" b="0" i="0">
                <a:solidFill>
                  <a:srgbClr val="1A2F2F"/>
                </a:solidFill>
                <a:latin typeface="Arial"/>
              </a:rPr>
              <a:t>Trước chuyển phôi, phải chứng minh buồng tử cung.</a:t>
            </a:r>
          </a:p>
        </p:txBody>
      </p:sp>
      <p:sp>
        <p:nvSpPr>
          <p:cNvPr id="38" name="Rectangle 37"/>
          <p:cNvSpPr/>
          <p:nvPr/>
        </p:nvSpPr>
        <p:spPr>
          <a:xfrm>
            <a:off x="365760" y="6473952"/>
            <a:ext cx="11430000" cy="12700"/>
          </a:xfrm>
          <a:prstGeom prst="rect">
            <a:avLst/>
          </a:prstGeom>
          <a:solidFill>
            <a:srgbClr val="C8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9909</Words>
  <Application>Microsoft Office PowerPoint</Application>
  <PresentationFormat>Custom</PresentationFormat>
  <Paragraphs>893</Paragraphs>
  <Slides>91</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Ngọc Hưng Đỗ Văn</cp:lastModifiedBy>
  <cp:revision>5</cp:revision>
  <dcterms:created xsi:type="dcterms:W3CDTF">2013-01-27T09:14:16Z</dcterms:created>
  <dcterms:modified xsi:type="dcterms:W3CDTF">2026-07-14T09:40:20Z</dcterms:modified>
  <cp:category/>
</cp:coreProperties>
</file>