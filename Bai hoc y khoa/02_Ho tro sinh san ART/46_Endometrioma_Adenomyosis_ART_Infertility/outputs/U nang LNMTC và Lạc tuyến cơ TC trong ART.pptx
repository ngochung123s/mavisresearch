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57" r:id="rId2"/>
    <p:sldId id="256" r:id="rId3"/>
    <p:sldId id="266" r:id="rId4"/>
    <p:sldId id="267" r:id="rId5"/>
    <p:sldId id="268" r:id="rId6"/>
    <p:sldId id="269" r:id="rId7"/>
    <p:sldId id="270" r:id="rId8"/>
    <p:sldId id="271" r:id="rId9"/>
    <p:sldId id="272" r:id="rId10"/>
    <p:sldId id="273" r:id="rId11"/>
    <p:sldId id="274" r:id="rId12"/>
    <p:sldId id="275" r:id="rId13"/>
    <p:sldId id="276" r:id="rId14"/>
    <p:sldId id="277" r:id="rId15"/>
    <p:sldId id="278" r:id="rId16"/>
    <p:sldId id="280" r:id="rId17"/>
    <p:sldId id="281" r:id="rId18"/>
    <p:sldId id="282" r:id="rId19"/>
    <p:sldId id="283" r:id="rId20"/>
    <p:sldId id="284" r:id="rId21"/>
    <p:sldId id="285" r:id="rId22"/>
    <p:sldId id="286" r:id="rId23"/>
    <p:sldId id="287" r:id="rId24"/>
    <p:sldId id="279" r:id="rId25"/>
    <p:sldId id="288" r:id="rId26"/>
    <p:sldId id="289" r:id="rId27"/>
    <p:sldId id="290" r:id="rId28"/>
    <p:sldId id="291" r:id="rId29"/>
    <p:sldId id="292" r:id="rId30"/>
    <p:sldId id="293" r:id="rId31"/>
    <p:sldId id="294" r:id="rId32"/>
    <p:sldId id="295" r:id="rId33"/>
    <p:sldId id="296" r:id="rId34"/>
    <p:sldId id="297" r:id="rId35"/>
    <p:sldId id="298" r:id="rId36"/>
    <p:sldId id="299" r:id="rId37"/>
    <p:sldId id="300" r:id="rId38"/>
    <p:sldId id="301" r:id="rId39"/>
    <p:sldId id="302" r:id="rId40"/>
    <p:sldId id="303" r:id="rId41"/>
    <p:sldId id="304" r:id="rId42"/>
    <p:sldId id="305" r:id="rId43"/>
    <p:sldId id="306" r:id="rId44"/>
    <p:sldId id="307" r:id="rId45"/>
    <p:sldId id="308" r:id="rId46"/>
    <p:sldId id="309" r:id="rId47"/>
    <p:sldId id="310" r:id="rId48"/>
    <p:sldId id="311" r:id="rId49"/>
    <p:sldId id="312" r:id="rId50"/>
    <p:sldId id="313" r:id="rId51"/>
    <p:sldId id="314" r:id="rId52"/>
    <p:sldId id="315" r:id="rId53"/>
    <p:sldId id="316" r:id="rId54"/>
    <p:sldId id="317" r:id="rId55"/>
    <p:sldId id="318" r:id="rId56"/>
    <p:sldId id="319" r:id="rId57"/>
    <p:sldId id="320" r:id="rId58"/>
    <p:sldId id="321" r:id="rId59"/>
    <p:sldId id="322" r:id="rId60"/>
    <p:sldId id="323" r:id="rId61"/>
    <p:sldId id="324" r:id="rId62"/>
    <p:sldId id="325" r:id="rId63"/>
    <p:sldId id="326" r:id="rId64"/>
    <p:sldId id="327" r:id="rId65"/>
    <p:sldId id="328" r:id="rId66"/>
    <p:sldId id="329" r:id="rId67"/>
    <p:sldId id="330" r:id="rId68"/>
    <p:sldId id="331" r:id="rId69"/>
    <p:sldId id="332" r:id="rId70"/>
    <p:sldId id="333" r:id="rId71"/>
    <p:sldId id="334" r:id="rId72"/>
    <p:sldId id="335" r:id="rId73"/>
    <p:sldId id="336" r:id="rId74"/>
    <p:sldId id="337" r:id="rId75"/>
    <p:sldId id="338" r:id="rId76"/>
    <p:sldId id="339" r:id="rId77"/>
    <p:sldId id="340" r:id="rId78"/>
    <p:sldId id="341" r:id="rId79"/>
    <p:sldId id="342" r:id="rId80"/>
    <p:sldId id="343" r:id="rId81"/>
    <p:sldId id="344" r:id="rId82"/>
    <p:sldId id="345" r:id="rId83"/>
    <p:sldId id="346" r:id="rId84"/>
    <p:sldId id="347" r:id="rId85"/>
    <p:sldId id="348" r:id="rId86"/>
    <p:sldId id="349" r:id="rId87"/>
    <p:sldId id="350" r:id="rId88"/>
    <p:sldId id="351" r:id="rId89"/>
    <p:sldId id="352" r:id="rId90"/>
    <p:sldId id="353" r:id="rId91"/>
    <p:sldId id="354" r:id="rId92"/>
    <p:sldId id="355" r:id="rId93"/>
    <p:sldId id="356" r:id="rId94"/>
    <p:sldId id="257" r:id="rId95"/>
    <p:sldId id="259" r:id="rId96"/>
    <p:sldId id="260" r:id="rId97"/>
    <p:sldId id="261" r:id="rId98"/>
    <p:sldId id="262" r:id="rId99"/>
    <p:sldId id="263" r:id="rId100"/>
    <p:sldId id="264" r:id="rId101"/>
    <p:sldId id="265" r:id="rId102"/>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74" d="100"/>
          <a:sy n="74" d="100"/>
        </p:scale>
        <p:origin x="57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C7294-AE1D-1477-16AE-9D79F2927A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DA4D5A38-1DB3-338F-7D19-08E2CBB249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EA3BE1EF-713A-DF66-E84A-8A9C668F8391}"/>
              </a:ext>
            </a:extLst>
          </p:cNvPr>
          <p:cNvSpPr>
            <a:spLocks noGrp="1"/>
          </p:cNvSpPr>
          <p:nvPr>
            <p:ph type="dt" sz="half" idx="10"/>
          </p:nvPr>
        </p:nvSpPr>
        <p:spPr/>
        <p:txBody>
          <a:bodyPr/>
          <a:lstStyle/>
          <a:p>
            <a:fld id="{4164E571-85F3-45B4-B6F5-5A35F6331C36}" type="datetimeFigureOut">
              <a:rPr lang="vi-VN" smtClean="0"/>
              <a:t>23/08/2026</a:t>
            </a:fld>
            <a:endParaRPr lang="vi-VN"/>
          </a:p>
        </p:txBody>
      </p:sp>
      <p:sp>
        <p:nvSpPr>
          <p:cNvPr id="5" name="Footer Placeholder 4">
            <a:extLst>
              <a:ext uri="{FF2B5EF4-FFF2-40B4-BE49-F238E27FC236}">
                <a16:creationId xmlns:a16="http://schemas.microsoft.com/office/drawing/2014/main" id="{3AB4C899-14BB-0257-6899-B48F79D03087}"/>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211CB5D-5227-C58D-43A7-9EB6283ABA5F}"/>
              </a:ext>
            </a:extLst>
          </p:cNvPr>
          <p:cNvSpPr>
            <a:spLocks noGrp="1"/>
          </p:cNvSpPr>
          <p:nvPr>
            <p:ph type="sldNum" sz="quarter" idx="12"/>
          </p:nvPr>
        </p:nvSpPr>
        <p:spPr/>
        <p:txBody>
          <a:bodyPr/>
          <a:lstStyle/>
          <a:p>
            <a:fld id="{7C90FF7E-5BF6-4666-99FD-8FB72EA67E97}" type="slidenum">
              <a:rPr lang="vi-VN" smtClean="0"/>
              <a:t>‹#›</a:t>
            </a:fld>
            <a:endParaRPr lang="vi-VN"/>
          </a:p>
        </p:txBody>
      </p:sp>
    </p:spTree>
    <p:extLst>
      <p:ext uri="{BB962C8B-B14F-4D97-AF65-F5344CB8AC3E}">
        <p14:creationId xmlns:p14="http://schemas.microsoft.com/office/powerpoint/2010/main" val="566806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01CAE-EB8F-5CCE-650B-E6146DC09D67}"/>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2587158B-35A8-EBC8-B8D5-5793C5B3CC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D1E97084-4047-016F-7F6B-14F8648B8A6F}"/>
              </a:ext>
            </a:extLst>
          </p:cNvPr>
          <p:cNvSpPr>
            <a:spLocks noGrp="1"/>
          </p:cNvSpPr>
          <p:nvPr>
            <p:ph type="dt" sz="half" idx="10"/>
          </p:nvPr>
        </p:nvSpPr>
        <p:spPr/>
        <p:txBody>
          <a:bodyPr/>
          <a:lstStyle/>
          <a:p>
            <a:fld id="{4164E571-85F3-45B4-B6F5-5A35F6331C36}" type="datetimeFigureOut">
              <a:rPr lang="vi-VN" smtClean="0"/>
              <a:t>23/08/2026</a:t>
            </a:fld>
            <a:endParaRPr lang="vi-VN"/>
          </a:p>
        </p:txBody>
      </p:sp>
      <p:sp>
        <p:nvSpPr>
          <p:cNvPr id="5" name="Footer Placeholder 4">
            <a:extLst>
              <a:ext uri="{FF2B5EF4-FFF2-40B4-BE49-F238E27FC236}">
                <a16:creationId xmlns:a16="http://schemas.microsoft.com/office/drawing/2014/main" id="{2820A58B-E59D-DDDC-B713-0FFC345C761C}"/>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FFE29444-03DB-753D-DB14-1D014057E1A1}"/>
              </a:ext>
            </a:extLst>
          </p:cNvPr>
          <p:cNvSpPr>
            <a:spLocks noGrp="1"/>
          </p:cNvSpPr>
          <p:nvPr>
            <p:ph type="sldNum" sz="quarter" idx="12"/>
          </p:nvPr>
        </p:nvSpPr>
        <p:spPr/>
        <p:txBody>
          <a:bodyPr/>
          <a:lstStyle/>
          <a:p>
            <a:fld id="{7C90FF7E-5BF6-4666-99FD-8FB72EA67E97}" type="slidenum">
              <a:rPr lang="vi-VN" smtClean="0"/>
              <a:t>‹#›</a:t>
            </a:fld>
            <a:endParaRPr lang="vi-VN"/>
          </a:p>
        </p:txBody>
      </p:sp>
    </p:spTree>
    <p:extLst>
      <p:ext uri="{BB962C8B-B14F-4D97-AF65-F5344CB8AC3E}">
        <p14:creationId xmlns:p14="http://schemas.microsoft.com/office/powerpoint/2010/main" val="1042688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53467-F01C-092D-3A02-2BD045E96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B67E4C78-8F83-2FC8-06CE-90ECC6AD64F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D687CB-7AF2-DBE5-0B84-9445C5F9A506}"/>
              </a:ext>
            </a:extLst>
          </p:cNvPr>
          <p:cNvSpPr>
            <a:spLocks noGrp="1"/>
          </p:cNvSpPr>
          <p:nvPr>
            <p:ph type="dt" sz="half" idx="10"/>
          </p:nvPr>
        </p:nvSpPr>
        <p:spPr/>
        <p:txBody>
          <a:bodyPr/>
          <a:lstStyle/>
          <a:p>
            <a:fld id="{4164E571-85F3-45B4-B6F5-5A35F6331C36}" type="datetimeFigureOut">
              <a:rPr lang="vi-VN" smtClean="0"/>
              <a:t>23/08/2026</a:t>
            </a:fld>
            <a:endParaRPr lang="vi-VN"/>
          </a:p>
        </p:txBody>
      </p:sp>
      <p:sp>
        <p:nvSpPr>
          <p:cNvPr id="5" name="Footer Placeholder 4">
            <a:extLst>
              <a:ext uri="{FF2B5EF4-FFF2-40B4-BE49-F238E27FC236}">
                <a16:creationId xmlns:a16="http://schemas.microsoft.com/office/drawing/2014/main" id="{0B16AC21-F051-85DF-104D-98866E279981}"/>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4DBA36AB-B951-A7D3-88F1-7636166BE7D3}"/>
              </a:ext>
            </a:extLst>
          </p:cNvPr>
          <p:cNvSpPr>
            <a:spLocks noGrp="1"/>
          </p:cNvSpPr>
          <p:nvPr>
            <p:ph type="sldNum" sz="quarter" idx="12"/>
          </p:nvPr>
        </p:nvSpPr>
        <p:spPr/>
        <p:txBody>
          <a:bodyPr/>
          <a:lstStyle/>
          <a:p>
            <a:fld id="{7C90FF7E-5BF6-4666-99FD-8FB72EA67E97}" type="slidenum">
              <a:rPr lang="vi-VN" smtClean="0"/>
              <a:t>‹#›</a:t>
            </a:fld>
            <a:endParaRPr lang="vi-VN"/>
          </a:p>
        </p:txBody>
      </p:sp>
    </p:spTree>
    <p:extLst>
      <p:ext uri="{BB962C8B-B14F-4D97-AF65-F5344CB8AC3E}">
        <p14:creationId xmlns:p14="http://schemas.microsoft.com/office/powerpoint/2010/main" val="1260996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12148-7438-9BD1-2729-7A5743F3D1E4}"/>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9C70BD9D-C4E8-B5F1-3221-DEA942431E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248CBA88-0BEC-330B-501F-045B004598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90142268-8DBA-267A-453A-2BD7ADDEEB90}"/>
              </a:ext>
            </a:extLst>
          </p:cNvPr>
          <p:cNvSpPr>
            <a:spLocks noGrp="1"/>
          </p:cNvSpPr>
          <p:nvPr>
            <p:ph type="dt" sz="half" idx="10"/>
          </p:nvPr>
        </p:nvSpPr>
        <p:spPr/>
        <p:txBody>
          <a:bodyPr/>
          <a:lstStyle/>
          <a:p>
            <a:fld id="{4164E571-85F3-45B4-B6F5-5A35F6331C36}" type="datetimeFigureOut">
              <a:rPr lang="vi-VN" smtClean="0"/>
              <a:t>23/08/2026</a:t>
            </a:fld>
            <a:endParaRPr lang="vi-VN"/>
          </a:p>
        </p:txBody>
      </p:sp>
      <p:sp>
        <p:nvSpPr>
          <p:cNvPr id="6" name="Footer Placeholder 5">
            <a:extLst>
              <a:ext uri="{FF2B5EF4-FFF2-40B4-BE49-F238E27FC236}">
                <a16:creationId xmlns:a16="http://schemas.microsoft.com/office/drawing/2014/main" id="{DF91BE40-C2D1-72A4-833E-E64DCEFB1965}"/>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3DEF8A26-9452-A58C-ECDA-45C90B35FABB}"/>
              </a:ext>
            </a:extLst>
          </p:cNvPr>
          <p:cNvSpPr>
            <a:spLocks noGrp="1"/>
          </p:cNvSpPr>
          <p:nvPr>
            <p:ph type="sldNum" sz="quarter" idx="12"/>
          </p:nvPr>
        </p:nvSpPr>
        <p:spPr/>
        <p:txBody>
          <a:bodyPr/>
          <a:lstStyle/>
          <a:p>
            <a:fld id="{7C90FF7E-5BF6-4666-99FD-8FB72EA67E97}" type="slidenum">
              <a:rPr lang="vi-VN" smtClean="0"/>
              <a:t>‹#›</a:t>
            </a:fld>
            <a:endParaRPr lang="vi-VN"/>
          </a:p>
        </p:txBody>
      </p:sp>
    </p:spTree>
    <p:extLst>
      <p:ext uri="{BB962C8B-B14F-4D97-AF65-F5344CB8AC3E}">
        <p14:creationId xmlns:p14="http://schemas.microsoft.com/office/powerpoint/2010/main" val="217305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1401B-48B2-6B46-9D85-5A4C313F52B4}"/>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129C07AE-CCB6-FF45-6BE9-3F3F8F608D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A6CB23-0D46-C8BE-0DA4-F0002FF764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5D90B540-A9F5-E0B2-83BB-274B76198A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A3B8C0-4E6A-1AB2-8010-DB2AE26969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AB6493E3-A094-04C8-107A-C266E9196963}"/>
              </a:ext>
            </a:extLst>
          </p:cNvPr>
          <p:cNvSpPr>
            <a:spLocks noGrp="1"/>
          </p:cNvSpPr>
          <p:nvPr>
            <p:ph type="dt" sz="half" idx="10"/>
          </p:nvPr>
        </p:nvSpPr>
        <p:spPr/>
        <p:txBody>
          <a:bodyPr/>
          <a:lstStyle/>
          <a:p>
            <a:fld id="{4164E571-85F3-45B4-B6F5-5A35F6331C36}" type="datetimeFigureOut">
              <a:rPr lang="vi-VN" smtClean="0"/>
              <a:t>23/08/2026</a:t>
            </a:fld>
            <a:endParaRPr lang="vi-VN"/>
          </a:p>
        </p:txBody>
      </p:sp>
      <p:sp>
        <p:nvSpPr>
          <p:cNvPr id="8" name="Footer Placeholder 7">
            <a:extLst>
              <a:ext uri="{FF2B5EF4-FFF2-40B4-BE49-F238E27FC236}">
                <a16:creationId xmlns:a16="http://schemas.microsoft.com/office/drawing/2014/main" id="{C430DA22-18C4-46E3-D71D-D7FEBE2363F3}"/>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71D488D8-F071-E536-F4C7-A79AEAD2CB75}"/>
              </a:ext>
            </a:extLst>
          </p:cNvPr>
          <p:cNvSpPr>
            <a:spLocks noGrp="1"/>
          </p:cNvSpPr>
          <p:nvPr>
            <p:ph type="sldNum" sz="quarter" idx="12"/>
          </p:nvPr>
        </p:nvSpPr>
        <p:spPr/>
        <p:txBody>
          <a:bodyPr/>
          <a:lstStyle/>
          <a:p>
            <a:fld id="{7C90FF7E-5BF6-4666-99FD-8FB72EA67E97}" type="slidenum">
              <a:rPr lang="vi-VN" smtClean="0"/>
              <a:t>‹#›</a:t>
            </a:fld>
            <a:endParaRPr lang="vi-VN"/>
          </a:p>
        </p:txBody>
      </p:sp>
    </p:spTree>
    <p:extLst>
      <p:ext uri="{BB962C8B-B14F-4D97-AF65-F5344CB8AC3E}">
        <p14:creationId xmlns:p14="http://schemas.microsoft.com/office/powerpoint/2010/main" val="3834986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94943-A336-C766-C247-B7D42152C6F1}"/>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1A605B4C-2BD7-1515-B708-A0AFA02E7AA6}"/>
              </a:ext>
            </a:extLst>
          </p:cNvPr>
          <p:cNvSpPr>
            <a:spLocks noGrp="1"/>
          </p:cNvSpPr>
          <p:nvPr>
            <p:ph type="dt" sz="half" idx="10"/>
          </p:nvPr>
        </p:nvSpPr>
        <p:spPr/>
        <p:txBody>
          <a:bodyPr/>
          <a:lstStyle/>
          <a:p>
            <a:fld id="{4164E571-85F3-45B4-B6F5-5A35F6331C36}" type="datetimeFigureOut">
              <a:rPr lang="vi-VN" smtClean="0"/>
              <a:t>23/08/2026</a:t>
            </a:fld>
            <a:endParaRPr lang="vi-VN"/>
          </a:p>
        </p:txBody>
      </p:sp>
      <p:sp>
        <p:nvSpPr>
          <p:cNvPr id="4" name="Footer Placeholder 3">
            <a:extLst>
              <a:ext uri="{FF2B5EF4-FFF2-40B4-BE49-F238E27FC236}">
                <a16:creationId xmlns:a16="http://schemas.microsoft.com/office/drawing/2014/main" id="{AC074F6D-984F-2FD6-4F2D-4D1FFB8E0CD2}"/>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37D135BD-E6B0-63CF-3C8F-CA460B8E8846}"/>
              </a:ext>
            </a:extLst>
          </p:cNvPr>
          <p:cNvSpPr>
            <a:spLocks noGrp="1"/>
          </p:cNvSpPr>
          <p:nvPr>
            <p:ph type="sldNum" sz="quarter" idx="12"/>
          </p:nvPr>
        </p:nvSpPr>
        <p:spPr/>
        <p:txBody>
          <a:bodyPr/>
          <a:lstStyle/>
          <a:p>
            <a:fld id="{7C90FF7E-5BF6-4666-99FD-8FB72EA67E97}" type="slidenum">
              <a:rPr lang="vi-VN" smtClean="0"/>
              <a:t>‹#›</a:t>
            </a:fld>
            <a:endParaRPr lang="vi-VN"/>
          </a:p>
        </p:txBody>
      </p:sp>
    </p:spTree>
    <p:extLst>
      <p:ext uri="{BB962C8B-B14F-4D97-AF65-F5344CB8AC3E}">
        <p14:creationId xmlns:p14="http://schemas.microsoft.com/office/powerpoint/2010/main" val="4129286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CDAA46-5B52-15C8-8174-591D78FC787A}"/>
              </a:ext>
            </a:extLst>
          </p:cNvPr>
          <p:cNvSpPr>
            <a:spLocks noGrp="1"/>
          </p:cNvSpPr>
          <p:nvPr>
            <p:ph type="dt" sz="half" idx="10"/>
          </p:nvPr>
        </p:nvSpPr>
        <p:spPr/>
        <p:txBody>
          <a:bodyPr/>
          <a:lstStyle/>
          <a:p>
            <a:fld id="{4164E571-85F3-45B4-B6F5-5A35F6331C36}" type="datetimeFigureOut">
              <a:rPr lang="vi-VN" smtClean="0"/>
              <a:t>23/08/2026</a:t>
            </a:fld>
            <a:endParaRPr lang="vi-VN"/>
          </a:p>
        </p:txBody>
      </p:sp>
      <p:sp>
        <p:nvSpPr>
          <p:cNvPr id="3" name="Footer Placeholder 2">
            <a:extLst>
              <a:ext uri="{FF2B5EF4-FFF2-40B4-BE49-F238E27FC236}">
                <a16:creationId xmlns:a16="http://schemas.microsoft.com/office/drawing/2014/main" id="{42675A4B-936E-BD11-237B-C152FAB7A8BA}"/>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F1D57AB6-6739-11B2-2608-F34D030C5B9A}"/>
              </a:ext>
            </a:extLst>
          </p:cNvPr>
          <p:cNvSpPr>
            <a:spLocks noGrp="1"/>
          </p:cNvSpPr>
          <p:nvPr>
            <p:ph type="sldNum" sz="quarter" idx="12"/>
          </p:nvPr>
        </p:nvSpPr>
        <p:spPr/>
        <p:txBody>
          <a:bodyPr/>
          <a:lstStyle/>
          <a:p>
            <a:fld id="{7C90FF7E-5BF6-4666-99FD-8FB72EA67E97}" type="slidenum">
              <a:rPr lang="vi-VN" smtClean="0"/>
              <a:t>‹#›</a:t>
            </a:fld>
            <a:endParaRPr lang="vi-VN"/>
          </a:p>
        </p:txBody>
      </p:sp>
    </p:spTree>
    <p:extLst>
      <p:ext uri="{BB962C8B-B14F-4D97-AF65-F5344CB8AC3E}">
        <p14:creationId xmlns:p14="http://schemas.microsoft.com/office/powerpoint/2010/main" val="2087847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E86B8-C20C-6BB7-A2CE-D10545DE0D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03AB1231-12AF-6FA8-184D-1BE4A19BB9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A285207D-8925-3658-7A1E-DC9172D422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8D95E3-8405-D336-041E-CBF1F2C63B1E}"/>
              </a:ext>
            </a:extLst>
          </p:cNvPr>
          <p:cNvSpPr>
            <a:spLocks noGrp="1"/>
          </p:cNvSpPr>
          <p:nvPr>
            <p:ph type="dt" sz="half" idx="10"/>
          </p:nvPr>
        </p:nvSpPr>
        <p:spPr/>
        <p:txBody>
          <a:bodyPr/>
          <a:lstStyle/>
          <a:p>
            <a:fld id="{4164E571-85F3-45B4-B6F5-5A35F6331C36}" type="datetimeFigureOut">
              <a:rPr lang="vi-VN" smtClean="0"/>
              <a:t>23/08/2026</a:t>
            </a:fld>
            <a:endParaRPr lang="vi-VN"/>
          </a:p>
        </p:txBody>
      </p:sp>
      <p:sp>
        <p:nvSpPr>
          <p:cNvPr id="6" name="Footer Placeholder 5">
            <a:extLst>
              <a:ext uri="{FF2B5EF4-FFF2-40B4-BE49-F238E27FC236}">
                <a16:creationId xmlns:a16="http://schemas.microsoft.com/office/drawing/2014/main" id="{9AAC7B52-1F03-DC27-7F7B-81FB1AD4531E}"/>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10574ADE-0021-493E-C9D6-83CF657A0D23}"/>
              </a:ext>
            </a:extLst>
          </p:cNvPr>
          <p:cNvSpPr>
            <a:spLocks noGrp="1"/>
          </p:cNvSpPr>
          <p:nvPr>
            <p:ph type="sldNum" sz="quarter" idx="12"/>
          </p:nvPr>
        </p:nvSpPr>
        <p:spPr/>
        <p:txBody>
          <a:bodyPr/>
          <a:lstStyle/>
          <a:p>
            <a:fld id="{7C90FF7E-5BF6-4666-99FD-8FB72EA67E97}" type="slidenum">
              <a:rPr lang="vi-VN" smtClean="0"/>
              <a:t>‹#›</a:t>
            </a:fld>
            <a:endParaRPr lang="vi-VN"/>
          </a:p>
        </p:txBody>
      </p:sp>
    </p:spTree>
    <p:extLst>
      <p:ext uri="{BB962C8B-B14F-4D97-AF65-F5344CB8AC3E}">
        <p14:creationId xmlns:p14="http://schemas.microsoft.com/office/powerpoint/2010/main" val="4137521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87C0A-44C6-F6A4-C0FE-60D60E3B26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5C5F98D4-BD49-31FA-CDF0-ABD3FF0FDE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CEDEB6EB-0ADD-FDC1-1F91-9ED833FFCD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A73019-6EDE-5DA2-56EA-85D52FB578A2}"/>
              </a:ext>
            </a:extLst>
          </p:cNvPr>
          <p:cNvSpPr>
            <a:spLocks noGrp="1"/>
          </p:cNvSpPr>
          <p:nvPr>
            <p:ph type="dt" sz="half" idx="10"/>
          </p:nvPr>
        </p:nvSpPr>
        <p:spPr/>
        <p:txBody>
          <a:bodyPr/>
          <a:lstStyle/>
          <a:p>
            <a:fld id="{4164E571-85F3-45B4-B6F5-5A35F6331C36}" type="datetimeFigureOut">
              <a:rPr lang="vi-VN" smtClean="0"/>
              <a:t>23/08/2026</a:t>
            </a:fld>
            <a:endParaRPr lang="vi-VN"/>
          </a:p>
        </p:txBody>
      </p:sp>
      <p:sp>
        <p:nvSpPr>
          <p:cNvPr id="6" name="Footer Placeholder 5">
            <a:extLst>
              <a:ext uri="{FF2B5EF4-FFF2-40B4-BE49-F238E27FC236}">
                <a16:creationId xmlns:a16="http://schemas.microsoft.com/office/drawing/2014/main" id="{BEF9C051-719E-280C-03A9-B56066E885B6}"/>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17F489FD-D118-DE3E-0B31-DC5ADCC101A5}"/>
              </a:ext>
            </a:extLst>
          </p:cNvPr>
          <p:cNvSpPr>
            <a:spLocks noGrp="1"/>
          </p:cNvSpPr>
          <p:nvPr>
            <p:ph type="sldNum" sz="quarter" idx="12"/>
          </p:nvPr>
        </p:nvSpPr>
        <p:spPr/>
        <p:txBody>
          <a:bodyPr/>
          <a:lstStyle/>
          <a:p>
            <a:fld id="{7C90FF7E-5BF6-4666-99FD-8FB72EA67E97}" type="slidenum">
              <a:rPr lang="vi-VN" smtClean="0"/>
              <a:t>‹#›</a:t>
            </a:fld>
            <a:endParaRPr lang="vi-VN"/>
          </a:p>
        </p:txBody>
      </p:sp>
    </p:spTree>
    <p:extLst>
      <p:ext uri="{BB962C8B-B14F-4D97-AF65-F5344CB8AC3E}">
        <p14:creationId xmlns:p14="http://schemas.microsoft.com/office/powerpoint/2010/main" val="444464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A9728-665B-1676-B543-3CBE1C422975}"/>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C8583184-8859-9C7C-F7A7-87E24CC217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A2B572F4-546D-92D4-F505-DFDB0D6BC394}"/>
              </a:ext>
            </a:extLst>
          </p:cNvPr>
          <p:cNvSpPr>
            <a:spLocks noGrp="1"/>
          </p:cNvSpPr>
          <p:nvPr>
            <p:ph type="dt" sz="half" idx="10"/>
          </p:nvPr>
        </p:nvSpPr>
        <p:spPr/>
        <p:txBody>
          <a:bodyPr/>
          <a:lstStyle/>
          <a:p>
            <a:fld id="{4164E571-85F3-45B4-B6F5-5A35F6331C36}" type="datetimeFigureOut">
              <a:rPr lang="vi-VN" smtClean="0"/>
              <a:t>23/08/2026</a:t>
            </a:fld>
            <a:endParaRPr lang="vi-VN"/>
          </a:p>
        </p:txBody>
      </p:sp>
      <p:sp>
        <p:nvSpPr>
          <p:cNvPr id="5" name="Footer Placeholder 4">
            <a:extLst>
              <a:ext uri="{FF2B5EF4-FFF2-40B4-BE49-F238E27FC236}">
                <a16:creationId xmlns:a16="http://schemas.microsoft.com/office/drawing/2014/main" id="{7A24442B-3E54-5B0D-FF13-B742CC575195}"/>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ED6D4CB1-A186-D528-7B4B-366E444661BC}"/>
              </a:ext>
            </a:extLst>
          </p:cNvPr>
          <p:cNvSpPr>
            <a:spLocks noGrp="1"/>
          </p:cNvSpPr>
          <p:nvPr>
            <p:ph type="sldNum" sz="quarter" idx="12"/>
          </p:nvPr>
        </p:nvSpPr>
        <p:spPr/>
        <p:txBody>
          <a:bodyPr/>
          <a:lstStyle/>
          <a:p>
            <a:fld id="{7C90FF7E-5BF6-4666-99FD-8FB72EA67E97}" type="slidenum">
              <a:rPr lang="vi-VN" smtClean="0"/>
              <a:t>‹#›</a:t>
            </a:fld>
            <a:endParaRPr lang="vi-VN"/>
          </a:p>
        </p:txBody>
      </p:sp>
    </p:spTree>
    <p:extLst>
      <p:ext uri="{BB962C8B-B14F-4D97-AF65-F5344CB8AC3E}">
        <p14:creationId xmlns:p14="http://schemas.microsoft.com/office/powerpoint/2010/main" val="1360744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1A8ABC-DF99-B93D-D0C3-B7026E1FBB7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05CE9C13-1E19-AB9E-2ABE-F69459F66F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2B5B200B-D735-0557-DABF-80D96DE4759B}"/>
              </a:ext>
            </a:extLst>
          </p:cNvPr>
          <p:cNvSpPr>
            <a:spLocks noGrp="1"/>
          </p:cNvSpPr>
          <p:nvPr>
            <p:ph type="dt" sz="half" idx="10"/>
          </p:nvPr>
        </p:nvSpPr>
        <p:spPr/>
        <p:txBody>
          <a:bodyPr/>
          <a:lstStyle/>
          <a:p>
            <a:fld id="{4164E571-85F3-45B4-B6F5-5A35F6331C36}" type="datetimeFigureOut">
              <a:rPr lang="vi-VN" smtClean="0"/>
              <a:t>23/08/2026</a:t>
            </a:fld>
            <a:endParaRPr lang="vi-VN"/>
          </a:p>
        </p:txBody>
      </p:sp>
      <p:sp>
        <p:nvSpPr>
          <p:cNvPr id="5" name="Footer Placeholder 4">
            <a:extLst>
              <a:ext uri="{FF2B5EF4-FFF2-40B4-BE49-F238E27FC236}">
                <a16:creationId xmlns:a16="http://schemas.microsoft.com/office/drawing/2014/main" id="{18D8D932-81FE-99EF-7A06-078B17396311}"/>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5BA5A1C0-ADFE-1CC4-2E5A-4601C98AACA1}"/>
              </a:ext>
            </a:extLst>
          </p:cNvPr>
          <p:cNvSpPr>
            <a:spLocks noGrp="1"/>
          </p:cNvSpPr>
          <p:nvPr>
            <p:ph type="sldNum" sz="quarter" idx="12"/>
          </p:nvPr>
        </p:nvSpPr>
        <p:spPr/>
        <p:txBody>
          <a:bodyPr/>
          <a:lstStyle/>
          <a:p>
            <a:fld id="{7C90FF7E-5BF6-4666-99FD-8FB72EA67E97}" type="slidenum">
              <a:rPr lang="vi-VN" smtClean="0"/>
              <a:t>‹#›</a:t>
            </a:fld>
            <a:endParaRPr lang="vi-VN"/>
          </a:p>
        </p:txBody>
      </p:sp>
    </p:spTree>
    <p:extLst>
      <p:ext uri="{BB962C8B-B14F-4D97-AF65-F5344CB8AC3E}">
        <p14:creationId xmlns:p14="http://schemas.microsoft.com/office/powerpoint/2010/main" val="3718137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AF737D-973A-D828-1E0A-8F085F9D17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CF958C54-416E-195C-5A00-CF1B5B3B5C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BA9C571D-FAF9-9A10-D86B-98CC400742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64E571-85F3-45B4-B6F5-5A35F6331C36}" type="datetimeFigureOut">
              <a:rPr lang="vi-VN" smtClean="0"/>
              <a:t>23/08/2026</a:t>
            </a:fld>
            <a:endParaRPr lang="vi-VN"/>
          </a:p>
        </p:txBody>
      </p:sp>
      <p:sp>
        <p:nvSpPr>
          <p:cNvPr id="5" name="Footer Placeholder 4">
            <a:extLst>
              <a:ext uri="{FF2B5EF4-FFF2-40B4-BE49-F238E27FC236}">
                <a16:creationId xmlns:a16="http://schemas.microsoft.com/office/drawing/2014/main" id="{9E15A33F-21BB-0528-6DBD-41AD812D34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a:extLst>
              <a:ext uri="{FF2B5EF4-FFF2-40B4-BE49-F238E27FC236}">
                <a16:creationId xmlns:a16="http://schemas.microsoft.com/office/drawing/2014/main" id="{D22DAB93-DB15-0FEA-62A6-2AC9516C9E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90FF7E-5BF6-4666-99FD-8FB72EA67E97}" type="slidenum">
              <a:rPr lang="vi-VN" smtClean="0"/>
              <a:t>‹#›</a:t>
            </a:fld>
            <a:endParaRPr lang="vi-VN"/>
          </a:p>
        </p:txBody>
      </p:sp>
    </p:spTree>
    <p:extLst>
      <p:ext uri="{BB962C8B-B14F-4D97-AF65-F5344CB8AC3E}">
        <p14:creationId xmlns:p14="http://schemas.microsoft.com/office/powerpoint/2010/main" val="1711043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32DA3-4844-595F-0BB2-4416A88A446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CF0C90E-F876-CF9C-F08F-DB9F9992C756}"/>
              </a:ext>
            </a:extLst>
          </p:cNvPr>
          <p:cNvSpPr/>
          <p:nvPr/>
        </p:nvSpPr>
        <p:spPr>
          <a:xfrm>
            <a:off x="-1" y="0"/>
            <a:ext cx="8525815"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A685C639-2109-EF6F-F77A-174AE2DD6E76}"/>
              </a:ext>
            </a:extLst>
          </p:cNvPr>
          <p:cNvSpPr txBox="1"/>
          <p:nvPr/>
        </p:nvSpPr>
        <p:spPr>
          <a:xfrm>
            <a:off x="504507" y="1371600"/>
            <a:ext cx="7815243" cy="1206484"/>
          </a:xfrm>
          <a:prstGeom prst="rect">
            <a:avLst/>
          </a:prstGeom>
          <a:noFill/>
        </p:spPr>
        <p:txBody>
          <a:bodyPr wrap="square" lIns="36576" tIns="18288" rIns="36576" bIns="18288" anchor="t">
            <a:spAutoFit/>
          </a:bodyPr>
          <a:lstStyle/>
          <a:p>
            <a:pPr algn="l"/>
            <a:r>
              <a:rPr lang="en-US" sz="3800" b="1">
                <a:solidFill>
                  <a:srgbClr val="FFFFFF"/>
                </a:solidFill>
                <a:latin typeface="Segoe UI"/>
              </a:rPr>
              <a:t>U nang lạc nội mạc tử cung và lạc tuyến cơ tử cung trong ART</a:t>
            </a:r>
            <a:endParaRPr sz="3800" b="1">
              <a:solidFill>
                <a:srgbClr val="FFFFFF"/>
              </a:solidFill>
              <a:latin typeface="Segoe UI"/>
            </a:endParaRPr>
          </a:p>
        </p:txBody>
      </p:sp>
      <p:sp>
        <p:nvSpPr>
          <p:cNvPr id="43" name="Rectangle 42">
            <a:extLst>
              <a:ext uri="{FF2B5EF4-FFF2-40B4-BE49-F238E27FC236}">
                <a16:creationId xmlns:a16="http://schemas.microsoft.com/office/drawing/2014/main" id="{82A334BF-E340-A408-9577-BB754FEF6393}"/>
              </a:ext>
            </a:extLst>
          </p:cNvPr>
          <p:cNvSpPr/>
          <p:nvPr/>
        </p:nvSpPr>
        <p:spPr>
          <a:xfrm>
            <a:off x="504506" y="2839792"/>
            <a:ext cx="7815244" cy="45719"/>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52E128EC-DEA7-A5D4-35D0-EB69042FAD38}"/>
              </a:ext>
            </a:extLst>
          </p:cNvPr>
          <p:cNvSpPr txBox="1"/>
          <p:nvPr/>
        </p:nvSpPr>
        <p:spPr>
          <a:xfrm>
            <a:off x="355284" y="5037046"/>
            <a:ext cx="7815243" cy="898708"/>
          </a:xfrm>
          <a:prstGeom prst="rect">
            <a:avLst/>
          </a:prstGeom>
          <a:noFill/>
        </p:spPr>
        <p:txBody>
          <a:bodyPr wrap="square" lIns="36576" tIns="18288" rIns="36576" bIns="18288" anchor="t">
            <a:spAutoFit/>
          </a:bodyPr>
          <a:lstStyle/>
          <a:p>
            <a:pPr algn="l"/>
            <a:r>
              <a:rPr lang="en-US" sz="2800">
                <a:solidFill>
                  <a:srgbClr val="FFFFFF"/>
                </a:solidFill>
                <a:latin typeface="Segoe UI"/>
              </a:rPr>
              <a:t>BS CKII Nguyễn Thị Tuyết</a:t>
            </a:r>
          </a:p>
          <a:p>
            <a:pPr algn="l"/>
            <a:r>
              <a:rPr lang="en-US" sz="2800">
                <a:solidFill>
                  <a:srgbClr val="FFFFFF"/>
                </a:solidFill>
                <a:latin typeface="Segoe UI"/>
              </a:rPr>
              <a:t>Bộ môn phụ sản – Đại học y dược Thái Bình</a:t>
            </a:r>
            <a:endParaRPr sz="2800">
              <a:solidFill>
                <a:srgbClr val="FFFFFF"/>
              </a:solidFill>
              <a:latin typeface="Segoe UI"/>
            </a:endParaRPr>
          </a:p>
        </p:txBody>
      </p:sp>
    </p:spTree>
    <p:extLst>
      <p:ext uri="{BB962C8B-B14F-4D97-AF65-F5344CB8AC3E}">
        <p14:creationId xmlns:p14="http://schemas.microsoft.com/office/powerpoint/2010/main" val="9972312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6400800"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2388" y="0"/>
            <a:ext cx="57881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2388" y="0"/>
            <a:ext cx="64008"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958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394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04830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4266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23702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83138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42574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85958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45394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830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64266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23702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83138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42574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85958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45394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4830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64266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23702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3138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42574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85958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45394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4830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64266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23702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83138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42574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85958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45394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04830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64266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23702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83138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042574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04508" y="1371600"/>
            <a:ext cx="5577840" cy="1791260"/>
          </a:xfrm>
          <a:prstGeom prst="rect">
            <a:avLst/>
          </a:prstGeom>
          <a:noFill/>
        </p:spPr>
        <p:txBody>
          <a:bodyPr wrap="square" lIns="36576" tIns="18288" rIns="36576" bIns="18288" anchor="t">
            <a:spAutoFit/>
          </a:bodyPr>
          <a:lstStyle/>
          <a:p>
            <a:pPr algn="l"/>
            <a:r>
              <a:rPr sz="3800" b="1">
                <a:solidFill>
                  <a:srgbClr val="FFFFFF"/>
                </a:solidFill>
                <a:latin typeface="Segoe UI"/>
              </a:rPr>
              <a:t>CHƯƠNG 1: ĐẠI CƯƠNG &amp; CƠ CHẾ SINH BỆNH HỌC PHÂN TỬ</a:t>
            </a:r>
          </a:p>
        </p:txBody>
      </p:sp>
      <p:sp>
        <p:nvSpPr>
          <p:cNvPr id="43" name="Rectangle 42"/>
          <p:cNvSpPr/>
          <p:nvPr/>
        </p:nvSpPr>
        <p:spPr>
          <a:xfrm>
            <a:off x="504508" y="4023360"/>
            <a:ext cx="128016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676708" y="5989320"/>
            <a:ext cx="5212080" cy="206210"/>
          </a:xfrm>
          <a:prstGeom prst="rect">
            <a:avLst/>
          </a:prstGeom>
          <a:noFill/>
        </p:spPr>
        <p:txBody>
          <a:bodyPr wrap="square" lIns="36576" tIns="18288" rIns="36576" bIns="18288">
            <a:spAutoFit/>
          </a:bodyPr>
          <a:lstStyle/>
          <a:p>
            <a:pPr algn="l"/>
            <a:r>
              <a:rPr sz="1100">
                <a:solidFill>
                  <a:srgbClr val="728C8C"/>
                </a:solidFill>
                <a:latin typeface="Segoe UI"/>
              </a:rPr>
              <a:t>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sz="2700" b="1">
                <a:solidFill>
                  <a:srgbClr val="0D2B2B"/>
                </a:solidFill>
                <a:latin typeface="Segoe UI"/>
              </a:rPr>
              <a:t>Dịch Tễ Học Lạc Nội Mạc Tử Cung &amp; Adenomyosis Trong Vô Sinh</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282385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Tỷ lệ mắc trong cộng đồng: Chiếm khoảng 10% phụ nữ trong độ tuổi sinh sản (~190 triệu người theo WHO &amp; NEJM).</a:t>
            </a:r>
          </a:p>
          <a:p>
            <a:pPr>
              <a:spcBef>
                <a:spcPts val="500"/>
              </a:spcBef>
              <a:spcAft>
                <a:spcPts val="200"/>
              </a:spcAft>
            </a:pPr>
            <a:r>
              <a:rPr sz="2000">
                <a:solidFill>
                  <a:srgbClr val="1A2F2F"/>
                </a:solidFill>
                <a:latin typeface="Segoe UI"/>
              </a:rPr>
              <a:t>  –  Tỷ lệ trong quần thể vô sinh: Tăng vọt lên 30% - 50% ở phụ nữ đến khám và điều trị hiếm muộn (ESHRE 2022).</a:t>
            </a:r>
          </a:p>
          <a:p>
            <a:pPr>
              <a:spcBef>
                <a:spcPts val="500"/>
              </a:spcBef>
              <a:spcAft>
                <a:spcPts val="200"/>
              </a:spcAft>
            </a:pPr>
            <a:r>
              <a:rPr sz="2000">
                <a:solidFill>
                  <a:srgbClr val="1A2F2F"/>
                </a:solidFill>
                <a:latin typeface="Segoe UI"/>
              </a:rPr>
              <a:t>  –  Tỷ lệ u lạc nội mạc buồng trứng (OMA): Xuất hiện ở 17% - 44% bệnh nhân Lạc nội mạc tử cung; 20% - 30% bị cả hai bên.</a:t>
            </a:r>
          </a:p>
          <a:p>
            <a:pPr>
              <a:spcBef>
                <a:spcPts val="500"/>
              </a:spcBef>
              <a:spcAft>
                <a:spcPts val="200"/>
              </a:spcAft>
            </a:pPr>
            <a:r>
              <a:rPr sz="2000">
                <a:solidFill>
                  <a:srgbClr val="1A2F2F"/>
                </a:solidFill>
                <a:latin typeface="Segoe UI"/>
              </a:rPr>
              <a:t>  –  Tỷ lệ đồng mắc Adenomyosis: Xuất hiện ở 30% - 40% bệnh nhân lạc nội mạc sâu (DIE) hoặc u OMA, tạo tổn thương kép.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sz="2700" b="1">
                <a:solidFill>
                  <a:srgbClr val="0D2B2B"/>
                </a:solidFill>
                <a:latin typeface="Segoe UI"/>
              </a:rPr>
              <a:t>Nội Mạc Tử Cung Bình Thường </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8516" y="1466596"/>
            <a:ext cx="11064240" cy="282385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a:t>
            </a:r>
            <a:r>
              <a:rPr lang="en-US" sz="2000">
                <a:solidFill>
                  <a:srgbClr val="1A2F2F"/>
                </a:solidFill>
                <a:latin typeface="Segoe UI"/>
              </a:rPr>
              <a:t>	</a:t>
            </a:r>
            <a:r>
              <a:rPr sz="2000">
                <a:solidFill>
                  <a:srgbClr val="1A2F2F"/>
                </a:solidFill>
                <a:latin typeface="Segoe UI"/>
              </a:rPr>
              <a:t>Lớp niêm mạc lót bên trong lòng tử cung, chịu sự biến đổi chu kỳ theo trục Dưới đồi - Tuyến yên - Buồng trứng.</a:t>
            </a:r>
          </a:p>
          <a:p>
            <a:pPr>
              <a:spcBef>
                <a:spcPts val="500"/>
              </a:spcBef>
              <a:spcAft>
                <a:spcPts val="200"/>
              </a:spcAft>
            </a:pPr>
            <a:r>
              <a:rPr sz="2000">
                <a:solidFill>
                  <a:srgbClr val="1A2F2F"/>
                </a:solidFill>
                <a:latin typeface="Segoe UI"/>
              </a:rPr>
              <a:t>  –  Lớp Chức Năng </a:t>
            </a:r>
            <a:r>
              <a:rPr lang="en-US" sz="2000">
                <a:solidFill>
                  <a:srgbClr val="1A2F2F"/>
                </a:solidFill>
                <a:latin typeface="Segoe UI"/>
              </a:rPr>
              <a:t>: </a:t>
            </a:r>
            <a:r>
              <a:rPr sz="2000">
                <a:solidFill>
                  <a:srgbClr val="1A2F2F"/>
                </a:solidFill>
                <a:latin typeface="Segoe UI"/>
              </a:rPr>
              <a:t>Nằm nông, gồm lớp đặc và lớp xốp, cấp máu bởi động mạch xoắn nhạy cảm hormone; dày lên ở pha tăng sinh/chế tiết và bong ra tạo kinh nguyệt.</a:t>
            </a:r>
          </a:p>
          <a:p>
            <a:pPr>
              <a:spcBef>
                <a:spcPts val="500"/>
              </a:spcBef>
              <a:spcAft>
                <a:spcPts val="200"/>
              </a:spcAft>
            </a:pPr>
            <a:r>
              <a:rPr sz="2000">
                <a:solidFill>
                  <a:srgbClr val="1A2F2F"/>
                </a:solidFill>
                <a:latin typeface="Segoe UI"/>
              </a:rPr>
              <a:t>  –  Lớp Đáy </a:t>
            </a:r>
            <a:r>
              <a:rPr lang="en-US" sz="2000">
                <a:solidFill>
                  <a:srgbClr val="1A2F2F"/>
                </a:solidFill>
                <a:latin typeface="Segoe UI"/>
              </a:rPr>
              <a:t>: </a:t>
            </a:r>
            <a:r>
              <a:rPr sz="2000">
                <a:solidFill>
                  <a:srgbClr val="1A2F2F"/>
                </a:solidFill>
                <a:latin typeface="Segoe UI"/>
              </a:rPr>
              <a:t>Nằm sâu sát cơ tử cung, cấp máu bởi động mạch thẳng không phụ thuộc hormone; không bao giờ bong ra trong kỳ kinh.</a:t>
            </a:r>
          </a:p>
          <a:p>
            <a:pPr>
              <a:spcBef>
                <a:spcPts val="500"/>
              </a:spcBef>
              <a:spcAft>
                <a:spcPts val="200"/>
              </a:spcAft>
            </a:pPr>
            <a:r>
              <a:rPr sz="2000">
                <a:solidFill>
                  <a:srgbClr val="1A2F2F"/>
                </a:solidFill>
                <a:latin typeface="Segoe UI"/>
              </a:rPr>
              <a:t>  –  Quần thể tế bào gốc: Lớp đáy chứa các tế bào gốc trung mô (eMSCs) và tế bào tiền thân biểu mô chịu trách nhiệm tái tạo lớp chức năng sau mỗi chu kỳ.</a:t>
            </a:r>
          </a:p>
        </p:txBody>
      </p:sp>
      <p:pic>
        <p:nvPicPr>
          <p:cNvPr id="1026" name="Picture 2" descr="What is the endometrium? - Thickening, types and pathologies">
            <a:extLst>
              <a:ext uri="{FF2B5EF4-FFF2-40B4-BE49-F238E27FC236}">
                <a16:creationId xmlns:a16="http://schemas.microsoft.com/office/drawing/2014/main" id="{BDAD9F9A-97C9-0FF6-2399-B909662125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1671" y="4390534"/>
            <a:ext cx="5809826" cy="24674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sz="2700" b="1">
                <a:solidFill>
                  <a:srgbClr val="0D2B2B"/>
                </a:solidFill>
                <a:latin typeface="Segoe UI"/>
              </a:rPr>
              <a:t>Lạc Nội Mạc Tử Cung (Endometriosis)</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Định nghĩa: Bệnh lý viêm mạn tính phụ thuộc estrogen, đặc trưng bởi sự xuất hiện của mô nội mạc tử cung ở bên ngoài buồng tử cung.</a:t>
            </a:r>
          </a:p>
          <a:p>
            <a:pPr>
              <a:spcBef>
                <a:spcPts val="500"/>
              </a:spcBef>
              <a:spcAft>
                <a:spcPts val="200"/>
              </a:spcAft>
            </a:pPr>
            <a:r>
              <a:rPr sz="2400">
                <a:solidFill>
                  <a:srgbClr val="1A2F2F"/>
                </a:solidFill>
                <a:latin typeface="Segoe UI"/>
              </a:rPr>
              <a:t>  –  Tiêu chuẩn vàng mô bệnh học: Bắt buộc phải có đồng thời cả Tuyến nội mạc (glands) và Mô đệm nội mạc (stroma) kèm đại thực bào ăn hemosiderin.</a:t>
            </a:r>
          </a:p>
          <a:p>
            <a:pPr>
              <a:spcBef>
                <a:spcPts val="500"/>
              </a:spcBef>
              <a:spcAft>
                <a:spcPts val="200"/>
              </a:spcAft>
            </a:pPr>
            <a:r>
              <a:rPr sz="2400">
                <a:solidFill>
                  <a:srgbClr val="1A2F2F"/>
                </a:solidFill>
                <a:latin typeface="Segoe UI"/>
              </a:rPr>
              <a:t>  –  Vị trí giải phẫu: Phúc mạc chậu, bề mặt buồng trứng, vòi tử cung, dây chằng tử cung - cùng, túi cùng Douglas, vách trực tràng - âm đạo, bàng quang và quai ruột.</a:t>
            </a:r>
          </a:p>
          <a:p>
            <a:pPr>
              <a:spcBef>
                <a:spcPts val="500"/>
              </a:spcBef>
              <a:spcAft>
                <a:spcPts val="200"/>
              </a:spcAft>
            </a:pPr>
            <a:r>
              <a:rPr sz="2400">
                <a:solidFill>
                  <a:srgbClr val="1A2F2F"/>
                </a:solidFill>
                <a:latin typeface="Segoe UI"/>
              </a:rPr>
              <a:t>  –  Đặc tính lâm sàng: Mô lạc chỗ chảy máu chu kỳ gây phản ứng viêm mạn tính, lắng đọng fibrin và tạo các dải xơ dính co kéo vùng chậu.</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lang="en-US" sz="2700" b="1">
                <a:solidFill>
                  <a:srgbClr val="0D2B2B"/>
                </a:solidFill>
                <a:latin typeface="Segoe UI"/>
              </a:rPr>
              <a:t>Thuyết Hình Thành </a:t>
            </a:r>
            <a:r>
              <a:rPr sz="2700" b="1">
                <a:solidFill>
                  <a:srgbClr val="0D2B2B"/>
                </a:solidFill>
                <a:latin typeface="Segoe UI"/>
              </a:rPr>
              <a:t>Lạc Nội Mạc Tử Cung</a:t>
            </a:r>
            <a:endParaRPr lang="en-US" sz="2700" b="1">
              <a:solidFill>
                <a:srgbClr val="0D2B2B"/>
              </a:solidFill>
              <a:latin typeface="Segoe UI"/>
            </a:endParaRPr>
          </a:p>
          <a:p>
            <a:pPr algn="l"/>
            <a:r>
              <a:rPr sz="2700" b="1">
                <a:solidFill>
                  <a:srgbClr val="0D2B2B"/>
                </a:solidFill>
                <a:latin typeface="Segoe UI"/>
              </a:rPr>
              <a:t>Thuyết Trào Ngược Máu Kinh (Sampson 1927) &amp; Miễn Dịch</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4054956"/>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Hiện tượng trào ngược: Trong chu kỳ hành kinh, máu kinh mang theo các mảnh biểu mô và mô đệm nội mạc còn sống bị trào ngược qua vòi trứng vào ổ phúc mạc.</a:t>
            </a:r>
          </a:p>
          <a:p>
            <a:pPr>
              <a:spcBef>
                <a:spcPts val="500"/>
              </a:spcBef>
              <a:spcAft>
                <a:spcPts val="200"/>
              </a:spcAft>
            </a:pPr>
            <a:r>
              <a:rPr sz="2400">
                <a:solidFill>
                  <a:srgbClr val="1A2F2F"/>
                </a:solidFill>
                <a:latin typeface="Segoe UI"/>
              </a:rPr>
              <a:t>  –  Nghịch lý miễn dịch: 90% phụ nữ có hiện tượng trào ngược nhưng chỉ 10% bị bệnh do ở người bệnh có sự suy giảm hoạt tính dọn dẹp của tế bào NK và đại thực bào phúc mạc.</a:t>
            </a:r>
          </a:p>
          <a:p>
            <a:pPr>
              <a:spcBef>
                <a:spcPts val="500"/>
              </a:spcBef>
              <a:spcAft>
                <a:spcPts val="200"/>
              </a:spcAft>
            </a:pPr>
            <a:r>
              <a:rPr sz="2400">
                <a:solidFill>
                  <a:srgbClr val="1A2F2F"/>
                </a:solidFill>
                <a:latin typeface="Segoe UI"/>
              </a:rPr>
              <a:t>  –  Kháng chết tế bào </a:t>
            </a:r>
            <a:r>
              <a:rPr lang="en-US" sz="2400">
                <a:solidFill>
                  <a:srgbClr val="1A2F2F"/>
                </a:solidFill>
                <a:latin typeface="Segoe UI"/>
              </a:rPr>
              <a:t>: </a:t>
            </a:r>
            <a:r>
              <a:rPr sz="2400">
                <a:solidFill>
                  <a:srgbClr val="1A2F2F"/>
                </a:solidFill>
                <a:latin typeface="Segoe UI"/>
              </a:rPr>
              <a:t>Tế bào nội mạc trào ngược tăng biểu hiện protein kháng chết Bcl-2, giúp chúng sống sót dai dẳng ngoài buồng tử cung.</a:t>
            </a:r>
          </a:p>
          <a:p>
            <a:pPr>
              <a:spcBef>
                <a:spcPts val="500"/>
              </a:spcBef>
              <a:spcAft>
                <a:spcPts val="200"/>
              </a:spcAft>
            </a:pPr>
            <a:r>
              <a:rPr sz="2400">
                <a:solidFill>
                  <a:srgbClr val="1A2F2F"/>
                </a:solidFill>
                <a:latin typeface="Segoe UI"/>
              </a:rPr>
              <a:t>  –  Bám dính &amp; Cấy ghép: Tăng biểu hiện các phân tử bám dính (Integrins, CD44, ICAM-1) giúp mảnh mô gắn chặt vào lớp thanh mạc phúc mạc.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r>
              <a:rPr lang="en-US" sz="2700" b="1">
                <a:solidFill>
                  <a:srgbClr val="0D2B2B"/>
                </a:solidFill>
                <a:latin typeface="Segoe UI"/>
              </a:rPr>
              <a:t>Thuyết Hình Thành Lạc Nội Mạc Tử Cung</a:t>
            </a:r>
          </a:p>
          <a:p>
            <a:pPr algn="l"/>
            <a:r>
              <a:rPr sz="2700" b="1">
                <a:solidFill>
                  <a:srgbClr val="0D2B2B"/>
                </a:solidFill>
                <a:latin typeface="Segoe UI"/>
              </a:rPr>
              <a:t>Thuyết Dị Sản Biểu Mô Thể Xoang (Meyer 1919)</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2265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Cơ sở phôi thai học: Biểu mô phúc mạc, buồng trứng và nội mạc tử cung đều có chung nguồn gốc phôi thai từ biểu mô thể xoang nguyên thủy</a:t>
            </a:r>
          </a:p>
          <a:p>
            <a:pPr>
              <a:spcBef>
                <a:spcPts val="500"/>
              </a:spcBef>
              <a:spcAft>
                <a:spcPts val="200"/>
              </a:spcAft>
            </a:pPr>
            <a:r>
              <a:rPr sz="2400">
                <a:solidFill>
                  <a:srgbClr val="1A2F2F"/>
                </a:solidFill>
                <a:latin typeface="Segoe UI"/>
              </a:rPr>
              <a:t>  –  Chuyển dạng tế bào (Metaplasia): Dưới kích thích của nồng độ Estrogen cao và tình trạng viêm mạn tính, các tế bào trung biểu mô phúc mạc biệt hóa ngược thành biểu mô tuyến nội mạc.</a:t>
            </a:r>
          </a:p>
          <a:p>
            <a:pPr>
              <a:spcBef>
                <a:spcPts val="500"/>
              </a:spcBef>
              <a:spcAft>
                <a:spcPts val="200"/>
              </a:spcAft>
            </a:pPr>
            <a:r>
              <a:rPr sz="2400">
                <a:solidFill>
                  <a:srgbClr val="1A2F2F"/>
                </a:solidFill>
                <a:latin typeface="Segoe UI"/>
              </a:rPr>
              <a:t>  –  Bằng chứng y học ủng hộ: Giải thích được các ca bệnh Lạc nội mạc tử cung ở bé gái trước tuổi dậy thì, phụ nữ không có tử cung bẩm sinh (Hội chứng MRKH), hoặc nam giới dùng Estrogen liều cao trị ung thư tuyến tiền liệt.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r>
              <a:rPr lang="en-US" sz="2700" b="1">
                <a:solidFill>
                  <a:srgbClr val="0D2B2B"/>
                </a:solidFill>
                <a:latin typeface="Segoe UI"/>
              </a:rPr>
              <a:t>Thuyết Hình Thành Lạc Nội Mạc Tử Cung</a:t>
            </a:r>
          </a:p>
          <a:p>
            <a:pPr algn="l"/>
            <a:r>
              <a:rPr sz="2700" b="1">
                <a:solidFill>
                  <a:srgbClr val="0D2B2B"/>
                </a:solidFill>
                <a:latin typeface="Segoe UI"/>
              </a:rPr>
              <a:t>Thuyết Tế Bào Gốc &amp; Tế Bào Tiền Thân (eMSCs)</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4236" y="1417117"/>
            <a:ext cx="11064240" cy="5189049"/>
          </a:xfrm>
          <a:prstGeom prst="rect">
            <a:avLst/>
          </a:prstGeom>
          <a:noFill/>
        </p:spPr>
        <p:txBody>
          <a:bodyPr wrap="square" lIns="36576" rIns="36576">
            <a:spAutoFit/>
          </a:bodyPr>
          <a:lstStyle/>
          <a:p>
            <a:pPr>
              <a:lnSpc>
                <a:spcPct val="150000"/>
              </a:lnSpc>
              <a:spcBef>
                <a:spcPts val="500"/>
              </a:spcBef>
              <a:spcAft>
                <a:spcPts val="200"/>
              </a:spcAft>
            </a:pPr>
            <a:r>
              <a:rPr sz="2400">
                <a:solidFill>
                  <a:srgbClr val="1A2F2F"/>
                </a:solidFill>
                <a:latin typeface="Segoe UI"/>
              </a:rPr>
              <a:t>  –  Nguồn gốc tế bào gốc: Quần thể tế bào gốc trung mô nội mạc (eMSCs - CD146+/PDGFRβ+) và tế bào tiền thân biểu mô (SUSD2+) nằm ở lớp nội mạc đáy bị bong theo máu kinh trào ngược.</a:t>
            </a:r>
          </a:p>
          <a:p>
            <a:pPr>
              <a:lnSpc>
                <a:spcPct val="150000"/>
              </a:lnSpc>
              <a:spcBef>
                <a:spcPts val="500"/>
              </a:spcBef>
              <a:spcAft>
                <a:spcPts val="200"/>
              </a:spcAft>
            </a:pPr>
            <a:r>
              <a:rPr sz="2400">
                <a:solidFill>
                  <a:srgbClr val="1A2F2F"/>
                </a:solidFill>
                <a:latin typeface="Segoe UI"/>
              </a:rPr>
              <a:t>  –  Di chuyển theo mạch máu/bạch huyết: Thuyết Halban giải thích các tế bào gốc có thể đi theo đường tuần hoàn máu và bạch huyết đến các cơ quan xa (phổi, não, rốn).</a:t>
            </a:r>
          </a:p>
          <a:p>
            <a:pPr>
              <a:lnSpc>
                <a:spcPct val="150000"/>
              </a:lnSpc>
              <a:spcBef>
                <a:spcPts val="500"/>
              </a:spcBef>
              <a:spcAft>
                <a:spcPts val="200"/>
              </a:spcAft>
            </a:pPr>
            <a:r>
              <a:rPr sz="2400">
                <a:solidFill>
                  <a:srgbClr val="1A2F2F"/>
                </a:solidFill>
                <a:latin typeface="Segoe UI"/>
              </a:rPr>
              <a:t>  –  Khả năng tạo mạch tân tạo: Do có tính đa tiềm năng, eMSCs khi rơi vào khoang chậu tiết mạnh yếu tố tăng sinh mạch VEGF để tạo mạng mạch máu nuôi dưỡng và thiết lập ổ bệnh vĩnh viễn.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306699"/>
            <a:ext cx="10972800" cy="867930"/>
          </a:xfrm>
          <a:prstGeom prst="rect">
            <a:avLst/>
          </a:prstGeom>
          <a:noFill/>
        </p:spPr>
        <p:txBody>
          <a:bodyPr wrap="square" lIns="36576" tIns="18288" rIns="36576" bIns="18288" anchor="ctr">
            <a:spAutoFit/>
          </a:bodyPr>
          <a:lstStyle/>
          <a:p>
            <a:r>
              <a:rPr lang="en-US" sz="2700" b="1">
                <a:solidFill>
                  <a:srgbClr val="0D2B2B"/>
                </a:solidFill>
                <a:latin typeface="Segoe UI"/>
              </a:rPr>
              <a:t>Thuyết Hình Thành Lạc Nội Mạc Tử Cung</a:t>
            </a:r>
          </a:p>
          <a:p>
            <a:pPr algn="l"/>
            <a:r>
              <a:rPr sz="2700" b="1">
                <a:solidFill>
                  <a:srgbClr val="0D2B2B"/>
                </a:solidFill>
                <a:latin typeface="Segoe UI"/>
              </a:rPr>
              <a:t>Vai Trò Của Đột Biến Gen Soma </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9956" y="1600200"/>
            <a:ext cx="11064240" cy="4054956"/>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Phát hiện giải trình tự gen : Các ổ Lạc nội mạc tử cung sâu (DIE) và u OMA thường mang các đột biến gen soma tương tự như trong khối u (nhưng không biến thành ung thư).</a:t>
            </a:r>
          </a:p>
          <a:p>
            <a:pPr>
              <a:spcBef>
                <a:spcPts val="500"/>
              </a:spcBef>
              <a:spcAft>
                <a:spcPts val="200"/>
              </a:spcAft>
            </a:pPr>
            <a:r>
              <a:rPr sz="2400">
                <a:solidFill>
                  <a:srgbClr val="1A2F2F"/>
                </a:solidFill>
                <a:latin typeface="Segoe UI"/>
              </a:rPr>
              <a:t>  –  Các gen đột biến chính: ARID1A (mất chức năng phức hợp tái cấu trúc chất nhiễm sắc SWI/SNF), PIK3CA, KRAS và PPP2R1A.</a:t>
            </a:r>
          </a:p>
          <a:p>
            <a:pPr>
              <a:spcBef>
                <a:spcPts val="500"/>
              </a:spcBef>
              <a:spcAft>
                <a:spcPts val="200"/>
              </a:spcAft>
            </a:pPr>
            <a:r>
              <a:rPr sz="2400">
                <a:solidFill>
                  <a:srgbClr val="1A2F2F"/>
                </a:solidFill>
                <a:latin typeface="Segoe UI"/>
              </a:rPr>
              <a:t>  –  Hậu quả sinh học phân tử: Kích hoạt liên tục con đường sinh tồn tế bào PI3K/Akt/mTOR và MAPK, mang lại khả năng xâm lấn mô sâu, đề kháng apoptosis và tự sản xuất hormone tại chỗ.</a:t>
            </a:r>
          </a:p>
          <a:p>
            <a:pPr>
              <a:spcBef>
                <a:spcPts val="500"/>
              </a:spcBef>
              <a:spcAft>
                <a:spcPts val="200"/>
              </a:spcAft>
            </a:pPr>
            <a:r>
              <a:rPr sz="2400">
                <a:solidFill>
                  <a:srgbClr val="1A2F2F"/>
                </a:solidFill>
                <a:latin typeface="Segoe UI"/>
              </a:rPr>
              <a:t>  </a:t>
            </a:r>
            <a:r>
              <a:rPr sz="2400" b="1" i="1">
                <a:solidFill>
                  <a:srgbClr val="1A2F2F"/>
                </a:solidFill>
                <a:latin typeface="Segoe UI"/>
              </a:rPr>
              <a:t>–  Giải thích tính chất xâm lấn phá hủy mô và tái phát dai dẳng của bệnh Lạc nội mạc tử cung.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sz="2700" b="1">
                <a:solidFill>
                  <a:srgbClr val="0D2B2B"/>
                </a:solidFill>
                <a:latin typeface="Segoe UI"/>
              </a:rPr>
              <a:t>U Lạc Nội Mạc Buồng Trứng (Endometrioma - OMA)</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401522"/>
            <a:ext cx="11064240" cy="4054956"/>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a:t>
            </a:r>
            <a:r>
              <a:rPr sz="2400" b="1" i="1">
                <a:solidFill>
                  <a:srgbClr val="1A2F2F"/>
                </a:solidFill>
                <a:latin typeface="Segoe UI"/>
              </a:rPr>
              <a:t>Định nghĩa: </a:t>
            </a:r>
            <a:r>
              <a:rPr sz="2400">
                <a:solidFill>
                  <a:srgbClr val="1A2F2F"/>
                </a:solidFill>
                <a:latin typeface="Segoe UI"/>
              </a:rPr>
              <a:t>Thể tổn thương lạc nội mạc nằm trong nhu mô buồng trứng, tạo thành nang chứa dịch máu thoái hóa màu nâu đen đặc sánh như sô-cô-la.</a:t>
            </a:r>
          </a:p>
          <a:p>
            <a:pPr>
              <a:spcBef>
                <a:spcPts val="500"/>
              </a:spcBef>
              <a:spcAft>
                <a:spcPts val="200"/>
              </a:spcAft>
            </a:pPr>
            <a:r>
              <a:rPr sz="2400">
                <a:solidFill>
                  <a:srgbClr val="1A2F2F"/>
                </a:solidFill>
                <a:latin typeface="Segoe UI"/>
              </a:rPr>
              <a:t>  –  Bản chất u nang giả (Pseudocyst): Phần lớn u OMA không có vỏ bao biểu mô thực thụ của buồng trứng mà là </a:t>
            </a:r>
            <a:r>
              <a:rPr sz="2400" b="1" i="1">
                <a:solidFill>
                  <a:srgbClr val="1A2F2F"/>
                </a:solidFill>
                <a:latin typeface="Segoe UI"/>
              </a:rPr>
              <a:t>khoang kín hình thành do vỏ buồng trứng bị cuộn lõm vào trong.</a:t>
            </a:r>
          </a:p>
          <a:p>
            <a:pPr>
              <a:spcBef>
                <a:spcPts val="500"/>
              </a:spcBef>
              <a:spcAft>
                <a:spcPts val="200"/>
              </a:spcAft>
            </a:pPr>
            <a:r>
              <a:rPr sz="2400">
                <a:solidFill>
                  <a:srgbClr val="1A2F2F"/>
                </a:solidFill>
                <a:latin typeface="Segoe UI"/>
              </a:rPr>
              <a:t>  –  </a:t>
            </a:r>
            <a:r>
              <a:rPr sz="2400" b="1" i="1">
                <a:solidFill>
                  <a:srgbClr val="1A2F2F"/>
                </a:solidFill>
                <a:latin typeface="Segoe UI"/>
              </a:rPr>
              <a:t>Tích tụ độc tố</a:t>
            </a:r>
            <a:r>
              <a:rPr sz="2400">
                <a:solidFill>
                  <a:srgbClr val="1A2F2F"/>
                </a:solidFill>
                <a:latin typeface="Segoe UI"/>
              </a:rPr>
              <a:t>: Máu kinh thoái hóa giải phóng lượng khổng lồ sắt tự do (Fe2+) và hạt sắc tố hemosiderin lơ lửng, tạo hình ảnh </a:t>
            </a:r>
            <a:r>
              <a:rPr sz="2400" b="1" i="1">
                <a:solidFill>
                  <a:srgbClr val="1A2F2F"/>
                </a:solidFill>
                <a:latin typeface="Segoe UI"/>
              </a:rPr>
              <a:t>'kính mờ' (ground-glass) </a:t>
            </a:r>
            <a:r>
              <a:rPr sz="2400">
                <a:solidFill>
                  <a:srgbClr val="1A2F2F"/>
                </a:solidFill>
                <a:latin typeface="Segoe UI"/>
              </a:rPr>
              <a:t>trên siêu âm.</a:t>
            </a:r>
          </a:p>
          <a:p>
            <a:pPr>
              <a:spcBef>
                <a:spcPts val="500"/>
              </a:spcBef>
              <a:spcAft>
                <a:spcPts val="200"/>
              </a:spcAft>
            </a:pPr>
            <a:r>
              <a:rPr sz="2400">
                <a:solidFill>
                  <a:srgbClr val="1A2F2F"/>
                </a:solidFill>
                <a:latin typeface="Segoe UI"/>
              </a:rPr>
              <a:t>  –  </a:t>
            </a:r>
            <a:r>
              <a:rPr sz="2400" b="1" i="1">
                <a:solidFill>
                  <a:srgbClr val="1A2F2F"/>
                </a:solidFill>
                <a:latin typeface="Segoe UI"/>
              </a:rPr>
              <a:t>Ổ độc tính sinh học: Nang OMA liên tục khuếch tán các gốc oxy hóa tự do (ROS) và cytokine viêm tàn phá nhu mô buồng trứng lành lân cận.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lang="en-US" sz="2700" b="1">
                <a:solidFill>
                  <a:srgbClr val="0D2B2B"/>
                </a:solidFill>
                <a:latin typeface="Segoe UI"/>
              </a:rPr>
              <a:t>Thuyết Hình Thành </a:t>
            </a:r>
            <a:r>
              <a:rPr sz="2700" b="1">
                <a:solidFill>
                  <a:srgbClr val="0D2B2B"/>
                </a:solidFill>
                <a:latin typeface="Segoe UI"/>
              </a:rPr>
              <a:t>U Lạc Nội Mạc Buồng Trứng </a:t>
            </a:r>
            <a:endParaRPr lang="en-US" sz="2700" b="1">
              <a:solidFill>
                <a:srgbClr val="0D2B2B"/>
              </a:solidFill>
              <a:latin typeface="Segoe UI"/>
            </a:endParaRP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445654"/>
            <a:ext cx="11064240" cy="4831194"/>
          </a:xfrm>
          <a:prstGeom prst="rect">
            <a:avLst/>
          </a:prstGeom>
          <a:noFill/>
        </p:spPr>
        <p:txBody>
          <a:bodyPr wrap="square" lIns="36576" rIns="36576">
            <a:spAutoFit/>
          </a:bodyPr>
          <a:lstStyle/>
          <a:p>
            <a:pPr>
              <a:lnSpc>
                <a:spcPct val="150000"/>
              </a:lnSpc>
              <a:spcBef>
                <a:spcPts val="500"/>
              </a:spcBef>
              <a:spcAft>
                <a:spcPts val="200"/>
              </a:spcAft>
            </a:pPr>
            <a:r>
              <a:rPr sz="2000">
                <a:solidFill>
                  <a:srgbClr val="1A2F2F"/>
                </a:solidFill>
                <a:latin typeface="Segoe UI"/>
              </a:rPr>
              <a:t>  –  </a:t>
            </a:r>
            <a:r>
              <a:rPr sz="2000" b="1" i="1">
                <a:solidFill>
                  <a:srgbClr val="1A2F2F"/>
                </a:solidFill>
                <a:latin typeface="Segoe UI"/>
              </a:rPr>
              <a:t>Thuyết Cuộn Gập Vỏ Buồng Trứng (Invagination Theory - Hughesdon 1957 / Brosens 1994): </a:t>
            </a:r>
            <a:r>
              <a:rPr lang="en-US" sz="2000" b="1" i="1">
                <a:solidFill>
                  <a:srgbClr val="1A2F2F"/>
                </a:solidFill>
                <a:latin typeface="Segoe UI"/>
              </a:rPr>
              <a:t> </a:t>
            </a:r>
            <a:br>
              <a:rPr lang="en-US" sz="2000" b="1" i="1">
                <a:solidFill>
                  <a:srgbClr val="1A2F2F"/>
                </a:solidFill>
                <a:latin typeface="Segoe UI"/>
              </a:rPr>
            </a:br>
            <a:r>
              <a:rPr sz="2000">
                <a:solidFill>
                  <a:srgbClr val="1A2F2F"/>
                </a:solidFill>
                <a:latin typeface="Segoe UI"/>
              </a:rPr>
              <a:t>Mảnh nội mạc trào ngược bám vào mặt ngoài buồng trứng → Viêm dính buồng trứng vào hố buồng trứng thành chậu → Chảy máu chu kỳ giam cầm kéo cuộn lõm vỏ buồng trứng vào trong nhu mô tạo nang giả.</a:t>
            </a:r>
          </a:p>
          <a:p>
            <a:pPr>
              <a:lnSpc>
                <a:spcPct val="150000"/>
              </a:lnSpc>
              <a:spcBef>
                <a:spcPts val="500"/>
              </a:spcBef>
              <a:spcAft>
                <a:spcPts val="200"/>
              </a:spcAft>
            </a:pPr>
            <a:r>
              <a:rPr sz="2000">
                <a:solidFill>
                  <a:srgbClr val="1A2F2F"/>
                </a:solidFill>
                <a:latin typeface="Segoe UI"/>
              </a:rPr>
              <a:t>  –  </a:t>
            </a:r>
            <a:r>
              <a:rPr sz="2000" b="1" i="1">
                <a:solidFill>
                  <a:srgbClr val="1A2F2F"/>
                </a:solidFill>
                <a:latin typeface="Segoe UI"/>
              </a:rPr>
              <a:t>Thuyết Dị Sản Biểu Mô Mầm (Donnez 1996): </a:t>
            </a:r>
            <a:r>
              <a:rPr sz="2000">
                <a:solidFill>
                  <a:srgbClr val="1A2F2F"/>
                </a:solidFill>
                <a:latin typeface="Segoe UI"/>
              </a:rPr>
              <a:t>Dưới kích thích của dịch phúc mạc viêm, các túi lõm của biểu mô bề mặt mầm buồng trứng biến đổi dị sản thành biểu mô tuyến nội mạc và phát triển thành nang trong nhu mô.</a:t>
            </a:r>
          </a:p>
          <a:p>
            <a:pPr>
              <a:lnSpc>
                <a:spcPct val="150000"/>
              </a:lnSpc>
              <a:spcBef>
                <a:spcPts val="500"/>
              </a:spcBef>
              <a:spcAft>
                <a:spcPts val="200"/>
              </a:spcAft>
            </a:pPr>
            <a:r>
              <a:rPr sz="2000">
                <a:solidFill>
                  <a:srgbClr val="1A2F2F"/>
                </a:solidFill>
                <a:latin typeface="Segoe UI"/>
              </a:rPr>
              <a:t>  –  </a:t>
            </a:r>
            <a:r>
              <a:rPr sz="2000" b="1" i="1">
                <a:solidFill>
                  <a:srgbClr val="1A2F2F"/>
                </a:solidFill>
                <a:latin typeface="Segoe UI"/>
              </a:rPr>
              <a:t>Thuyết Rụng Trứng &amp; Hoàng Thể (Nezhat): </a:t>
            </a:r>
            <a:r>
              <a:rPr sz="2000">
                <a:solidFill>
                  <a:srgbClr val="1A2F2F"/>
                </a:solidFill>
                <a:latin typeface="Segoe UI"/>
              </a:rPr>
              <a:t>Mô lạc nội mạc cấy ghép vào lỗ rách hoàng thể sau rụng trứng và phát triển thành nang sô-cô-la.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U Lạc Nội Mạc Buồng Trứng </a:t>
            </a:r>
            <a:endParaRPr lang="en-US" sz="2700" b="1">
              <a:solidFill>
                <a:srgbClr val="0D2B2B"/>
              </a:solidFill>
              <a:latin typeface="Segoe UI"/>
            </a:endParaRPr>
          </a:p>
          <a:p>
            <a:pPr algn="l"/>
            <a:r>
              <a:rPr sz="2700" b="1">
                <a:solidFill>
                  <a:srgbClr val="0D2B2B"/>
                </a:solidFill>
                <a:latin typeface="Segoe UI"/>
              </a:rPr>
              <a:t> Phản Ứng Fenton &amp; Stress Oxy Hóa Dịch Nang</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316292"/>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Tích tụ sắt tự do: Dịch sô-cô-la chứa nồng độ Sắt tự do (Fe2+) cao gấp hàng trăm lần huyết thanh bình thường.</a:t>
            </a:r>
          </a:p>
          <a:p>
            <a:pPr>
              <a:spcBef>
                <a:spcPts val="500"/>
              </a:spcBef>
              <a:spcAft>
                <a:spcPts val="200"/>
              </a:spcAft>
            </a:pPr>
            <a:r>
              <a:rPr sz="2400">
                <a:solidFill>
                  <a:srgbClr val="1A2F2F"/>
                </a:solidFill>
                <a:latin typeface="Segoe UI"/>
              </a:rPr>
              <a:t>  –  Phản ứng Fenton: Fe2+ xúc tác phản ứng với H2O2 tạo ra gốc tự do Hydroxyl (•OH) — </a:t>
            </a:r>
            <a:r>
              <a:rPr sz="2400" b="1" i="1">
                <a:solidFill>
                  <a:srgbClr val="1A2F2F"/>
                </a:solidFill>
                <a:latin typeface="Segoe UI"/>
              </a:rPr>
              <a:t>gốc oxy hóa hoạt tính (ROS) có độc tính mạnh nhất.</a:t>
            </a:r>
          </a:p>
          <a:p>
            <a:pPr>
              <a:spcBef>
                <a:spcPts val="500"/>
              </a:spcBef>
              <a:spcAft>
                <a:spcPts val="200"/>
              </a:spcAft>
            </a:pPr>
            <a:r>
              <a:rPr sz="2400">
                <a:solidFill>
                  <a:srgbClr val="1A2F2F"/>
                </a:solidFill>
                <a:latin typeface="Segoe UI"/>
              </a:rPr>
              <a:t>  –  Khuếch tán độc tố: ROS và các cytokine viêm (TNF-α, IL-6, IL-8) thẩm thấu xuyên qua vách nang vào dịch nang noãn xung quanh.</a:t>
            </a:r>
          </a:p>
          <a:p>
            <a:pPr>
              <a:spcBef>
                <a:spcPts val="500"/>
              </a:spcBef>
              <a:spcAft>
                <a:spcPts val="200"/>
              </a:spcAft>
            </a:pPr>
            <a:r>
              <a:rPr sz="2400">
                <a:solidFill>
                  <a:srgbClr val="1A2F2F"/>
                </a:solidFill>
                <a:latin typeface="Segoe UI"/>
              </a:rPr>
              <a:t>  –  </a:t>
            </a:r>
            <a:r>
              <a:rPr sz="2400" b="1" i="1">
                <a:solidFill>
                  <a:srgbClr val="1A2F2F"/>
                </a:solidFill>
                <a:latin typeface="Segoe UI"/>
              </a:rPr>
              <a:t>Tổn thương giao tử</a:t>
            </a:r>
            <a:r>
              <a:rPr sz="2400">
                <a:solidFill>
                  <a:srgbClr val="1A2F2F"/>
                </a:solidFill>
                <a:latin typeface="Segoe UI"/>
              </a:rPr>
              <a:t>: Gây peroxy hóa lipid màng noãn, đứt gãy thoi vô sắc và phân mảnh DNA noãn/tinh trùng, làm giảm tỷ lệ thụ tinh.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U Lạc Nội Mạc Buồng Trứng </a:t>
            </a:r>
            <a:endParaRPr lang="en-US" sz="2700" b="1">
              <a:solidFill>
                <a:srgbClr val="0D2B2B"/>
              </a:solidFill>
              <a:latin typeface="Segoe UI"/>
            </a:endParaRPr>
          </a:p>
          <a:p>
            <a:pPr algn="l"/>
            <a:r>
              <a:rPr sz="2700" b="1">
                <a:solidFill>
                  <a:srgbClr val="0D2B2B"/>
                </a:solidFill>
                <a:latin typeface="Segoe UI"/>
              </a:rPr>
              <a:t> Xơ Hóa Mô Vỏ &amp; Hiện Tượng Cạn Kiệt Nang Noãn</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4054956"/>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Xơ Hóa Mô Vỏ </a:t>
            </a:r>
            <a:r>
              <a:rPr lang="en-US" sz="2400">
                <a:solidFill>
                  <a:srgbClr val="1A2F2F"/>
                </a:solidFill>
                <a:latin typeface="Segoe UI"/>
              </a:rPr>
              <a:t>: </a:t>
            </a:r>
            <a:r>
              <a:rPr sz="2400">
                <a:solidFill>
                  <a:srgbClr val="1A2F2F"/>
                </a:solidFill>
                <a:latin typeface="Segoe UI"/>
              </a:rPr>
              <a:t>Cytokine viêm kích thích nguyên bào sợi lắng đọng mạng lưới collagen đặc quánh làm xơ cứng mô đệm vỏ buồng trứng bao quanh u nang.</a:t>
            </a:r>
          </a:p>
          <a:p>
            <a:pPr>
              <a:spcBef>
                <a:spcPts val="500"/>
              </a:spcBef>
              <a:spcAft>
                <a:spcPts val="200"/>
              </a:spcAft>
            </a:pPr>
            <a:r>
              <a:rPr sz="2400">
                <a:solidFill>
                  <a:srgbClr val="1A2F2F"/>
                </a:solidFill>
                <a:latin typeface="Segoe UI"/>
              </a:rPr>
              <a:t>  –  Thiếu Máu Nuôi Vi Mạch: Các tiểu động mạch rốn buồng trứng nuôi cụm nang nguyên thủy bị chèn ép và xơ hóa tắc nghẽn.</a:t>
            </a:r>
          </a:p>
          <a:p>
            <a:pPr>
              <a:spcBef>
                <a:spcPts val="500"/>
              </a:spcBef>
              <a:spcAft>
                <a:spcPts val="200"/>
              </a:spcAft>
            </a:pPr>
            <a:r>
              <a:rPr sz="2400">
                <a:solidFill>
                  <a:srgbClr val="1A2F2F"/>
                </a:solidFill>
                <a:latin typeface="Segoe UI"/>
              </a:rPr>
              <a:t>  –  Hiện Tượng Cạn Kiệt Nang Noãn </a:t>
            </a:r>
            <a:r>
              <a:rPr lang="en-US" sz="2400">
                <a:solidFill>
                  <a:srgbClr val="1A2F2F"/>
                </a:solidFill>
                <a:latin typeface="Segoe UI"/>
              </a:rPr>
              <a:t>“ </a:t>
            </a:r>
            <a:r>
              <a:rPr sz="2400">
                <a:solidFill>
                  <a:srgbClr val="1A2F2F"/>
                </a:solidFill>
                <a:latin typeface="Segoe UI"/>
              </a:rPr>
              <a:t>Lực căng cơ học và viêm kích hoạt bất thường con đường PTEN/Akt/Foxo3, làm các nang noãn nguyên thủy đang ngủ yên thức giấc đồng loạt ngoài tầm kiểm soát.</a:t>
            </a:r>
          </a:p>
          <a:p>
            <a:pPr>
              <a:spcBef>
                <a:spcPts val="500"/>
              </a:spcBef>
              <a:spcAft>
                <a:spcPts val="200"/>
              </a:spcAft>
            </a:pPr>
            <a:r>
              <a:rPr sz="2400">
                <a:solidFill>
                  <a:srgbClr val="1A2F2F"/>
                </a:solidFill>
                <a:latin typeface="Segoe UI"/>
              </a:rPr>
              <a:t>  –  Hậu quả lâm sàng: </a:t>
            </a:r>
            <a:r>
              <a:rPr sz="2400" b="1" i="1">
                <a:solidFill>
                  <a:srgbClr val="1A2F2F"/>
                </a:solidFill>
                <a:latin typeface="Segoe UI"/>
              </a:rPr>
              <a:t>Nang noãn sau đó thoái hóa và teo hàng loạt (Atresia), làm sụt giảm nhanh nồng độ AMH và số lượng nang thứ cấp AFC.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U Lạc Nội Mạc Buồng Trứng </a:t>
            </a:r>
            <a:endParaRPr lang="en-US" sz="2700" b="1">
              <a:solidFill>
                <a:srgbClr val="0D2B2B"/>
              </a:solidFill>
              <a:latin typeface="Segoe UI"/>
            </a:endParaRPr>
          </a:p>
          <a:p>
            <a:pPr algn="l"/>
            <a:r>
              <a:rPr sz="2700" b="1">
                <a:solidFill>
                  <a:srgbClr val="0D2B2B"/>
                </a:solidFill>
                <a:latin typeface="Segoe UI"/>
              </a:rPr>
              <a:t>Tác Động Lên Kết Cục ART (Hamdan 2015)</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1"/>
            <a:ext cx="11064240" cy="2487861"/>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Giảm số lượng noãn thu hồi: Bệnh nhân OMA thu được ít noãn hơn đáng kể (Mean Difference -1.97 noãn, 95% CI: -2.62</a:t>
            </a:r>
            <a:r>
              <a:rPr lang="en-US" sz="2400">
                <a:solidFill>
                  <a:srgbClr val="1A2F2F"/>
                </a:solidFill>
                <a:latin typeface="Segoe UI"/>
              </a:rPr>
              <a:t> -</a:t>
            </a:r>
            <a:r>
              <a:rPr sz="2400">
                <a:solidFill>
                  <a:srgbClr val="1A2F2F"/>
                </a:solidFill>
                <a:latin typeface="Segoe UI"/>
              </a:rPr>
              <a:t> -1.33).</a:t>
            </a:r>
          </a:p>
          <a:p>
            <a:pPr>
              <a:spcBef>
                <a:spcPts val="500"/>
              </a:spcBef>
              <a:spcAft>
                <a:spcPts val="200"/>
              </a:spcAft>
            </a:pPr>
            <a:r>
              <a:rPr sz="2400">
                <a:solidFill>
                  <a:srgbClr val="1A2F2F"/>
                </a:solidFill>
                <a:latin typeface="Segoe UI"/>
              </a:rPr>
              <a:t>  –  Tăng tiêu tốn thuốc kích trứng: Cần tổng liều Gonadotropin cao hơn và thời gian tiêm thuốc dài hơn.</a:t>
            </a:r>
          </a:p>
          <a:p>
            <a:pPr>
              <a:spcBef>
                <a:spcPts val="500"/>
              </a:spcBef>
              <a:spcAft>
                <a:spcPts val="200"/>
              </a:spcAft>
            </a:pPr>
            <a:r>
              <a:rPr sz="2400">
                <a:solidFill>
                  <a:srgbClr val="1A2F2F"/>
                </a:solidFill>
                <a:latin typeface="Segoe UI"/>
              </a:rPr>
              <a:t>  –  Tỷ lệ tạo phôi nang giảm: Tỷ lệ phát triển thành phôi nang ngày 5 thấp hơn do chất lượng noãn bị ảnh hưởng bởi stress oxy hóa.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Vùng Chuyển Tiếp (Junctional Zone - JZ) </a:t>
            </a:r>
            <a:endParaRPr lang="en-US" sz="2700" b="1">
              <a:solidFill>
                <a:srgbClr val="0D2B2B"/>
              </a:solidFill>
              <a:latin typeface="Segoe UI"/>
            </a:endParaRPr>
          </a:p>
          <a:p>
            <a:pPr algn="l"/>
            <a:r>
              <a:rPr sz="2700" b="1">
                <a:solidFill>
                  <a:srgbClr val="0D2B2B"/>
                </a:solidFill>
                <a:latin typeface="Segoe UI"/>
              </a:rPr>
              <a:t> Giải Phẫu &amp; Sinh Lý Nhu Động</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Định nghĩa giải phẫu: Dải mô cơ trơn trong tử cung (Inner myometrium) nằm ngay dưới lớp nội mạc đáy, có nguồn gốc phôi thai từ ống Müller</a:t>
            </a:r>
          </a:p>
          <a:p>
            <a:pPr>
              <a:spcBef>
                <a:spcPts val="500"/>
              </a:spcBef>
              <a:spcAft>
                <a:spcPts val="200"/>
              </a:spcAft>
            </a:pPr>
            <a:r>
              <a:rPr sz="2400">
                <a:solidFill>
                  <a:srgbClr val="1A2F2F"/>
                </a:solidFill>
                <a:latin typeface="Segoe UI"/>
              </a:rPr>
              <a:t>  –  Sinh lý bình thường: </a:t>
            </a:r>
            <a:r>
              <a:rPr sz="2400" b="1" i="1">
                <a:solidFill>
                  <a:srgbClr val="1A2F2F"/>
                </a:solidFill>
                <a:latin typeface="Segoe UI"/>
              </a:rPr>
              <a:t>Độ dày JZ &lt; 8 mm </a:t>
            </a:r>
            <a:r>
              <a:rPr sz="2400">
                <a:solidFill>
                  <a:srgbClr val="1A2F2F"/>
                </a:solidFill>
                <a:latin typeface="Segoe UI"/>
              </a:rPr>
              <a:t>trên phim chụp CHT (MRI T2-weighted) hoặc siêu âm 3D ngả âm đạo.</a:t>
            </a:r>
          </a:p>
          <a:p>
            <a:pPr>
              <a:spcBef>
                <a:spcPts val="500"/>
              </a:spcBef>
              <a:spcAft>
                <a:spcPts val="200"/>
              </a:spcAft>
            </a:pPr>
            <a:r>
              <a:rPr sz="2400">
                <a:solidFill>
                  <a:srgbClr val="1A2F2F"/>
                </a:solidFill>
                <a:latin typeface="Segoe UI"/>
              </a:rPr>
              <a:t>  –  Nhu động pha nang noãn : JZ co bóp nhẹ nhàng từ cổ tử cung hướng lên đáy với tần số 1 - 2 lần/phút dưới tác động của Estrogen, hỗ trợ hút tinh trùng đi lên gặp noãn.</a:t>
            </a:r>
          </a:p>
          <a:p>
            <a:pPr>
              <a:spcBef>
                <a:spcPts val="500"/>
              </a:spcBef>
              <a:spcAft>
                <a:spcPts val="200"/>
              </a:spcAft>
            </a:pPr>
            <a:r>
              <a:rPr sz="2400">
                <a:solidFill>
                  <a:srgbClr val="1A2F2F"/>
                </a:solidFill>
                <a:latin typeface="Segoe UI"/>
              </a:rPr>
              <a:t>  –  Yên tĩnh pha hoàng thể: Dưới tác động ức chế của Progesterone, JZ trở nên hoàn toàn yên tĩnh để phôi nang bám dính và làm tổ.</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Junctional Zone | The Common Vein">
            <a:extLst>
              <a:ext uri="{FF2B5EF4-FFF2-40B4-BE49-F238E27FC236}">
                <a16:creationId xmlns:a16="http://schemas.microsoft.com/office/drawing/2014/main" id="{AFF7EC7A-CD63-DA3D-AFC3-11E18F5CD1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560" y="2961630"/>
            <a:ext cx="5943891" cy="367144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Junctional Zone | The Common Vein">
            <a:extLst>
              <a:ext uri="{FF2B5EF4-FFF2-40B4-BE49-F238E27FC236}">
                <a16:creationId xmlns:a16="http://schemas.microsoft.com/office/drawing/2014/main" id="{AEBC7207-7545-9528-7063-8E6D57CDE3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9463" y="-119398"/>
            <a:ext cx="7600950" cy="3638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13912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Vùng Chuyển Tiếp (JZ) </a:t>
            </a:r>
            <a:endParaRPr lang="en-US" sz="2700" b="1">
              <a:solidFill>
                <a:srgbClr val="0D2B2B"/>
              </a:solidFill>
              <a:latin typeface="Segoe UI"/>
            </a:endParaRPr>
          </a:p>
          <a:p>
            <a:pPr algn="l"/>
            <a:r>
              <a:rPr sz="2700" b="1">
                <a:solidFill>
                  <a:srgbClr val="0D2B2B"/>
                </a:solidFill>
                <a:latin typeface="Segoe UI"/>
              </a:rPr>
              <a:t> Tiêu Chuẩn Bệnh Học &amp; Hậu Quả Loạn Động </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Tiêu chuẩn vàng trên MRI T2W: Bề dày tối đa JZmax ≥ 12 mm hoặc độ chênh lệch JZdiff (JZmax - JZmin) ≥ 5 mm khẳng định tổn thương Adenomyosis.</a:t>
            </a:r>
          </a:p>
          <a:p>
            <a:pPr>
              <a:spcBef>
                <a:spcPts val="500"/>
              </a:spcBef>
              <a:spcAft>
                <a:spcPts val="200"/>
              </a:spcAft>
            </a:pPr>
            <a:r>
              <a:rPr sz="2400">
                <a:solidFill>
                  <a:srgbClr val="1A2F2F"/>
                </a:solidFill>
                <a:latin typeface="Segoe UI"/>
              </a:rPr>
              <a:t>  –  Vùng ranh giới nghi ngờ: JZmax từ 8 đến 11 mm (cần kết hợp triệu chứng lâm sàng và tiêu chuẩn siêu âm MUSA).</a:t>
            </a:r>
          </a:p>
          <a:p>
            <a:pPr>
              <a:spcBef>
                <a:spcPts val="500"/>
              </a:spcBef>
              <a:spcAft>
                <a:spcPts val="200"/>
              </a:spcAft>
            </a:pPr>
            <a:r>
              <a:rPr sz="2400">
                <a:solidFill>
                  <a:srgbClr val="1A2F2F"/>
                </a:solidFill>
                <a:latin typeface="Segoe UI"/>
              </a:rPr>
              <a:t>  –  </a:t>
            </a:r>
            <a:r>
              <a:rPr lang="en-US" sz="2400">
                <a:solidFill>
                  <a:srgbClr val="1A2F2F"/>
                </a:solidFill>
                <a:latin typeface="Segoe UI"/>
              </a:rPr>
              <a:t>Hậu quả khi rối loạn cơ học JZ : </a:t>
            </a:r>
            <a:r>
              <a:rPr sz="2400">
                <a:solidFill>
                  <a:srgbClr val="1A2F2F"/>
                </a:solidFill>
                <a:latin typeface="Segoe UI"/>
              </a:rPr>
              <a:t> Cấu trúc JZ bị phá vỡ làm mất tính ức chế sinh lý của progesterone, cơ tử cung liên tục co thắt mạnh bạo ngay trong pha hoàng thể.</a:t>
            </a:r>
          </a:p>
          <a:p>
            <a:pPr>
              <a:spcBef>
                <a:spcPts val="500"/>
              </a:spcBef>
              <a:spcAft>
                <a:spcPts val="200"/>
              </a:spcAft>
            </a:pPr>
            <a:r>
              <a:rPr sz="2400">
                <a:solidFill>
                  <a:srgbClr val="1A2F2F"/>
                </a:solidFill>
                <a:latin typeface="Segoe UI"/>
              </a:rPr>
              <a:t>  –  Hậu quả sinh sản: Tống xuất phôi thai cơ học ra ngoài lòng tử cung trước khi phôi kịp tiếp xúc và bám dính vào lớp nội mạc màng rụng.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Lạc Nội Mạc Trong Cơ (Adenomyosis) </a:t>
            </a:r>
            <a:endParaRPr lang="en-US" sz="2700" b="1">
              <a:solidFill>
                <a:srgbClr val="0D2B2B"/>
              </a:solidFill>
              <a:latin typeface="Segoe UI"/>
            </a:endParaRPr>
          </a:p>
          <a:p>
            <a:pPr algn="l"/>
            <a:r>
              <a:rPr sz="2700" b="1">
                <a:solidFill>
                  <a:srgbClr val="0D2B2B"/>
                </a:solidFill>
                <a:latin typeface="Segoe UI"/>
              </a:rPr>
              <a:t> Định Nghĩa &amp; Phân Loại FIGO</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Định nghĩa mô bệnh học (Bird 1972 / FIGO): </a:t>
            </a:r>
            <a:r>
              <a:rPr sz="2400" b="1" i="1">
                <a:solidFill>
                  <a:srgbClr val="1A2F2F"/>
                </a:solidFill>
                <a:latin typeface="Segoe UI"/>
              </a:rPr>
              <a:t>Sự xâm lấn lành tính của tuyến và mô đệm nội mạc đáy vào sâu trong lớp cơ tử cung vượt quá mốc 2.5 mm (hoặc &gt; 1 vi trường độ phóng đại thấp).</a:t>
            </a:r>
          </a:p>
          <a:p>
            <a:pPr>
              <a:spcBef>
                <a:spcPts val="500"/>
              </a:spcBef>
              <a:spcAft>
                <a:spcPts val="200"/>
              </a:spcAft>
            </a:pPr>
            <a:r>
              <a:rPr sz="2400">
                <a:solidFill>
                  <a:srgbClr val="1A2F2F"/>
                </a:solidFill>
                <a:latin typeface="Segoe UI"/>
              </a:rPr>
              <a:t>  –  Phản ứng phì đại cơ trơn: Mô cơ trơn xung quanh tăng sinh và xơ hóa phản ứng làm biến dạng tử cung thành hình cầu.</a:t>
            </a:r>
          </a:p>
          <a:p>
            <a:pPr>
              <a:spcBef>
                <a:spcPts val="500"/>
              </a:spcBef>
              <a:spcAft>
                <a:spcPts val="200"/>
              </a:spcAft>
            </a:pPr>
            <a:r>
              <a:rPr sz="2400">
                <a:solidFill>
                  <a:srgbClr val="1A2F2F"/>
                </a:solidFill>
                <a:latin typeface="Segoe UI"/>
              </a:rPr>
              <a:t>  –  Adenomyosis Khu Trú (Adenomyoma): Tổn thương tụ thành khối u cơ tuyến có ranh giới tương đối nhưng không có vỏ bao giả (khác u xơ tử cung).</a:t>
            </a:r>
          </a:p>
          <a:p>
            <a:pPr>
              <a:spcBef>
                <a:spcPts val="500"/>
              </a:spcBef>
              <a:spcAft>
                <a:spcPts val="200"/>
              </a:spcAft>
            </a:pPr>
            <a:r>
              <a:rPr sz="2400">
                <a:solidFill>
                  <a:srgbClr val="1A2F2F"/>
                </a:solidFill>
                <a:latin typeface="Segoe UI"/>
              </a:rPr>
              <a:t>  –  Adenomyosis Lan Tỏa (Diffuse Adenomyosis): Tổn thương lan rộng khắp các thành tử cung, là thủ phạm chính gây thất bại làm tổ (RIF) và sảy thai trong ART.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Adenomyosis </a:t>
            </a:r>
            <a:endParaRPr lang="en-US" sz="2700" b="1">
              <a:solidFill>
                <a:srgbClr val="0D2B2B"/>
              </a:solidFill>
              <a:latin typeface="Segoe UI"/>
            </a:endParaRPr>
          </a:p>
          <a:p>
            <a:pPr algn="l"/>
            <a:r>
              <a:rPr sz="2700" b="1">
                <a:solidFill>
                  <a:srgbClr val="0D2B2B"/>
                </a:solidFill>
                <a:latin typeface="Segoe UI"/>
              </a:rPr>
              <a:t> Thuyết Chấn Thương Vi Thể (TIAR) &amp; Chuyển Dạng EMT</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4424288"/>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Chấn thương vi thể lặp lại: Tăng nhu động tử cung (hyperperistalsis) gây lực căng kéo liên tục làm </a:t>
            </a:r>
            <a:r>
              <a:rPr sz="2400" b="1" i="1">
                <a:solidFill>
                  <a:srgbClr val="1A2F2F"/>
                </a:solidFill>
                <a:latin typeface="Segoe UI"/>
              </a:rPr>
              <a:t>nứt rạn vi thể tại ranh giới cơ - nội mạc </a:t>
            </a:r>
            <a:r>
              <a:rPr sz="2400">
                <a:solidFill>
                  <a:srgbClr val="1A2F2F"/>
                </a:solidFill>
                <a:latin typeface="Segoe UI"/>
              </a:rPr>
              <a:t>(Endometrial-Myometrial Interface - EMI).</a:t>
            </a:r>
          </a:p>
          <a:p>
            <a:pPr>
              <a:spcBef>
                <a:spcPts val="500"/>
              </a:spcBef>
              <a:spcAft>
                <a:spcPts val="200"/>
              </a:spcAft>
            </a:pPr>
            <a:r>
              <a:rPr sz="2400">
                <a:solidFill>
                  <a:srgbClr val="1A2F2F"/>
                </a:solidFill>
                <a:latin typeface="Segoe UI"/>
              </a:rPr>
              <a:t>  –  Quá trình tự sửa chữa (TIAR Theory / Leyendecker): Phản ứng sửa chữa vết thương kích thích giải phóng ồ ạt Estrogen nội tại (qua men Aromatase) và Prostaglandin E2 (PGE2) tại chỗ.</a:t>
            </a:r>
          </a:p>
          <a:p>
            <a:pPr>
              <a:spcBef>
                <a:spcPts val="500"/>
              </a:spcBef>
              <a:spcAft>
                <a:spcPts val="200"/>
              </a:spcAft>
            </a:pPr>
            <a:r>
              <a:rPr sz="2400">
                <a:solidFill>
                  <a:srgbClr val="1A2F2F"/>
                </a:solidFill>
                <a:latin typeface="Segoe UI"/>
              </a:rPr>
              <a:t>  –  Chuyển Dạng Biểu Mô - Trung Mô (EMT): Estrogen cao kích hoạt trục TGF-β1/Smad </a:t>
            </a:r>
            <a:r>
              <a:rPr sz="2400" b="1" i="1">
                <a:solidFill>
                  <a:srgbClr val="1A2F2F"/>
                </a:solidFill>
                <a:latin typeface="Segoe UI"/>
              </a:rPr>
              <a:t>làm tế bào tuyến nội mạc đáy mất tính phân cực, trở nên di động và đâm chồi xâm lấn sâu vào cơ tử cung.</a:t>
            </a:r>
          </a:p>
          <a:p>
            <a:pPr>
              <a:spcBef>
                <a:spcPts val="500"/>
              </a:spcBef>
              <a:spcAft>
                <a:spcPts val="200"/>
              </a:spcAft>
            </a:pPr>
            <a:r>
              <a:rPr sz="2400">
                <a:solidFill>
                  <a:srgbClr val="1A2F2F"/>
                </a:solidFill>
                <a:latin typeface="Segoe UI"/>
              </a:rPr>
              <a:t>  –  Chuyển Dạng Sợi - Cơ (FMT): Nguyên bào sợi trong cơ chuyển thành tế bào sợi cơ tạo mạng lưới xơ hóa bao quanh.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Adenomyosis </a:t>
            </a:r>
            <a:endParaRPr lang="en-US" sz="2700" b="1">
              <a:solidFill>
                <a:srgbClr val="0D2B2B"/>
              </a:solidFill>
              <a:latin typeface="Segoe UI"/>
            </a:endParaRPr>
          </a:p>
          <a:p>
            <a:pPr algn="l"/>
            <a:r>
              <a:rPr sz="2700" b="1">
                <a:solidFill>
                  <a:srgbClr val="0D2B2B"/>
                </a:solidFill>
                <a:latin typeface="Segoe UI"/>
              </a:rPr>
              <a:t> Con Đường Xâm Lấn Từ Ngoài Vào &amp; Tế Bào Gốc</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595856"/>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Con đường từ ngoài vào (Outside-In Invasion): Các tổn thương Lạc nội mạc tử cung sâu (DIE) ở túi cùng sau (dây chằng tử cung - cùng, trực tràng) xâm lấn trực tiếp xuyên qua thanh mạc vào lớp cơ ngoài (thể Extrinsic Adenomyosis).</a:t>
            </a:r>
          </a:p>
          <a:p>
            <a:pPr>
              <a:spcBef>
                <a:spcPts val="500"/>
              </a:spcBef>
              <a:spcAft>
                <a:spcPts val="200"/>
              </a:spcAft>
            </a:pPr>
            <a:r>
              <a:rPr sz="2400">
                <a:solidFill>
                  <a:srgbClr val="1A2F2F"/>
                </a:solidFill>
                <a:latin typeface="Segoe UI"/>
              </a:rPr>
              <a:t>  –  Con đường tế bào gốc tại chỗ: Tế bào gốc trung mô ống Müller tồn dư hoặc tế bào gốc từ tủy xương di chuyển đến cơ tử cung bị kích hoạt biệt hóa bất thường thành tuyến nội mạc.</a:t>
            </a:r>
          </a:p>
          <a:p>
            <a:pPr>
              <a:spcBef>
                <a:spcPts val="500"/>
              </a:spcBef>
              <a:spcAft>
                <a:spcPts val="200"/>
              </a:spcAft>
            </a:pPr>
            <a:r>
              <a:rPr sz="2400">
                <a:solidFill>
                  <a:srgbClr val="1A2F2F"/>
                </a:solidFill>
                <a:latin typeface="Segoe UI"/>
              </a:rPr>
              <a:t>  –  Tăng sinh mạch tân tạo: Mô tuyến lạc chỗ tiết lượng lớn VEGF và PDGF thúc đẩy hình thành mạng mạch máu nuôi dưỡng đâm xuyên cơ (dấu hiệu translesional flow trên Doppler).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56320BB-7EE3-5F16-B9B0-007E1B96EFCB}"/>
              </a:ext>
            </a:extLst>
          </p:cNvPr>
          <p:cNvPicPr>
            <a:picLocks noChangeAspect="1"/>
          </p:cNvPicPr>
          <p:nvPr/>
        </p:nvPicPr>
        <p:blipFill>
          <a:blip r:embed="rId2"/>
          <a:stretch>
            <a:fillRect/>
          </a:stretch>
        </p:blipFill>
        <p:spPr>
          <a:xfrm>
            <a:off x="1043322" y="636565"/>
            <a:ext cx="8096250" cy="5353050"/>
          </a:xfrm>
          <a:prstGeom prst="rect">
            <a:avLst/>
          </a:prstGeom>
        </p:spPr>
      </p:pic>
    </p:spTree>
    <p:extLst>
      <p:ext uri="{BB962C8B-B14F-4D97-AF65-F5344CB8AC3E}">
        <p14:creationId xmlns:p14="http://schemas.microsoft.com/office/powerpoint/2010/main" val="31803724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Adenomyosis </a:t>
            </a:r>
            <a:endParaRPr lang="en-US" sz="2700" b="1">
              <a:solidFill>
                <a:srgbClr val="0D2B2B"/>
              </a:solidFill>
              <a:latin typeface="Segoe UI"/>
            </a:endParaRPr>
          </a:p>
          <a:p>
            <a:pPr algn="l"/>
            <a:r>
              <a:rPr sz="2700" b="1">
                <a:solidFill>
                  <a:srgbClr val="0D2B2B"/>
                </a:solidFill>
                <a:latin typeface="Segoe UI"/>
              </a:rPr>
              <a:t>Hiện Tượng Đề Kháng Progesterone (PR-B)</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4424288"/>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Sinh lý bình thường: Progesterone gắn thụ thể PR-B trên mô đệm nội mạc để kích hoạt quá trình màng rụng hóa (Decidualization) biến đổi tế bào giàu glycogen nuôi phôi.</a:t>
            </a:r>
          </a:p>
          <a:p>
            <a:pPr>
              <a:spcBef>
                <a:spcPts val="500"/>
              </a:spcBef>
              <a:spcAft>
                <a:spcPts val="200"/>
              </a:spcAft>
            </a:pPr>
            <a:r>
              <a:rPr sz="2400">
                <a:solidFill>
                  <a:srgbClr val="1A2F2F"/>
                </a:solidFill>
                <a:latin typeface="Segoe UI"/>
              </a:rPr>
              <a:t>  –  Bất thường trong Adenomyosis: Tình trạng viêm và methyl hóa promoter gen làm suy giảm trầm trọng thụ thể PR-B, trong khi thụ thể ức chế PR-A chiếm ưu thế.</a:t>
            </a:r>
          </a:p>
          <a:p>
            <a:pPr>
              <a:spcBef>
                <a:spcPts val="500"/>
              </a:spcBef>
              <a:spcAft>
                <a:spcPts val="200"/>
              </a:spcAft>
            </a:pPr>
            <a:r>
              <a:rPr sz="2400">
                <a:solidFill>
                  <a:srgbClr val="1A2F2F"/>
                </a:solidFill>
                <a:latin typeface="Segoe UI"/>
              </a:rPr>
              <a:t>  –  Nội mạc 'trơ' với Progesterone: Dù nồng độ Progesterone trong máu đạt rất cao, nội mạc tử cung vẫn không đáp ứng và đình trệ quá trình màng rụng hóa.</a:t>
            </a:r>
          </a:p>
          <a:p>
            <a:pPr>
              <a:spcBef>
                <a:spcPts val="500"/>
              </a:spcBef>
              <a:spcAft>
                <a:spcPts val="200"/>
              </a:spcAft>
            </a:pPr>
            <a:r>
              <a:rPr sz="2400">
                <a:solidFill>
                  <a:srgbClr val="1A2F2F"/>
                </a:solidFill>
                <a:latin typeface="Segoe UI"/>
              </a:rPr>
              <a:t>  –  Đóng kín Cửa sổ làm tổ (WOI): Suy giảm biểu hiện các phân tử bám dính then chốt gồm HOXA10, Leukemia Inhibitory Factor (LIF), glycodelin-A và integrin αvβ3.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Adenomyosis </a:t>
            </a:r>
            <a:endParaRPr lang="en-US" sz="2700" b="1">
              <a:solidFill>
                <a:srgbClr val="0D2B2B"/>
              </a:solidFill>
              <a:latin typeface="Segoe UI"/>
            </a:endParaRPr>
          </a:p>
          <a:p>
            <a:pPr algn="l"/>
            <a:r>
              <a:rPr sz="2700" b="1">
                <a:solidFill>
                  <a:srgbClr val="0D2B2B"/>
                </a:solidFill>
                <a:latin typeface="Segoe UI"/>
              </a:rPr>
              <a:t> Vòng Xoắn Tự Duy Trì Aromatase ↔ Prostaglandin E2</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Tự sản xuất Estrogen tại chỗ: Mô tuyến lạc trong cơ biểu hiện quá mức enzyme Aromatase (CYP19A1) và 17β-HSD1, tự chuyển Androgen thành Estradiol (E2) nồng độ cao trong cơ.</a:t>
            </a:r>
          </a:p>
          <a:p>
            <a:pPr>
              <a:spcBef>
                <a:spcPts val="500"/>
              </a:spcBef>
              <a:spcAft>
                <a:spcPts val="200"/>
              </a:spcAft>
            </a:pPr>
            <a:r>
              <a:rPr sz="2400">
                <a:solidFill>
                  <a:srgbClr val="1A2F2F"/>
                </a:solidFill>
                <a:latin typeface="Segoe UI"/>
              </a:rPr>
              <a:t>  –  Kích hoạt enzyme COX-2: E2 nội tại kích thích enzyme COX-2 tổng hợp ồ ạt Prostaglandin E2 (PGE2).</a:t>
            </a:r>
          </a:p>
          <a:p>
            <a:pPr>
              <a:spcBef>
                <a:spcPts val="500"/>
              </a:spcBef>
              <a:spcAft>
                <a:spcPts val="200"/>
              </a:spcAft>
            </a:pPr>
            <a:r>
              <a:rPr sz="2400">
                <a:solidFill>
                  <a:srgbClr val="1A2F2F"/>
                </a:solidFill>
                <a:latin typeface="Segoe UI"/>
              </a:rPr>
              <a:t>  –  Duy trì ổ viêm &amp; Co thắt: PGE2 gây phản ứng viêm mạn tính, tăng co thắt cơ tử cung và ức chế miễn dịch làm tổ của phôi.</a:t>
            </a:r>
          </a:p>
          <a:p>
            <a:pPr>
              <a:spcBef>
                <a:spcPts val="500"/>
              </a:spcBef>
              <a:spcAft>
                <a:spcPts val="200"/>
              </a:spcAft>
            </a:pPr>
            <a:r>
              <a:rPr sz="2400">
                <a:solidFill>
                  <a:srgbClr val="1A2F2F"/>
                </a:solidFill>
                <a:latin typeface="Segoe UI"/>
              </a:rPr>
              <a:t>  –  Khuếch đại ngược: PGE2 quay lại kích hoạt tăng phiên mã gen Aromatase, tạo thành vòng xoắn bệnh lý tự duy trì vĩnh viễn.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5948" y="172246"/>
            <a:ext cx="10972800" cy="1283428"/>
          </a:xfrm>
          <a:prstGeom prst="rect">
            <a:avLst/>
          </a:prstGeom>
          <a:noFill/>
        </p:spPr>
        <p:txBody>
          <a:bodyPr wrap="square" lIns="36576" tIns="18288" rIns="36576" bIns="18288" anchor="ctr">
            <a:spAutoFit/>
          </a:bodyPr>
          <a:lstStyle/>
          <a:p>
            <a:pPr algn="l"/>
            <a:r>
              <a:rPr sz="2700" b="1">
                <a:solidFill>
                  <a:srgbClr val="0D2B2B"/>
                </a:solidFill>
                <a:latin typeface="Segoe UI"/>
              </a:rPr>
              <a:t>Adenomyosis </a:t>
            </a:r>
            <a:endParaRPr lang="en-US" sz="2700" b="1">
              <a:solidFill>
                <a:srgbClr val="0D2B2B"/>
              </a:solidFill>
              <a:latin typeface="Segoe UI"/>
            </a:endParaRPr>
          </a:p>
          <a:p>
            <a:pPr algn="l"/>
            <a:r>
              <a:rPr sz="2700" b="1">
                <a:solidFill>
                  <a:srgbClr val="0D2B2B"/>
                </a:solidFill>
                <a:latin typeface="Segoe UI"/>
              </a:rPr>
              <a:t> Tác Động Lâm Sàng Lên Kết Cục ART (Cozzolino 2022 / Vercellini 2014)</a:t>
            </a:r>
          </a:p>
        </p:txBody>
      </p:sp>
      <p:sp>
        <p:nvSpPr>
          <p:cNvPr id="6" name="TextBox 5"/>
          <p:cNvSpPr txBox="1"/>
          <p:nvPr/>
        </p:nvSpPr>
        <p:spPr>
          <a:xfrm>
            <a:off x="595948" y="1600200"/>
            <a:ext cx="11064240" cy="3316292"/>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Giảm 31% Tỷ Lệ Thai Lâm Sàng (CPR): RR = 0.69 (95% CI: 0.59 - 0.81) do hỏng cửa sổ làm tổ và loạn động tử cung.</a:t>
            </a:r>
          </a:p>
          <a:p>
            <a:pPr>
              <a:spcBef>
                <a:spcPts val="500"/>
              </a:spcBef>
              <a:spcAft>
                <a:spcPts val="200"/>
              </a:spcAft>
            </a:pPr>
            <a:r>
              <a:rPr sz="2400">
                <a:solidFill>
                  <a:srgbClr val="1A2F2F"/>
                </a:solidFill>
                <a:latin typeface="Segoe UI"/>
              </a:rPr>
              <a:t>  –  Giảm 31% Tỷ Lệ Trẻ Sinh Sống (LBR): RR = 0.69 (95% CI: 0.51 - 0.94) trên mỗi chu kỳ chuyển phôi.</a:t>
            </a:r>
          </a:p>
          <a:p>
            <a:pPr>
              <a:spcBef>
                <a:spcPts val="500"/>
              </a:spcBef>
              <a:spcAft>
                <a:spcPts val="200"/>
              </a:spcAft>
            </a:pPr>
            <a:r>
              <a:rPr sz="2400">
                <a:solidFill>
                  <a:srgbClr val="1A2F2F"/>
                </a:solidFill>
                <a:latin typeface="Segoe UI"/>
              </a:rPr>
              <a:t>  –  Tăng gấp hơn 2 lần Nguy Cơ Sảy Thai: RR = 2.17 (95% CI: 1.25 - 3.79) trong 3 tháng đầu thai kỳ.</a:t>
            </a:r>
          </a:p>
          <a:p>
            <a:pPr>
              <a:spcBef>
                <a:spcPts val="500"/>
              </a:spcBef>
              <a:spcAft>
                <a:spcPts val="200"/>
              </a:spcAft>
            </a:pPr>
            <a:r>
              <a:rPr sz="2400">
                <a:solidFill>
                  <a:srgbClr val="1A2F2F"/>
                </a:solidFill>
                <a:latin typeface="Segoe UI"/>
              </a:rPr>
              <a:t>  –  Giảm tỷ lệ làm tổ của phôi nang: RR = 0.72 (95% CI: 0.55 - 0.95) khẳng định Adenomyosis là nguyên nhân hàng đầu gây thất bại làm tổ tái phát (RIF).</a:t>
            </a:r>
          </a:p>
        </p:txBody>
      </p:sp>
      <p:sp>
        <p:nvSpPr>
          <p:cNvPr id="7" name="AutoShape 2" descr="The structure of the uterus. The endometrial–myometrial interface (EMI)...  | Download Scientific Diagram">
            <a:extLst>
              <a:ext uri="{FF2B5EF4-FFF2-40B4-BE49-F238E27FC236}">
                <a16:creationId xmlns:a16="http://schemas.microsoft.com/office/drawing/2014/main" id="{57323DFC-A73E-F67C-6BBC-494058BDE82B}"/>
              </a:ext>
            </a:extLst>
          </p:cNvPr>
          <p:cNvSpPr>
            <a:spLocks noChangeAspect="1" noChangeArrowheads="1"/>
          </p:cNvSpPr>
          <p:nvPr/>
        </p:nvSpPr>
        <p:spPr bwMode="auto">
          <a:xfrm>
            <a:off x="5943601"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6400800"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2388" y="0"/>
            <a:ext cx="57881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2388" y="0"/>
            <a:ext cx="64008"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958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394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04830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4266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23702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83138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42574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85958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45394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830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64266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23702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83138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42574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85958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45394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4830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64266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23702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3138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42574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85958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45394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4830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64266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23702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83138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42574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85958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45394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04830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64266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23702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83138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042574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04508" y="1371600"/>
            <a:ext cx="5577840" cy="1791260"/>
          </a:xfrm>
          <a:prstGeom prst="rect">
            <a:avLst/>
          </a:prstGeom>
          <a:noFill/>
        </p:spPr>
        <p:txBody>
          <a:bodyPr wrap="square" lIns="36576" tIns="18288" rIns="36576" bIns="18288" anchor="t">
            <a:spAutoFit/>
          </a:bodyPr>
          <a:lstStyle/>
          <a:p>
            <a:pPr algn="l"/>
            <a:r>
              <a:rPr sz="3800" b="1">
                <a:solidFill>
                  <a:srgbClr val="FFFFFF"/>
                </a:solidFill>
                <a:latin typeface="Segoe UI"/>
              </a:rPr>
              <a:t>CHƯƠNG 2: CHẨN ĐOÁN HÌNH ẢNH CHUYÊN SÂU</a:t>
            </a:r>
          </a:p>
        </p:txBody>
      </p:sp>
      <p:sp>
        <p:nvSpPr>
          <p:cNvPr id="43" name="Rectangle 42"/>
          <p:cNvSpPr/>
          <p:nvPr/>
        </p:nvSpPr>
        <p:spPr>
          <a:xfrm>
            <a:off x="504508" y="4023360"/>
            <a:ext cx="128016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676708" y="5989320"/>
            <a:ext cx="5212080" cy="206210"/>
          </a:xfrm>
          <a:prstGeom prst="rect">
            <a:avLst/>
          </a:prstGeom>
          <a:noFill/>
        </p:spPr>
        <p:txBody>
          <a:bodyPr wrap="square" lIns="36576" tIns="18288" rIns="36576" bIns="18288">
            <a:spAutoFit/>
          </a:bodyPr>
          <a:lstStyle/>
          <a:p>
            <a:pPr algn="l"/>
            <a:r>
              <a:rPr sz="1100">
                <a:solidFill>
                  <a:srgbClr val="728C8C"/>
                </a:solidFill>
                <a:latin typeface="Segoe UI"/>
              </a:rPr>
              <a:t>2026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Quy Trình Tiếp Cận Siêu Âm Ngả Âm Đạo Theo Đồng Thuận IDEA (4 Bước)</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6436" y="1304798"/>
            <a:ext cx="10991088" cy="2895664"/>
          </a:xfrm>
          <a:prstGeom prst="rect">
            <a:avLst/>
          </a:prstGeom>
          <a:noFill/>
        </p:spPr>
        <p:txBody>
          <a:bodyPr wrap="square" lIns="36576" rIns="36576">
            <a:spAutoFit/>
          </a:bodyPr>
          <a:lstStyle/>
          <a:p>
            <a:pPr>
              <a:spcBef>
                <a:spcPts val="500"/>
              </a:spcBef>
              <a:spcAft>
                <a:spcPts val="200"/>
              </a:spcAft>
            </a:pPr>
            <a:r>
              <a:rPr sz="1700">
                <a:solidFill>
                  <a:srgbClr val="1A2F2F"/>
                </a:solidFill>
                <a:latin typeface="Segoe UI"/>
              </a:rPr>
              <a:t>  –  </a:t>
            </a:r>
            <a:r>
              <a:rPr sz="1700" b="1" i="1">
                <a:solidFill>
                  <a:srgbClr val="1A2F2F"/>
                </a:solidFill>
                <a:latin typeface="Segoe UI"/>
              </a:rPr>
              <a:t>Đồng thuận IDEA (International Deep Endometriosis Analysis group): Chuẩn hóa quy trình siêu âm ngả âm đạo động (dynamic TVS) có hệ thống.</a:t>
            </a:r>
          </a:p>
          <a:p>
            <a:pPr>
              <a:spcBef>
                <a:spcPts val="500"/>
              </a:spcBef>
              <a:spcAft>
                <a:spcPts val="200"/>
              </a:spcAft>
            </a:pPr>
            <a:r>
              <a:rPr sz="1700">
                <a:solidFill>
                  <a:srgbClr val="1A2F2F"/>
                </a:solidFill>
                <a:latin typeface="Segoe UI"/>
              </a:rPr>
              <a:t>  –  Mục đích: Giúp bác sĩ siêu âm khảo sát toàn diện từ cơ quan sinh dục đến khoang phúc mạc chậu, không bỏ sót tổn thương dính và lạc nội mạc sâu.</a:t>
            </a:r>
          </a:p>
          <a:p>
            <a:pPr>
              <a:spcBef>
                <a:spcPts val="500"/>
              </a:spcBef>
              <a:spcAft>
                <a:spcPts val="200"/>
              </a:spcAft>
            </a:pPr>
            <a:r>
              <a:rPr sz="1700">
                <a:solidFill>
                  <a:srgbClr val="1A2F2F"/>
                </a:solidFill>
                <a:latin typeface="Segoe UI"/>
              </a:rPr>
              <a:t>  –  Bước 1: Khảo sát tử cung (tìm 9 dấu hiệu Adenomyosis MUSA 2022/u xơ) và buồng trứng (đo thể tích, đếm AFC, tìm OMA).</a:t>
            </a:r>
          </a:p>
          <a:p>
            <a:pPr>
              <a:spcBef>
                <a:spcPts val="500"/>
              </a:spcBef>
              <a:spcAft>
                <a:spcPts val="200"/>
              </a:spcAft>
            </a:pPr>
            <a:r>
              <a:rPr sz="1700">
                <a:solidFill>
                  <a:srgbClr val="1A2F2F"/>
                </a:solidFill>
                <a:latin typeface="Segoe UI"/>
              </a:rPr>
              <a:t>  –  Bước 2: Tìm kiếm các dấu hiệu siêu âm mềm (độ di động buồng trứng, dấu hiệu buồng trứng dính nhau).</a:t>
            </a:r>
            <a:endParaRPr lang="en-US" sz="1700">
              <a:solidFill>
                <a:srgbClr val="1A2F2F"/>
              </a:solidFill>
              <a:latin typeface="Segoe UI"/>
            </a:endParaRPr>
          </a:p>
          <a:p>
            <a:pPr>
              <a:spcBef>
                <a:spcPts val="500"/>
              </a:spcBef>
              <a:spcAft>
                <a:spcPts val="200"/>
              </a:spcAft>
            </a:pPr>
            <a:r>
              <a:rPr lang="vi-VN" sz="1700">
                <a:solidFill>
                  <a:srgbClr val="1A2F2F"/>
                </a:solidFill>
                <a:latin typeface="Segoe UI"/>
              </a:rPr>
              <a:t> –  Bước 3: Đánh giá túi cùng sau bằng Dấu hiệu Trượt (Sliding Sign).</a:t>
            </a:r>
          </a:p>
          <a:p>
            <a:pPr>
              <a:spcBef>
                <a:spcPts val="500"/>
              </a:spcBef>
              <a:spcAft>
                <a:spcPts val="200"/>
              </a:spcAft>
            </a:pPr>
            <a:r>
              <a:rPr lang="vi-VN" sz="1700">
                <a:solidFill>
                  <a:srgbClr val="1A2F2F"/>
                </a:solidFill>
                <a:latin typeface="Segoe UI"/>
              </a:rPr>
              <a:t>  –  Bước 4: Khảo sát Lạc nội mạc tử cung sâu (DIE) ở khoang trước và khoang sau.</a:t>
            </a:r>
            <a:endParaRPr sz="1700" b="1">
              <a:solidFill>
                <a:srgbClr val="1A2F2F"/>
              </a:solidFill>
              <a:latin typeface="Segoe UI"/>
            </a:endParaRPr>
          </a:p>
        </p:txBody>
      </p:sp>
      <p:sp>
        <p:nvSpPr>
          <p:cNvPr id="7" name="Rectangle 6"/>
          <p:cNvSpPr/>
          <p:nvPr/>
        </p:nvSpPr>
        <p:spPr>
          <a:xfrm>
            <a:off x="6128068" y="1691640"/>
            <a:ext cx="12700" cy="452628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a:extLst>
              <a:ext uri="{FF2B5EF4-FFF2-40B4-BE49-F238E27FC236}">
                <a16:creationId xmlns:a16="http://schemas.microsoft.com/office/drawing/2014/main" id="{0606A4F8-0D06-4FCB-803F-D288971F1BBD}"/>
              </a:ext>
            </a:extLst>
          </p:cNvPr>
          <p:cNvPicPr>
            <a:picLocks noChangeAspect="1"/>
          </p:cNvPicPr>
          <p:nvPr/>
        </p:nvPicPr>
        <p:blipFill>
          <a:blip r:embed="rId2"/>
          <a:stretch>
            <a:fillRect/>
          </a:stretch>
        </p:blipFill>
        <p:spPr>
          <a:xfrm>
            <a:off x="6582852" y="4282252"/>
            <a:ext cx="4844673" cy="234714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sz="2700" b="1">
                <a:solidFill>
                  <a:srgbClr val="0D2B2B"/>
                </a:solidFill>
                <a:latin typeface="Segoe UI"/>
              </a:rPr>
              <a:t>Quy Trình IDEA — Bước 1: Khảo Sát Tử Cung &amp; Buồng Trứng</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4239622"/>
          </a:xfrm>
          <a:prstGeom prst="rect">
            <a:avLst/>
          </a:prstGeom>
          <a:noFill/>
        </p:spPr>
        <p:txBody>
          <a:bodyPr wrap="square" lIns="36576" rIns="36576">
            <a:spAutoFit/>
          </a:bodyPr>
          <a:lstStyle/>
          <a:p>
            <a:pPr>
              <a:spcBef>
                <a:spcPts val="500"/>
              </a:spcBef>
              <a:spcAft>
                <a:spcPts val="200"/>
              </a:spcAft>
            </a:pPr>
            <a:r>
              <a:rPr sz="2800">
                <a:solidFill>
                  <a:srgbClr val="1A2F2F"/>
                </a:solidFill>
                <a:latin typeface="Segoe UI"/>
              </a:rPr>
              <a:t>  –  Khảo sát tử cung: Đo kích thước 3 chiều (chiều dài, chiều trước - sau, chiều ngang), đánh giá độ dày thành trước/thành sau.</a:t>
            </a:r>
          </a:p>
          <a:p>
            <a:pPr>
              <a:spcBef>
                <a:spcPts val="500"/>
              </a:spcBef>
              <a:spcAft>
                <a:spcPts val="200"/>
              </a:spcAft>
            </a:pPr>
            <a:r>
              <a:rPr sz="2800">
                <a:solidFill>
                  <a:srgbClr val="1A2F2F"/>
                </a:solidFill>
                <a:latin typeface="Segoe UI"/>
              </a:rPr>
              <a:t>  –  Đánh giá cơ tử cung: Tầm soát đầy đủ 9 dấu hiệu của Adenomyosis theo MUSA 2022, phân biệt với u xơ tử cung (FIGO).</a:t>
            </a:r>
          </a:p>
          <a:p>
            <a:pPr>
              <a:spcBef>
                <a:spcPts val="500"/>
              </a:spcBef>
              <a:spcAft>
                <a:spcPts val="200"/>
              </a:spcAft>
            </a:pPr>
            <a:r>
              <a:rPr sz="2800">
                <a:solidFill>
                  <a:srgbClr val="1A2F2F"/>
                </a:solidFill>
                <a:latin typeface="Segoe UI"/>
              </a:rPr>
              <a:t>  –  Khảo sát buồng trứng: Xác định vị trí 2 buồng trứng, đếm số nang thứ cấp </a:t>
            </a:r>
            <a:endParaRPr lang="en-US" sz="2800">
              <a:solidFill>
                <a:srgbClr val="1A2F2F"/>
              </a:solidFill>
              <a:latin typeface="Segoe UI"/>
            </a:endParaRPr>
          </a:p>
          <a:p>
            <a:pPr>
              <a:spcBef>
                <a:spcPts val="500"/>
              </a:spcBef>
              <a:spcAft>
                <a:spcPts val="200"/>
              </a:spcAft>
            </a:pPr>
            <a:r>
              <a:rPr lang="en-US" sz="2800">
                <a:solidFill>
                  <a:srgbClr val="1A2F2F"/>
                </a:solidFill>
                <a:latin typeface="Segoe UI"/>
              </a:rPr>
              <a:t> </a:t>
            </a:r>
            <a:r>
              <a:rPr sz="2800">
                <a:solidFill>
                  <a:srgbClr val="1A2F2F"/>
                </a:solidFill>
                <a:latin typeface="Segoe UI"/>
              </a:rPr>
              <a:t>–  Đo lường khối u OMA: Khi phát hiện u lạc nội mạc buồng trứng, bắt buộc đo kích thước 3 chiều và thể tích u, khảo sát cả 2 bên buồng trứng.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Quy Trình IDEA — Bước 2: Tìm Kiếm Các Dấu Hiệu Siêu Âm Mềm (Soft Markers)</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Độ di động buồng trứng: Dùng tay ấn nhẹ vùng hạ vị kết hợp đầu dò kiểm tra buồng trứng có trượt tự do trên thành chậu hay bị dính chặt vào hố buồng trứng.</a:t>
            </a:r>
          </a:p>
          <a:p>
            <a:pPr>
              <a:spcBef>
                <a:spcPts val="500"/>
              </a:spcBef>
              <a:spcAft>
                <a:spcPts val="200"/>
              </a:spcAft>
            </a:pPr>
            <a:r>
              <a:rPr sz="2400">
                <a:solidFill>
                  <a:srgbClr val="1A2F2F"/>
                </a:solidFill>
                <a:latin typeface="Segoe UI"/>
              </a:rPr>
              <a:t>  –  Dấu hiệu buồng trứng dính nhau ('Kissing Ovaries'): Cả 2 buồng trứng bị kéo dính sát vào nhau ở đường giữa phía sau tử cung.</a:t>
            </a:r>
          </a:p>
          <a:p>
            <a:pPr>
              <a:spcBef>
                <a:spcPts val="500"/>
              </a:spcBef>
              <a:spcAft>
                <a:spcPts val="200"/>
              </a:spcAft>
            </a:pPr>
            <a:r>
              <a:rPr sz="2400">
                <a:solidFill>
                  <a:srgbClr val="1A2F2F"/>
                </a:solidFill>
                <a:latin typeface="Segoe UI"/>
              </a:rPr>
              <a:t>  –  Ý nghĩa của 'Kissing Ovaries': Là chỉ điểm hình ảnh của tình trạng dính vùng chậu nặng nề, u OMA hai bên và lạc nội mạc ở ruột.</a:t>
            </a:r>
          </a:p>
          <a:p>
            <a:pPr>
              <a:spcBef>
                <a:spcPts val="500"/>
              </a:spcBef>
              <a:spcAft>
                <a:spcPts val="200"/>
              </a:spcAft>
            </a:pPr>
            <a:r>
              <a:rPr sz="2400">
                <a:solidFill>
                  <a:srgbClr val="1A2F2F"/>
                </a:solidFill>
                <a:latin typeface="Segoe UI"/>
              </a:rPr>
              <a:t>  –  Điểm đau khu trú tại chỗ </a:t>
            </a:r>
            <a:r>
              <a:rPr lang="en-US" sz="2400">
                <a:solidFill>
                  <a:srgbClr val="1A2F2F"/>
                </a:solidFill>
                <a:latin typeface="Segoe UI"/>
              </a:rPr>
              <a:t>: </a:t>
            </a:r>
            <a:r>
              <a:rPr sz="2400">
                <a:solidFill>
                  <a:srgbClr val="1A2F2F"/>
                </a:solidFill>
                <a:latin typeface="Segoe UI"/>
              </a:rPr>
              <a:t>Nhận biết chính xác vị trí đau chói khi đầu dò chạm vào dây chằng tử cung - cùng hoặc túi cùng Douglas.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Quy Trình IDEA — Bước 3: Đánh Giá Túi Cùng Sau Bằng Dấu Hiệu Trượt (Sliding Sign)</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1375" y="1466596"/>
            <a:ext cx="5321616" cy="524759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Kỹ thuật thực hiện: </a:t>
            </a:r>
            <a:endParaRPr lang="en-US" sz="2000">
              <a:solidFill>
                <a:srgbClr val="1A2F2F"/>
              </a:solidFill>
              <a:latin typeface="Segoe UI"/>
            </a:endParaRPr>
          </a:p>
          <a:p>
            <a:pPr>
              <a:spcBef>
                <a:spcPts val="500"/>
              </a:spcBef>
              <a:spcAft>
                <a:spcPts val="200"/>
              </a:spcAft>
            </a:pPr>
            <a:r>
              <a:rPr lang="vi-VN" sz="2000">
                <a:solidFill>
                  <a:srgbClr val="1A2F2F"/>
                </a:solidFill>
                <a:latin typeface="Segoe UI"/>
              </a:rPr>
              <a:t>•	Đối với Tử cung ngả trước </a:t>
            </a:r>
            <a:br>
              <a:rPr lang="en-US" sz="2000">
                <a:solidFill>
                  <a:srgbClr val="1A2F2F"/>
                </a:solidFill>
                <a:latin typeface="Segoe UI"/>
              </a:rPr>
            </a:br>
            <a:r>
              <a:rPr lang="en-US" sz="2000">
                <a:solidFill>
                  <a:srgbClr val="1A2F2F"/>
                </a:solidFill>
                <a:latin typeface="Segoe UI"/>
              </a:rPr>
              <a:t> - </a:t>
            </a:r>
            <a:r>
              <a:rPr lang="vi-VN" sz="2000">
                <a:solidFill>
                  <a:srgbClr val="1A2F2F"/>
                </a:solidFill>
                <a:latin typeface="Segoe UI"/>
              </a:rPr>
              <a:t>Đặt đầu dò âm đạo tại cùng đồ trước hoặc ấn nhẹ vào mặt trước cổ tử cung.</a:t>
            </a:r>
            <a:endParaRPr lang="en-US" sz="2000">
              <a:solidFill>
                <a:srgbClr val="1A2F2F"/>
              </a:solidFill>
              <a:latin typeface="Segoe UI"/>
            </a:endParaRPr>
          </a:p>
          <a:p>
            <a:pPr marL="285750" indent="-285750">
              <a:spcBef>
                <a:spcPts val="500"/>
              </a:spcBef>
              <a:spcAft>
                <a:spcPts val="200"/>
              </a:spcAft>
              <a:buFontTx/>
              <a:buChar char="-"/>
            </a:pPr>
            <a:r>
              <a:rPr lang="vi-VN" sz="2000">
                <a:solidFill>
                  <a:srgbClr val="1A2F2F"/>
                </a:solidFill>
                <a:latin typeface="Segoe UI"/>
              </a:rPr>
              <a:t>Tay trên thành bụng ấn đẩy đáy tử cung ra sau, đồng thời đầu dò đẩy nhẹ cổ tử cung.</a:t>
            </a:r>
            <a:endParaRPr lang="en-US" sz="2000">
              <a:solidFill>
                <a:srgbClr val="1A2F2F"/>
              </a:solidFill>
              <a:latin typeface="Segoe UI"/>
            </a:endParaRPr>
          </a:p>
          <a:p>
            <a:pPr marL="285750" indent="-285750">
              <a:spcBef>
                <a:spcPts val="500"/>
              </a:spcBef>
              <a:spcAft>
                <a:spcPts val="200"/>
              </a:spcAft>
              <a:buFontTx/>
              <a:buChar char="-"/>
            </a:pPr>
            <a:r>
              <a:rPr lang="vi-VN" sz="2000">
                <a:solidFill>
                  <a:srgbClr val="1A2F2F"/>
                </a:solidFill>
                <a:latin typeface="Segoe UI"/>
              </a:rPr>
              <a:t>Quan sát sự trượt giữa thành trước trực tràng/sigma và thành sau cổ tử cung/âm đạo.</a:t>
            </a:r>
          </a:p>
          <a:p>
            <a:pPr>
              <a:spcBef>
                <a:spcPts val="500"/>
              </a:spcBef>
              <a:spcAft>
                <a:spcPts val="200"/>
              </a:spcAft>
            </a:pPr>
            <a:r>
              <a:rPr lang="vi-VN" sz="2000">
                <a:solidFill>
                  <a:srgbClr val="1A2F2F"/>
                </a:solidFill>
                <a:latin typeface="Segoe UI"/>
              </a:rPr>
              <a:t>•	Đối với Tử cung ngả sau </a:t>
            </a:r>
            <a:endParaRPr lang="en-US" sz="2000">
              <a:solidFill>
                <a:srgbClr val="1A2F2F"/>
              </a:solidFill>
              <a:latin typeface="Segoe UI"/>
            </a:endParaRPr>
          </a:p>
          <a:p>
            <a:pPr>
              <a:spcBef>
                <a:spcPts val="500"/>
              </a:spcBef>
              <a:spcAft>
                <a:spcPts val="200"/>
              </a:spcAft>
            </a:pPr>
            <a:r>
              <a:rPr lang="en-US" sz="2000">
                <a:solidFill>
                  <a:srgbClr val="1A2F2F"/>
                </a:solidFill>
                <a:latin typeface="Segoe UI"/>
              </a:rPr>
              <a:t>-  </a:t>
            </a:r>
            <a:r>
              <a:rPr lang="vi-VN" sz="2000">
                <a:solidFill>
                  <a:srgbClr val="1A2F2F"/>
                </a:solidFill>
                <a:latin typeface="Segoe UI"/>
              </a:rPr>
              <a:t>Đặt đầu dò tại cùng đồ sau, ấn nhẹ vào thành sau đáy tử cung.</a:t>
            </a:r>
            <a:endParaRPr lang="en-US" sz="2000">
              <a:solidFill>
                <a:srgbClr val="1A2F2F"/>
              </a:solidFill>
              <a:latin typeface="Segoe UI"/>
            </a:endParaRPr>
          </a:p>
          <a:p>
            <a:pPr marL="285750" indent="-285750">
              <a:spcBef>
                <a:spcPts val="500"/>
              </a:spcBef>
              <a:spcAft>
                <a:spcPts val="200"/>
              </a:spcAft>
              <a:buFontTx/>
              <a:buChar char="-"/>
            </a:pPr>
            <a:r>
              <a:rPr lang="vi-VN" sz="2000">
                <a:solidFill>
                  <a:srgbClr val="1A2F2F"/>
                </a:solidFill>
                <a:latin typeface="Segoe UI"/>
              </a:rPr>
              <a:t>Quan sát xem thành trước trực tràng có trượt tự do trên mặt sau đáy tử cung hay không.</a:t>
            </a:r>
          </a:p>
        </p:txBody>
      </p:sp>
      <p:pic>
        <p:nvPicPr>
          <p:cNvPr id="8" name="Picture 7">
            <a:extLst>
              <a:ext uri="{FF2B5EF4-FFF2-40B4-BE49-F238E27FC236}">
                <a16:creationId xmlns:a16="http://schemas.microsoft.com/office/drawing/2014/main" id="{711D13A3-AF70-2A2E-FCC5-FBBBC8BCA90D}"/>
              </a:ext>
            </a:extLst>
          </p:cNvPr>
          <p:cNvPicPr>
            <a:picLocks noChangeAspect="1"/>
          </p:cNvPicPr>
          <p:nvPr/>
        </p:nvPicPr>
        <p:blipFill>
          <a:blip r:embed="rId2"/>
          <a:stretch>
            <a:fillRect/>
          </a:stretch>
        </p:blipFill>
        <p:spPr>
          <a:xfrm>
            <a:off x="5382347" y="1466596"/>
            <a:ext cx="6808067" cy="312225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6F5E7-C370-5839-C902-CDF65BD60B1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F58867C-79D3-FCB5-DBE8-1B806C210885}"/>
              </a:ext>
            </a:extLst>
          </p:cNvPr>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03C5775-C0D3-D89D-8BBF-6495A12D7456}"/>
              </a:ext>
            </a:extLst>
          </p:cNvPr>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Quy Trình IDEA — Bước 3: Đánh Giá Túi Cùng Sau Bằng Dấu Hiệu Trượt (Sliding Sign)</a:t>
            </a:r>
          </a:p>
        </p:txBody>
      </p:sp>
      <p:sp>
        <p:nvSpPr>
          <p:cNvPr id="5" name="Rectangle 4">
            <a:extLst>
              <a:ext uri="{FF2B5EF4-FFF2-40B4-BE49-F238E27FC236}">
                <a16:creationId xmlns:a16="http://schemas.microsoft.com/office/drawing/2014/main" id="{A8C8F6CE-91EC-1617-5625-72C304221D36}"/>
              </a:ext>
            </a:extLst>
          </p:cNvPr>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24F6E67-013D-1A52-6ED4-E6DF59038A27}"/>
              </a:ext>
            </a:extLst>
          </p:cNvPr>
          <p:cNvSpPr txBox="1"/>
          <p:nvPr/>
        </p:nvSpPr>
        <p:spPr>
          <a:xfrm>
            <a:off x="591376" y="1466596"/>
            <a:ext cx="11245897" cy="2823850"/>
          </a:xfrm>
          <a:prstGeom prst="rect">
            <a:avLst/>
          </a:prstGeom>
          <a:noFill/>
        </p:spPr>
        <p:txBody>
          <a:bodyPr wrap="square" lIns="36576" rIns="36576">
            <a:spAutoFit/>
          </a:bodyPr>
          <a:lstStyle/>
          <a:p>
            <a:pPr>
              <a:spcBef>
                <a:spcPts val="500"/>
              </a:spcBef>
              <a:spcAft>
                <a:spcPts val="200"/>
              </a:spcAft>
            </a:pPr>
            <a:r>
              <a:rPr lang="vi-VN" sz="2000">
                <a:solidFill>
                  <a:srgbClr val="1A2F2F"/>
                </a:solidFill>
                <a:latin typeface="Segoe UI"/>
              </a:rPr>
              <a:t>–  </a:t>
            </a:r>
            <a:r>
              <a:rPr lang="vi-VN" sz="2000" b="1">
                <a:solidFill>
                  <a:srgbClr val="1A2F2F"/>
                </a:solidFill>
                <a:latin typeface="Segoe UI"/>
              </a:rPr>
              <a:t>Sliding Sign dương tính (+): </a:t>
            </a:r>
            <a:r>
              <a:rPr lang="vi-VN" sz="2000">
                <a:solidFill>
                  <a:srgbClr val="1A2F2F"/>
                </a:solidFill>
                <a:latin typeface="Segoe UI"/>
              </a:rPr>
              <a:t>Thành trước trực tràng trượt êm dịu trên thành sau cổ tử cung/âm đạo → Túi cùng Douglas hoàn toàn thông thoáng.</a:t>
            </a:r>
          </a:p>
          <a:p>
            <a:pPr>
              <a:spcBef>
                <a:spcPts val="500"/>
              </a:spcBef>
              <a:spcAft>
                <a:spcPts val="200"/>
              </a:spcAft>
            </a:pPr>
            <a:r>
              <a:rPr lang="vi-VN" sz="2000">
                <a:solidFill>
                  <a:srgbClr val="1A2F2F"/>
                </a:solidFill>
                <a:latin typeface="Segoe UI"/>
              </a:rPr>
              <a:t>  –  </a:t>
            </a:r>
            <a:r>
              <a:rPr lang="vi-VN" sz="2000" b="1">
                <a:solidFill>
                  <a:srgbClr val="1A2F2F"/>
                </a:solidFill>
                <a:latin typeface="Segoe UI"/>
              </a:rPr>
              <a:t>Sliding Sign âm tính (-): </a:t>
            </a:r>
            <a:r>
              <a:rPr lang="vi-VN" sz="2000">
                <a:solidFill>
                  <a:srgbClr val="1A2F2F"/>
                </a:solidFill>
                <a:latin typeface="Segoe UI"/>
              </a:rPr>
              <a:t>Trực tràng dính chặt bất động vào mặt sau tử cung → Túi cùng Douglas bị bít tắc hoàn toàn </a:t>
            </a:r>
          </a:p>
          <a:p>
            <a:pPr>
              <a:spcBef>
                <a:spcPts val="500"/>
              </a:spcBef>
              <a:spcAft>
                <a:spcPts val="200"/>
              </a:spcAft>
            </a:pPr>
            <a:r>
              <a:rPr lang="vi-VN" sz="2000">
                <a:solidFill>
                  <a:srgbClr val="1A2F2F"/>
                </a:solidFill>
                <a:latin typeface="Segoe UI"/>
              </a:rPr>
              <a:t>–  Bít tắc một phần : Vùng giữa vẫn trượt được nhưng thành bên (vùng dây chằng tử cung - cùng) bị dính bất động.</a:t>
            </a:r>
          </a:p>
          <a:p>
            <a:pPr>
              <a:spcBef>
                <a:spcPts val="500"/>
              </a:spcBef>
              <a:spcAft>
                <a:spcPts val="200"/>
              </a:spcAft>
            </a:pPr>
            <a:r>
              <a:rPr lang="vi-VN" sz="2000">
                <a:solidFill>
                  <a:srgbClr val="1A2F2F"/>
                </a:solidFill>
                <a:latin typeface="Segoe UI"/>
              </a:rPr>
              <a:t> –  Cảnh báo lâm sàng: Sliding Sign âm tính là dấu hiệu báo trước nguy cơ chọc hút noãn hoặc phẫu thuật bóc tách cực kỳ phức tạp.</a:t>
            </a:r>
          </a:p>
        </p:txBody>
      </p:sp>
    </p:spTree>
    <p:extLst>
      <p:ext uri="{BB962C8B-B14F-4D97-AF65-F5344CB8AC3E}">
        <p14:creationId xmlns:p14="http://schemas.microsoft.com/office/powerpoint/2010/main" val="32370227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sz="2700" b="1">
                <a:solidFill>
                  <a:srgbClr val="0D2B2B"/>
                </a:solidFill>
                <a:latin typeface="Segoe UI"/>
              </a:rPr>
              <a:t>Quy Trình IDEA — Bước 4: Khảo Sát Lạc Nội Mạc Tử Cung Sâu (DIE)</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316292"/>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Khoang trước: Khảo sát thành bàng quang, tam giác bàng quang và nếp gấp tử cung - bàng quang (tìm nốt thâm nhiễm giảm âm).</a:t>
            </a:r>
          </a:p>
          <a:p>
            <a:pPr>
              <a:spcBef>
                <a:spcPts val="500"/>
              </a:spcBef>
              <a:spcAft>
                <a:spcPts val="200"/>
              </a:spcAft>
            </a:pPr>
            <a:r>
              <a:rPr sz="2400">
                <a:solidFill>
                  <a:srgbClr val="1A2F2F"/>
                </a:solidFill>
                <a:latin typeface="Segoe UI"/>
              </a:rPr>
              <a:t>  –  Khoang sau — Dây chằng tử cung - cùng: Quan sát dải giảm âm dày không đều hoặc nốt đặc gồ ghề.</a:t>
            </a:r>
          </a:p>
          <a:p>
            <a:pPr>
              <a:spcBef>
                <a:spcPts val="500"/>
              </a:spcBef>
              <a:spcAft>
                <a:spcPts val="200"/>
              </a:spcAft>
            </a:pPr>
            <a:r>
              <a:rPr sz="2400">
                <a:solidFill>
                  <a:srgbClr val="1A2F2F"/>
                </a:solidFill>
                <a:latin typeface="Segoe UI"/>
              </a:rPr>
              <a:t>  –  Khoang sau — Vách trực tràng - âm đạo: Khảo sát khoang giữa thành sau âm đạo và thành trước trực tràng.</a:t>
            </a:r>
          </a:p>
          <a:p>
            <a:pPr>
              <a:spcBef>
                <a:spcPts val="500"/>
              </a:spcBef>
              <a:spcAft>
                <a:spcPts val="200"/>
              </a:spcAft>
            </a:pPr>
            <a:r>
              <a:rPr sz="2400">
                <a:solidFill>
                  <a:srgbClr val="1A2F2F"/>
                </a:solidFill>
                <a:latin typeface="Segoe UI"/>
              </a:rPr>
              <a:t>  –  Khoang sau — Ruột: Đánh giá thành cơ trực tràng và đại tràng sigma (tìm nốt hình nón/hình liềm giảm âm làm dày lớp cơ ruột).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U Lạc Nội Mạc Buồng Trứng (Endometrioma) </a:t>
            </a:r>
            <a:endParaRPr lang="en-US" sz="2700" b="1">
              <a:solidFill>
                <a:srgbClr val="0D2B2B"/>
              </a:solidFill>
              <a:latin typeface="Segoe UI"/>
            </a:endParaRPr>
          </a:p>
          <a:p>
            <a:pPr algn="l"/>
            <a:r>
              <a:rPr sz="2700" b="1">
                <a:solidFill>
                  <a:srgbClr val="0D2B2B"/>
                </a:solidFill>
                <a:latin typeface="Segoe UI"/>
              </a:rPr>
              <a:t> Đặc Điểm Siêu Âm Điển Hình</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316292"/>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Hình dạng &amp; Thành nang: Khối dạng nang tròn hoặc bầu dục, bờ đều đặn, thành nang dày và tăng âm nhẹ.</a:t>
            </a:r>
          </a:p>
          <a:p>
            <a:pPr>
              <a:spcBef>
                <a:spcPts val="500"/>
              </a:spcBef>
              <a:spcAft>
                <a:spcPts val="200"/>
              </a:spcAft>
            </a:pPr>
            <a:r>
              <a:rPr sz="2400">
                <a:solidFill>
                  <a:srgbClr val="1A2F2F"/>
                </a:solidFill>
                <a:latin typeface="Segoe UI"/>
              </a:rPr>
              <a:t>  –  Hồi âm dạng 'Kính Mờ’</a:t>
            </a:r>
            <a:r>
              <a:rPr lang="en-US" sz="2400">
                <a:solidFill>
                  <a:srgbClr val="1A2F2F"/>
                </a:solidFill>
                <a:latin typeface="Segoe UI"/>
              </a:rPr>
              <a:t> : </a:t>
            </a:r>
            <a:r>
              <a:rPr sz="2400">
                <a:solidFill>
                  <a:srgbClr val="1A2F2F"/>
                </a:solidFill>
                <a:latin typeface="Segoe UI"/>
              </a:rPr>
              <a:t>Cấu trúc hồi âm kém đồng nhất mịn màng tạo bởi hàng triệu hồng cầu thoái hóa và hemosiderin lơ lửng.</a:t>
            </a:r>
          </a:p>
          <a:p>
            <a:pPr>
              <a:spcBef>
                <a:spcPts val="500"/>
              </a:spcBef>
              <a:spcAft>
                <a:spcPts val="200"/>
              </a:spcAft>
            </a:pPr>
            <a:r>
              <a:rPr sz="2400">
                <a:solidFill>
                  <a:srgbClr val="1A2F2F"/>
                </a:solidFill>
                <a:latin typeface="Segoe UI"/>
              </a:rPr>
              <a:t>  –  Đặc điểm Doppler màu: Hoàn toàn không có tín hiệu mạch máu bên trong lòng nang (chỉ thấy viền mạch máu ngoại vi ở vỏ buồng trứng lành).</a:t>
            </a:r>
          </a:p>
          <a:p>
            <a:pPr>
              <a:spcBef>
                <a:spcPts val="500"/>
              </a:spcBef>
              <a:spcAft>
                <a:spcPts val="200"/>
              </a:spcAft>
            </a:pPr>
            <a:r>
              <a:rPr sz="2400">
                <a:solidFill>
                  <a:srgbClr val="1A2F2F"/>
                </a:solidFill>
                <a:latin typeface="Segoe UI"/>
              </a:rPr>
              <a:t>  –  Tính chất tồn tại: Tồn tại dai dẳng qua nhiều chu kỳ kinh nguyệt liên tiếp (khác nang hoàng thể tự biến mất).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Natural history of ovarian endometrioma in pregnancy | BMC Women's Health |  Springer Nature Link">
            <a:extLst>
              <a:ext uri="{FF2B5EF4-FFF2-40B4-BE49-F238E27FC236}">
                <a16:creationId xmlns:a16="http://schemas.microsoft.com/office/drawing/2014/main" id="{B850F532-6A5A-8F57-8923-28812F150F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032" y="1590073"/>
            <a:ext cx="11430000" cy="2905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3010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sz="2700" b="1">
                <a:solidFill>
                  <a:srgbClr val="0D2B2B"/>
                </a:solidFill>
                <a:latin typeface="Segoe UI"/>
              </a:rPr>
              <a:t>U Lạc Nội Mạc Buồng Trứng — Chẩn Đoán Phân Biệt Trên Siêu Âm</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Nang hoàng thể xuất huyết: Có mạng lưới sợi fibrin dạng mạng nhện hoặc mạng lưới tổ ong và sẽ tự tiêu biến sau 1 - 2 chu kỳ kinh.</a:t>
            </a:r>
          </a:p>
          <a:p>
            <a:pPr>
              <a:spcBef>
                <a:spcPts val="500"/>
              </a:spcBef>
              <a:spcAft>
                <a:spcPts val="200"/>
              </a:spcAft>
            </a:pPr>
            <a:r>
              <a:rPr sz="2400">
                <a:solidFill>
                  <a:srgbClr val="1A2F2F"/>
                </a:solidFill>
                <a:latin typeface="Segoe UI"/>
              </a:rPr>
              <a:t>  –  U quái buồng trứng (Dermoid cyst / Teratoma): Chứa các dải tăng âm dạng vệt tóc (dermoid mesh) hoặc nốt tăng âm kèm bóng lưng cản âm mạnh (</a:t>
            </a:r>
            <a:r>
              <a:rPr lang="en-US" sz="2400">
                <a:solidFill>
                  <a:srgbClr val="1A2F2F"/>
                </a:solidFill>
                <a:latin typeface="Segoe UI"/>
              </a:rPr>
              <a:t>nốt </a:t>
            </a:r>
            <a:r>
              <a:rPr sz="2400">
                <a:solidFill>
                  <a:srgbClr val="1A2F2F"/>
                </a:solidFill>
                <a:latin typeface="Segoe UI"/>
              </a:rPr>
              <a:t>Rokitansky).</a:t>
            </a:r>
          </a:p>
          <a:p>
            <a:pPr>
              <a:spcBef>
                <a:spcPts val="500"/>
              </a:spcBef>
              <a:spcAft>
                <a:spcPts val="200"/>
              </a:spcAft>
            </a:pPr>
            <a:r>
              <a:rPr sz="2400">
                <a:solidFill>
                  <a:srgbClr val="1A2F2F"/>
                </a:solidFill>
                <a:latin typeface="Segoe UI"/>
              </a:rPr>
              <a:t>  –  U nang thanh dịch buồng trứng: Lòng nang trống âm hoàn toàn thành mỏng nhẵn, dịch trong.</a:t>
            </a:r>
          </a:p>
          <a:p>
            <a:pPr>
              <a:spcBef>
                <a:spcPts val="500"/>
              </a:spcBef>
              <a:spcAft>
                <a:spcPts val="200"/>
              </a:spcAft>
            </a:pPr>
            <a:r>
              <a:rPr sz="2400">
                <a:solidFill>
                  <a:srgbClr val="1A2F2F"/>
                </a:solidFill>
                <a:latin typeface="Segoe UI"/>
              </a:rPr>
              <a:t>  –  Áp xe buồng trứng </a:t>
            </a:r>
            <a:r>
              <a:rPr lang="en-US" sz="2400">
                <a:solidFill>
                  <a:srgbClr val="1A2F2F"/>
                </a:solidFill>
                <a:latin typeface="Segoe UI"/>
              </a:rPr>
              <a:t>: </a:t>
            </a:r>
            <a:r>
              <a:rPr sz="2400">
                <a:solidFill>
                  <a:srgbClr val="1A2F2F"/>
                </a:solidFill>
                <a:latin typeface="Segoe UI"/>
              </a:rPr>
              <a:t>Nang chứa dịch đục lợn cợn không đồng nhất kèm vách dày tăng sinh mạch máu dữ dội và hội chứng nhiễm trùng trên lâm sàng.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Quy Tắc IOTA (International Ovarian Tumor Analysis) </a:t>
            </a:r>
            <a:endParaRPr lang="en-US" sz="2700" b="1">
              <a:solidFill>
                <a:srgbClr val="0D2B2B"/>
              </a:solidFill>
              <a:latin typeface="Segoe UI"/>
            </a:endParaRPr>
          </a:p>
          <a:p>
            <a:pPr algn="l"/>
            <a:r>
              <a:rPr sz="2700" b="1">
                <a:solidFill>
                  <a:srgbClr val="0D2B2B"/>
                </a:solidFill>
                <a:latin typeface="Segoe UI"/>
              </a:rPr>
              <a:t> Loại Trừ Thoái Hóa Ác Tính</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1"/>
            <a:ext cx="11064240" cy="3529171"/>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Nguy cơ ung thư: U OMA có nguy cơ thoái hóa thành ung thư buồng trứng dạng nội mạc hoặc tế bào sáng (Endometrioid / Clear Cell Carcinoma).</a:t>
            </a:r>
          </a:p>
          <a:p>
            <a:pPr>
              <a:spcBef>
                <a:spcPts val="500"/>
              </a:spcBef>
              <a:spcAft>
                <a:spcPts val="200"/>
              </a:spcAft>
            </a:pPr>
            <a:r>
              <a:rPr sz="2000">
                <a:solidFill>
                  <a:srgbClr val="1A2F2F"/>
                </a:solidFill>
                <a:latin typeface="Segoe UI"/>
              </a:rPr>
              <a:t>  –  Dấu hiệu báo động 1 </a:t>
            </a:r>
            <a:r>
              <a:rPr sz="2000" b="1" i="1">
                <a:solidFill>
                  <a:srgbClr val="1A2F2F"/>
                </a:solidFill>
                <a:latin typeface="Segoe UI"/>
              </a:rPr>
              <a:t>— Chồi nhú đặc</a:t>
            </a:r>
            <a:r>
              <a:rPr lang="en-US" sz="2000" b="1" i="1">
                <a:solidFill>
                  <a:srgbClr val="1A2F2F"/>
                </a:solidFill>
                <a:latin typeface="Segoe UI"/>
              </a:rPr>
              <a:t> </a:t>
            </a:r>
            <a:r>
              <a:rPr sz="2000">
                <a:solidFill>
                  <a:srgbClr val="1A2F2F"/>
                </a:solidFill>
                <a:latin typeface="Segoe UI"/>
              </a:rPr>
              <a:t>: Xuất hiện phần mô đặc dạng nhú nhô từ vách vào trong lòng nang.</a:t>
            </a:r>
          </a:p>
          <a:p>
            <a:pPr>
              <a:spcBef>
                <a:spcPts val="500"/>
              </a:spcBef>
              <a:spcAft>
                <a:spcPts val="200"/>
              </a:spcAft>
            </a:pPr>
            <a:r>
              <a:rPr sz="2000">
                <a:solidFill>
                  <a:srgbClr val="1A2F2F"/>
                </a:solidFill>
                <a:latin typeface="Segoe UI"/>
              </a:rPr>
              <a:t>  –  Dấu hiệu báo động 2 — </a:t>
            </a:r>
            <a:r>
              <a:rPr sz="2000" b="1" i="1">
                <a:solidFill>
                  <a:srgbClr val="1A2F2F"/>
                </a:solidFill>
                <a:latin typeface="Segoe UI"/>
              </a:rPr>
              <a:t>Tăng sinh mạch máu Doppler</a:t>
            </a:r>
            <a:r>
              <a:rPr sz="2000">
                <a:solidFill>
                  <a:srgbClr val="1A2F2F"/>
                </a:solidFill>
                <a:latin typeface="Segoe UI"/>
              </a:rPr>
              <a:t>: Tín hiệu mạch máu phong phú bên trong phần nhú đặc (Color Score 3 - 4).</a:t>
            </a:r>
          </a:p>
          <a:p>
            <a:pPr>
              <a:spcBef>
                <a:spcPts val="500"/>
              </a:spcBef>
              <a:spcAft>
                <a:spcPts val="200"/>
              </a:spcAft>
            </a:pPr>
            <a:r>
              <a:rPr sz="2000">
                <a:solidFill>
                  <a:srgbClr val="1A2F2F"/>
                </a:solidFill>
                <a:latin typeface="Segoe UI"/>
              </a:rPr>
              <a:t>  –  Dấu hiệu báo động 3 — </a:t>
            </a:r>
            <a:r>
              <a:rPr sz="2000" b="1" i="1">
                <a:solidFill>
                  <a:srgbClr val="1A2F2F"/>
                </a:solidFill>
                <a:latin typeface="Segoe UI"/>
              </a:rPr>
              <a:t>Vách ngăn dày &amp; Cổ trướng</a:t>
            </a:r>
            <a:r>
              <a:rPr sz="2000">
                <a:solidFill>
                  <a:srgbClr val="1A2F2F"/>
                </a:solidFill>
                <a:latin typeface="Segoe UI"/>
              </a:rPr>
              <a:t>: Vách ngăn dày bất thường (&gt; 3 mm), nhiều thùy hoặc có dịch tự do ổ bụng.</a:t>
            </a:r>
          </a:p>
          <a:p>
            <a:pPr>
              <a:spcBef>
                <a:spcPts val="500"/>
              </a:spcBef>
              <a:spcAft>
                <a:spcPts val="200"/>
              </a:spcAft>
            </a:pPr>
            <a:r>
              <a:rPr sz="2000">
                <a:solidFill>
                  <a:srgbClr val="1A2F2F"/>
                </a:solidFill>
                <a:latin typeface="Segoe UI"/>
              </a:rPr>
              <a:t>  –  Yếu tố nguy cơ cao: Bệnh nhân trên 40 tuổi hoặc khối u OMA</a:t>
            </a:r>
            <a:r>
              <a:rPr lang="en-US" sz="2000">
                <a:solidFill>
                  <a:srgbClr val="1A2F2F"/>
                </a:solidFill>
                <a:latin typeface="Segoe UI"/>
              </a:rPr>
              <a:t> ( u LNM) </a:t>
            </a:r>
            <a:r>
              <a:rPr sz="2000">
                <a:solidFill>
                  <a:srgbClr val="1A2F2F"/>
                </a:solidFill>
                <a:latin typeface="Segoe UI"/>
              </a:rPr>
              <a:t>tăng nhanh kích thước sau mãn kinh.</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Đồng Thuận Quốc Tế MUSA 2022 — Hệ Thống 9 Tiêu Chuẩn Siêu Âm Adenomyosis</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316292"/>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Đồng thuận MUSA 2022 (Harmsen et al., UOG 2022): Hoàn thiện chuẩn hóa 9 đặc điểm siêu âm phân định rõ ràng giữa Dấu hiệu trực tiếp và Dấu hiệu gián tiếp.</a:t>
            </a:r>
          </a:p>
          <a:p>
            <a:pPr>
              <a:spcBef>
                <a:spcPts val="500"/>
              </a:spcBef>
              <a:spcAft>
                <a:spcPts val="200"/>
              </a:spcAft>
            </a:pPr>
            <a:r>
              <a:rPr sz="2400">
                <a:solidFill>
                  <a:srgbClr val="1A2F2F"/>
                </a:solidFill>
                <a:latin typeface="Segoe UI"/>
              </a:rPr>
              <a:t>  –  Nhóm Dấu hiệu Trực tiếp (Direct Features): Gồm 4 đặc điểm phản ánh mô bệnh học tuyến nội mạc trong cơ, có giá trị khẳng định cao.</a:t>
            </a:r>
          </a:p>
          <a:p>
            <a:pPr>
              <a:spcBef>
                <a:spcPts val="500"/>
              </a:spcBef>
              <a:spcAft>
                <a:spcPts val="200"/>
              </a:spcAft>
            </a:pPr>
            <a:r>
              <a:rPr sz="2400">
                <a:solidFill>
                  <a:srgbClr val="1A2F2F"/>
                </a:solidFill>
                <a:latin typeface="Segoe UI"/>
              </a:rPr>
              <a:t>  –  Nhóm Dấu hiệu Gián tiếp (Indirect Features): Gồm 5 đặc điểm phản ánh phản ứng phì đại xơ hóa cơ tử cung và bất thường vùng chuyển tiếp JZ.</a:t>
            </a:r>
          </a:p>
          <a:p>
            <a:pPr>
              <a:spcBef>
                <a:spcPts val="500"/>
              </a:spcBef>
              <a:spcAft>
                <a:spcPts val="200"/>
              </a:spcAft>
            </a:pPr>
            <a:r>
              <a:rPr sz="2400">
                <a:solidFill>
                  <a:srgbClr val="1A2F2F"/>
                </a:solidFill>
                <a:latin typeface="Segoe UI"/>
              </a:rPr>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Tiêu Chuẩn MUSA 2022 </a:t>
            </a:r>
            <a:endParaRPr lang="en-US" sz="2700" b="1">
              <a:solidFill>
                <a:srgbClr val="0D2B2B"/>
              </a:solidFill>
              <a:latin typeface="Segoe UI"/>
            </a:endParaRPr>
          </a:p>
          <a:p>
            <a:pPr algn="l"/>
            <a:r>
              <a:rPr sz="2700" b="1">
                <a:solidFill>
                  <a:srgbClr val="0D2B2B"/>
                </a:solidFill>
                <a:latin typeface="Segoe UI"/>
              </a:rPr>
              <a:t> Dấu Hiệu Trực Tiếp: Nang Cơ Tử Cung &amp; Đảo Tăng Âm</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1. Nang cơ tử cung (Myometrial cysts): Các ổ trống âm hoặc giảm âm nhỏ 1 - 5 mm nằm trong lớp cơ tử cung, được bao bọc bởi một viền tăng âm mỏng (hyperechoic rim/halo).</a:t>
            </a:r>
          </a:p>
          <a:p>
            <a:pPr>
              <a:spcBef>
                <a:spcPts val="500"/>
              </a:spcBef>
              <a:spcAft>
                <a:spcPts val="200"/>
              </a:spcAft>
            </a:pPr>
            <a:r>
              <a:rPr sz="2400">
                <a:solidFill>
                  <a:srgbClr val="1A2F2F"/>
                </a:solidFill>
                <a:latin typeface="Segoe UI"/>
              </a:rPr>
              <a:t>  –  Bản chất của Nang cơ: Tuyến nội mạc đáy lạc vào cơ chảy máu chu kỳ tích tụ thành nang máu vi thể; viền tăng âm tương ứng lớp mô đệm nội mạc bao quanh.</a:t>
            </a:r>
          </a:p>
          <a:p>
            <a:pPr>
              <a:spcBef>
                <a:spcPts val="500"/>
              </a:spcBef>
              <a:spcAft>
                <a:spcPts val="200"/>
              </a:spcAft>
            </a:pPr>
            <a:r>
              <a:rPr sz="2400">
                <a:solidFill>
                  <a:srgbClr val="1A2F2F"/>
                </a:solidFill>
                <a:latin typeface="Segoe UI"/>
              </a:rPr>
              <a:t>  –  2. Đảo tăng âm (Hyperechoic islands): Các nốt/vùng tăng âm nhỏ nằm trong nhu mô cơ tử cung, không có bóng cản âm phía sau.</a:t>
            </a:r>
          </a:p>
          <a:p>
            <a:pPr>
              <a:spcBef>
                <a:spcPts val="500"/>
              </a:spcBef>
              <a:spcAft>
                <a:spcPts val="200"/>
              </a:spcAft>
            </a:pPr>
            <a:r>
              <a:rPr sz="2400">
                <a:solidFill>
                  <a:srgbClr val="1A2F2F"/>
                </a:solidFill>
                <a:latin typeface="Segoe UI"/>
              </a:rPr>
              <a:t>  –  Bản chất của Đảo tăng âm: Tương ứng với các đám mô đệm nội mạc tử cung (endometrial stroma) lạc chỗ tập trung thành cụm trong cơ.</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Tiêu Chuẩn MUSA 2022 — Dấu Hiệu Trực Tiếp: Bóng Lưng Hình Quạt &amp; Vệt/Chồi Dưới Niêm</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1"/>
            <a:ext cx="11064240" cy="3131627"/>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3. Bóng lưng hình quạt (Fan-shaped shadowing / Linear striations): Các dải bóng cản âm giảm âm hẹp, thẳng, chạy song song với nhau tỏa ra từ vùng cơ tử cung (dạng rèm sập hoặc nan quạt).</a:t>
            </a:r>
          </a:p>
          <a:p>
            <a:pPr>
              <a:spcBef>
                <a:spcPts val="500"/>
              </a:spcBef>
              <a:spcAft>
                <a:spcPts val="200"/>
              </a:spcAft>
            </a:pPr>
            <a:r>
              <a:rPr sz="2000">
                <a:solidFill>
                  <a:srgbClr val="1A2F2F"/>
                </a:solidFill>
                <a:latin typeface="Segoe UI"/>
              </a:rPr>
              <a:t>  –  Bản chất Bóng lưng hình quạt: Hình thành do sóng siêu âm bị tán xạ khi đi qua ranh giới giữa ổ tuyến mềm và bó cơ xơ hóa cứng bao quanh.</a:t>
            </a:r>
          </a:p>
          <a:p>
            <a:pPr>
              <a:spcBef>
                <a:spcPts val="500"/>
              </a:spcBef>
              <a:spcAft>
                <a:spcPts val="200"/>
              </a:spcAft>
            </a:pPr>
            <a:r>
              <a:rPr sz="2000">
                <a:solidFill>
                  <a:srgbClr val="1A2F2F"/>
                </a:solidFill>
                <a:latin typeface="Segoe UI"/>
              </a:rPr>
              <a:t>  –  4. Vệt tăng âm và Chồi dưới nội mạc (Subendometrial lines and buds): Các đường tăng âm mỏng hoặc chồi tăng âm hình bán cầu đâm vuông góc từ lớp nội mạc đáy qua ranh giới EMI vào lớp cơ dưới nội mạc (JZ).</a:t>
            </a:r>
          </a:p>
          <a:p>
            <a:pPr>
              <a:spcBef>
                <a:spcPts val="500"/>
              </a:spcBef>
              <a:spcAft>
                <a:spcPts val="200"/>
              </a:spcAft>
            </a:pPr>
            <a:r>
              <a:rPr sz="2000">
                <a:solidFill>
                  <a:srgbClr val="1A2F2F"/>
                </a:solidFill>
                <a:latin typeface="Segoe UI"/>
              </a:rPr>
              <a:t>  –  Bản chất Vệt/Chồi tăng âm: Phản ánh trực tiếp quá trình đâm chồi xâm lấn cơ của tuyến nội mạc đáy.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308314-7485-3FFD-11C5-A6D886E939EC}"/>
              </a:ext>
            </a:extLst>
          </p:cNvPr>
          <p:cNvPicPr>
            <a:picLocks noChangeAspect="1"/>
          </p:cNvPicPr>
          <p:nvPr/>
        </p:nvPicPr>
        <p:blipFill>
          <a:blip r:embed="rId2"/>
          <a:stretch>
            <a:fillRect/>
          </a:stretch>
        </p:blipFill>
        <p:spPr>
          <a:xfrm>
            <a:off x="1881905" y="126909"/>
            <a:ext cx="8835851" cy="6604183"/>
          </a:xfrm>
          <a:prstGeom prst="rect">
            <a:avLst/>
          </a:prstGeom>
        </p:spPr>
      </p:pic>
    </p:spTree>
    <p:extLst>
      <p:ext uri="{BB962C8B-B14F-4D97-AF65-F5344CB8AC3E}">
        <p14:creationId xmlns:p14="http://schemas.microsoft.com/office/powerpoint/2010/main" val="27463904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Tiêu Chuẩn MUSA 2022 </a:t>
            </a:r>
            <a:endParaRPr lang="en-US" sz="2700" b="1">
              <a:solidFill>
                <a:srgbClr val="0D2B2B"/>
              </a:solidFill>
              <a:latin typeface="Segoe UI"/>
            </a:endParaRPr>
          </a:p>
          <a:p>
            <a:pPr algn="l"/>
            <a:r>
              <a:rPr sz="2700" b="1">
                <a:solidFill>
                  <a:srgbClr val="0D2B2B"/>
                </a:solidFill>
                <a:latin typeface="Segoe UI"/>
              </a:rPr>
              <a:t> Dấu Hiệu Gián Tiếp</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5. Thành cơ tử cung dày bất đối xứng (Asymmetrical thickening): Thành trước hoặc thành sau dày bất đối xứng rõ rệt (chênh lệch &gt; 1.5 - 2 lần không do u xơ).</a:t>
            </a:r>
          </a:p>
          <a:p>
            <a:pPr>
              <a:spcBef>
                <a:spcPts val="500"/>
              </a:spcBef>
              <a:spcAft>
                <a:spcPts val="200"/>
              </a:spcAft>
            </a:pPr>
            <a:r>
              <a:rPr sz="2400">
                <a:solidFill>
                  <a:srgbClr val="1A2F2F"/>
                </a:solidFill>
                <a:latin typeface="Segoe UI"/>
              </a:rPr>
              <a:t>  –  6. Tử cung to hình cầu (Globular uterus): Tử cung mất dạng thon quả lê bình thường, trở nên tròn căng do tăng đường kính trước - sau.</a:t>
            </a:r>
          </a:p>
          <a:p>
            <a:pPr>
              <a:spcBef>
                <a:spcPts val="500"/>
              </a:spcBef>
              <a:spcAft>
                <a:spcPts val="200"/>
              </a:spcAft>
            </a:pPr>
            <a:r>
              <a:rPr sz="2400">
                <a:solidFill>
                  <a:srgbClr val="1A2F2F"/>
                </a:solidFill>
                <a:latin typeface="Segoe UI"/>
              </a:rPr>
              <a:t>  –  7. Mạch máu đâm xuyên tổn thương (Translesional vascularity): Trên Doppler màu, các nhánh mạch máu chạy thẳng góc đâm xuyên qua vùng tổn thương vào tận nội mạc.</a:t>
            </a:r>
          </a:p>
          <a:p>
            <a:pPr>
              <a:spcBef>
                <a:spcPts val="500"/>
              </a:spcBef>
              <a:spcAft>
                <a:spcPts val="200"/>
              </a:spcAft>
            </a:pPr>
            <a:r>
              <a:rPr sz="2400">
                <a:solidFill>
                  <a:srgbClr val="1A2F2F"/>
                </a:solidFill>
                <a:latin typeface="Segoe UI"/>
              </a:rPr>
              <a:t>  –  Ý nghĩa phân biệt với U xơ: U xơ tử cung có mạch máu chạy vòng bao quanh vỏ bao giả; Adenomyosis có mạch máu chạy đâm xuyên trực tiếp.</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Tiêu Chuẩn MUSA 2022 </a:t>
            </a:r>
            <a:endParaRPr lang="en-US" sz="2700" b="1">
              <a:solidFill>
                <a:srgbClr val="0D2B2B"/>
              </a:solidFill>
              <a:latin typeface="Segoe UI"/>
            </a:endParaRPr>
          </a:p>
          <a:p>
            <a:pPr algn="l"/>
            <a:r>
              <a:rPr sz="2700" b="1">
                <a:solidFill>
                  <a:srgbClr val="0D2B2B"/>
                </a:solidFill>
                <a:latin typeface="Segoe UI"/>
              </a:rPr>
              <a:t> Dấu Hiệu Gián Tiếp</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4054956"/>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8. Vùng chuyển tiếp không đều / đứt đoạn (Irregular / Disrupted JZ): Dải cơ trong dưới nội mạc mất tính liên tục, bờ nham nhở không đều, bề dày dao động mạnh.</a:t>
            </a:r>
          </a:p>
          <a:p>
            <a:pPr>
              <a:spcBef>
                <a:spcPts val="500"/>
              </a:spcBef>
              <a:spcAft>
                <a:spcPts val="200"/>
              </a:spcAft>
            </a:pPr>
            <a:r>
              <a:rPr sz="2400">
                <a:solidFill>
                  <a:srgbClr val="1A2F2F"/>
                </a:solidFill>
                <a:latin typeface="Segoe UI"/>
              </a:rPr>
              <a:t>  –  9. Vùng chuyển tiếp gián đoạn hoàn toàn (Interrupted JZ): Mất hoàn toàn hình ảnh dải giảm âm bình thường của JZ trên một đoạn hoặc toàn bộ chu vi buồng tử cung.</a:t>
            </a:r>
          </a:p>
          <a:p>
            <a:pPr>
              <a:spcBef>
                <a:spcPts val="500"/>
              </a:spcBef>
              <a:spcAft>
                <a:spcPts val="200"/>
              </a:spcAft>
            </a:pPr>
            <a:r>
              <a:rPr sz="2400">
                <a:solidFill>
                  <a:srgbClr val="1A2F2F"/>
                </a:solidFill>
                <a:latin typeface="Segoe UI"/>
              </a:rPr>
              <a:t>  –  Bản chất mô học: Do sự xâm lấn phá hủy ồ ạt của các tuyến nội mạc đáy xóa nhòa ranh giới giữa lớp cơ trong và lớp cơ ngoài.</a:t>
            </a:r>
          </a:p>
          <a:p>
            <a:pPr>
              <a:spcBef>
                <a:spcPts val="500"/>
              </a:spcBef>
              <a:spcAft>
                <a:spcPts val="200"/>
              </a:spcAft>
            </a:pPr>
            <a:r>
              <a:rPr sz="2400">
                <a:solidFill>
                  <a:srgbClr val="1A2F2F"/>
                </a:solidFill>
                <a:latin typeface="Segoe UI"/>
              </a:rPr>
              <a:t>  –  Vai trò của siêu âm 3D: Mặt cắt đứng ngang Coronal plane là phương tiện tối ưu để quan sát tính liên tục của JZ.</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DB069A-530E-90AF-C148-2688F4E62D50}"/>
              </a:ext>
            </a:extLst>
          </p:cNvPr>
          <p:cNvPicPr>
            <a:picLocks noChangeAspect="1"/>
          </p:cNvPicPr>
          <p:nvPr/>
        </p:nvPicPr>
        <p:blipFill>
          <a:blip r:embed="rId2"/>
          <a:stretch>
            <a:fillRect/>
          </a:stretch>
        </p:blipFill>
        <p:spPr>
          <a:xfrm>
            <a:off x="3255042" y="182983"/>
            <a:ext cx="4747547" cy="6791816"/>
          </a:xfrm>
          <a:prstGeom prst="rect">
            <a:avLst/>
          </a:prstGeom>
        </p:spPr>
      </p:pic>
    </p:spTree>
    <p:extLst>
      <p:ext uri="{BB962C8B-B14F-4D97-AF65-F5344CB8AC3E}">
        <p14:creationId xmlns:p14="http://schemas.microsoft.com/office/powerpoint/2010/main" val="27805476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BB49B4-073A-6D27-3C74-875EE3DB27C9}"/>
              </a:ext>
            </a:extLst>
          </p:cNvPr>
          <p:cNvPicPr>
            <a:picLocks noChangeAspect="1"/>
          </p:cNvPicPr>
          <p:nvPr/>
        </p:nvPicPr>
        <p:blipFill>
          <a:blip r:embed="rId2"/>
          <a:stretch>
            <a:fillRect/>
          </a:stretch>
        </p:blipFill>
        <p:spPr>
          <a:xfrm>
            <a:off x="230642" y="419842"/>
            <a:ext cx="7968534" cy="5640946"/>
          </a:xfrm>
          <a:prstGeom prst="rect">
            <a:avLst/>
          </a:prstGeom>
        </p:spPr>
      </p:pic>
      <p:sp>
        <p:nvSpPr>
          <p:cNvPr id="5" name="TextBox 4">
            <a:extLst>
              <a:ext uri="{FF2B5EF4-FFF2-40B4-BE49-F238E27FC236}">
                <a16:creationId xmlns:a16="http://schemas.microsoft.com/office/drawing/2014/main" id="{B512ECC0-D16F-D097-1E76-50022B54B5B0}"/>
              </a:ext>
            </a:extLst>
          </p:cNvPr>
          <p:cNvSpPr txBox="1"/>
          <p:nvPr/>
        </p:nvSpPr>
        <p:spPr>
          <a:xfrm>
            <a:off x="8199177" y="1341523"/>
            <a:ext cx="3991237" cy="3416320"/>
          </a:xfrm>
          <a:prstGeom prst="rect">
            <a:avLst/>
          </a:prstGeom>
          <a:noFill/>
        </p:spPr>
        <p:txBody>
          <a:bodyPr wrap="square">
            <a:spAutoFit/>
          </a:bodyPr>
          <a:lstStyle/>
          <a:p>
            <a:pPr marL="285750" indent="-285750">
              <a:buFontTx/>
              <a:buChar char="-"/>
            </a:pPr>
            <a:r>
              <a:rPr lang="vi-VN"/>
              <a:t>1. Vùng chuyển tiếp bị gián đoạn</a:t>
            </a:r>
            <a:endParaRPr lang="en-US"/>
          </a:p>
          <a:p>
            <a:pPr marL="285750" indent="-285750">
              <a:buFontTx/>
              <a:buChar char="-"/>
            </a:pPr>
            <a:r>
              <a:rPr lang="vi-VN"/>
              <a:t> 2. Vùng chuyển tiếp không đều / đứt</a:t>
            </a:r>
            <a:endParaRPr lang="en-US"/>
          </a:p>
          <a:p>
            <a:pPr marL="285750" indent="-285750">
              <a:buFontTx/>
              <a:buChar char="-"/>
            </a:pPr>
            <a:r>
              <a:rPr lang="vi-VN"/>
              <a:t>3. Dày cơ tử cung bất đối xứng </a:t>
            </a:r>
            <a:endParaRPr lang="en-US"/>
          </a:p>
          <a:p>
            <a:pPr marL="285750" indent="-285750">
              <a:buFontTx/>
              <a:buChar char="-"/>
            </a:pPr>
            <a:r>
              <a:rPr lang="en-US"/>
              <a:t>4.</a:t>
            </a:r>
            <a:r>
              <a:rPr lang="vi-VN"/>
              <a:t>Tử cung to hình cầu </a:t>
            </a:r>
            <a:endParaRPr lang="en-US"/>
          </a:p>
          <a:p>
            <a:pPr marL="285750" indent="-285750">
              <a:buFontTx/>
              <a:buChar char="-"/>
            </a:pPr>
            <a:r>
              <a:rPr lang="vi-VN"/>
              <a:t>5. Các vệt và chồi tăng âm dưới nội mạc</a:t>
            </a:r>
            <a:endParaRPr lang="en-US"/>
          </a:p>
          <a:p>
            <a:pPr marL="285750" indent="-285750">
              <a:buFontTx/>
              <a:buChar char="-"/>
            </a:pPr>
            <a:r>
              <a:rPr lang="vi-VN"/>
              <a:t>6. Nang cơ tử cung </a:t>
            </a:r>
            <a:endParaRPr lang="en-US"/>
          </a:p>
          <a:p>
            <a:pPr marL="285750" indent="-285750">
              <a:buFontTx/>
              <a:buChar char="-"/>
            </a:pPr>
            <a:r>
              <a:rPr lang="vi-VN"/>
              <a:t>7. Các đảo tăng âm </a:t>
            </a:r>
            <a:endParaRPr lang="en-US"/>
          </a:p>
          <a:p>
            <a:pPr marL="285750" indent="-285750">
              <a:buFontTx/>
              <a:buChar char="-"/>
            </a:pPr>
            <a:r>
              <a:rPr lang="vi-VN"/>
              <a:t>8. Mạch máu đâm xuyên tổn thương trên Doppler </a:t>
            </a:r>
            <a:endParaRPr lang="en-US"/>
          </a:p>
          <a:p>
            <a:pPr marL="285750" indent="-285750">
              <a:buFontTx/>
              <a:buChar char="-"/>
            </a:pPr>
            <a:r>
              <a:rPr lang="vi-VN"/>
              <a:t>9. Bóng lưng hình quạt</a:t>
            </a:r>
          </a:p>
        </p:txBody>
      </p:sp>
    </p:spTree>
    <p:extLst>
      <p:ext uri="{BB962C8B-B14F-4D97-AF65-F5344CB8AC3E}">
        <p14:creationId xmlns:p14="http://schemas.microsoft.com/office/powerpoint/2010/main" val="42614513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descr="Direct features of adenomyosis—hyperechoic islands (A), myometrial cysts (A,B), and echogenic sub-endometrial buds (C). Red arrows are to indicate the hyperechogenic islands, myometrial cyst and echogenic buds.">
            <a:extLst>
              <a:ext uri="{FF2B5EF4-FFF2-40B4-BE49-F238E27FC236}">
                <a16:creationId xmlns:a16="http://schemas.microsoft.com/office/drawing/2014/main" id="{E487CDD9-ACE4-F062-FC66-F8FFF3D98A06}"/>
              </a:ext>
            </a:extLst>
          </p:cNvPr>
          <p:cNvSpPr>
            <a:spLocks noChangeAspect="1" noChangeArrowheads="1"/>
          </p:cNvSpPr>
          <p:nvPr/>
        </p:nvSpPr>
        <p:spPr bwMode="auto">
          <a:xfrm>
            <a:off x="5943601"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3" name="Picture 2">
            <a:extLst>
              <a:ext uri="{FF2B5EF4-FFF2-40B4-BE49-F238E27FC236}">
                <a16:creationId xmlns:a16="http://schemas.microsoft.com/office/drawing/2014/main" id="{77E18BE5-AD72-9E4B-66E8-703E47DC3AC5}"/>
              </a:ext>
            </a:extLst>
          </p:cNvPr>
          <p:cNvPicPr>
            <a:picLocks noChangeAspect="1"/>
          </p:cNvPicPr>
          <p:nvPr/>
        </p:nvPicPr>
        <p:blipFill>
          <a:blip r:embed="rId2"/>
          <a:stretch>
            <a:fillRect/>
          </a:stretch>
        </p:blipFill>
        <p:spPr>
          <a:xfrm>
            <a:off x="336777" y="75842"/>
            <a:ext cx="8924925" cy="6415446"/>
          </a:xfrm>
          <a:prstGeom prst="rect">
            <a:avLst/>
          </a:prstGeom>
        </p:spPr>
      </p:pic>
      <p:sp>
        <p:nvSpPr>
          <p:cNvPr id="5" name="TextBox 4">
            <a:extLst>
              <a:ext uri="{FF2B5EF4-FFF2-40B4-BE49-F238E27FC236}">
                <a16:creationId xmlns:a16="http://schemas.microsoft.com/office/drawing/2014/main" id="{6D0A0E3C-A597-8972-13C8-D0F94548BC3A}"/>
              </a:ext>
            </a:extLst>
          </p:cNvPr>
          <p:cNvSpPr txBox="1"/>
          <p:nvPr/>
        </p:nvSpPr>
        <p:spPr>
          <a:xfrm>
            <a:off x="4950959" y="4247496"/>
            <a:ext cx="6096000" cy="1938992"/>
          </a:xfrm>
          <a:prstGeom prst="rect">
            <a:avLst/>
          </a:prstGeom>
          <a:noFill/>
        </p:spPr>
        <p:txBody>
          <a:bodyPr wrap="square">
            <a:spAutoFit/>
          </a:bodyPr>
          <a:lstStyle/>
          <a:p>
            <a:r>
              <a:rPr lang="vi-VN" sz="2400">
                <a:solidFill>
                  <a:srgbClr val="252525"/>
                </a:solidFill>
                <a:latin typeface="Roboto" panose="02000000000000000000" pitchFamily="2" charset="0"/>
              </a:rPr>
              <a:t>Các đặc điểm trực tiếp của lạc nội mạc tử cung – các đảo tăng âm (A), nang cơ tử cung (A, B) và chồi dưới nội mạc tử cung tăng âm (C). Mũi tên màu đỏ chỉ các đảo tăng âm, nang cơ tử cung và chồi tăng âm</a:t>
            </a:r>
            <a:endParaRPr lang="vi-VN" sz="2400"/>
          </a:p>
        </p:txBody>
      </p:sp>
    </p:spTree>
    <p:extLst>
      <p:ext uri="{BB962C8B-B14F-4D97-AF65-F5344CB8AC3E}">
        <p14:creationId xmlns:p14="http://schemas.microsoft.com/office/powerpoint/2010/main" val="14420863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Indirect features of adenomyosis—globular uterus (A), asymmetrical myometrium (A), fan-shaped shadowing (B), trans-lesional vascularity (C), irregular junctional zone and interrupted junctional zone (D).">
            <a:extLst>
              <a:ext uri="{FF2B5EF4-FFF2-40B4-BE49-F238E27FC236}">
                <a16:creationId xmlns:a16="http://schemas.microsoft.com/office/drawing/2014/main" id="{B23E651D-7BC8-FEE4-9180-207B18D304A3}"/>
              </a:ext>
            </a:extLst>
          </p:cNvPr>
          <p:cNvSpPr>
            <a:spLocks noChangeAspect="1" noChangeArrowheads="1"/>
          </p:cNvSpPr>
          <p:nvPr/>
        </p:nvSpPr>
        <p:spPr bwMode="auto">
          <a:xfrm>
            <a:off x="5943601"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3" name="Picture 2">
            <a:extLst>
              <a:ext uri="{FF2B5EF4-FFF2-40B4-BE49-F238E27FC236}">
                <a16:creationId xmlns:a16="http://schemas.microsoft.com/office/drawing/2014/main" id="{8A1E5D0B-D9E6-999A-2593-DD812C8326BB}"/>
              </a:ext>
            </a:extLst>
          </p:cNvPr>
          <p:cNvPicPr>
            <a:picLocks noChangeAspect="1"/>
          </p:cNvPicPr>
          <p:nvPr/>
        </p:nvPicPr>
        <p:blipFill>
          <a:blip r:embed="rId2"/>
          <a:stretch>
            <a:fillRect/>
          </a:stretch>
        </p:blipFill>
        <p:spPr>
          <a:xfrm>
            <a:off x="1589" y="-76829"/>
            <a:ext cx="11335779" cy="6934829"/>
          </a:xfrm>
          <a:prstGeom prst="rect">
            <a:avLst/>
          </a:prstGeom>
        </p:spPr>
      </p:pic>
      <p:sp>
        <p:nvSpPr>
          <p:cNvPr id="5" name="TextBox 4">
            <a:extLst>
              <a:ext uri="{FF2B5EF4-FFF2-40B4-BE49-F238E27FC236}">
                <a16:creationId xmlns:a16="http://schemas.microsoft.com/office/drawing/2014/main" id="{67B82C9E-CC15-0E8E-9F3F-7255ED3CF23F}"/>
              </a:ext>
            </a:extLst>
          </p:cNvPr>
          <p:cNvSpPr txBox="1"/>
          <p:nvPr/>
        </p:nvSpPr>
        <p:spPr>
          <a:xfrm>
            <a:off x="5943601" y="3245393"/>
            <a:ext cx="6096000" cy="2308324"/>
          </a:xfrm>
          <a:prstGeom prst="rect">
            <a:avLst/>
          </a:prstGeom>
          <a:noFill/>
        </p:spPr>
        <p:txBody>
          <a:bodyPr wrap="square">
            <a:spAutoFit/>
          </a:bodyPr>
          <a:lstStyle/>
          <a:p>
            <a:r>
              <a:rPr lang="vi-VN" sz="2400">
                <a:solidFill>
                  <a:srgbClr val="252525"/>
                </a:solidFill>
                <a:latin typeface="Roboto" panose="02000000000000000000" pitchFamily="2" charset="0"/>
              </a:rPr>
              <a:t>Các đặc điểm gián tiếp của lạc nội mạc tử cung trong cơ tử cung: tử cung hình cầu (A), cơ tử cung không đối xứng (A), bóng mờ hình quạt (B), mạch máu xuyên tổn thương (C), vùng nối không đều và vùng nối bị gián đoạn (D)</a:t>
            </a:r>
            <a:endParaRPr lang="vi-VN" sz="2400"/>
          </a:p>
        </p:txBody>
      </p:sp>
    </p:spTree>
    <p:extLst>
      <p:ext uri="{BB962C8B-B14F-4D97-AF65-F5344CB8AC3E}">
        <p14:creationId xmlns:p14="http://schemas.microsoft.com/office/powerpoint/2010/main" val="26718144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Khung Báo Cáo &amp; Phân Loại Mức Độ Adenomyosis Theo MUSA 2022</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41447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Vị trí tổn thương: Ghi nhận rõ thành trước, thành sau, vùng đáy, thành bên Trái / Phải.</a:t>
            </a:r>
          </a:p>
          <a:p>
            <a:pPr>
              <a:spcBef>
                <a:spcPts val="500"/>
              </a:spcBef>
              <a:spcAft>
                <a:spcPts val="200"/>
              </a:spcAft>
            </a:pPr>
            <a:r>
              <a:rPr sz="2400">
                <a:solidFill>
                  <a:srgbClr val="1A2F2F"/>
                </a:solidFill>
                <a:latin typeface="Segoe UI"/>
              </a:rPr>
              <a:t>  –  Hình thái lâm sàng: Phân biệt thể khu trú (Adenomyoma không có vỏ bao giả) vs thể lan tỏa (Diffuse Adenomyosis).</a:t>
            </a:r>
          </a:p>
          <a:p>
            <a:pPr>
              <a:spcBef>
                <a:spcPts val="500"/>
              </a:spcBef>
              <a:spcAft>
                <a:spcPts val="200"/>
              </a:spcAft>
            </a:pPr>
            <a:r>
              <a:rPr sz="2400">
                <a:solidFill>
                  <a:srgbClr val="1A2F2F"/>
                </a:solidFill>
                <a:latin typeface="Segoe UI"/>
              </a:rPr>
              <a:t>  –  Tầng lớp cơ thâm nhiễm: Cơ trong (Vùng chuyển tiếp JZ: 1/3 trong), Cơ giữa (1/3 giữa), Cơ ngoài (1/3 ngoài).</a:t>
            </a:r>
          </a:p>
          <a:p>
            <a:pPr>
              <a:spcBef>
                <a:spcPts val="500"/>
              </a:spcBef>
              <a:spcAft>
                <a:spcPts val="200"/>
              </a:spcAft>
            </a:pPr>
            <a:r>
              <a:rPr sz="2400">
                <a:solidFill>
                  <a:srgbClr val="1A2F2F"/>
                </a:solidFill>
                <a:latin typeface="Segoe UI"/>
              </a:rPr>
              <a:t>  –  Mức độ chiếm chỗ: Nhẹ (&lt; 25% thể tích cơ tử cung), Vừa (25 - 50%), Nặng (&gt; 50% thể tích cơ tử cung).</a:t>
            </a:r>
          </a:p>
          <a:p>
            <a:pPr>
              <a:spcBef>
                <a:spcPts val="500"/>
              </a:spcBef>
              <a:spcAft>
                <a:spcPts val="200"/>
              </a:spcAft>
            </a:pPr>
            <a:r>
              <a:rPr sz="2400">
                <a:solidFill>
                  <a:srgbClr val="1A2F2F"/>
                </a:solidFill>
                <a:latin typeface="Segoe UI"/>
              </a:rPr>
              <a:t>  –  Ý nghĩa ART: Thể lan tỏa nặng (&gt; 50% cơ, thâm nhiễm cả 3 tầng) bắt buộc dùng phác đồ Ultra-long GnRHa 2-3 tháng.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sz="2700" b="1">
                <a:solidFill>
                  <a:srgbClr val="0D2B2B"/>
                </a:solidFill>
                <a:latin typeface="Segoe UI"/>
              </a:rPr>
              <a:t>Hệ Thống Phân Loại #Enzian Trên Siêu Âm (Cập Nhật 2021 - 2023)</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Mục đích: Chuẩn hóa việc lập bản đồ toàn diện Lạc nội mạc tử cung vùng chậu thống nhất giữa Siêu âm và Phẫu thuật nội soi.</a:t>
            </a:r>
          </a:p>
          <a:p>
            <a:pPr>
              <a:spcBef>
                <a:spcPts val="500"/>
              </a:spcBef>
              <a:spcAft>
                <a:spcPts val="200"/>
              </a:spcAft>
            </a:pPr>
            <a:r>
              <a:rPr sz="2400">
                <a:solidFill>
                  <a:srgbClr val="1A2F2F"/>
                </a:solidFill>
                <a:latin typeface="Segoe UI"/>
              </a:rPr>
              <a:t>  –  Khắc phục nhược điểm của rASRM: rASRM bỏ sót lạc nội mạc sâu và Adenomyosis; #Enzian mô tả chi tiết từng cơ quan giải phẫu.</a:t>
            </a:r>
          </a:p>
          <a:p>
            <a:pPr>
              <a:spcBef>
                <a:spcPts val="500"/>
              </a:spcBef>
              <a:spcAft>
                <a:spcPts val="200"/>
              </a:spcAft>
            </a:pPr>
            <a:r>
              <a:rPr sz="2400">
                <a:solidFill>
                  <a:srgbClr val="1A2F2F"/>
                </a:solidFill>
                <a:latin typeface="Segoe UI"/>
              </a:rPr>
              <a:t>  –  Nguyên tắc phân nhóm: Phân chia theo cơ quan: #Enzian O (buồng trứng), #Enzian T (dính vòi - buồng trứng), #Enzian U (cơ tử cung), #Enzian A, B, C (DIE khoang sau).</a:t>
            </a:r>
          </a:p>
          <a:p>
            <a:pPr>
              <a:spcBef>
                <a:spcPts val="500"/>
              </a:spcBef>
              <a:spcAft>
                <a:spcPts val="200"/>
              </a:spcAft>
            </a:pPr>
            <a:r>
              <a:rPr sz="2400">
                <a:solidFill>
                  <a:srgbClr val="1A2F2F"/>
                </a:solidFill>
                <a:latin typeface="Segoe UI"/>
              </a:rPr>
              <a:t>  –  Độ chính xác cao: Siêu âm ngả âm đạo theo #Enzian có độ nhạy &gt; 90% tương đương phẫu thuật.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Hệ Thống #Enzian — Phân Nhóm Buồng Trứng (#Enzian O) &amp; Vòi Trứng (#Enzian T)</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1"/>
            <a:ext cx="11064240" cy="3406061"/>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#Enzian O (Ovary - Buồng trứng): Đánh giá u nang lạc nội mạc buồng trứng (O1 &lt; 3 cm, O2 = 3 - 7 cm, O3 &gt; 7 cm; kèm ký hiệu L/R cho Trái/Phải).</a:t>
            </a:r>
          </a:p>
          <a:p>
            <a:pPr>
              <a:spcBef>
                <a:spcPts val="500"/>
              </a:spcBef>
              <a:spcAft>
                <a:spcPts val="200"/>
              </a:spcAft>
            </a:pPr>
            <a:r>
              <a:rPr sz="2400">
                <a:solidFill>
                  <a:srgbClr val="1A2F2F"/>
                </a:solidFill>
                <a:latin typeface="Segoe UI"/>
              </a:rPr>
              <a:t>  –  #Enzian T (Tubo-ovarian - Dính vòi - buồng trứng): Đánh giá mức độ dính giải phẫu vùng chậu.</a:t>
            </a:r>
          </a:p>
          <a:p>
            <a:pPr>
              <a:spcBef>
                <a:spcPts val="500"/>
              </a:spcBef>
              <a:spcAft>
                <a:spcPts val="200"/>
              </a:spcAft>
            </a:pPr>
            <a:r>
              <a:rPr sz="2400">
                <a:solidFill>
                  <a:srgbClr val="1A2F2F"/>
                </a:solidFill>
                <a:latin typeface="Segoe UI"/>
              </a:rPr>
              <a:t>  –  Mức độ T1: Dính nhẹ giữa vòi tử cung và buồng trứng.</a:t>
            </a:r>
          </a:p>
          <a:p>
            <a:pPr>
              <a:spcBef>
                <a:spcPts val="500"/>
              </a:spcBef>
              <a:spcAft>
                <a:spcPts val="200"/>
              </a:spcAft>
            </a:pPr>
            <a:r>
              <a:rPr sz="2400">
                <a:solidFill>
                  <a:srgbClr val="1A2F2F"/>
                </a:solidFill>
                <a:latin typeface="Segoe UI"/>
              </a:rPr>
              <a:t>  –  Mức độ T2: Dính buồng trứng vào hố buồng trứng thành bên chậu.</a:t>
            </a:r>
          </a:p>
          <a:p>
            <a:pPr>
              <a:spcBef>
                <a:spcPts val="500"/>
              </a:spcBef>
              <a:spcAft>
                <a:spcPts val="200"/>
              </a:spcAft>
            </a:pPr>
            <a:r>
              <a:rPr sz="2400">
                <a:solidFill>
                  <a:srgbClr val="1A2F2F"/>
                </a:solidFill>
                <a:latin typeface="Segoe UI"/>
              </a:rPr>
              <a:t>  –  Mức độ T3: Dính nặng buồng trứng vào mặt sau tử cung hoặc dính 2 buồng trứng sát nhau ('Kissing Ovaries').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Hệ Thống #Enzian — Lạc Nội Mạc Trong Cơ (#Enzian U) &amp; Khoang Sau (A, B, C)</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316292"/>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#Enzian U (Uterus): Đánh giá mức độ tổn thương Adenomyosis trong cơ tử cung.</a:t>
            </a:r>
          </a:p>
          <a:p>
            <a:pPr>
              <a:spcBef>
                <a:spcPts val="500"/>
              </a:spcBef>
              <a:spcAft>
                <a:spcPts val="200"/>
              </a:spcAft>
            </a:pPr>
            <a:r>
              <a:rPr sz="2400">
                <a:solidFill>
                  <a:srgbClr val="1A2F2F"/>
                </a:solidFill>
                <a:latin typeface="Segoe UI"/>
              </a:rPr>
              <a:t>  –  Khoang A: Lạc nội mạc sâu ở âm đạo và vách trực tràng - âm đạo (A1 &lt; 1 cm, A2 = 1 - 3 cm, A3 &gt; 3 cm).</a:t>
            </a:r>
          </a:p>
          <a:p>
            <a:pPr>
              <a:spcBef>
                <a:spcPts val="500"/>
              </a:spcBef>
              <a:spcAft>
                <a:spcPts val="200"/>
              </a:spcAft>
            </a:pPr>
            <a:r>
              <a:rPr sz="2400">
                <a:solidFill>
                  <a:srgbClr val="1A2F2F"/>
                </a:solidFill>
                <a:latin typeface="Segoe UI"/>
              </a:rPr>
              <a:t>  –  Khoang B: Lạc nội mạc sâu ở dây chằng tử cung - cùng và thành bên chậu (B1 &lt; 1 cm, B2 = 1 - 3 cm, B3 &gt; 3 cm).</a:t>
            </a:r>
          </a:p>
          <a:p>
            <a:pPr>
              <a:spcBef>
                <a:spcPts val="500"/>
              </a:spcBef>
              <a:spcAft>
                <a:spcPts val="200"/>
              </a:spcAft>
            </a:pPr>
            <a:r>
              <a:rPr sz="2400">
                <a:solidFill>
                  <a:srgbClr val="1A2F2F"/>
                </a:solidFill>
                <a:latin typeface="Segoe UI"/>
              </a:rPr>
              <a:t>  –  Khoang C: Lạc nội mạc sâu ở trực tràng và đại tràng sigma (C1, C2, C3 theo mức độ xâm lấn chu vi và chiều dài đoạn ruột).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Hệ Thống #Enzian — Ý Nghĩa An Toàn Tuyệt Đối Trong Chọc Hút Noãn (OPU)</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316292"/>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Nhận diện 'Đáy chậu đóng băng' (Frozen Pelvis): Khi bệnh nhân có #Enzian B hoặc C nặng kết hợp T3, buồng trứng bị kéo dính chặt ra sau tử cung.</a:t>
            </a:r>
          </a:p>
          <a:p>
            <a:pPr>
              <a:spcBef>
                <a:spcPts val="500"/>
              </a:spcBef>
              <a:spcAft>
                <a:spcPts val="200"/>
              </a:spcAft>
            </a:pPr>
            <a:r>
              <a:rPr sz="2400">
                <a:solidFill>
                  <a:srgbClr val="1A2F2F"/>
                </a:solidFill>
                <a:latin typeface="Segoe UI"/>
              </a:rPr>
              <a:t>  –  Mối nguy trực tràng: Thành trước trực tràng bị kéo dính sát vào mặt sau buồng trứng và cổ tử cung.</a:t>
            </a:r>
          </a:p>
          <a:p>
            <a:pPr>
              <a:spcBef>
                <a:spcPts val="500"/>
              </a:spcBef>
              <a:spcAft>
                <a:spcPts val="200"/>
              </a:spcAft>
            </a:pPr>
            <a:r>
              <a:rPr sz="2400">
                <a:solidFill>
                  <a:srgbClr val="1A2F2F"/>
                </a:solidFill>
                <a:latin typeface="Segoe UI"/>
              </a:rPr>
              <a:t>  –  Nguyên tắc an toàn : Bác sĩ chọc hút noãn bắt buộc phải quan sát rõ ranh giới lòng trực tràng trên siêu âm trước khi tiến kim.</a:t>
            </a:r>
          </a:p>
          <a:p>
            <a:pPr>
              <a:spcBef>
                <a:spcPts val="500"/>
              </a:spcBef>
              <a:spcAft>
                <a:spcPts val="200"/>
              </a:spcAft>
            </a:pPr>
            <a:r>
              <a:rPr sz="2400">
                <a:solidFill>
                  <a:srgbClr val="1A2F2F"/>
                </a:solidFill>
                <a:latin typeface="Segoe UI"/>
              </a:rPr>
              <a:t>  –  Phòng ngừa biến chứng: Tuyệt đối không đâm kim xuyên qua tổn thương khoang C vào ruột, phòng ngừa rò phân và viêm phúc mạc nhiễm trùng huyết.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4973C165-34DE-EF34-7CD1-5833982817DC}"/>
              </a:ext>
            </a:extLst>
          </p:cNvPr>
          <p:cNvSpPr>
            <a:spLocks noChangeAspect="1" noChangeArrowheads="1"/>
          </p:cNvSpPr>
          <p:nvPr/>
        </p:nvSpPr>
        <p:spPr bwMode="auto">
          <a:xfrm>
            <a:off x="5943601"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3" name="Picture 2">
            <a:extLst>
              <a:ext uri="{FF2B5EF4-FFF2-40B4-BE49-F238E27FC236}">
                <a16:creationId xmlns:a16="http://schemas.microsoft.com/office/drawing/2014/main" id="{50639DD1-4B8B-5EE9-FB0D-5768365AC821}"/>
              </a:ext>
            </a:extLst>
          </p:cNvPr>
          <p:cNvPicPr>
            <a:picLocks noChangeAspect="1"/>
          </p:cNvPicPr>
          <p:nvPr/>
        </p:nvPicPr>
        <p:blipFill>
          <a:blip r:embed="rId2"/>
          <a:stretch>
            <a:fillRect/>
          </a:stretch>
        </p:blipFill>
        <p:spPr>
          <a:xfrm>
            <a:off x="1253988" y="0"/>
            <a:ext cx="9684024" cy="6858000"/>
          </a:xfrm>
          <a:prstGeom prst="rect">
            <a:avLst/>
          </a:prstGeom>
        </p:spPr>
      </p:pic>
    </p:spTree>
    <p:extLst>
      <p:ext uri="{BB962C8B-B14F-4D97-AF65-F5344CB8AC3E}">
        <p14:creationId xmlns:p14="http://schemas.microsoft.com/office/powerpoint/2010/main" val="15446919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Chụp Cộng Hưởng Từ (Pelvic MRI) — Ưu Thế &amp; Hình Ảnh Vùng Chuyển Tiếp (JZ)</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1"/>
            <a:ext cx="11064240" cy="3406061"/>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Tiêu chuẩn vàng hình ảnh: MRI là phương tiện chính xác nhất khảo sát mô mềm vùng chậu, không phụ thuộc thành bụng dày hay kinh nghiệm người làm.</a:t>
            </a:r>
          </a:p>
          <a:p>
            <a:pPr>
              <a:spcBef>
                <a:spcPts val="500"/>
              </a:spcBef>
              <a:spcAft>
                <a:spcPts val="200"/>
              </a:spcAft>
            </a:pPr>
            <a:r>
              <a:rPr sz="2400">
                <a:solidFill>
                  <a:srgbClr val="1A2F2F"/>
                </a:solidFill>
                <a:latin typeface="Segoe UI"/>
              </a:rPr>
              <a:t>  –  Chuỗi xung Sagittal T2-weighted (T2W): Cho phép phân biệt rõ nét 3 tầng cấu trúc thành tử cung.</a:t>
            </a:r>
          </a:p>
          <a:p>
            <a:pPr>
              <a:spcBef>
                <a:spcPts val="500"/>
              </a:spcBef>
              <a:spcAft>
                <a:spcPts val="200"/>
              </a:spcAft>
            </a:pPr>
            <a:r>
              <a:rPr sz="2400">
                <a:solidFill>
                  <a:srgbClr val="1A2F2F"/>
                </a:solidFill>
                <a:latin typeface="Segoe UI"/>
              </a:rPr>
              <a:t>  –  Lớp nội mạc tử cung: Tăng tín hiệu sáng màu trắng trên T2W.</a:t>
            </a:r>
          </a:p>
          <a:p>
            <a:pPr>
              <a:spcBef>
                <a:spcPts val="500"/>
              </a:spcBef>
              <a:spcAft>
                <a:spcPts val="200"/>
              </a:spcAft>
            </a:pPr>
            <a:r>
              <a:rPr sz="2400">
                <a:solidFill>
                  <a:srgbClr val="1A2F2F"/>
                </a:solidFill>
                <a:latin typeface="Segoe UI"/>
              </a:rPr>
              <a:t>  –  Vùng chuyển tiếp (Junctional Zone - JZ): Dải giảm tín hiệu đồng nhất màu đen sẫm bao quanh nội mạc.</a:t>
            </a:r>
          </a:p>
          <a:p>
            <a:pPr>
              <a:spcBef>
                <a:spcPts val="500"/>
              </a:spcBef>
              <a:spcAft>
                <a:spcPts val="200"/>
              </a:spcAft>
            </a:pPr>
            <a:r>
              <a:rPr sz="2400">
                <a:solidFill>
                  <a:srgbClr val="1A2F2F"/>
                </a:solidFill>
                <a:latin typeface="Segoe UI"/>
              </a:rPr>
              <a:t>  –  Lớp cơ ngoài tử cung: Tín hiệu trung gian màu xám.</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EPOS™">
            <a:extLst>
              <a:ext uri="{FF2B5EF4-FFF2-40B4-BE49-F238E27FC236}">
                <a16:creationId xmlns:a16="http://schemas.microsoft.com/office/drawing/2014/main" id="{6C99F4F4-12E5-3FD9-7AA4-2FF30697C6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2617" y="128190"/>
            <a:ext cx="8507413" cy="6380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6277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Siêu Âm 3D Ngả Âm Đạo (3D-TVS) — Giá Trị Của Mặt Cắt Đứng Ngang (Coronal Plane)</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282385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Mặt cắt đứng ngang (Coronal plane): Siêu âm 3D cho phép tái tạo mặt cắt đứng ngang buồng tử cung — mặt cắt không thể quan sát trên siêu âm 2D thông thường.</a:t>
            </a:r>
          </a:p>
          <a:p>
            <a:pPr>
              <a:spcBef>
                <a:spcPts val="500"/>
              </a:spcBef>
              <a:spcAft>
                <a:spcPts val="200"/>
              </a:spcAft>
            </a:pPr>
            <a:r>
              <a:rPr sz="2000">
                <a:solidFill>
                  <a:srgbClr val="1A2F2F"/>
                </a:solidFill>
                <a:latin typeface="Segoe UI"/>
              </a:rPr>
              <a:t>  –  Đánh giá ranh giới nội - cơ (EMI): Khảo sát độ sắc nét và tính liên tục của ranh giới giữa nội mạc đáy và lớp cơ JZ.</a:t>
            </a:r>
          </a:p>
          <a:p>
            <a:pPr>
              <a:spcBef>
                <a:spcPts val="500"/>
              </a:spcBef>
              <a:spcAft>
                <a:spcPts val="200"/>
              </a:spcAft>
            </a:pPr>
            <a:r>
              <a:rPr sz="2000">
                <a:solidFill>
                  <a:srgbClr val="1A2F2F"/>
                </a:solidFill>
                <a:latin typeface="Segoe UI"/>
              </a:rPr>
              <a:t>  –  Đo lường JZ đa vị trí: Cho phép đo chính xác độ dày JZ ở vùng đáy tử cung và 2 góc sừng tử cung.</a:t>
            </a:r>
          </a:p>
          <a:p>
            <a:pPr>
              <a:spcBef>
                <a:spcPts val="500"/>
              </a:spcBef>
              <a:spcAft>
                <a:spcPts val="200"/>
              </a:spcAft>
            </a:pPr>
            <a:r>
              <a:rPr sz="2000">
                <a:solidFill>
                  <a:srgbClr val="1A2F2F"/>
                </a:solidFill>
                <a:latin typeface="Segoe UI"/>
              </a:rPr>
              <a:t>  –  Phát hiện xâm lấn sớm: Nhận diện các chồi nội mạc đâm xuyên vào JZ trước khi tử cung bị biến dạng hình cầu.</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istogram of junctional zone (JZ) thickness in patients with and... |  Download Scientific Diagram">
            <a:extLst>
              <a:ext uri="{FF2B5EF4-FFF2-40B4-BE49-F238E27FC236}">
                <a16:creationId xmlns:a16="http://schemas.microsoft.com/office/drawing/2014/main" id="{81C79858-2F64-7763-7A64-146B569CD9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388" y="-166743"/>
            <a:ext cx="6343196" cy="467076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Junctional zone (uterus) | Radiology Reference Article | Radiopaedia.org">
            <a:extLst>
              <a:ext uri="{FF2B5EF4-FFF2-40B4-BE49-F238E27FC236}">
                <a16:creationId xmlns:a16="http://schemas.microsoft.com/office/drawing/2014/main" id="{19FEC770-B07B-23D6-F5EA-F4E5295C90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9691" y="-88592"/>
            <a:ext cx="4654468" cy="4654468"/>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n this T2-weighted sagittal image of 47-year-old woman, junctional zone...  | Download Scientific Diagram">
            <a:extLst>
              <a:ext uri="{FF2B5EF4-FFF2-40B4-BE49-F238E27FC236}">
                <a16:creationId xmlns:a16="http://schemas.microsoft.com/office/drawing/2014/main" id="{3634AD76-4CB2-35FC-2ED0-2084D2C64E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5727" y="3429001"/>
            <a:ext cx="3907518" cy="3515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243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6400800"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2388" y="0"/>
            <a:ext cx="57881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2388" y="0"/>
            <a:ext cx="64008"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958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394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04830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4266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23702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83138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42574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85958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45394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830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64266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23702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83138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42574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85958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45394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4830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64266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23702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3138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42574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85958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45394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4830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64266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23702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83138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42574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85958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45394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04830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64266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23702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83138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042574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04508" y="1371601"/>
            <a:ext cx="5577840" cy="2376035"/>
          </a:xfrm>
          <a:prstGeom prst="rect">
            <a:avLst/>
          </a:prstGeom>
          <a:noFill/>
        </p:spPr>
        <p:txBody>
          <a:bodyPr wrap="square" lIns="36576" tIns="18288" rIns="36576" bIns="18288" anchor="t">
            <a:spAutoFit/>
          </a:bodyPr>
          <a:lstStyle/>
          <a:p>
            <a:pPr algn="l"/>
            <a:r>
              <a:rPr sz="3800" b="1">
                <a:solidFill>
                  <a:srgbClr val="FFFFFF"/>
                </a:solidFill>
                <a:latin typeface="Segoe UI"/>
              </a:rPr>
              <a:t>CHƯƠNG 3: CHIẾN LƯỢC QUẢN LÝ ENDOMETRIOMA TRƯỚC ART</a:t>
            </a:r>
          </a:p>
        </p:txBody>
      </p:sp>
      <p:sp>
        <p:nvSpPr>
          <p:cNvPr id="43" name="Rectangle 42"/>
          <p:cNvSpPr/>
          <p:nvPr/>
        </p:nvSpPr>
        <p:spPr>
          <a:xfrm>
            <a:off x="504508" y="4023360"/>
            <a:ext cx="128016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676708" y="5989320"/>
            <a:ext cx="5212080" cy="206210"/>
          </a:xfrm>
          <a:prstGeom prst="rect">
            <a:avLst/>
          </a:prstGeom>
          <a:noFill/>
        </p:spPr>
        <p:txBody>
          <a:bodyPr wrap="square" lIns="36576" tIns="18288" rIns="36576" bIns="18288">
            <a:spAutoFit/>
          </a:bodyPr>
          <a:lstStyle/>
          <a:p>
            <a:pPr algn="l"/>
            <a:r>
              <a:rPr sz="1100">
                <a:solidFill>
                  <a:srgbClr val="728C8C"/>
                </a:solidFill>
                <a:latin typeface="Segoe UI"/>
              </a:rPr>
              <a:t>2026</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1530457" cy="452432"/>
          </a:xfrm>
          <a:prstGeom prst="rect">
            <a:avLst/>
          </a:prstGeom>
          <a:noFill/>
        </p:spPr>
        <p:txBody>
          <a:bodyPr wrap="square" lIns="36576" tIns="18288" rIns="36576" bIns="18288" anchor="ctr">
            <a:spAutoFit/>
          </a:bodyPr>
          <a:lstStyle/>
          <a:p>
            <a:pPr algn="l"/>
            <a:r>
              <a:rPr lang="en-US" sz="2700" b="1">
                <a:solidFill>
                  <a:srgbClr val="0D2B2B"/>
                </a:solidFill>
                <a:latin typeface="Segoe UI"/>
              </a:rPr>
              <a:t>Tóm Tắt </a:t>
            </a:r>
            <a:r>
              <a:rPr sz="2700" b="1">
                <a:solidFill>
                  <a:srgbClr val="0D2B2B"/>
                </a:solidFill>
                <a:latin typeface="Segoe UI"/>
              </a:rPr>
              <a:t>Thuật Toán Quản Lý U Lạc Nội Mạc Buồng Trứng Trước ART </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41447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Khối u OMA nhỏ hoặc vừa (&lt; 4 - 5 cm), không đau hoặc đau nhẹ, không cản trở chọc hút noãn: Tiến hành IVF / ICSI trực tiếp.</a:t>
            </a:r>
          </a:p>
          <a:p>
            <a:pPr>
              <a:spcBef>
                <a:spcPts val="500"/>
              </a:spcBef>
              <a:spcAft>
                <a:spcPts val="200"/>
              </a:spcAft>
            </a:pPr>
            <a:r>
              <a:rPr sz="2400">
                <a:solidFill>
                  <a:srgbClr val="1A2F2F"/>
                </a:solidFill>
                <a:latin typeface="Segoe UI"/>
              </a:rPr>
              <a:t>  –  Mục tiêu của IVF trực tiếp: Bảo toàn tối đa dự trữ buồng trứng (AMH/AFC), tránh nguy cơ suy buồng trứng sớm sau mổ.</a:t>
            </a:r>
          </a:p>
          <a:p>
            <a:pPr>
              <a:spcBef>
                <a:spcPts val="500"/>
              </a:spcBef>
              <a:spcAft>
                <a:spcPts val="200"/>
              </a:spcAft>
            </a:pPr>
            <a:r>
              <a:rPr sz="2400">
                <a:solidFill>
                  <a:srgbClr val="1A2F2F"/>
                </a:solidFill>
                <a:latin typeface="Segoe UI"/>
              </a:rPr>
              <a:t>  –  Khối u OMA có chỉ định phẫu thuật (đau dữ dội, nghi ngờ ác tính, u quá lớn cản trở OPU): Thực hiện Bảo tồn sinh sản trước mổ.</a:t>
            </a:r>
          </a:p>
          <a:p>
            <a:pPr>
              <a:spcBef>
                <a:spcPts val="500"/>
              </a:spcBef>
              <a:spcAft>
                <a:spcPts val="200"/>
              </a:spcAft>
            </a:pPr>
            <a:r>
              <a:rPr sz="2400">
                <a:solidFill>
                  <a:srgbClr val="1A2F2F"/>
                </a:solidFill>
                <a:latin typeface="Segoe UI"/>
              </a:rPr>
              <a:t>  –  Bảo tồn sinh sản (Fertility Preservation): Kích thích buồng trứng và Trữ đông noãn / phôi TRƯỚC KHI bước vào phòng mổ.</a:t>
            </a:r>
          </a:p>
          <a:p>
            <a:pPr>
              <a:spcBef>
                <a:spcPts val="500"/>
              </a:spcBef>
              <a:spcAft>
                <a:spcPts val="200"/>
              </a:spcAft>
            </a:pPr>
            <a:r>
              <a:rPr sz="2400">
                <a:solidFill>
                  <a:srgbClr val="1A2F2F"/>
                </a:solidFill>
                <a:latin typeface="Segoe UI"/>
              </a:rPr>
              <a:t>  –  Lựa chọn kỹ thuật ngoại khoa: Ưu tiên can thiệp bảo tồn mô lành (Tiêm xơ cồn EST hoặc Bốc hơi Laser CO2/Plasma).</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Khuyến Cáo Chính Thức Của ESHRE 2022 Về Phẫu Thuật Endometrioma</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Khuyến cáo chính thức ESHRE Guideline 2022</a:t>
            </a:r>
            <a:r>
              <a:rPr lang="en-US" sz="2400">
                <a:solidFill>
                  <a:srgbClr val="1A2F2F"/>
                </a:solidFill>
                <a:latin typeface="Segoe UI"/>
              </a:rPr>
              <a:t> </a:t>
            </a:r>
            <a:r>
              <a:rPr sz="2400">
                <a:solidFill>
                  <a:srgbClr val="1A2F2F"/>
                </a:solidFill>
                <a:latin typeface="Segoe UI"/>
              </a:rPr>
              <a:t>: Không khuyến cáo phẫu thuật bóc u lạc nội mạc buồng trứng thường quy trước khi thực hiện ART chỉ nhằm mục đích tăng tỷ lệ trẻ sinh sống (Khuyến cáo mạnh, độ tin cậy vừa đến thấp).</a:t>
            </a:r>
          </a:p>
          <a:p>
            <a:pPr>
              <a:spcBef>
                <a:spcPts val="500"/>
              </a:spcBef>
              <a:spcAft>
                <a:spcPts val="200"/>
              </a:spcAft>
            </a:pPr>
            <a:r>
              <a:rPr sz="2400">
                <a:solidFill>
                  <a:srgbClr val="1A2F2F"/>
                </a:solidFill>
                <a:latin typeface="Segoe UI"/>
              </a:rPr>
              <a:t>  –  Cơ sở bằng chứng: Phẫu thuật bóc nang không làm tăng tỷ lệ sinh sống trên mỗi chu kỳ chuyển phôi mà còn làm suy giảm nặng dự trữ buồng trứng.</a:t>
            </a:r>
          </a:p>
          <a:p>
            <a:pPr>
              <a:spcBef>
                <a:spcPts val="500"/>
              </a:spcBef>
              <a:spcAft>
                <a:spcPts val="200"/>
              </a:spcAft>
            </a:pPr>
            <a:r>
              <a:rPr sz="2400">
                <a:solidFill>
                  <a:srgbClr val="1A2F2F"/>
                </a:solidFill>
                <a:latin typeface="Segoe UI"/>
              </a:rPr>
              <a:t>  –  Thay đổi thực hành: Chấm dứt thói quen ngoại khoa cổ điển 'thấy u nang buồng trứng là mổ bóc nang' trước khi chuyển sang trung tâm IVF.</a:t>
            </a:r>
          </a:p>
          <a:p>
            <a:pPr>
              <a:spcBef>
                <a:spcPts val="500"/>
              </a:spcBef>
              <a:spcAft>
                <a:spcPts val="200"/>
              </a:spcAft>
            </a:pPr>
            <a:r>
              <a:rPr sz="2400">
                <a:solidFill>
                  <a:srgbClr val="1A2F2F"/>
                </a:solidFill>
                <a:latin typeface="Segoe UI"/>
              </a:rPr>
              <a:t>  –  Đánh giá toàn diện: Bác sĩ cần cân nhắc giữa lợi ích giảm đau của phẫu thuật với nguy cơ suy giảm dự trữ buồng trứng không hồi phục.</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Bản Chất Mô Bệnh Học Của Kỹ Thuật Bóc Vỏ Nang (Stripping Cystectomy)</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282385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Thiếu ranh giới giải phẫu tự nhiên: Khối u OMA là nang giả (pseudocyst) hình thành do vỏ buồng trứng bị cuộn lõm vào trong.</a:t>
            </a:r>
          </a:p>
          <a:p>
            <a:pPr>
              <a:spcBef>
                <a:spcPts val="500"/>
              </a:spcBef>
              <a:spcAft>
                <a:spcPts val="200"/>
              </a:spcAft>
            </a:pPr>
            <a:r>
              <a:rPr sz="2000">
                <a:solidFill>
                  <a:srgbClr val="1A2F2F"/>
                </a:solidFill>
                <a:latin typeface="Segoe UI"/>
              </a:rPr>
              <a:t>  –  Không có vỏ bao giả: Giữa vỏ u nang OMA và mô đệm buồng trứng lành lân cận không có lớp vỏ bao phân cách rõ ràng như u bì hay u thanh dịch.</a:t>
            </a:r>
          </a:p>
          <a:p>
            <a:pPr>
              <a:spcBef>
                <a:spcPts val="500"/>
              </a:spcBef>
              <a:spcAft>
                <a:spcPts val="200"/>
              </a:spcAft>
            </a:pPr>
            <a:r>
              <a:rPr sz="2000">
                <a:solidFill>
                  <a:srgbClr val="1A2F2F"/>
                </a:solidFill>
                <a:latin typeface="Segoe UI"/>
              </a:rPr>
              <a:t>  –  Mất mô buồng trứng lành dính kèm: Khi phẫu thuật viên dùng kẹp bóc tách vỏ u (stripping), mô buồng trứng lành dính theo vỏ nang bị tước đi (Muzii et al., 2002 - PMID: 11872220).</a:t>
            </a:r>
          </a:p>
          <a:p>
            <a:pPr>
              <a:spcBef>
                <a:spcPts val="500"/>
              </a:spcBef>
              <a:spcAft>
                <a:spcPts val="200"/>
              </a:spcAft>
            </a:pPr>
            <a:r>
              <a:rPr sz="2000">
                <a:solidFill>
                  <a:srgbClr val="1A2F2F"/>
                </a:solidFill>
                <a:latin typeface="Segoe UI"/>
              </a:rPr>
              <a:t>  –  Đặc điểm vùng rốn buồng trứng (Hilus): Mô buồng trứng dính ở vùng rốn buồng trứng chứa nhiều nang noãn nguyên thủy và thứ cấp nhất (Muzii et al., 2005 - PMID: 15860498).</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sz="2700" b="1">
                <a:solidFill>
                  <a:srgbClr val="0D2B2B"/>
                </a:solidFill>
                <a:latin typeface="Segoe UI"/>
              </a:rPr>
              <a:t>Độ Sâu Xâm Lấn Mô Học &amp; Cơ Sở Của Kỹ Thuật Bốc Hơi Laser CO2</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1"/>
            <a:ext cx="11064240" cy="3131627"/>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Độ sâu xâm lấn nội mạc: Nghiên cứu mô học của Muzii et al. (2007 - PMID: 17094980) chứng minh độ dày lớp nội mạc trong u OMA trung bình là 1.4 mm, và độ sâu xâm lấn &lt; 1.5 mm ở 99% mẫu bệnh phẩm.</a:t>
            </a:r>
          </a:p>
          <a:p>
            <a:pPr>
              <a:spcBef>
                <a:spcPts val="500"/>
              </a:spcBef>
              <a:spcAft>
                <a:spcPts val="200"/>
              </a:spcAft>
            </a:pPr>
            <a:r>
              <a:rPr sz="2000">
                <a:solidFill>
                  <a:srgbClr val="1A2F2F"/>
                </a:solidFill>
                <a:latin typeface="Segoe UI"/>
              </a:rPr>
              <a:t>  –  Cơ sở của Laser CO2: Vì tổn thương chỉ nằm nông &lt; 1.5 mm, phẫu thuật viên chỉ cần bốc hơi laser bề mặt với độ sâu 1 - 2 mm là triệt tiêu hoàn toàn tuyến chế tiết.</a:t>
            </a:r>
          </a:p>
          <a:p>
            <a:pPr>
              <a:spcBef>
                <a:spcPts val="500"/>
              </a:spcBef>
              <a:spcAft>
                <a:spcPts val="200"/>
              </a:spcAft>
            </a:pPr>
            <a:r>
              <a:rPr sz="2000">
                <a:solidFill>
                  <a:srgbClr val="1A2F2F"/>
                </a:solidFill>
                <a:latin typeface="Segoe UI"/>
              </a:rPr>
              <a:t>  –  Tránh giật bóc tách: Kỹ thuật bốc hơi không cần bóc tách vỏ u nên bảo tồn trọn vẹn mô lành và cụm nang noãn vùng rốn buồng trứng.</a:t>
            </a:r>
          </a:p>
          <a:p>
            <a:pPr>
              <a:spcBef>
                <a:spcPts val="500"/>
              </a:spcBef>
              <a:spcAft>
                <a:spcPts val="200"/>
              </a:spcAft>
            </a:pPr>
            <a:r>
              <a:rPr sz="2000">
                <a:solidFill>
                  <a:srgbClr val="1A2F2F"/>
                </a:solidFill>
                <a:latin typeface="Segoe UI"/>
              </a:rPr>
              <a:t>  –  Cảnh báo mô học: Càng cố bóc tách sâu ở vùng rốn buồng trứng thì lượng mô lành và nang noãn bị tước bỏ càng nặng nề.</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Độc Tính Nhiệt Của Đốt Điện Cầm Máu Lưỡng Cực (Bipolar Electrocoagulation)</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282385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Chảy máu diện đáy buồng trứng: Sau khi bóc tách vỏ nang, diện đáy nhu mô buồng trứng thường chảy máu rỉ rả diện rộng do đứt các vi mạch.</a:t>
            </a:r>
          </a:p>
          <a:p>
            <a:pPr>
              <a:spcBef>
                <a:spcPts val="500"/>
              </a:spcBef>
              <a:spcAft>
                <a:spcPts val="200"/>
              </a:spcAft>
            </a:pPr>
            <a:r>
              <a:rPr sz="2000">
                <a:solidFill>
                  <a:srgbClr val="1A2F2F"/>
                </a:solidFill>
                <a:latin typeface="Segoe UI"/>
              </a:rPr>
              <a:t>  –  Tổn thương nhiệt lan tỏa: Việc dùng kẹp đốt điện lưỡng cực (bipolar) đốt liên tục trên diện đáy buồng trứng để cầm máu tạo ra vùng tổn thương nhiệt sâu.</a:t>
            </a:r>
          </a:p>
          <a:p>
            <a:pPr>
              <a:spcBef>
                <a:spcPts val="500"/>
              </a:spcBef>
              <a:spcAft>
                <a:spcPts val="200"/>
              </a:spcAft>
            </a:pPr>
            <a:r>
              <a:rPr sz="2000">
                <a:solidFill>
                  <a:srgbClr val="1A2F2F"/>
                </a:solidFill>
                <a:latin typeface="Segoe UI"/>
              </a:rPr>
              <a:t>  –  Phá hủy vi mạch rốn buồng trứng: Nhiệt lượng làm đông vón và phá hủy toàn bộ mạng lưới mao mạch nuôi dưỡng vùng rốn buồng trứng.</a:t>
            </a:r>
          </a:p>
          <a:p>
            <a:pPr>
              <a:spcBef>
                <a:spcPts val="500"/>
              </a:spcBef>
              <a:spcAft>
                <a:spcPts val="200"/>
              </a:spcAft>
            </a:pPr>
            <a:r>
              <a:rPr sz="2000">
                <a:solidFill>
                  <a:srgbClr val="1A2F2F"/>
                </a:solidFill>
                <a:latin typeface="Segoe UI"/>
              </a:rPr>
              <a:t>  –  Hậu quả mô học: Phần mô buồng trứng lành còn lại bị thiếu máu nuôi cục bộ, dẫn đến hoại tử vô khuẩn, xơ hóa và teo đi vĩnh viễn.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Bằng Chứng Meta-Analysis Về Sự Sụt Giảm AMH &amp; Kết Cục Thai Sau Mổ</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1"/>
            <a:ext cx="11064240" cy="3131627"/>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Sụt giảm nồng độ AMH huyết thanh: Tổng quan hệ thống của Riemma et al. (RBMO 2026 - PMID: 41447907) trên 22 nghiên cứu (3.590 bệnh nhân) chứng minh phẫu thuật bóc OMA làm giảm AMH trung bình -0.57 ng/mL (95% CI: -1.02 đến -0.12).</a:t>
            </a:r>
          </a:p>
          <a:p>
            <a:pPr>
              <a:spcBef>
                <a:spcPts val="500"/>
              </a:spcBef>
              <a:spcAft>
                <a:spcPts val="200"/>
              </a:spcAft>
            </a:pPr>
            <a:r>
              <a:rPr sz="2000">
                <a:solidFill>
                  <a:srgbClr val="1A2F2F"/>
                </a:solidFill>
                <a:latin typeface="Segoe UI"/>
              </a:rPr>
              <a:t>  –  Giảm số lượng noãn thu hồi: Bệnh nhân đã mổ bóc OMA bị giảm số noãn thu hồi trung bình -1.24 noãn (95% CI: -1.70 đến -0.77) khi làm IVF.</a:t>
            </a:r>
          </a:p>
          <a:p>
            <a:pPr>
              <a:spcBef>
                <a:spcPts val="500"/>
              </a:spcBef>
              <a:spcAft>
                <a:spcPts val="200"/>
              </a:spcAft>
            </a:pPr>
            <a:r>
              <a:rPr sz="2000">
                <a:solidFill>
                  <a:srgbClr val="1A2F2F"/>
                </a:solidFill>
                <a:latin typeface="Segoe UI"/>
              </a:rPr>
              <a:t>  –  Không cải thiện tỷ lệ sinh sống: Tỷ lệ trẻ sinh sống (LBR) hoàn toàn không tăng sau mổ bóc OMA (OR = 0.89, 95% CI: 0.68 - 1.16).</a:t>
            </a:r>
          </a:p>
          <a:p>
            <a:pPr>
              <a:spcBef>
                <a:spcPts val="500"/>
              </a:spcBef>
              <a:spcAft>
                <a:spcPts val="200"/>
              </a:spcAft>
            </a:pPr>
            <a:r>
              <a:rPr sz="2000">
                <a:solidFill>
                  <a:srgbClr val="1A2F2F"/>
                </a:solidFill>
                <a:latin typeface="Segoe UI"/>
              </a:rPr>
              <a:t>  –  Đánh giá AFC: Phân tích gộp của Muzii 2014 (PMID: 25085800) cho thấy AFC sau mổ không tăng mà phụ thuộc vào mức độ bảo tồn mô đệm buồng trứng.</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Nguy Cơ Suy Buồng Trứng Sớm Sau Mổ Bóc U Endometrioma Hai Bên</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282385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Tỷ lệ suy buồng trứng sớm hoàn toàn: Dao động từ 2% đến 5% sau phẫu thuật bóc u OMA hai bên buồng trứng.</a:t>
            </a:r>
          </a:p>
          <a:p>
            <a:pPr>
              <a:spcBef>
                <a:spcPts val="500"/>
              </a:spcBef>
              <a:spcAft>
                <a:spcPts val="200"/>
              </a:spcAft>
            </a:pPr>
            <a:r>
              <a:rPr sz="2000">
                <a:solidFill>
                  <a:srgbClr val="1A2F2F"/>
                </a:solidFill>
                <a:latin typeface="Segoe UI"/>
              </a:rPr>
              <a:t>  –  Yếu tố nguy cơ cao: Phụ nữ trên 35 tuổi, bệnh nhân có tiền sử phẫu thuật buồng trứng trước đó, hoặc bệnh nhân có nồng độ AMH nền thấp (&lt; 1.5 ng/mL).</a:t>
            </a:r>
          </a:p>
          <a:p>
            <a:pPr>
              <a:spcBef>
                <a:spcPts val="500"/>
              </a:spcBef>
              <a:spcAft>
                <a:spcPts val="200"/>
              </a:spcAft>
            </a:pPr>
            <a:r>
              <a:rPr sz="2000">
                <a:solidFill>
                  <a:srgbClr val="1A2F2F"/>
                </a:solidFill>
                <a:latin typeface="Segoe UI"/>
              </a:rPr>
              <a:t>  –  Hậu quả lâm sàng không thể đảo ngược: Mất hoàn toàn cơ hội có con bằng noãn tự thân, bắt buộc phải xin noãn từ người hiến tặng.</a:t>
            </a:r>
          </a:p>
          <a:p>
            <a:pPr>
              <a:spcBef>
                <a:spcPts val="500"/>
              </a:spcBef>
              <a:spcAft>
                <a:spcPts val="200"/>
              </a:spcAft>
            </a:pPr>
            <a:r>
              <a:rPr sz="2000">
                <a:solidFill>
                  <a:srgbClr val="1A2F2F"/>
                </a:solidFill>
                <a:latin typeface="Segoe UI"/>
              </a:rPr>
              <a:t>  –  Lời khuyên lâm sàng: Luôn định lượng AMH và siêu âm đếm AFC trước khi đưa ra bất kỳ quyết định phẫu thuật buồng trứng nào.</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sz="2700" b="1">
                <a:solidFill>
                  <a:srgbClr val="0D2B2B"/>
                </a:solidFill>
                <a:latin typeface="Segoe UI"/>
              </a:rPr>
              <a:t>Bốn Chỉ Định Can Thiệp Phẫu Thuật U Buồng Trứng Bắt Buộc</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282385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Chỉ định 1 — Cấp cứu ngoại khoa: Xoắn buồng trứng hoặc vỡ nang OMA gây viêm phúc mạc cấp tính.</a:t>
            </a:r>
          </a:p>
          <a:p>
            <a:pPr>
              <a:spcBef>
                <a:spcPts val="500"/>
              </a:spcBef>
              <a:spcAft>
                <a:spcPts val="200"/>
              </a:spcAft>
            </a:pPr>
            <a:r>
              <a:rPr sz="2000">
                <a:solidFill>
                  <a:srgbClr val="1A2F2F"/>
                </a:solidFill>
                <a:latin typeface="Segoe UI"/>
              </a:rPr>
              <a:t>  –  Chỉ định 2 — Nghi ngờ ác tính: Khối u có chồi sùi đặc, tăng sinh mạch máu Doppler (IOTA score 3-4), u tăng nhanh ở phụ nữ &gt; 40 tuổi.</a:t>
            </a:r>
          </a:p>
          <a:p>
            <a:pPr>
              <a:spcBef>
                <a:spcPts val="500"/>
              </a:spcBef>
              <a:spcAft>
                <a:spcPts val="200"/>
              </a:spcAft>
            </a:pPr>
            <a:r>
              <a:rPr sz="2000">
                <a:solidFill>
                  <a:srgbClr val="1A2F2F"/>
                </a:solidFill>
                <a:latin typeface="Segoe UI"/>
              </a:rPr>
              <a:t>  –  Chỉ định 3 — Đau vùng chậu dữ dội kháng trị: Thống kinh nặng, giao hợp đau sâu không đáp ứng với điều trị nội khoa.</a:t>
            </a:r>
          </a:p>
          <a:p>
            <a:pPr>
              <a:spcBef>
                <a:spcPts val="500"/>
              </a:spcBef>
              <a:spcAft>
                <a:spcPts val="200"/>
              </a:spcAft>
            </a:pPr>
            <a:r>
              <a:rPr sz="2000">
                <a:solidFill>
                  <a:srgbClr val="1A2F2F"/>
                </a:solidFill>
                <a:latin typeface="Segoe UI"/>
              </a:rPr>
              <a:t>  –  Chỉ định 4 — Trở ngại cơ học cho </a:t>
            </a:r>
            <a:r>
              <a:rPr lang="en-US" sz="2000">
                <a:solidFill>
                  <a:srgbClr val="1A2F2F"/>
                </a:solidFill>
                <a:latin typeface="Segoe UI"/>
              </a:rPr>
              <a:t>chọc hút noãn</a:t>
            </a:r>
            <a:r>
              <a:rPr sz="2000">
                <a:solidFill>
                  <a:srgbClr val="1A2F2F"/>
                </a:solidFill>
                <a:latin typeface="Segoe UI"/>
              </a:rPr>
              <a:t>: U nang quá lớn (≥ 5 - 6 cm) che khuất không thể tiếp cận các nang noãn lành.</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sz="2700" b="1">
                <a:solidFill>
                  <a:srgbClr val="0D2B2B"/>
                </a:solidFill>
                <a:latin typeface="Segoe UI"/>
              </a:rPr>
              <a:t>Chiến Lược Bảo Tồn Sinh Sản</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1"/>
            <a:ext cx="11064240" cy="2118529"/>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Nguyên tắc sống còn: Ở bệnh nhân trẻ tuổi chưa có con, có u OMA hai bên hoặc AMH suy giảm (&lt; 1.5 ng/mL) nhưng bắt buộc phải phẫu thuật:</a:t>
            </a:r>
          </a:p>
          <a:p>
            <a:pPr>
              <a:spcBef>
                <a:spcPts val="500"/>
              </a:spcBef>
              <a:spcAft>
                <a:spcPts val="200"/>
              </a:spcAft>
            </a:pPr>
            <a:r>
              <a:rPr sz="2400">
                <a:solidFill>
                  <a:srgbClr val="1A2F2F"/>
                </a:solidFill>
                <a:latin typeface="Segoe UI"/>
              </a:rPr>
              <a:t>  </a:t>
            </a:r>
            <a:r>
              <a:rPr lang="en-US" sz="2400">
                <a:solidFill>
                  <a:srgbClr val="1A2F2F"/>
                </a:solidFill>
                <a:latin typeface="Segoe UI"/>
              </a:rPr>
              <a:t>	</a:t>
            </a:r>
            <a:r>
              <a:rPr sz="2400">
                <a:solidFill>
                  <a:schemeClr val="tx2"/>
                </a:solidFill>
                <a:latin typeface="Segoe UI"/>
              </a:rPr>
              <a:t>Quy tắc bắt buộc: Kích thích buồng trứng và Trữ đông noãn (Oocyte cryopreservation) hoặc Trữ đông phôi </a:t>
            </a:r>
            <a:r>
              <a:rPr sz="2400" b="1" i="1">
                <a:solidFill>
                  <a:schemeClr val="tx2"/>
                </a:solidFill>
                <a:latin typeface="Segoe UI"/>
              </a:rPr>
              <a:t>TRƯỚC KHI bước vào phòng mổ.</a:t>
            </a:r>
          </a:p>
          <a:p>
            <a:pPr>
              <a:spcBef>
                <a:spcPts val="500"/>
              </a:spcBef>
              <a:spcAft>
                <a:spcPts val="200"/>
              </a:spcAft>
            </a:pPr>
            <a:r>
              <a:rPr sz="2400">
                <a:solidFill>
                  <a:srgbClr val="1A2F2F"/>
                </a:solidFill>
                <a:latin typeface="Segoe UI"/>
              </a:rPr>
              <a:t>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sz="2700" b="1">
                <a:solidFill>
                  <a:srgbClr val="0D2B2B"/>
                </a:solidFill>
                <a:latin typeface="Segoe UI"/>
              </a:rPr>
              <a:t>So Sánh 3 Phương Pháp Can Thiệp U Lạc Nội Mạc Buồng Trứng</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Bóc vỏ nang tiêu chuẩn </a:t>
            </a:r>
            <a:r>
              <a:rPr lang="en-US" sz="2400">
                <a:solidFill>
                  <a:srgbClr val="1A2F2F"/>
                </a:solidFill>
                <a:latin typeface="Segoe UI"/>
              </a:rPr>
              <a:t>: </a:t>
            </a:r>
            <a:r>
              <a:rPr sz="2400">
                <a:solidFill>
                  <a:srgbClr val="1A2F2F"/>
                </a:solidFill>
                <a:latin typeface="Segoe UI"/>
              </a:rPr>
              <a:t> Mổ nội soi ổ bụng, mất mô buồng trứng lành dính kèm, đốt điện làm giảm mạnh AMH (-0.57 ng/mL).</a:t>
            </a:r>
          </a:p>
          <a:p>
            <a:pPr>
              <a:spcBef>
                <a:spcPts val="500"/>
              </a:spcBef>
              <a:spcAft>
                <a:spcPts val="200"/>
              </a:spcAft>
            </a:pPr>
            <a:r>
              <a:rPr sz="2400">
                <a:solidFill>
                  <a:srgbClr val="1A2F2F"/>
                </a:solidFill>
                <a:latin typeface="Segoe UI"/>
              </a:rPr>
              <a:t>  –  Bốc hơi lòng nang bằng Laser CO2 / Plasma: Mổ nội soi ổ bụng, chỉ hủy lớp biểu mô chế tiết bề mặt sâu 1-2 mm, ít làm tổn hại mô đệm hơn bóc nang.</a:t>
            </a:r>
          </a:p>
          <a:p>
            <a:pPr>
              <a:spcBef>
                <a:spcPts val="500"/>
              </a:spcBef>
              <a:spcAft>
                <a:spcPts val="200"/>
              </a:spcAft>
            </a:pPr>
            <a:r>
              <a:rPr sz="2400">
                <a:solidFill>
                  <a:srgbClr val="1A2F2F"/>
                </a:solidFill>
                <a:latin typeface="Segoe UI"/>
              </a:rPr>
              <a:t>  –  Tiêm xơ bằng cồn dưới siêu âm (EST): Can thiệp qua ngả âm đạo không cần mổ bụng, hoàn toàn không làm mất mô lành, bảo tồn AMH tốt hơn bóc nang.</a:t>
            </a:r>
          </a:p>
          <a:p>
            <a:pPr>
              <a:spcBef>
                <a:spcPts val="500"/>
              </a:spcBef>
              <a:spcAft>
                <a:spcPts val="200"/>
              </a:spcAft>
            </a:pPr>
            <a:r>
              <a:rPr sz="2400">
                <a:solidFill>
                  <a:srgbClr val="1A2F2F"/>
                </a:solidFill>
                <a:latin typeface="Segoe UI"/>
              </a:rPr>
              <a:t>  –  Đánh giá khách quan: Cả bóc nang và bốc hơi đều có thể làm giảm nhẹ AMH sau mổ (Zhang 2022), nhưng bốc hơi laser và EST ít gây tổn thương mô đệm và AFC hơn.</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sz="2700" b="1">
                <a:solidFill>
                  <a:srgbClr val="0D2B2B"/>
                </a:solidFill>
                <a:latin typeface="Segoe UI"/>
              </a:rPr>
              <a:t>Kỹ Thuật Tiêm Xơ Bằng Cồn (Ethanol Sclerotherapy - EST)</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316292"/>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Định nghĩa: Kỹ thuật can thiệp xâm lấn tối thiểu qua ngả âm đạo dưới hướng dẫn siêu âm nhằm phá hủy lớp niêm mạc chế tiết của u OMA.</a:t>
            </a:r>
          </a:p>
          <a:p>
            <a:pPr>
              <a:spcBef>
                <a:spcPts val="500"/>
              </a:spcBef>
              <a:spcAft>
                <a:spcPts val="200"/>
              </a:spcAft>
            </a:pPr>
            <a:r>
              <a:rPr sz="2400">
                <a:solidFill>
                  <a:srgbClr val="1A2F2F"/>
                </a:solidFill>
                <a:latin typeface="Segoe UI"/>
              </a:rPr>
              <a:t>  –  Nguyên lý đông vón protein: Cồn y tế nồng độ cao (95% - 99%) làm biến tính và đông vón protein tế bào, phá hủy lớp biểu mô chế tiết trong lòng nang.</a:t>
            </a:r>
          </a:p>
          <a:p>
            <a:pPr>
              <a:spcBef>
                <a:spcPts val="500"/>
              </a:spcBef>
              <a:spcAft>
                <a:spcPts val="200"/>
              </a:spcAft>
            </a:pPr>
            <a:r>
              <a:rPr sz="2400">
                <a:solidFill>
                  <a:srgbClr val="1A2F2F"/>
                </a:solidFill>
                <a:latin typeface="Segoe UI"/>
              </a:rPr>
              <a:t>  –  Không dùng nhiệt: Hoàn toàn không sử dụng dao điện hay năng lượng nhiệt, do đó không gây tổn thương vi mạch rốn buồng trứng.</a:t>
            </a:r>
          </a:p>
          <a:p>
            <a:pPr>
              <a:spcBef>
                <a:spcPts val="500"/>
              </a:spcBef>
              <a:spcAft>
                <a:spcPts val="200"/>
              </a:spcAft>
            </a:pPr>
            <a:r>
              <a:rPr sz="2400">
                <a:solidFill>
                  <a:srgbClr val="1A2F2F"/>
                </a:solidFill>
                <a:latin typeface="Segoe UI"/>
              </a:rPr>
              <a:t>  –  Ưu thế lâm sàng: Thực hiện nhẹ nhàng dưới tiền mê hoặc gây tê tại chỗ, không cần mổ nội soi, thời gian hồi phục nhanh trong ngày.</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Quy Trình 4 Bước Thực Hiện Tiêm Xơ Bằng Cồn (EST) Chuẩn Lâm Sàng</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282385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Bước 1 — Chọc hút triệt để: Đưa kim qua ngả âm đạo dưới hướng dẫn siêu âm vào u OMA, hút sạch hoàn toàn dịch sô-cô-la; đo thể tích dịch hút ra.</a:t>
            </a:r>
          </a:p>
          <a:p>
            <a:pPr>
              <a:spcBef>
                <a:spcPts val="500"/>
              </a:spcBef>
              <a:spcAft>
                <a:spcPts val="200"/>
              </a:spcAft>
            </a:pPr>
            <a:r>
              <a:rPr sz="2000">
                <a:solidFill>
                  <a:srgbClr val="1A2F2F"/>
                </a:solidFill>
                <a:latin typeface="Segoe UI"/>
              </a:rPr>
              <a:t>  –  Bước 2 — Bơm rửa lòng nang: Bơm rửa bằng nước muối sinh lý NaCl 0.9% từ 2 đến 3 lần liên tiếp cho đến khi dịch hút ra trong suốt.</a:t>
            </a:r>
          </a:p>
          <a:p>
            <a:pPr>
              <a:spcBef>
                <a:spcPts val="500"/>
              </a:spcBef>
              <a:spcAft>
                <a:spcPts val="200"/>
              </a:spcAft>
            </a:pPr>
            <a:r>
              <a:rPr sz="2000">
                <a:solidFill>
                  <a:srgbClr val="1A2F2F"/>
                </a:solidFill>
                <a:latin typeface="Segoe UI"/>
              </a:rPr>
              <a:t>  –  Bước 3 — Bơm ngâm cồn 95-99%: Bơm cồn y tế với thể tích bằng 60% - 80% thể tích dịch hút ra, ngâm lưu cồn trong nang đúng 10 đến 15 phút.</a:t>
            </a:r>
          </a:p>
          <a:p>
            <a:pPr>
              <a:spcBef>
                <a:spcPts val="500"/>
              </a:spcBef>
              <a:spcAft>
                <a:spcPts val="200"/>
              </a:spcAft>
            </a:pPr>
            <a:r>
              <a:rPr sz="2000">
                <a:solidFill>
                  <a:srgbClr val="1A2F2F"/>
                </a:solidFill>
                <a:latin typeface="Segoe UI"/>
              </a:rPr>
              <a:t>  –  Bước 4 — Hút cạn sạch cồn: Hút sạch toàn bộ lượng cồn ra ngoài, tuyệt đối không để rò rỉ cồn vào ổ phúc mạc.</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g. 1">
            <a:extLst>
              <a:ext uri="{FF2B5EF4-FFF2-40B4-BE49-F238E27FC236}">
                <a16:creationId xmlns:a16="http://schemas.microsoft.com/office/drawing/2014/main" id="{C5F673D0-34C8-97A9-18D7-0E6929DF53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8" y="0"/>
            <a:ext cx="768985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6A4A948-7801-FF0D-302B-0C6DDE598992}"/>
              </a:ext>
            </a:extLst>
          </p:cNvPr>
          <p:cNvSpPr txBox="1"/>
          <p:nvPr/>
        </p:nvSpPr>
        <p:spPr>
          <a:xfrm>
            <a:off x="8144256" y="358899"/>
            <a:ext cx="3718774" cy="5355312"/>
          </a:xfrm>
          <a:prstGeom prst="rect">
            <a:avLst/>
          </a:prstGeom>
          <a:noFill/>
        </p:spPr>
        <p:txBody>
          <a:bodyPr wrap="square">
            <a:spAutoFit/>
          </a:bodyPr>
          <a:lstStyle/>
          <a:p>
            <a:r>
              <a:rPr lang="vi-VN"/>
              <a:t>a Dưới sự hướng dẫn của siêu âm qua âm đạo, u nội mạc tử cung ở buồng trứng phải được chọc hút bằng kim Chiba cỡ 18-gauge. </a:t>
            </a:r>
            <a:endParaRPr lang="en-US"/>
          </a:p>
          <a:p>
            <a:r>
              <a:rPr lang="vi-VN"/>
              <a:t>b Sau khi hút khoảng 20% thể tích ước tính của u nang, chất cản quang với lượng ít hơn so với lượng dịch đã hút được tiêm dưới sự hướng dẫn của chụp X-quang động để xác nhận không có rò rỉ.</a:t>
            </a:r>
            <a:endParaRPr lang="en-US"/>
          </a:p>
          <a:p>
            <a:r>
              <a:rPr lang="vi-VN"/>
              <a:t> c Tiếp theo, độ nhớt của dịch nang được làm giảm bằng cách rửa bằng dung dịch muối sinh lý vô trùng và hút lại nhiều lần. </a:t>
            </a:r>
            <a:endParaRPr lang="en-US"/>
          </a:p>
          <a:p>
            <a:r>
              <a:rPr lang="vi-VN"/>
              <a:t>d Sau khi dịch nang chuyển sang dạng dịch trong, liệu pháp xơ hóa được thực hiện bằng cồn 96% vô trùng trong 15 phút. Thủ thuật được kết thúc sau khi hút lại cồn. </a:t>
            </a:r>
          </a:p>
        </p:txBody>
      </p:sp>
    </p:spTree>
    <p:extLst>
      <p:ext uri="{BB962C8B-B14F-4D97-AF65-F5344CB8AC3E}">
        <p14:creationId xmlns:p14="http://schemas.microsoft.com/office/powerpoint/2010/main" val="39543257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ig. 2">
            <a:extLst>
              <a:ext uri="{FF2B5EF4-FFF2-40B4-BE49-F238E27FC236}">
                <a16:creationId xmlns:a16="http://schemas.microsoft.com/office/drawing/2014/main" id="{5775D788-77DA-DFA0-D985-99438812F1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9" y="1"/>
            <a:ext cx="12188825" cy="37052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D0838DC-6D2D-8512-1967-5FC1BBD5E5A8}"/>
              </a:ext>
            </a:extLst>
          </p:cNvPr>
          <p:cNvSpPr txBox="1"/>
          <p:nvPr/>
        </p:nvSpPr>
        <p:spPr>
          <a:xfrm>
            <a:off x="1463340" y="4203345"/>
            <a:ext cx="8751194" cy="2308324"/>
          </a:xfrm>
          <a:prstGeom prst="rect">
            <a:avLst/>
          </a:prstGeom>
          <a:noFill/>
        </p:spPr>
        <p:txBody>
          <a:bodyPr wrap="square">
            <a:spAutoFit/>
          </a:bodyPr>
          <a:lstStyle/>
          <a:p>
            <a:pPr marL="342900" indent="-342900">
              <a:buAutoNum type="alphaLcPeriod"/>
            </a:pPr>
            <a:r>
              <a:rPr lang="vi-VN"/>
              <a:t>Dưới sự hướng dẫn của siêu âm qua thành bụng, u nội mạc tử cung ở buồng trứng trái đã được chọc hút bằng kim 18-gauge. </a:t>
            </a:r>
            <a:endParaRPr lang="en-US"/>
          </a:p>
          <a:p>
            <a:pPr marL="342900" indent="-342900">
              <a:buAutoNum type="alphaLcPeriod"/>
            </a:pPr>
            <a:r>
              <a:rPr lang="vi-VN"/>
              <a:t>b Sau đó, dưới sự hướng dẫn của siêu âm và chụp X-quang động, một dây dẫn Amplatz có đường kính 0,035 inch đã được đưa vào bên trong nang qua kim, </a:t>
            </a:r>
            <a:endParaRPr lang="en-US"/>
          </a:p>
          <a:p>
            <a:pPr marL="342900" indent="-342900">
              <a:buAutoNum type="alphaLcPeriod"/>
            </a:pPr>
            <a:r>
              <a:rPr lang="vi-VN"/>
              <a:t> một ống dẫn lưu 8-F đã được đặt vào. Sau khi hút hết dịch trong nang và thực hiện chụp nang để xác nhận không có rò rỉ, phương pháp xơ hóa được thực hiện bằng cồn 96% vô trùng trong 15 phút. Cuối cùng, thủ thuật được kết thúc sau khi hút lại cồn.</a:t>
            </a:r>
          </a:p>
        </p:txBody>
      </p:sp>
    </p:spTree>
    <p:extLst>
      <p:ext uri="{BB962C8B-B14F-4D97-AF65-F5344CB8AC3E}">
        <p14:creationId xmlns:p14="http://schemas.microsoft.com/office/powerpoint/2010/main" val="42456243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Bằng Chứng Về Tiêm Xơ Cồn EST (Bennet et al., BMC Womens Health 2026)</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2300630"/>
          </a:xfrm>
          <a:prstGeom prst="rect">
            <a:avLst/>
          </a:prstGeom>
          <a:noFill/>
        </p:spPr>
        <p:txBody>
          <a:bodyPr wrap="square" lIns="36576" rIns="36576">
            <a:spAutoFit/>
          </a:bodyPr>
          <a:lstStyle/>
          <a:p>
            <a:pPr>
              <a:spcBef>
                <a:spcPts val="500"/>
              </a:spcBef>
              <a:spcAft>
                <a:spcPts val="200"/>
              </a:spcAft>
            </a:pPr>
            <a:r>
              <a:rPr>
                <a:solidFill>
                  <a:srgbClr val="1A2F2F"/>
                </a:solidFill>
                <a:latin typeface="Segoe UI"/>
              </a:rPr>
              <a:t>  –  Bằng chứng phân tích gộp: Bennet et al. so sánh tiêm xơ cồn EST với phẫu thuật bóc nang cystectomy.</a:t>
            </a:r>
          </a:p>
          <a:p>
            <a:pPr>
              <a:spcBef>
                <a:spcPts val="500"/>
              </a:spcBef>
              <a:spcAft>
                <a:spcPts val="200"/>
              </a:spcAft>
            </a:pPr>
            <a:r>
              <a:rPr>
                <a:solidFill>
                  <a:srgbClr val="1A2F2F"/>
                </a:solidFill>
                <a:latin typeface="Segoe UI"/>
              </a:rPr>
              <a:t>  –  Bảo tồn nồng độ AMH vượt trội: Bệnh nhân làm EST có nồng độ AMH sau thủ thuật sụt giảm ít hơn rõ rệt so với nhóm bóc u.</a:t>
            </a:r>
          </a:p>
          <a:p>
            <a:pPr>
              <a:spcBef>
                <a:spcPts val="500"/>
              </a:spcBef>
              <a:spcAft>
                <a:spcPts val="200"/>
              </a:spcAft>
            </a:pPr>
            <a:r>
              <a:rPr>
                <a:solidFill>
                  <a:srgbClr val="1A2F2F"/>
                </a:solidFill>
                <a:latin typeface="Segoe UI"/>
              </a:rPr>
              <a:t>  –  Tăng số lượng noãn thu hồi: Thu được số lượng noãn trưởng thành cao hơn có ý nghĩa thống kê trong các chu kỳ IVF tiếp theo.</a:t>
            </a:r>
          </a:p>
          <a:p>
            <a:pPr>
              <a:spcBef>
                <a:spcPts val="500"/>
              </a:spcBef>
              <a:spcAft>
                <a:spcPts val="200"/>
              </a:spcAft>
            </a:pPr>
            <a:r>
              <a:rPr>
                <a:solidFill>
                  <a:srgbClr val="1A2F2F"/>
                </a:solidFill>
                <a:latin typeface="Segoe UI"/>
              </a:rPr>
              <a:t>  –  Tỷ lệ tái phát tương đương: Tỷ lệ tái phát u nang và tỷ lệ biến chứng giữa nhóm làm EST và nhóm mổ nội soi bóc u không có sự khác biệt.</a:t>
            </a:r>
          </a:p>
        </p:txBody>
      </p:sp>
      <p:pic>
        <p:nvPicPr>
          <p:cNvPr id="8" name="Picture 7">
            <a:extLst>
              <a:ext uri="{FF2B5EF4-FFF2-40B4-BE49-F238E27FC236}">
                <a16:creationId xmlns:a16="http://schemas.microsoft.com/office/drawing/2014/main" id="{F851545A-AE97-7A51-0F9F-4AFF65DFFE10}"/>
              </a:ext>
            </a:extLst>
          </p:cNvPr>
          <p:cNvPicPr>
            <a:picLocks noChangeAspect="1"/>
          </p:cNvPicPr>
          <p:nvPr/>
        </p:nvPicPr>
        <p:blipFill>
          <a:blip r:embed="rId2"/>
          <a:stretch>
            <a:fillRect/>
          </a:stretch>
        </p:blipFill>
        <p:spPr>
          <a:xfrm>
            <a:off x="5195342" y="3704428"/>
            <a:ext cx="5486540" cy="2924973"/>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Kỹ Thuật Bốc Hơi Lòng Nang Bằng Laser CO2 Hoặc Plasma Năng Lượng</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Nguyên lý kỹ thuật: Phẫu thuật viên rạch mở một lỗ nhỏ trên u OMA, hút sạch dịch và rửa sạch lòng nang.</a:t>
            </a:r>
          </a:p>
          <a:p>
            <a:pPr>
              <a:spcBef>
                <a:spcPts val="500"/>
              </a:spcBef>
              <a:spcAft>
                <a:spcPts val="200"/>
              </a:spcAft>
            </a:pPr>
            <a:r>
              <a:rPr sz="2400">
                <a:solidFill>
                  <a:srgbClr val="1A2F2F"/>
                </a:solidFill>
                <a:latin typeface="Segoe UI"/>
              </a:rPr>
              <a:t>  –  Bốc hơi có kiểm soát: Dùng chùm năng lượng Laser CO2 hoặc chùm Plasma quét đều toàn bộ mặt trong vỏ nang để hủy lớp tế bào nội mạc sâu 1 - 2 mm (phù hợp độ sâu xâm lấn &lt; 1.5 mm của Muzii 2007).</a:t>
            </a:r>
          </a:p>
          <a:p>
            <a:pPr>
              <a:spcBef>
                <a:spcPts val="500"/>
              </a:spcBef>
              <a:spcAft>
                <a:spcPts val="200"/>
              </a:spcAft>
            </a:pPr>
            <a:r>
              <a:rPr sz="2400">
                <a:solidFill>
                  <a:srgbClr val="1A2F2F"/>
                </a:solidFill>
                <a:latin typeface="Segoe UI"/>
              </a:rPr>
              <a:t>  –  Không giật bóc tách mô: Không dùng kẹp giật bóc tách vỏ nang nên không tước đi dải mô buồng trứng lành chứa nang nguyên thủy.</a:t>
            </a:r>
          </a:p>
          <a:p>
            <a:pPr>
              <a:spcBef>
                <a:spcPts val="500"/>
              </a:spcBef>
              <a:spcAft>
                <a:spcPts val="200"/>
              </a:spcAft>
            </a:pPr>
            <a:r>
              <a:rPr sz="2400">
                <a:solidFill>
                  <a:srgbClr val="1A2F2F"/>
                </a:solidFill>
                <a:latin typeface="Segoe UI"/>
              </a:rPr>
              <a:t>  –  Hạn chế đốt điện: Không sử dụng dao điện đốt sâu vào diện đáy buồng trứng, bảo vệ toàn vẹn mạng lưới vi mạch nuôi dưỡng.</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61"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Bằng Chứng Về Laser CO2 &amp; Plasma (Zhang et al., Fertil Steril 2022)</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282385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Segoe UI"/>
              </a:rPr>
              <a:t>  –  Phân tích gộp Zhang et al. (Fertil Steril 2022 ): So sánh bốc hơi bảo tồn với bóc nang.</a:t>
            </a:r>
          </a:p>
          <a:p>
            <a:pPr>
              <a:spcBef>
                <a:spcPts val="500"/>
              </a:spcBef>
              <a:spcAft>
                <a:spcPts val="200"/>
              </a:spcAft>
            </a:pPr>
            <a:r>
              <a:rPr sz="2000">
                <a:solidFill>
                  <a:srgbClr val="1A2F2F"/>
                </a:solidFill>
                <a:latin typeface="Segoe UI"/>
              </a:rPr>
              <a:t>  –  Duy trì dự trữ buồng trứng tốt hơn: Cả hai phương pháp đều làm giảm nhẹ AMH, nhưng phương pháp bốc hơi bằng Laser CO2 hoặc Plasma làm giảm ít hơn và bảo tồn AFC tốt hơn so với bóc nang.</a:t>
            </a:r>
          </a:p>
          <a:p>
            <a:pPr>
              <a:spcBef>
                <a:spcPts val="500"/>
              </a:spcBef>
              <a:spcAft>
                <a:spcPts val="200"/>
              </a:spcAft>
            </a:pPr>
            <a:r>
              <a:rPr sz="2000">
                <a:solidFill>
                  <a:srgbClr val="1A2F2F"/>
                </a:solidFill>
                <a:latin typeface="Segoe UI"/>
              </a:rPr>
              <a:t>  –  Giảm tỷ lệ suy buồng trứng: Giảm thiểu đáng kể nguy cơ suy buồng trứng sớm sau phẫu thuật.</a:t>
            </a:r>
          </a:p>
          <a:p>
            <a:pPr>
              <a:spcBef>
                <a:spcPts val="500"/>
              </a:spcBef>
              <a:spcAft>
                <a:spcPts val="200"/>
              </a:spcAft>
            </a:pPr>
            <a:r>
              <a:rPr sz="2000">
                <a:solidFill>
                  <a:srgbClr val="1A2F2F"/>
                </a:solidFill>
                <a:latin typeface="Segoe UI"/>
              </a:rPr>
              <a:t>  –  Khuyến cáo phẫu thuật bảo tồn: Khi bắt buộc phải phẫu thuật nội soi ổ bụng, bốc hơi lòng nang bằng Laser/Plasma là lựa chọn ưu tiên hơn bóc nang tiêu chuẩn.</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6400800"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2388" y="0"/>
            <a:ext cx="57881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2388" y="0"/>
            <a:ext cx="64008"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958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394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04830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4266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23702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83138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42574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85958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45394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830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64266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23702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83138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42574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85958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45394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4830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64266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23702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3138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42574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85958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45394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4830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64266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23702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83138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42574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85958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45394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04830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64266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23702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83138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042574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04508" y="1371601"/>
            <a:ext cx="5577840" cy="2376035"/>
          </a:xfrm>
          <a:prstGeom prst="rect">
            <a:avLst/>
          </a:prstGeom>
          <a:noFill/>
        </p:spPr>
        <p:txBody>
          <a:bodyPr wrap="square" lIns="36576" tIns="18288" rIns="36576" bIns="18288" anchor="t">
            <a:spAutoFit/>
          </a:bodyPr>
          <a:lstStyle/>
          <a:p>
            <a:pPr algn="l"/>
            <a:r>
              <a:rPr sz="3800" b="1">
                <a:solidFill>
                  <a:srgbClr val="FFFFFF"/>
                </a:solidFill>
                <a:latin typeface="Segoe UI"/>
              </a:rPr>
              <a:t>CHƯƠNG 4: KÍCH THÍCH BUỒNG TRỨNG &amp; AN TOÀN CHỌC HÚT NOÃN</a:t>
            </a:r>
          </a:p>
        </p:txBody>
      </p:sp>
      <p:sp>
        <p:nvSpPr>
          <p:cNvPr id="43" name="Rectangle 42"/>
          <p:cNvSpPr/>
          <p:nvPr/>
        </p:nvSpPr>
        <p:spPr>
          <a:xfrm>
            <a:off x="504508" y="4023360"/>
            <a:ext cx="128016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676708" y="5989320"/>
            <a:ext cx="5212080" cy="206210"/>
          </a:xfrm>
          <a:prstGeom prst="rect">
            <a:avLst/>
          </a:prstGeom>
          <a:noFill/>
        </p:spPr>
        <p:txBody>
          <a:bodyPr wrap="square" lIns="36576" tIns="18288" rIns="36576" bIns="18288">
            <a:spAutoFit/>
          </a:bodyPr>
          <a:lstStyle/>
          <a:p>
            <a:pPr algn="l"/>
            <a:r>
              <a:rPr sz="1100">
                <a:solidFill>
                  <a:srgbClr val="728C8C"/>
                </a:solidFill>
                <a:latin typeface="Segoe UI"/>
              </a:rPr>
              <a:t>2026</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Khuyến Cáo Chính Thức ESHRE 2022 Về Phác Đồ Kích Thích Buồng Trứng</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316292"/>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Khuyến cáo chính thức ESHRE 2022 </a:t>
            </a:r>
            <a:r>
              <a:rPr lang="en-US" sz="2400">
                <a:solidFill>
                  <a:srgbClr val="1A2F2F"/>
                </a:solidFill>
                <a:latin typeface="Segoe UI"/>
              </a:rPr>
              <a:t>: </a:t>
            </a:r>
            <a:r>
              <a:rPr sz="2400">
                <a:solidFill>
                  <a:srgbClr val="1A2F2F"/>
                </a:solidFill>
                <a:latin typeface="Segoe UI"/>
              </a:rPr>
              <a:t>Không có phác đồ ART cụ thể nào vượt trội hơn hẳn về tỷ lệ có thai hoặc tỷ lệ sinh sống ở bệnh nhân lạc nội mạc tử cung </a:t>
            </a:r>
          </a:p>
          <a:p>
            <a:pPr>
              <a:spcBef>
                <a:spcPts val="500"/>
              </a:spcBef>
              <a:spcAft>
                <a:spcPts val="200"/>
              </a:spcAft>
            </a:pPr>
            <a:r>
              <a:rPr sz="2400">
                <a:solidFill>
                  <a:srgbClr val="1A2F2F"/>
                </a:solidFill>
                <a:latin typeface="Segoe UI"/>
              </a:rPr>
              <a:t>  –  Lựa chọn phác đồ: Cả hai phác đồ GnRH Antagonist và GnRH Agonist dài đều có thể được chỉ định dựa trên sự lựa chọn của bệnh nhân và bác sĩ.</a:t>
            </a:r>
          </a:p>
          <a:p>
            <a:pPr>
              <a:spcBef>
                <a:spcPts val="500"/>
              </a:spcBef>
              <a:spcAft>
                <a:spcPts val="200"/>
              </a:spcAft>
            </a:pPr>
            <a:r>
              <a:rPr sz="2400">
                <a:solidFill>
                  <a:srgbClr val="1A2F2F"/>
                </a:solidFill>
                <a:latin typeface="Segoe UI"/>
              </a:rPr>
              <a:t>  –  Tính an toàn của ART: ESHRE 2022 khẳng định việc kích thích buồng trứng làm ART không làm tăng nguy cơ tái phát bệnh lạc nội mạc tử cung </a:t>
            </a:r>
            <a:endParaRPr lang="en-US" sz="2400">
              <a:solidFill>
                <a:srgbClr val="1A2F2F"/>
              </a:solidFill>
              <a:latin typeface="Segoe UI"/>
            </a:endParaRPr>
          </a:p>
          <a:p>
            <a:pPr>
              <a:spcBef>
                <a:spcPts val="500"/>
              </a:spcBef>
              <a:spcAft>
                <a:spcPts val="200"/>
              </a:spcAft>
            </a:pPr>
            <a:r>
              <a:rPr sz="2400">
                <a:solidFill>
                  <a:srgbClr val="1A2F2F"/>
                </a:solidFill>
                <a:latin typeface="Segoe UI"/>
              </a:rPr>
              <a:t>–  Xu hướng lâm sàng hiện đại: Phác đồ GnRH Antagonist được ưu tiên rộng rãi do thời gian tiêm ngắn hơn, giảm nguy cơ OHSS khi dùng Agonist Trigger.</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sz="2700" b="1">
                <a:solidFill>
                  <a:srgbClr val="0D2B2B"/>
                </a:solidFill>
                <a:latin typeface="Segoe UI"/>
              </a:rPr>
              <a:t>Phác Đồ GnRH Antagonist Linh Hoạt (Flexible Antagonist Protocol)</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1"/>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Lộ trình thực hiện: Bắt đầu tiêm Gonadotropin từ ngày 2 hoặc 3 chu kỳ kinh nguyệt.</a:t>
            </a:r>
          </a:p>
          <a:p>
            <a:pPr>
              <a:spcBef>
                <a:spcPts val="500"/>
              </a:spcBef>
              <a:spcAft>
                <a:spcPts val="200"/>
              </a:spcAft>
            </a:pPr>
            <a:r>
              <a:rPr sz="2400">
                <a:solidFill>
                  <a:srgbClr val="1A2F2F"/>
                </a:solidFill>
                <a:latin typeface="Segoe UI"/>
              </a:rPr>
              <a:t>  –  Khởi động thuốc đối vận: Bắt đầu tiêm GnRH Antagonist (Ganirelix hoặc Cetrorelix 0.25 mg/ngày) khi nang vượt trội đạt đường kính ≥ 14 mm hoặc E2 &gt; 500 pg/mL.</a:t>
            </a:r>
          </a:p>
          <a:p>
            <a:pPr>
              <a:spcBef>
                <a:spcPts val="500"/>
              </a:spcBef>
              <a:spcAft>
                <a:spcPts val="200"/>
              </a:spcAft>
            </a:pPr>
            <a:r>
              <a:rPr sz="2400">
                <a:solidFill>
                  <a:srgbClr val="1A2F2F"/>
                </a:solidFill>
                <a:latin typeface="Segoe UI"/>
              </a:rPr>
              <a:t>  –  Mục tiêu: Ức chế chọn lọc và tức thì thụ thể GnRH tuyến yên, ngăn chặn hoàn toàn đỉnh LH sớm mà không gây hiện tượng bùng phát</a:t>
            </a:r>
            <a:endParaRPr lang="en-US" sz="2400">
              <a:solidFill>
                <a:srgbClr val="1A2F2F"/>
              </a:solidFill>
              <a:latin typeface="Segoe UI"/>
            </a:endParaRPr>
          </a:p>
          <a:p>
            <a:pPr>
              <a:spcBef>
                <a:spcPts val="500"/>
              </a:spcBef>
              <a:spcAft>
                <a:spcPts val="200"/>
              </a:spcAft>
            </a:pPr>
            <a:r>
              <a:rPr sz="2400">
                <a:solidFill>
                  <a:srgbClr val="1A2F2F"/>
                </a:solidFill>
                <a:latin typeface="Segoe UI"/>
              </a:rPr>
              <a:t>  –  Trưởng thành noãn an toàn: Sử dụng GnRH Agonist Trigger (Triptorelin 0.2 mg) thay thế hCG để triệt tiêu nguy cơ quá kích buồng trứng (OHSS).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Cơ Sở Sinh Học Của Việc Phối Hợp rFSH + hMG Trong Buồng Trứng OMA</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Tình trạng giảm nhạy cảm thụ thể: Nhu mô buồng trứng có u OMA bị xơ hóa mô vỏ và viêm mạn tính làm giảm số lượng và độ nhạy của thụ thể FSH.</a:t>
            </a:r>
          </a:p>
          <a:p>
            <a:pPr>
              <a:spcBef>
                <a:spcPts val="500"/>
              </a:spcBef>
              <a:spcAft>
                <a:spcPts val="200"/>
              </a:spcAft>
            </a:pPr>
            <a:r>
              <a:rPr sz="2400">
                <a:solidFill>
                  <a:srgbClr val="1A2F2F"/>
                </a:solidFill>
                <a:latin typeface="Segoe UI"/>
              </a:rPr>
              <a:t>  –  Mô hình 2 tế bào - 2 Gonadotropin: Bổ sung hoạt tính LH từ hMG kích thích tế bào vỏ sản xuất đủ tiền chất Androgen sinh lý.</a:t>
            </a:r>
          </a:p>
          <a:p>
            <a:pPr>
              <a:spcBef>
                <a:spcPts val="500"/>
              </a:spcBef>
              <a:spcAft>
                <a:spcPts val="200"/>
              </a:spcAft>
            </a:pPr>
            <a:r>
              <a:rPr sz="2400">
                <a:solidFill>
                  <a:srgbClr val="1A2F2F"/>
                </a:solidFill>
                <a:latin typeface="Segoe UI"/>
              </a:rPr>
              <a:t>  –  Hỗ trợ tế bào hạt: Lượng Androgen nội tại kích hoạt enzyme Aromatase trong tế bào hạt chuyển hóa thành Estrogen, giúp nang noãn phát triển đồng đều hơn.</a:t>
            </a:r>
          </a:p>
          <a:p>
            <a:pPr>
              <a:spcBef>
                <a:spcPts val="500"/>
              </a:spcBef>
              <a:spcAft>
                <a:spcPts val="200"/>
              </a:spcAft>
            </a:pPr>
            <a:r>
              <a:rPr sz="2400">
                <a:solidFill>
                  <a:srgbClr val="1A2F2F"/>
                </a:solidFill>
                <a:latin typeface="Segoe UI"/>
              </a:rPr>
              <a:t>  –  Liều khởi đầu Gonadotropin: Thường cần liều khởi đầu cao hơn người bình thường (225 - 300 IU/ngày tùy theo AMH, AFC, tuổi và BMI) do tình trạng kháng kích thích tương đối.</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Phác Đồ PPOS (Progestin-Primed Ovarian Stimulation) Trong Chiến Lược Freeze-All</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1"/>
            <a:ext cx="11064240" cy="4793620"/>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Nguyên lý phác đồ: Sử dụng Progestin đường uống (Medroxyprogesterone acetate - MPA 10 mg/ngày; các nghiên cứu sau này mở rộng thêm với Dydrogesterone 20 mg/ngày) uống liên tục từ ngày đầu kích trứng cùng Gonadotropin (Kuang et al., 2015 - PMID: 25956370).</a:t>
            </a:r>
          </a:p>
          <a:p>
            <a:pPr>
              <a:spcBef>
                <a:spcPts val="500"/>
              </a:spcBef>
              <a:spcAft>
                <a:spcPts val="200"/>
              </a:spcAft>
            </a:pPr>
            <a:r>
              <a:rPr sz="2400">
                <a:solidFill>
                  <a:srgbClr val="1A2F2F"/>
                </a:solidFill>
                <a:latin typeface="Segoe UI"/>
              </a:rPr>
              <a:t>  –  Cơ chế ức chế LH: Nồng độ Progestin ngoại sinh tác động lên trục dưới đồi - tuyến yên ngăn chặn hoàn toàn đỉnh LH sớm qua đường uống.</a:t>
            </a:r>
          </a:p>
          <a:p>
            <a:pPr>
              <a:spcBef>
                <a:spcPts val="500"/>
              </a:spcBef>
              <a:spcAft>
                <a:spcPts val="200"/>
              </a:spcAft>
            </a:pPr>
            <a:r>
              <a:rPr sz="2400">
                <a:solidFill>
                  <a:srgbClr val="1A2F2F"/>
                </a:solidFill>
                <a:latin typeface="Segoe UI"/>
              </a:rPr>
              <a:t>  –  Ưu thế lâm sàng: Giảm đáng kể số mũi tiêm đối vận và thuận tiện hơn cho người bệnh.</a:t>
            </a:r>
          </a:p>
          <a:p>
            <a:pPr>
              <a:spcBef>
                <a:spcPts val="500"/>
              </a:spcBef>
              <a:spcAft>
                <a:spcPts val="200"/>
              </a:spcAft>
            </a:pPr>
            <a:r>
              <a:rPr sz="2400">
                <a:solidFill>
                  <a:srgbClr val="1A2F2F"/>
                </a:solidFill>
                <a:latin typeface="Segoe UI"/>
              </a:rPr>
              <a:t>  –  Bằng chứng trên bệnh nhân OMA: Nghiên cứu của Boynukalin et al. (Front Endocrinol 2025 - PMID: 40698246) trên 543 bệnh nhân OMA chứng minh PPOS cho số lượng noãn thu được và kết cục sau FET tương đương với phác đồ Antagonist.</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Phác Đồ Kích Thích Kép (DuoStim) — Gom Noãn Khẩn Cấp Trong 1 Tháng</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1"/>
            <a:ext cx="11064240" cy="4424288"/>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Cơ sở sinh học: Dựa trên hiện tượng chiêu mộ nang noãn nhiều làn sóng trong một chu kỳ kinh nguyệt (Multiple follicular waves).</a:t>
            </a:r>
          </a:p>
          <a:p>
            <a:pPr>
              <a:spcBef>
                <a:spcPts val="500"/>
              </a:spcBef>
              <a:spcAft>
                <a:spcPts val="200"/>
              </a:spcAft>
            </a:pPr>
            <a:r>
              <a:rPr sz="2400">
                <a:solidFill>
                  <a:srgbClr val="1A2F2F"/>
                </a:solidFill>
                <a:latin typeface="Segoe UI"/>
              </a:rPr>
              <a:t>  –  Lộ trình 2 đợt kích trứng: Đợt 1 ở pha nang noãn (FPS) → Chọc hút noãn OPU-1 → Nghỉ 2-5 ngày → Đợt 2 kích trứng lại ở pha hoàng thể (LPS) → Chọc hút noãn OPU-2.</a:t>
            </a:r>
          </a:p>
          <a:p>
            <a:pPr>
              <a:spcBef>
                <a:spcPts val="500"/>
              </a:spcBef>
              <a:spcAft>
                <a:spcPts val="200"/>
              </a:spcAft>
            </a:pPr>
            <a:r>
              <a:rPr sz="2400">
                <a:solidFill>
                  <a:srgbClr val="1A2F2F"/>
                </a:solidFill>
                <a:latin typeface="Segoe UI"/>
              </a:rPr>
              <a:t>  –  Bằng chứng mốc (Ubaldi 2016 - PMID: 27020168): Tỷ lệ tạo phôi nang nguyên bội (euploid blastocysts) tương đương nhau giữa 2 pha (46.9% so với 44.8%).</a:t>
            </a:r>
          </a:p>
          <a:p>
            <a:pPr>
              <a:spcBef>
                <a:spcPts val="500"/>
              </a:spcBef>
              <a:spcAft>
                <a:spcPts val="200"/>
              </a:spcAft>
            </a:pPr>
            <a:r>
              <a:rPr sz="2400">
                <a:solidFill>
                  <a:srgbClr val="1A2F2F"/>
                </a:solidFill>
                <a:latin typeface="Segoe UI"/>
              </a:rPr>
              <a:t>  –  Giá trị trong Lạc nội mạc tử cung: Giải pháp cứu cánh cho bệnh nhân OMA có suy giảm dự trữ buồng trứng nặng (DOR) hoặc lớn tuổi (nhóm POSEIDON), giúp gom tối đa số noãn/phôi trong 1 tháng.</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Thủ Thuật Chọc Hút Noãn An Toàn — Nguyên Tắc Tiếp Cận Nang Noãn</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Nguyên tắc 'Vàng': Luôn tìm đường chọc kim trực tiếp vào các nang noãn lành, tuyệt đối không đâm kim xuyên qua nang u lạc nội mạc buồng trứng.</a:t>
            </a:r>
          </a:p>
          <a:p>
            <a:pPr>
              <a:spcBef>
                <a:spcPts val="500"/>
              </a:spcBef>
              <a:spcAft>
                <a:spcPts val="200"/>
              </a:spcAft>
            </a:pPr>
            <a:r>
              <a:rPr sz="2400">
                <a:solidFill>
                  <a:srgbClr val="1A2F2F"/>
                </a:solidFill>
                <a:latin typeface="Segoe UI"/>
              </a:rPr>
              <a:t>  –  Tránh tổn thương ruột: Đối chiếu kỹ bản đồ siêu âm IDEA trước thủ thuật; khi có dính khoang sau (#Enzian C), phải xác định rõ ranh giới trực tràng để không đâm kim vào ruột.</a:t>
            </a:r>
          </a:p>
          <a:p>
            <a:pPr>
              <a:spcBef>
                <a:spcPts val="500"/>
              </a:spcBef>
              <a:spcAft>
                <a:spcPts val="200"/>
              </a:spcAft>
            </a:pPr>
            <a:r>
              <a:rPr sz="2400">
                <a:solidFill>
                  <a:srgbClr val="1A2F2F"/>
                </a:solidFill>
                <a:latin typeface="Segoe UI"/>
              </a:rPr>
              <a:t>  –  Đo lường nang noãn cẩn trọng: Đo kích thước nang noãn trên 2 mặt cắt trực giao, tránh nhầm lẫn nang noãn lành với các thùy phụ của khối u OMA.</a:t>
            </a:r>
          </a:p>
          <a:p>
            <a:pPr>
              <a:spcBef>
                <a:spcPts val="500"/>
              </a:spcBef>
              <a:spcAft>
                <a:spcPts val="200"/>
              </a:spcAft>
            </a:pPr>
            <a:r>
              <a:rPr sz="2400">
                <a:solidFill>
                  <a:srgbClr val="1A2F2F"/>
                </a:solidFill>
                <a:latin typeface="Segoe UI"/>
              </a:rPr>
              <a:t>  –  Tối ưu hóa áp lực hút: Duy trì áp lực hút ổn định từ 100 đến 140 mmHg để bảo vệ phức hợp noãn - tế bào hạt (COC).</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sz="2700" b="1">
                <a:solidFill>
                  <a:srgbClr val="0D2B2B"/>
                </a:solidFill>
                <a:latin typeface="Segoe UI"/>
              </a:rPr>
              <a:t>Dự Phòng Nhiễm Trùng &amp; Áp Xe Buồng Trứng Sau Chọc Hút Noãn</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1"/>
            <a:ext cx="11064240" cy="4424288"/>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Kháng sinh dự phòng theo ESHRE 2022 : ESHRE 2022 ghi nhận nguy cơ áp xe buồng trứng sau chọc hút là thấp nhưng cho phép bác sĩ lâm sàng cân nhắc sử dụng kháng sinh dự phòng (GPP); phác đồ tiêm tĩnh mạch phổ rộng (Ceftriaxone 1g + Metronidazole 500mg) là thực hành thường quy tại các trung tâm IVF.</a:t>
            </a:r>
          </a:p>
          <a:p>
            <a:pPr>
              <a:spcBef>
                <a:spcPts val="500"/>
              </a:spcBef>
              <a:spcAft>
                <a:spcPts val="200"/>
              </a:spcAft>
            </a:pPr>
            <a:r>
              <a:rPr sz="2400">
                <a:solidFill>
                  <a:srgbClr val="1A2F2F"/>
                </a:solidFill>
                <a:latin typeface="Segoe UI"/>
              </a:rPr>
              <a:t>  –  Quy trình khử khuẩn âm đạo đúng cách: Sát trùng âm đạo bằng dung dịch Povidone-iodine pha loãng kỹ lưỡng.</a:t>
            </a:r>
          </a:p>
          <a:p>
            <a:pPr>
              <a:spcBef>
                <a:spcPts val="500"/>
              </a:spcBef>
              <a:spcAft>
                <a:spcPts val="200"/>
              </a:spcAft>
            </a:pPr>
            <a:r>
              <a:rPr sz="2400">
                <a:solidFill>
                  <a:srgbClr val="1A2F2F"/>
                </a:solidFill>
                <a:latin typeface="Segoe UI"/>
              </a:rPr>
              <a:t>  –  BẮT BUỘC rửa sạch bằng nước muối: Phải dùng nước muối sinh lý ấm (NaCl 0.9%) rửa sạch hoàn toàn Povidone-iodine trước khi chọc kim (vì Povidone-iodine có tính độc noãn cực mạnh).</a:t>
            </a:r>
          </a:p>
          <a:p>
            <a:pPr>
              <a:spcBef>
                <a:spcPts val="500"/>
              </a:spcBef>
              <a:spcAft>
                <a:spcPts val="200"/>
              </a:spcAft>
            </a:pPr>
            <a:r>
              <a:rPr sz="2400">
                <a:solidFill>
                  <a:srgbClr val="1A2F2F"/>
                </a:solidFill>
                <a:latin typeface="Segoe UI"/>
              </a:rPr>
              <a:t>  –  Phòng ngừa áp xe buồng trứng: Dịch nang OMA là môi trường nuôi cấy vi khuẩn yếm khí cực tốt nếu bị kim mang vi khuẩn từ âm đạo đâm vào.</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sz="2700" b="1">
                <a:solidFill>
                  <a:srgbClr val="0D2B2B"/>
                </a:solidFill>
                <a:latin typeface="Segoe UI"/>
              </a:rPr>
              <a:t>Kịch Bản Xử Trí Sự Cố Khi Vô Tình Chọc Kim Vào Nang OMA </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41447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Hành động tức thì: TUYỆT ĐỐI KHÔNG ĐƯỢC hút dịch sô-cô-la lẫn vào ống nghiệm chứa dịch hút noãn.</a:t>
            </a:r>
          </a:p>
          <a:p>
            <a:pPr>
              <a:spcBef>
                <a:spcPts val="500"/>
              </a:spcBef>
              <a:spcAft>
                <a:spcPts val="200"/>
              </a:spcAft>
            </a:pPr>
            <a:r>
              <a:rPr sz="2400">
                <a:solidFill>
                  <a:srgbClr val="1A2F2F"/>
                </a:solidFill>
                <a:latin typeface="Segoe UI"/>
              </a:rPr>
              <a:t>  –  Ngừng hút áp lực âm ngay lập tức: Rút kim chọc hút ra ngoài buồng trứng.</a:t>
            </a:r>
          </a:p>
          <a:p>
            <a:pPr>
              <a:spcBef>
                <a:spcPts val="500"/>
              </a:spcBef>
              <a:spcAft>
                <a:spcPts val="200"/>
              </a:spcAft>
            </a:pPr>
            <a:r>
              <a:rPr sz="2400">
                <a:solidFill>
                  <a:srgbClr val="1A2F2F"/>
                </a:solidFill>
                <a:latin typeface="Segoe UI"/>
              </a:rPr>
              <a:t>  –  Thay kim hoặc súc rửa kỹ: Thay kim chọc hút mới hoặc súc rửa kỹ lòng kim bằng môi trường nuôi cấy chuyên dụng.</a:t>
            </a:r>
          </a:p>
          <a:p>
            <a:pPr>
              <a:spcBef>
                <a:spcPts val="500"/>
              </a:spcBef>
              <a:spcAft>
                <a:spcPts val="200"/>
              </a:spcAft>
            </a:pPr>
            <a:r>
              <a:rPr sz="2400">
                <a:solidFill>
                  <a:srgbClr val="1A2F2F"/>
                </a:solidFill>
                <a:latin typeface="Segoe UI"/>
              </a:rPr>
              <a:t>  –  Chuyển hướng tiếp cận: Chuyển đầu dò sang chọc các nang noãn lành ở buồng trứng đối diện trước.</a:t>
            </a:r>
          </a:p>
          <a:p>
            <a:pPr>
              <a:spcBef>
                <a:spcPts val="500"/>
              </a:spcBef>
              <a:spcAft>
                <a:spcPts val="200"/>
              </a:spcAft>
            </a:pPr>
            <a:r>
              <a:rPr sz="2400">
                <a:solidFill>
                  <a:srgbClr val="1A2F2F"/>
                </a:solidFill>
                <a:latin typeface="Segoe UI"/>
              </a:rPr>
              <a:t>  –  Bơm rửa khoang chậu sau OPU: Nếu nghi ngờ có dịch u OMA rò rỉ vào ổ bụng, tiến hành bơm rửa sạch túi cùng Douglas bằng nước muối sinh lý ấm để ngừa viêm phúc mạc hóa học.</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6400800"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2388" y="0"/>
            <a:ext cx="57881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2388" y="0"/>
            <a:ext cx="64008"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958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394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04830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4266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23702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83138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42574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85958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45394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830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64266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23702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83138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42574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85958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45394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4830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64266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23702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3138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42574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85958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45394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4830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64266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23702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83138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42574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85958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45394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04830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64266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23702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83138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042574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04508" y="1371601"/>
            <a:ext cx="5577840" cy="2376035"/>
          </a:xfrm>
          <a:prstGeom prst="rect">
            <a:avLst/>
          </a:prstGeom>
          <a:noFill/>
        </p:spPr>
        <p:txBody>
          <a:bodyPr wrap="square" lIns="36576" tIns="18288" rIns="36576" bIns="18288" anchor="t">
            <a:spAutoFit/>
          </a:bodyPr>
          <a:lstStyle/>
          <a:p>
            <a:pPr algn="l"/>
            <a:r>
              <a:rPr sz="3800" b="1">
                <a:solidFill>
                  <a:srgbClr val="FFFFFF"/>
                </a:solidFill>
                <a:latin typeface="Segoe UI"/>
              </a:rPr>
              <a:t>CHƯƠNG 5: CHUẨN BỊ NIÊM MẠC &amp; CHUYỂN PHÔI ĐÔNG LẠNH CHO ADENOMYOSIS</a:t>
            </a:r>
          </a:p>
        </p:txBody>
      </p:sp>
      <p:sp>
        <p:nvSpPr>
          <p:cNvPr id="43" name="Rectangle 42"/>
          <p:cNvSpPr/>
          <p:nvPr/>
        </p:nvSpPr>
        <p:spPr>
          <a:xfrm>
            <a:off x="504508" y="4023360"/>
            <a:ext cx="128016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676708" y="5989320"/>
            <a:ext cx="5212080" cy="206210"/>
          </a:xfrm>
          <a:prstGeom prst="rect">
            <a:avLst/>
          </a:prstGeom>
          <a:noFill/>
        </p:spPr>
        <p:txBody>
          <a:bodyPr wrap="square" lIns="36576" tIns="18288" rIns="36576" bIns="18288">
            <a:spAutoFit/>
          </a:bodyPr>
          <a:lstStyle/>
          <a:p>
            <a:pPr algn="l"/>
            <a:r>
              <a:rPr sz="1100">
                <a:solidFill>
                  <a:srgbClr val="728C8C"/>
                </a:solidFill>
                <a:latin typeface="Segoe UI"/>
              </a:rPr>
              <a:t>2026</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Tổng Quan Chiến Lược Chuẩn Bị Niêm Mạc Chuyển Phôi Cho Adenomyosis</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Thách thức nội mạc trong Adenomyosis: Tình trạng viêm mạn tính, tự sản xuất Estrogen tại chỗ và đề kháng Progesterone làm hỏng quá trình màng rụng hóa.</a:t>
            </a:r>
          </a:p>
          <a:p>
            <a:pPr>
              <a:spcBef>
                <a:spcPts val="500"/>
              </a:spcBef>
              <a:spcAft>
                <a:spcPts val="200"/>
              </a:spcAft>
            </a:pPr>
            <a:r>
              <a:rPr sz="2400">
                <a:solidFill>
                  <a:srgbClr val="1A2F2F"/>
                </a:solidFill>
                <a:latin typeface="Segoe UI"/>
              </a:rPr>
              <a:t>  –  Chiến lược 2 giai đoạn: Giai đoạn 1 kiểm soát tổn thương cơ tử cung và tái lập nhạy cảm thụ thể → Giai đoạn 2 chuẩn bị nội mạc đón nhận phôi.</a:t>
            </a:r>
          </a:p>
          <a:p>
            <a:pPr>
              <a:spcBef>
                <a:spcPts val="500"/>
              </a:spcBef>
              <a:spcAft>
                <a:spcPts val="200"/>
              </a:spcAft>
            </a:pPr>
            <a:r>
              <a:rPr sz="2400">
                <a:solidFill>
                  <a:srgbClr val="1A2F2F"/>
                </a:solidFill>
                <a:latin typeface="Segoe UI"/>
              </a:rPr>
              <a:t>  –  Phân tầng theo thể tổn thương: Phân biệt rõ thể khu trú nhỏ (&lt; 2 cm, JZ &lt; 12 mm) với thể lan tỏa nặng (tử cung to &gt; 8 cm, JZ ≥ 12 mm).</a:t>
            </a:r>
          </a:p>
          <a:p>
            <a:pPr>
              <a:spcBef>
                <a:spcPts val="500"/>
              </a:spcBef>
              <a:spcAft>
                <a:spcPts val="200"/>
              </a:spcAft>
            </a:pPr>
            <a:r>
              <a:rPr sz="2400">
                <a:solidFill>
                  <a:srgbClr val="1A2F2F"/>
                </a:solidFill>
                <a:latin typeface="Segoe UI"/>
              </a:rPr>
              <a:t>  –  Mục tiêu cuối cùng: Tái mở cửa sổ làm tổ (WOI), kiểm soát nhu động cơ tử cung và tối ưu hóa nồng độ Progesterone huyết thanh ngày chuyển phôi.</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sz="2700" b="1">
                <a:solidFill>
                  <a:srgbClr val="0D2B2B"/>
                </a:solidFill>
                <a:latin typeface="Segoe UI"/>
              </a:rPr>
              <a:t>Cơ Sở Sinh Học Của Việc Ưu Tiên Đông Phôi Toàn Bộ (Freeze-All)</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4054956"/>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Tác hại của môi trường kích trứng tươi: Nồng độ Estradiol trong chu kỳ tươi tăng vọt lên mức siêu sinh lý (&gt; 3000 - 5000 pg/mL).</a:t>
            </a:r>
          </a:p>
          <a:p>
            <a:pPr>
              <a:spcBef>
                <a:spcPts val="500"/>
              </a:spcBef>
              <a:spcAft>
                <a:spcPts val="200"/>
              </a:spcAft>
            </a:pPr>
            <a:r>
              <a:rPr sz="2400">
                <a:solidFill>
                  <a:srgbClr val="1A2F2F"/>
                </a:solidFill>
                <a:latin typeface="Segoe UI"/>
              </a:rPr>
              <a:t>  –  Kích hoạt ổ viêm u cơ tuyến: Estrogen siêu cao kích thích trực tiếp các thụ thể hormone trong cơ tử cung, làm các ổ Adenomyosis phù nề và tăng co thắt dữ dội.</a:t>
            </a:r>
          </a:p>
          <a:p>
            <a:pPr>
              <a:spcBef>
                <a:spcPts val="500"/>
              </a:spcBef>
              <a:spcAft>
                <a:spcPts val="200"/>
              </a:spcAft>
            </a:pPr>
            <a:r>
              <a:rPr sz="2400">
                <a:solidFill>
                  <a:srgbClr val="1A2F2F"/>
                </a:solidFill>
                <a:latin typeface="Segoe UI"/>
              </a:rPr>
              <a:t>  –  Đình trệ màng rụng hóa: Nồng độ Estrogen quá mức làm lệch pha cửa sổ làm tổ (WOI) và làm nặng thêm tình trạng đề kháng Progesterone.</a:t>
            </a:r>
          </a:p>
          <a:p>
            <a:pPr>
              <a:spcBef>
                <a:spcPts val="500"/>
              </a:spcBef>
              <a:spcAft>
                <a:spcPts val="200"/>
              </a:spcAft>
            </a:pPr>
            <a:r>
              <a:rPr sz="2400">
                <a:solidFill>
                  <a:srgbClr val="1A2F2F"/>
                </a:solidFill>
                <a:latin typeface="Segoe UI"/>
              </a:rPr>
              <a:t>  –  Lợi ích của Freeze-all: Đông toàn bộ phôi ngày 5 giúp đưa cơ thể người bệnh thoát khỏi môi trường kích thích hormone nặng nề, chuẩn bị niêm mạc ở trạng thái cơ tử cung ổn định nhất.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Bằng Chứng EBM Về Chuyển Phôi Đông Lạnh (FET) Trong Lạc Nội Mạc Tử Cung</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Tổng quan hệ thống Han et al. (Front Endocrinol 2025 - PMID: 40438397): Phân tích trên phân nhóm bệnh nhân Lạc nội mạc tử cung.</a:t>
            </a:r>
          </a:p>
          <a:p>
            <a:pPr>
              <a:spcBef>
                <a:spcPts val="500"/>
              </a:spcBef>
              <a:spcAft>
                <a:spcPts val="200"/>
              </a:spcAft>
            </a:pPr>
            <a:r>
              <a:rPr sz="2400">
                <a:solidFill>
                  <a:srgbClr val="1A2F2F"/>
                </a:solidFill>
                <a:latin typeface="Segoe UI"/>
              </a:rPr>
              <a:t>  –  Tăng tỷ lệ làm tổ: Chiến lược FET mang lại tỷ lệ làm tổ cao hơn rõ rệt so với chuyển phôi tươi (OR = 1.27, 95% CI: 1.05 - 1.54).</a:t>
            </a:r>
          </a:p>
          <a:p>
            <a:pPr>
              <a:spcBef>
                <a:spcPts val="500"/>
              </a:spcBef>
              <a:spcAft>
                <a:spcPts val="200"/>
              </a:spcAft>
            </a:pPr>
            <a:r>
              <a:rPr sz="2400">
                <a:solidFill>
                  <a:srgbClr val="1A2F2F"/>
                </a:solidFill>
                <a:latin typeface="Segoe UI"/>
              </a:rPr>
              <a:t>  –  Tăng tỷ lệ thai lâm sàng &amp; sinh sống: FET cải thiện tỷ lệ thai lâm sàng (OR = 1.25, 95% CI: 1.11 - 1.40) và tỷ lệ trẻ sinh sống (OR = 1.31, 95% CI: 1.15 - 1.49).</a:t>
            </a:r>
          </a:p>
          <a:p>
            <a:pPr>
              <a:spcBef>
                <a:spcPts val="500"/>
              </a:spcBef>
              <a:spcAft>
                <a:spcPts val="200"/>
              </a:spcAft>
            </a:pPr>
            <a:r>
              <a:rPr sz="2400">
                <a:solidFill>
                  <a:srgbClr val="1A2F2F"/>
                </a:solidFill>
                <a:latin typeface="Segoe UI"/>
              </a:rPr>
              <a:t>  –  Lưu ý đối với Adenomyosis: Đối với thể u cơ tuyến nặng, kết quả chuyển phôi cần được cá thể hóa dựa trên mức độ tổn thương cơ tử cung và thảo luận cùng người bệnh.</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Phân Định Khuyến Cáo ESHRE 2022 Với Bằng Chứng Trên Adenomyosis</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4054956"/>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Khuyến cáo ESHRE 2022 cho Endometriosis nói chung (PMID: 35350465): Không khuyến cáo dùng phác đồ GnRH agonist kéo dài thường quy trước ART vì chưa chứng minh được lợi ích rõ ràng trên nhóm cơ tử cung bình thường </a:t>
            </a:r>
            <a:endParaRPr lang="en-US" sz="2400">
              <a:solidFill>
                <a:srgbClr val="1A2F2F"/>
              </a:solidFill>
              <a:latin typeface="Segoe UI"/>
            </a:endParaRPr>
          </a:p>
          <a:p>
            <a:pPr>
              <a:spcBef>
                <a:spcPts val="500"/>
              </a:spcBef>
              <a:spcAft>
                <a:spcPts val="200"/>
              </a:spcAft>
            </a:pPr>
            <a:r>
              <a:rPr sz="2400">
                <a:solidFill>
                  <a:srgbClr val="1A2F2F"/>
                </a:solidFill>
                <a:latin typeface="Segoe UI"/>
              </a:rPr>
              <a:t>–  Bản chất khác biệt trong Adenomyosis: Tổn thương nằm ngay tại lớp cơ và Vùng chuyển tiếp JZ, nơi xuất hiện vòng xoắn tự tạo Estrogen và đề kháng PR-B.</a:t>
            </a:r>
          </a:p>
          <a:p>
            <a:pPr>
              <a:spcBef>
                <a:spcPts val="500"/>
              </a:spcBef>
              <a:spcAft>
                <a:spcPts val="200"/>
              </a:spcAft>
            </a:pPr>
            <a:r>
              <a:rPr sz="2400">
                <a:solidFill>
                  <a:srgbClr val="1A2F2F"/>
                </a:solidFill>
                <a:latin typeface="Segoe UI"/>
              </a:rPr>
              <a:t>  –  Tổng quan chuyên biệt trên Adenomyosis (Latif et al., EJOGRB 2024 - PMID: 39116480): Hạ điều hòa bằng GnRHa trước FET cải thiện tỷ lệ làm tổ (OR = 1.69) và tỷ lệ thai lâm sàng (OR = 1.42).</a:t>
            </a:r>
          </a:p>
          <a:p>
            <a:pPr>
              <a:spcBef>
                <a:spcPts val="500"/>
              </a:spcBef>
              <a:spcAft>
                <a:spcPts val="200"/>
              </a:spcAft>
            </a:pPr>
            <a:r>
              <a:rPr sz="2400">
                <a:solidFill>
                  <a:srgbClr val="1A2F2F"/>
                </a:solidFill>
                <a:latin typeface="Segoe UI"/>
              </a:rPr>
              <a:t>  –  Nguyên tắc chỉ định: Áp dụng có chọn lọc cho thể lan tỏa nặng dựa trên thảo luận và chia sẻ quyết định cùng người bệnh </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Cơ Chế Phục Hồi Cửa Sổ Làm Tổ Của Phác Đồ Ultra-Long GnRH Agonist</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Cắt đứt nguồn Estrogen nuôi dưỡng: GnRHa Depot ức chế thụ thể GnRH tuyến yên</a:t>
            </a:r>
            <a:r>
              <a:rPr lang="en-US" sz="2400">
                <a:solidFill>
                  <a:srgbClr val="1A2F2F"/>
                </a:solidFill>
                <a:latin typeface="Segoe UI"/>
              </a:rPr>
              <a:t>, </a:t>
            </a:r>
            <a:r>
              <a:rPr sz="2400">
                <a:solidFill>
                  <a:srgbClr val="1A2F2F"/>
                </a:solidFill>
                <a:latin typeface="Segoe UI"/>
              </a:rPr>
              <a:t>đưa cơ thể về trạng thái mãn kinh tạm thời trong 2-3 tháng.</a:t>
            </a:r>
          </a:p>
          <a:p>
            <a:pPr>
              <a:spcBef>
                <a:spcPts val="500"/>
              </a:spcBef>
              <a:spcAft>
                <a:spcPts val="200"/>
              </a:spcAft>
            </a:pPr>
            <a:r>
              <a:rPr sz="2400">
                <a:solidFill>
                  <a:srgbClr val="1A2F2F"/>
                </a:solidFill>
                <a:latin typeface="Segoe UI"/>
              </a:rPr>
              <a:t>  –  Thu nhỏ thể tích u cơ tuyến: Cắt nguồn nội tiết làm teo nhỏ các ổ tuyến lạc chỗ và giảm phù nề cơ tử cung.</a:t>
            </a:r>
          </a:p>
          <a:p>
            <a:pPr>
              <a:spcBef>
                <a:spcPts val="500"/>
              </a:spcBef>
              <a:spcAft>
                <a:spcPts val="200"/>
              </a:spcAft>
            </a:pPr>
            <a:r>
              <a:rPr sz="2400">
                <a:solidFill>
                  <a:srgbClr val="1A2F2F"/>
                </a:solidFill>
                <a:latin typeface="Segoe UI"/>
              </a:rPr>
              <a:t>  –  Ức chế men Aromatase &amp; Viêm: Giảm biểu hiện enzyme Aromatase (CYP19A1), giảm sản xuất Prostaglandin E2 (PGE2) và các cytokine viêm tại chỗ.</a:t>
            </a:r>
          </a:p>
          <a:p>
            <a:pPr>
              <a:spcBef>
                <a:spcPts val="500"/>
              </a:spcBef>
              <a:spcAft>
                <a:spcPts val="200"/>
              </a:spcAft>
            </a:pPr>
            <a:r>
              <a:rPr sz="2400">
                <a:solidFill>
                  <a:srgbClr val="1A2F2F"/>
                </a:solidFill>
                <a:latin typeface="Segoe UI"/>
              </a:rPr>
              <a:t>  –  Tái thiết lập thụ thể PR-B: Khôi phục độ nhạy của nội mạc tử cung với Progesterone, tái mở cửa sổ làm tổ (WOI) và dập tắt các cơn loạn động cơ tử cung (Dysperistalsis).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Quy Trình 5 Bước Thực Hiện Phác Đồ Ultra-Long GnRHa + HRT Chuẩn</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41447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Bước 1 — Hạ điều hòa tuyến yên: Tiêm bắp GnRH Agonist Depot (Triptorelin hoặc Leuprolide 3.75 mg) từ 1 đến 3 mũi (mỗi mũi cách nhau 28 ngày).</a:t>
            </a:r>
          </a:p>
          <a:p>
            <a:pPr>
              <a:spcBef>
                <a:spcPts val="500"/>
              </a:spcBef>
              <a:spcAft>
                <a:spcPts val="200"/>
              </a:spcAft>
            </a:pPr>
            <a:r>
              <a:rPr sz="2400">
                <a:solidFill>
                  <a:srgbClr val="1A2F2F"/>
                </a:solidFill>
                <a:latin typeface="Segoe UI"/>
              </a:rPr>
              <a:t>  –  Bước 2 — Siêu âm đánh giá lại : Sau mũi cuối 28 ngày, bắt buộc siêu âm ngả âm đạo đo lại thể tích tử cung và độ dày JZ.</a:t>
            </a:r>
          </a:p>
          <a:p>
            <a:pPr>
              <a:spcBef>
                <a:spcPts val="500"/>
              </a:spcBef>
              <a:spcAft>
                <a:spcPts val="200"/>
              </a:spcAft>
            </a:pPr>
            <a:r>
              <a:rPr sz="2400">
                <a:solidFill>
                  <a:srgbClr val="1A2F2F"/>
                </a:solidFill>
                <a:latin typeface="Segoe UI"/>
              </a:rPr>
              <a:t>  –  Bước 3 — Chuẩn bị nội mạc bằng Estrogen: Bắt đầu uống Estradiol valerate (Progynova 4 - 6 mg/ngày) tăng dần để kích thích niêm mạc phát triển.</a:t>
            </a:r>
          </a:p>
          <a:p>
            <a:pPr>
              <a:spcBef>
                <a:spcPts val="500"/>
              </a:spcBef>
              <a:spcAft>
                <a:spcPts val="200"/>
              </a:spcAft>
            </a:pPr>
            <a:r>
              <a:rPr sz="2400">
                <a:solidFill>
                  <a:srgbClr val="1A2F2F"/>
                </a:solidFill>
                <a:latin typeface="Segoe UI"/>
              </a:rPr>
              <a:t>  –  Bước 4 — Bổ sung Progesterone: Khi niêm mạc đạt độ dày ≥ 8 mm và có cấu trúc 3 lá (triple-line), bắt đầu dùng Progesterone.</a:t>
            </a:r>
          </a:p>
          <a:p>
            <a:pPr>
              <a:spcBef>
                <a:spcPts val="500"/>
              </a:spcBef>
              <a:spcAft>
                <a:spcPts val="200"/>
              </a:spcAft>
            </a:pPr>
            <a:r>
              <a:rPr sz="2400">
                <a:solidFill>
                  <a:srgbClr val="1A2F2F"/>
                </a:solidFill>
                <a:latin typeface="Segoe UI"/>
              </a:rPr>
              <a:t>  –  Bước 5 — Chuyển phôi đông lạnh (FET): Tiến hành chuyển phôi sau đúng 120 giờ tiếp xúc Progesterone đối với phôi nang ngày 5.</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sz="2700" b="1">
                <a:solidFill>
                  <a:srgbClr val="0D2B2B"/>
                </a:solidFill>
                <a:latin typeface="Segoe UI"/>
              </a:rPr>
              <a:t>Bước Đánh Giá Lại Cơ Tử Cung Sau Hạ Điều Hòa </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Thời điểm kiểm tra: 28 ngày sau mũi tiêm GnRH Agonist Depot thứ 2 hoặc thứ 3.</a:t>
            </a:r>
          </a:p>
          <a:p>
            <a:pPr>
              <a:spcBef>
                <a:spcPts val="500"/>
              </a:spcBef>
              <a:spcAft>
                <a:spcPts val="200"/>
              </a:spcAft>
            </a:pPr>
            <a:r>
              <a:rPr sz="2400">
                <a:solidFill>
                  <a:srgbClr val="1A2F2F"/>
                </a:solidFill>
                <a:latin typeface="Segoe UI"/>
              </a:rPr>
              <a:t>  –  Tiêu chuẩn đạt yêu cầu: Thể tích tử cung co nhỏ rõ rệt, cơ tử cung bớt phù nề, bề dày JZ giảm rõ (JZ &lt; 10 - 12 mm trên TVS/3D).</a:t>
            </a:r>
          </a:p>
          <a:p>
            <a:pPr>
              <a:spcBef>
                <a:spcPts val="500"/>
              </a:spcBef>
              <a:spcAft>
                <a:spcPts val="200"/>
              </a:spcAft>
            </a:pPr>
            <a:r>
              <a:rPr sz="2400">
                <a:solidFill>
                  <a:srgbClr val="1A2F2F"/>
                </a:solidFill>
                <a:latin typeface="Segoe UI"/>
              </a:rPr>
              <a:t>  –  Xử trí khi đáp ứng tốt: Bắt đầu cho bệnh nhân uống Estrogen ngoại sinh (HRT) để chuẩn bị niêm mạc.</a:t>
            </a:r>
          </a:p>
          <a:p>
            <a:pPr>
              <a:spcBef>
                <a:spcPts val="500"/>
              </a:spcBef>
              <a:spcAft>
                <a:spcPts val="200"/>
              </a:spcAft>
            </a:pPr>
            <a:r>
              <a:rPr sz="2400">
                <a:solidFill>
                  <a:srgbClr val="1A2F2F"/>
                </a:solidFill>
                <a:latin typeface="Segoe UI"/>
              </a:rPr>
              <a:t>  –  Xử trí khi chưa đáp ứng: Nếu tử cung vẫn to và cơ tử cung còn phù nề tăng âm mạnh, cân nhắc tiêm thêm mũi thứ 3 hoặc hội chẩn điều trị bổ trợ trước khi dùng Estrogen.</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sz="2700" b="1">
                <a:solidFill>
                  <a:srgbClr val="0D2B2B"/>
                </a:solidFill>
                <a:latin typeface="Segoe UI"/>
              </a:rPr>
              <a:t>Cá Thể Hóa Phác Đồ Chuẩn Bị Niêm Mạc Theo Mức Độ Tổn Thương</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1"/>
            <a:ext cx="10816322" cy="3865161"/>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Adenomyosis Thể Nhẹ / Khu Trú Nhỏ (&lt; 2 cm, JZ &lt; 12 mm):</a:t>
            </a:r>
          </a:p>
          <a:p>
            <a:pPr>
              <a:spcBef>
                <a:spcPts val="500"/>
              </a:spcBef>
              <a:spcAft>
                <a:spcPts val="200"/>
              </a:spcAft>
            </a:pPr>
            <a:r>
              <a:rPr sz="2400">
                <a:solidFill>
                  <a:srgbClr val="1A2F2F"/>
                </a:solidFill>
                <a:latin typeface="Segoe UI"/>
              </a:rPr>
              <a:t>  </a:t>
            </a:r>
            <a:r>
              <a:rPr lang="en-US" sz="2400">
                <a:solidFill>
                  <a:srgbClr val="1A2F2F"/>
                </a:solidFill>
                <a:latin typeface="Segoe UI"/>
              </a:rPr>
              <a:t> + </a:t>
            </a:r>
            <a:r>
              <a:rPr sz="2400">
                <a:solidFill>
                  <a:srgbClr val="1A2F2F"/>
                </a:solidFill>
                <a:latin typeface="Segoe UI"/>
              </a:rPr>
              <a:t>Không nhất thiết phải tiêm GnRHa kéo dài 2-3 tháng để tránh tác dụng phụ bốc hỏa và kéo dài thời gian.</a:t>
            </a:r>
          </a:p>
          <a:p>
            <a:pPr>
              <a:spcBef>
                <a:spcPts val="500"/>
              </a:spcBef>
              <a:spcAft>
                <a:spcPts val="200"/>
              </a:spcAft>
            </a:pPr>
            <a:r>
              <a:rPr sz="2400">
                <a:solidFill>
                  <a:srgbClr val="1A2F2F"/>
                </a:solidFill>
                <a:latin typeface="Segoe UI"/>
              </a:rPr>
              <a:t>  </a:t>
            </a:r>
            <a:r>
              <a:rPr lang="en-US" sz="2400">
                <a:solidFill>
                  <a:srgbClr val="1A2F2F"/>
                </a:solidFill>
                <a:latin typeface="Segoe UI"/>
              </a:rPr>
              <a:t>+ </a:t>
            </a:r>
            <a:r>
              <a:rPr sz="2400">
                <a:solidFill>
                  <a:srgbClr val="1A2F2F"/>
                </a:solidFill>
                <a:latin typeface="Segoe UI"/>
              </a:rPr>
              <a:t>Chuẩn bị niêm mạc bằng HRT chuẩn hoặc phác đồ chu kỳ tự nhiên cải biên kết hợp Letrozole.</a:t>
            </a:r>
            <a:endParaRPr lang="en-US" sz="2400">
              <a:solidFill>
                <a:srgbClr val="1A2F2F"/>
              </a:solidFill>
              <a:latin typeface="Segoe UI"/>
            </a:endParaRPr>
          </a:p>
          <a:p>
            <a:pPr>
              <a:spcBef>
                <a:spcPts val="500"/>
              </a:spcBef>
              <a:spcAft>
                <a:spcPts val="200"/>
              </a:spcAft>
            </a:pPr>
            <a:r>
              <a:rPr lang="vi-VN" sz="2400">
                <a:solidFill>
                  <a:srgbClr val="1A2F2F"/>
                </a:solidFill>
                <a:latin typeface="Segoe UI"/>
              </a:rPr>
              <a:t> –  Adenomyosis Thể Lan Tỏa Nặng (JZ ≥ 12 mm, Tử cung to hình cầu &gt; 8 cm):</a:t>
            </a:r>
          </a:p>
          <a:p>
            <a:pPr>
              <a:spcBef>
                <a:spcPts val="500"/>
              </a:spcBef>
              <a:spcAft>
                <a:spcPts val="200"/>
              </a:spcAft>
            </a:pPr>
            <a:r>
              <a:rPr lang="vi-VN" sz="2400">
                <a:solidFill>
                  <a:srgbClr val="1A2F2F"/>
                </a:solidFill>
                <a:latin typeface="Segoe UI"/>
              </a:rPr>
              <a:t>  </a:t>
            </a:r>
            <a:r>
              <a:rPr lang="en-US" sz="2400">
                <a:solidFill>
                  <a:srgbClr val="1A2F2F"/>
                </a:solidFill>
                <a:latin typeface="Segoe UI"/>
              </a:rPr>
              <a:t>+ </a:t>
            </a:r>
            <a:r>
              <a:rPr lang="vi-VN" sz="2400">
                <a:solidFill>
                  <a:srgbClr val="1A2F2F"/>
                </a:solidFill>
                <a:latin typeface="Segoe UI"/>
              </a:rPr>
              <a:t> Cân nhắc chỉ định phác đồ Ultra-long GnRHa 2 - 3 tháng sau khi đã tư vấn kỹ lợi ích và nguy cơ cho người bệnh.</a:t>
            </a:r>
          </a:p>
          <a:p>
            <a:pPr>
              <a:spcBef>
                <a:spcPts val="500"/>
              </a:spcBef>
              <a:spcAft>
                <a:spcPts val="200"/>
              </a:spcAft>
            </a:pPr>
            <a:r>
              <a:rPr lang="vi-VN" sz="2400">
                <a:solidFill>
                  <a:srgbClr val="1A2F2F"/>
                </a:solidFill>
                <a:latin typeface="Segoe UI"/>
              </a:rPr>
              <a:t>  </a:t>
            </a:r>
            <a:r>
              <a:rPr lang="en-US" sz="2400">
                <a:solidFill>
                  <a:srgbClr val="1A2F2F"/>
                </a:solidFill>
                <a:latin typeface="Segoe UI"/>
              </a:rPr>
              <a:t>+</a:t>
            </a:r>
            <a:r>
              <a:rPr lang="vi-VN" sz="2400">
                <a:solidFill>
                  <a:srgbClr val="1A2F2F"/>
                </a:solidFill>
                <a:latin typeface="Segoe UI"/>
              </a:rPr>
              <a:t> Kết hợp hỗ trợ hoàng thể đa đường dùng để đạt tỷ lệ trẻ sinh sống tối ưu.</a:t>
            </a:r>
            <a:endParaRPr sz="2400">
              <a:solidFill>
                <a:srgbClr val="1A2F2F"/>
              </a:solidFill>
              <a:latin typeface="Segoe UI"/>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Tối Ưu Hóa Hỗ Trợ Pha Hoàng Thể (LPS) Trong Chu Kỳ Chuyển Phôi FET</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41447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Nhu cầu Progesterone tăng cao: Do tình trạng đề kháng Progesterone nội tại, bệnh nhân Adenomyosis cần chế độ hỗ trợ hoàng thể mạnh mẽ hơn bình thường.</a:t>
            </a:r>
          </a:p>
          <a:p>
            <a:pPr>
              <a:spcBef>
                <a:spcPts val="500"/>
              </a:spcBef>
              <a:spcAft>
                <a:spcPts val="200"/>
              </a:spcAft>
            </a:pPr>
            <a:r>
              <a:rPr sz="2400">
                <a:solidFill>
                  <a:srgbClr val="1A2F2F"/>
                </a:solidFill>
                <a:latin typeface="Segoe UI"/>
              </a:rPr>
              <a:t>  –  Phối hợp đa đường dùng (Vaginal + Injectable):</a:t>
            </a:r>
          </a:p>
          <a:p>
            <a:pPr>
              <a:spcBef>
                <a:spcPts val="500"/>
              </a:spcBef>
              <a:spcAft>
                <a:spcPts val="200"/>
              </a:spcAft>
            </a:pPr>
            <a:r>
              <a:rPr sz="2400">
                <a:solidFill>
                  <a:srgbClr val="1A2F2F"/>
                </a:solidFill>
                <a:latin typeface="Segoe UI"/>
              </a:rPr>
              <a:t>  </a:t>
            </a:r>
            <a:r>
              <a:rPr lang="en-US" sz="2400">
                <a:solidFill>
                  <a:srgbClr val="1A2F2F"/>
                </a:solidFill>
                <a:latin typeface="Segoe UI"/>
              </a:rPr>
              <a:t>+ </a:t>
            </a:r>
            <a:r>
              <a:rPr sz="2400">
                <a:solidFill>
                  <a:srgbClr val="1A2F2F"/>
                </a:solidFill>
                <a:latin typeface="Segoe UI"/>
              </a:rPr>
              <a:t>Progesterone đặt âm đạo: Micro-progesterone 800 mg/ngày (chia 2-4 lần) để tạo nồng độ cao trực tiếp tại mô nội mạc tử cung.</a:t>
            </a:r>
          </a:p>
          <a:p>
            <a:pPr>
              <a:spcBef>
                <a:spcPts val="500"/>
              </a:spcBef>
              <a:spcAft>
                <a:spcPts val="200"/>
              </a:spcAft>
            </a:pPr>
            <a:r>
              <a:rPr lang="en-US" sz="2400">
                <a:solidFill>
                  <a:srgbClr val="1A2F2F"/>
                </a:solidFill>
                <a:latin typeface="Segoe UI"/>
              </a:rPr>
              <a:t> + </a:t>
            </a:r>
            <a:r>
              <a:rPr sz="2400">
                <a:solidFill>
                  <a:srgbClr val="1A2F2F"/>
                </a:solidFill>
                <a:latin typeface="Segoe UI"/>
              </a:rPr>
              <a:t>KẾT HỢP Progesterone tiêm: Progesterone tiêm bắp 50 mg/ngày hoặc tiêm dưới da (Prolutex 25 mg/ngày) để đảm bảo nồng độ trong máu.</a:t>
            </a:r>
          </a:p>
          <a:p>
            <a:pPr>
              <a:spcBef>
                <a:spcPts val="500"/>
              </a:spcBef>
              <a:spcAft>
                <a:spcPts val="200"/>
              </a:spcAft>
            </a:pPr>
            <a:r>
              <a:rPr sz="2400">
                <a:solidFill>
                  <a:srgbClr val="1A2F2F"/>
                </a:solidFill>
                <a:latin typeface="Segoe UI"/>
              </a:rPr>
              <a:t>  –  Thời điểm bắt đầu: Bắt đầu dùng Progesterone khi niêm mạc đạt chuẩn ≥ 8 mm cấu trúc 3 lá; chuyển phôi sau đúng 120 giờ tiếp xúc đối với phôi ngày 5.</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sz="2700" b="1">
                <a:solidFill>
                  <a:srgbClr val="0D2B2B"/>
                </a:solidFill>
                <a:latin typeface="Segoe UI"/>
              </a:rPr>
              <a:t>Mục Tiêu Nồng Độ Progesterone Huyết Thanh Ngày Chuyển Phôi</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Thời điểm xét nghiệm: Định lượng nồng độ Progesterone (P4) trong máu vào buổi sáng ngày chuyển phôi.</a:t>
            </a:r>
          </a:p>
          <a:p>
            <a:pPr>
              <a:spcBef>
                <a:spcPts val="500"/>
              </a:spcBef>
              <a:spcAft>
                <a:spcPts val="200"/>
              </a:spcAft>
            </a:pPr>
            <a:r>
              <a:rPr sz="2400">
                <a:solidFill>
                  <a:srgbClr val="1A2F2F"/>
                </a:solidFill>
                <a:latin typeface="Segoe UI"/>
              </a:rPr>
              <a:t>  –  Mục tiêu điều trị: Nồng độ P4 huyết thanh phải đạt tối thiểu &gt; 10 - 15 ng/mL (tương đương &gt; 32 - 48 nmol/L).</a:t>
            </a:r>
          </a:p>
          <a:p>
            <a:pPr>
              <a:spcBef>
                <a:spcPts val="500"/>
              </a:spcBef>
              <a:spcAft>
                <a:spcPts val="200"/>
              </a:spcAft>
            </a:pPr>
            <a:r>
              <a:rPr sz="2400">
                <a:solidFill>
                  <a:srgbClr val="1A2F2F"/>
                </a:solidFill>
                <a:latin typeface="Segoe UI"/>
              </a:rPr>
              <a:t>  –  Xử trí khi P4 dưới ngưỡng (&lt; 10 ng/mL): Tăng ngay liều Progesterone tiêm (bổ sung Prolutex 25 mg SC hoặc Progesterone dầu 50 mg IM) ngay trong ngày chuyển phôi.</a:t>
            </a:r>
          </a:p>
          <a:p>
            <a:pPr>
              <a:spcBef>
                <a:spcPts val="500"/>
              </a:spcBef>
              <a:spcAft>
                <a:spcPts val="200"/>
              </a:spcAft>
            </a:pPr>
            <a:r>
              <a:rPr sz="2400">
                <a:solidFill>
                  <a:srgbClr val="1A2F2F"/>
                </a:solidFill>
                <a:latin typeface="Segoe UI"/>
              </a:rPr>
              <a:t>  –  Cứu vãn chu kỳ: Đảm bảo nồng độ P4 đạt chuẩn giúp duy trì tỷ lệ làm tổ và giảm thiểu tối đa nguy cơ sảy thai sớm trong 3 tháng đầu.</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6400800"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2388" y="0"/>
            <a:ext cx="57881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2388" y="0"/>
            <a:ext cx="64008"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958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394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04830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4266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23702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83138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425748" y="54864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85958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45394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830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64266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23702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83138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425748" y="160020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85958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45394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4830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64266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23702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3138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425748" y="265176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85958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45394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4830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64266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23702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83138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425748" y="3703320"/>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85958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45394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04830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64266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23702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83138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0425748" y="4754879"/>
            <a:ext cx="50292" cy="50292"/>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04508" y="1371601"/>
            <a:ext cx="5577840" cy="2376035"/>
          </a:xfrm>
          <a:prstGeom prst="rect">
            <a:avLst/>
          </a:prstGeom>
          <a:noFill/>
        </p:spPr>
        <p:txBody>
          <a:bodyPr wrap="square" lIns="36576" tIns="18288" rIns="36576" bIns="18288" anchor="t">
            <a:spAutoFit/>
          </a:bodyPr>
          <a:lstStyle/>
          <a:p>
            <a:pPr algn="l"/>
            <a:r>
              <a:rPr sz="3800" b="1">
                <a:solidFill>
                  <a:srgbClr val="FFFFFF"/>
                </a:solidFill>
                <a:latin typeface="Segoe UI"/>
              </a:rPr>
              <a:t>CHƯƠNG 6: THEO DÕI THAI KỲ &amp; QUẢN LÝ BIẾN CHỨNG SẢN KHOA</a:t>
            </a:r>
          </a:p>
        </p:txBody>
      </p:sp>
      <p:sp>
        <p:nvSpPr>
          <p:cNvPr id="43" name="Rectangle 42"/>
          <p:cNvSpPr/>
          <p:nvPr/>
        </p:nvSpPr>
        <p:spPr>
          <a:xfrm>
            <a:off x="504508" y="4023360"/>
            <a:ext cx="128016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676708" y="5989320"/>
            <a:ext cx="5212080" cy="206210"/>
          </a:xfrm>
          <a:prstGeom prst="rect">
            <a:avLst/>
          </a:prstGeom>
          <a:noFill/>
        </p:spPr>
        <p:txBody>
          <a:bodyPr wrap="square" lIns="36576" tIns="18288" rIns="36576" bIns="18288">
            <a:spAutoFit/>
          </a:bodyPr>
          <a:lstStyle/>
          <a:p>
            <a:pPr algn="l"/>
            <a:r>
              <a:rPr sz="1100">
                <a:solidFill>
                  <a:srgbClr val="728C8C"/>
                </a:solidFill>
                <a:latin typeface="Segoe UI"/>
              </a:rPr>
              <a:t>2026</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459584"/>
            <a:ext cx="10972800" cy="452432"/>
          </a:xfrm>
          <a:prstGeom prst="rect">
            <a:avLst/>
          </a:prstGeom>
          <a:noFill/>
        </p:spPr>
        <p:txBody>
          <a:bodyPr wrap="square" lIns="36576" tIns="18288" rIns="36576" bIns="18288" anchor="ctr">
            <a:spAutoFit/>
          </a:bodyPr>
          <a:lstStyle/>
          <a:p>
            <a:pPr algn="l"/>
            <a:r>
              <a:rPr sz="2700" b="1">
                <a:solidFill>
                  <a:srgbClr val="0D2B2B"/>
                </a:solidFill>
                <a:latin typeface="Segoe UI"/>
              </a:rPr>
              <a:t>Lộ Trình Theo Dõi Thai Kỳ Nguy Cơ Cao Qua 3 Tam Cá Nguyệt</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Tam cá nguyệt 1 (Tuần 1 - 13): Phòng ngừa dọa sảy thai, duy trì Progesterone hoàng thể đến tuần 10-12, khởi động Aspirin từ tuần 12.</a:t>
            </a:r>
          </a:p>
          <a:p>
            <a:pPr>
              <a:spcBef>
                <a:spcPts val="500"/>
              </a:spcBef>
              <a:spcAft>
                <a:spcPts val="200"/>
              </a:spcAft>
            </a:pPr>
            <a:r>
              <a:rPr sz="2400">
                <a:solidFill>
                  <a:srgbClr val="1A2F2F"/>
                </a:solidFill>
                <a:latin typeface="Segoe UI"/>
              </a:rPr>
              <a:t>  –  Tam cá nguyệt 2 (Tuần 14 - 27): Siêu âm đo chiều dài kênh cổ tử cung (CL) định kỳ tuần 16-24 ngừa sinh non, khám hình thái học thai nhi.</a:t>
            </a:r>
          </a:p>
          <a:p>
            <a:pPr>
              <a:spcBef>
                <a:spcPts val="500"/>
              </a:spcBef>
              <a:spcAft>
                <a:spcPts val="200"/>
              </a:spcAft>
            </a:pPr>
            <a:r>
              <a:rPr sz="2400">
                <a:solidFill>
                  <a:srgbClr val="1A2F2F"/>
                </a:solidFill>
                <a:latin typeface="Segoe UI"/>
              </a:rPr>
              <a:t>  –  Tam cá nguyệt 3 (Tuần 28 trở đi): Khảo sát Doppler bánh rau tầm soát Rau tiền đạo và Rau cài răng lược (PAS), theo dõi tăng trưởng thai ngừa FGR.</a:t>
            </a:r>
          </a:p>
          <a:p>
            <a:pPr>
              <a:spcBef>
                <a:spcPts val="500"/>
              </a:spcBef>
              <a:spcAft>
                <a:spcPts val="200"/>
              </a:spcAft>
            </a:pPr>
            <a:r>
              <a:rPr sz="2400">
                <a:solidFill>
                  <a:srgbClr val="1A2F2F"/>
                </a:solidFill>
                <a:latin typeface="Segoe UI"/>
              </a:rPr>
              <a:t>  –  Chuyển dạ &amp; Hậu sản: Chủ động dự phòng Băng huyết sau sinh (PPH) do đờ tử cung xơ hóa và cảnh giác nguy cơ vỡ tử cung ở bệnh nhân từng bóc u cơ tuyến.</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Tam Cá Nguyệt 1 — Nguy Cơ Sảy Thai Tự Nhiên &amp; Chiến Lược Duy Trì Hoàng Thể</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4424288"/>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Nguy cơ sảy thai tăng gấp đôi: Các phân tích gộp (Cozzolino 2022 / Vercellini 2014) chứng minh nguy cơ sảy thai quý 1 ở thai phụ Adenomyosis tăng hơn 2 lần (RR ≈ 2.12 - 2.17).</a:t>
            </a:r>
          </a:p>
          <a:p>
            <a:pPr>
              <a:spcBef>
                <a:spcPts val="500"/>
              </a:spcBef>
              <a:spcAft>
                <a:spcPts val="200"/>
              </a:spcAft>
            </a:pPr>
            <a:r>
              <a:rPr sz="2400">
                <a:solidFill>
                  <a:srgbClr val="1A2F2F"/>
                </a:solidFill>
                <a:latin typeface="Segoe UI"/>
              </a:rPr>
              <a:t>  –  Cơ chế bệnh sinh: Tình trạng viêm mạn tính cơ tử cung, tăng tiết PGE2, loạn động cơ tử cung (Dysperistalsis) và khiếm khuyết màng rụng hóa làm giảm độ bám của gai rau sớm.</a:t>
            </a:r>
          </a:p>
          <a:p>
            <a:pPr>
              <a:spcBef>
                <a:spcPts val="500"/>
              </a:spcBef>
              <a:spcAft>
                <a:spcPts val="200"/>
              </a:spcAft>
            </a:pPr>
            <a:r>
              <a:rPr sz="2400">
                <a:solidFill>
                  <a:srgbClr val="1A2F2F"/>
                </a:solidFill>
                <a:latin typeface="Segoe UI"/>
              </a:rPr>
              <a:t>  –  Duy trì hỗ trợ hoàng thể: Bắt buộc duy trì Progesterone liên tục đến hết tuần thai thứ 10 - 12 (thời điểm bánh rau tự sản xuất đủ Progesterone thay thế hoàng thể).</a:t>
            </a:r>
          </a:p>
          <a:p>
            <a:pPr>
              <a:spcBef>
                <a:spcPts val="500"/>
              </a:spcBef>
              <a:spcAft>
                <a:spcPts val="200"/>
              </a:spcAft>
            </a:pPr>
            <a:r>
              <a:rPr sz="2400">
                <a:solidFill>
                  <a:srgbClr val="1A2F2F"/>
                </a:solidFill>
                <a:latin typeface="Segoe UI"/>
              </a:rPr>
              <a:t>  –  Theo dõi hình ảnh siêu âm: Khảo sát định kỳ túi thai và nồng độ P4 để phát hiện sớm các ổ bóc tách màng nuôi hoặc tụ dịch dưới màng đệm.</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Tam Cá Nguyệt 2 — Tầm Soát Sinh Non &amp; Đánh Giá Chiều Dài Cổ Tử Cung (CL)</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4054956"/>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Nguy cơ chuyển dạ sinh non: Tăng từ 1.5 đến 1.8 lần ở thai phụ có Adenomyosis và Lạc nội mạc tử cung sâu.</a:t>
            </a:r>
          </a:p>
          <a:p>
            <a:pPr>
              <a:spcBef>
                <a:spcPts val="500"/>
              </a:spcBef>
              <a:spcAft>
                <a:spcPts val="200"/>
              </a:spcAft>
            </a:pPr>
            <a:r>
              <a:rPr sz="2400">
                <a:solidFill>
                  <a:srgbClr val="1A2F2F"/>
                </a:solidFill>
                <a:latin typeface="Segoe UI"/>
              </a:rPr>
              <a:t>  –  Cơ chế sinh non: Sự xơ hóa của u cơ tuyến làm giảm tính đàn hồi giãn nở của thân tử cung khi thai lớn, kết hợp các cytokine viêm kích hoạt sớm cơn co chuyển dạ.</a:t>
            </a:r>
          </a:p>
          <a:p>
            <a:pPr>
              <a:spcBef>
                <a:spcPts val="500"/>
              </a:spcBef>
              <a:spcAft>
                <a:spcPts val="200"/>
              </a:spcAft>
            </a:pPr>
            <a:r>
              <a:rPr sz="2400">
                <a:solidFill>
                  <a:srgbClr val="1A2F2F"/>
                </a:solidFill>
                <a:latin typeface="Segoe UI"/>
              </a:rPr>
              <a:t>  –  Quy trình tầm soát CL: Siêu âm ngả âm đạo đo chiều dài kênh cổ tử cung định kỳ mỗi 2 tuần một lần từ tuần thai thứ 16 đến 24.</a:t>
            </a:r>
          </a:p>
          <a:p>
            <a:pPr>
              <a:spcBef>
                <a:spcPts val="500"/>
              </a:spcBef>
              <a:spcAft>
                <a:spcPts val="200"/>
              </a:spcAft>
            </a:pPr>
            <a:r>
              <a:rPr sz="2400">
                <a:solidFill>
                  <a:srgbClr val="1A2F2F"/>
                </a:solidFill>
                <a:latin typeface="Segoe UI"/>
              </a:rPr>
              <a:t>  –  Can thiệp khi cổ tử cung ngắn (CL &lt; 25 mm): Đặt Progesterone tự nhiên âm đạo liều cao (200 - 400 mg/ngày) liên tục đến tuần 36; cân nhắc đặt vòng nâng pessary hoặc khâu vòng cổ tử cung.</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Dự Phòng Tiền Sản Giật (Preeclampsia) &amp; Thai Chậm Tăng Trưởng (FGR)</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3685624"/>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Cơ chế khiếm khuyết bánh rau: Vùng chuyển tiếp (JZ) bị xơ hóa cản trở nguyên bào nuôi xâm lấn sâu, dẫn đến khiếm khuyết tái cấu trúc động mạch xoắn</a:t>
            </a:r>
            <a:r>
              <a:rPr lang="en-US" sz="2400">
                <a:solidFill>
                  <a:srgbClr val="1A2F2F"/>
                </a:solidFill>
                <a:latin typeface="Segoe UI"/>
              </a:rPr>
              <a:t>.</a:t>
            </a:r>
          </a:p>
          <a:p>
            <a:pPr>
              <a:spcBef>
                <a:spcPts val="500"/>
              </a:spcBef>
              <a:spcAft>
                <a:spcPts val="200"/>
              </a:spcAft>
            </a:pPr>
            <a:r>
              <a:rPr sz="2400">
                <a:solidFill>
                  <a:srgbClr val="1A2F2F"/>
                </a:solidFill>
                <a:latin typeface="Segoe UI"/>
              </a:rPr>
              <a:t>–  Hậu quả: Động mạch xoắn vẫn hẹp và có sức cản cao, gây thiếu máu cục bộ bánh rau mạn tính dẫn đến Tiền sản giật và Thai chậm tăng trưởng (FGR).</a:t>
            </a:r>
          </a:p>
          <a:p>
            <a:pPr>
              <a:spcBef>
                <a:spcPts val="500"/>
              </a:spcBef>
              <a:spcAft>
                <a:spcPts val="200"/>
              </a:spcAft>
            </a:pPr>
            <a:r>
              <a:rPr sz="2400">
                <a:solidFill>
                  <a:srgbClr val="1A2F2F"/>
                </a:solidFill>
                <a:latin typeface="Segoe UI"/>
              </a:rPr>
              <a:t>  –  Phác đồ dự phòng bằng Aspirin liều thấp: Uống Aspirin 100 - 150 mg/ngày vào buổi tối trước khi đi ngủ.</a:t>
            </a:r>
          </a:p>
          <a:p>
            <a:pPr>
              <a:spcBef>
                <a:spcPts val="500"/>
              </a:spcBef>
              <a:spcAft>
                <a:spcPts val="200"/>
              </a:spcAft>
            </a:pPr>
            <a:r>
              <a:rPr sz="2400">
                <a:solidFill>
                  <a:srgbClr val="1A2F2F"/>
                </a:solidFill>
                <a:latin typeface="Segoe UI"/>
              </a:rPr>
              <a:t>  –  Thời điểm vàng: Bắt đầu từ tuần thai thứ 12 (trước tuần 16 để đón đầu đợt xâm lấn thứ 2 của nguyên bào nuôi) và duy trì liên tục đến tuần thứ 36.</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Bất Thường Bám Bánh Rau: Rau Tiền Đạo &amp; Phổ Bệnh Lý Rau Cài Răng Lược (PAS)</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4793620"/>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Rau tiền đạo: Vùng đáy và thân tử cung xơ hóa kém thuận lợi khiến phôi nang bám thấp xuống đoạn dưới cổ tử cung, tăng nguy cơ rau tiền đạo gấp 2-3 lần.</a:t>
            </a:r>
          </a:p>
          <a:p>
            <a:pPr>
              <a:spcBef>
                <a:spcPts val="500"/>
              </a:spcBef>
              <a:spcAft>
                <a:spcPts val="200"/>
              </a:spcAft>
            </a:pPr>
            <a:r>
              <a:rPr sz="2400">
                <a:solidFill>
                  <a:srgbClr val="1A2F2F"/>
                </a:solidFill>
                <a:latin typeface="Segoe UI"/>
              </a:rPr>
              <a:t>  –  Phổ bệnh lý Rau cài răng lược (PAS): Khuyết thiếu lớp nội mạc đáy và màng rụng nền khiến các gai rau ăn sâu trực tiếp vào lớp cơ tử cung (Accreta/Increta) hoặc xuyên thủng thanh mạc.</a:t>
            </a:r>
          </a:p>
          <a:p>
            <a:pPr>
              <a:spcBef>
                <a:spcPts val="500"/>
              </a:spcBef>
              <a:spcAft>
                <a:spcPts val="200"/>
              </a:spcAft>
            </a:pPr>
            <a:r>
              <a:rPr sz="2400">
                <a:solidFill>
                  <a:srgbClr val="1A2F2F"/>
                </a:solidFill>
                <a:latin typeface="Segoe UI"/>
              </a:rPr>
              <a:t>  –  Khảo sát siêu âm Doppler chuyên sâu: Siêu âm 2D và Doppler màu ở tuần thai 20-24 và 30-32 để tìm các dấu hiệu: Mất dải giảm âm sau rau, hồ huyết xoáy bất thường trong bánh rau.</a:t>
            </a:r>
          </a:p>
          <a:p>
            <a:pPr>
              <a:spcBef>
                <a:spcPts val="500"/>
              </a:spcBef>
              <a:spcAft>
                <a:spcPts val="200"/>
              </a:spcAft>
            </a:pPr>
            <a:r>
              <a:rPr sz="2400">
                <a:solidFill>
                  <a:srgbClr val="1A2F2F"/>
                </a:solidFill>
                <a:latin typeface="Segoe UI"/>
              </a:rPr>
              <a:t>  –  Kế hoạch sinh an toàn: Hội chẩn liên chuyên khoa và mổ lấy thai chủ động tại các trung tâm sản khoa lớn có sẵn nguồn máu và phẫu thuật viên giàu kinh nghiệm.</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Cơ Chế Phân Tử Của Đờ Tử Cung &amp; Băng Huyết Sau Sinh (PPH) Ở Adenomyosis</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5532284"/>
          </a:xfrm>
          <a:prstGeom prst="rect">
            <a:avLst/>
          </a:prstGeom>
          <a:noFill/>
        </p:spPr>
        <p:txBody>
          <a:bodyPr wrap="square" lIns="36576" rIns="36576">
            <a:spAutoFit/>
          </a:bodyPr>
          <a:lstStyle/>
          <a:p>
            <a:pPr>
              <a:spcBef>
                <a:spcPts val="500"/>
              </a:spcBef>
              <a:spcAft>
                <a:spcPts val="200"/>
              </a:spcAft>
            </a:pPr>
            <a:r>
              <a:rPr sz="2800">
                <a:solidFill>
                  <a:srgbClr val="1A2F2F"/>
                </a:solidFill>
                <a:latin typeface="Segoe UI"/>
              </a:rPr>
              <a:t>  –  Hiệu ứng 'Nút thắt sống' bình thường: Sau khi sổ rau, các sợi cơ trơn đan chéo co rút mạnh mẽ thắt nghẹt cơ học các mạch máu hở tại diện rau bám để cầm máu sinh lý.</a:t>
            </a:r>
          </a:p>
          <a:p>
            <a:pPr>
              <a:spcBef>
                <a:spcPts val="500"/>
              </a:spcBef>
              <a:spcAft>
                <a:spcPts val="200"/>
              </a:spcAft>
            </a:pPr>
            <a:r>
              <a:rPr sz="2800">
                <a:solidFill>
                  <a:srgbClr val="1A2F2F"/>
                </a:solidFill>
                <a:latin typeface="Segoe UI"/>
              </a:rPr>
              <a:t>  –  Sự phá hủy của enzyme MMPs: Mô tuyến lạc chỗ trong cơ tiết ra các enzyme tiêu protein (Matrix Metalloproteinases - MMPs) và cytokine viêm phá hủy mạng lưới collagen đàn hồi.</a:t>
            </a:r>
          </a:p>
          <a:p>
            <a:pPr>
              <a:spcBef>
                <a:spcPts val="500"/>
              </a:spcBef>
              <a:spcAft>
                <a:spcPts val="200"/>
              </a:spcAft>
            </a:pPr>
            <a:r>
              <a:rPr sz="2800">
                <a:solidFill>
                  <a:srgbClr val="1A2F2F"/>
                </a:solidFill>
                <a:latin typeface="Segoe UI"/>
              </a:rPr>
              <a:t>  –  Mất khả năng co rút sinh lý: Cơ tử cung bị xơ hóa cứng đờ, mất hoàn toàn khả năng co rút (Uterine Atony) sau khi sổ rau, dẫn đến chảy máu ồ ạt (Gruber et al., 2026 - PMID: 42453498).</a:t>
            </a:r>
          </a:p>
          <a:p>
            <a:pPr>
              <a:spcBef>
                <a:spcPts val="500"/>
              </a:spcBef>
              <a:spcAft>
                <a:spcPts val="200"/>
              </a:spcAft>
            </a:pPr>
            <a:r>
              <a:rPr sz="2800">
                <a:solidFill>
                  <a:srgbClr val="1A2F2F"/>
                </a:solidFill>
                <a:latin typeface="Segoe UI"/>
              </a:rPr>
              <a:t>  –  Chiến lược xử trí chủ động: Tiêm thuốc tăng co tích cực ngay sau sổ thai (Oxytocin liều cao, Carbetocin, Misoprostol) và sẵn sàng bóng chèn Bakri hoặc phẫu thuật thắt mạch.</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85636" y="384048"/>
            <a:ext cx="50800" cy="713232"/>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9956" y="251835"/>
            <a:ext cx="10972800" cy="867930"/>
          </a:xfrm>
          <a:prstGeom prst="rect">
            <a:avLst/>
          </a:prstGeom>
          <a:noFill/>
        </p:spPr>
        <p:txBody>
          <a:bodyPr wrap="square" lIns="36576" tIns="18288" rIns="36576" bIns="18288" anchor="ctr">
            <a:spAutoFit/>
          </a:bodyPr>
          <a:lstStyle/>
          <a:p>
            <a:pPr algn="l"/>
            <a:r>
              <a:rPr sz="2700" b="1">
                <a:solidFill>
                  <a:srgbClr val="0D2B2B"/>
                </a:solidFill>
                <a:latin typeface="Segoe UI"/>
              </a:rPr>
              <a:t>Cảnh Giác Nguy Cơ Vỡ Tử Cung (Uterine Rupture) &amp; Chiến Lược Đỡ Đẻ An Toàn</a:t>
            </a:r>
          </a:p>
        </p:txBody>
      </p:sp>
      <p:sp>
        <p:nvSpPr>
          <p:cNvPr id="5" name="Rectangle 4"/>
          <p:cNvSpPr/>
          <p:nvPr/>
        </p:nvSpPr>
        <p:spPr>
          <a:xfrm>
            <a:off x="659956" y="1298448"/>
            <a:ext cx="1092708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5948" y="1600200"/>
            <a:ext cx="11064240" cy="4424288"/>
          </a:xfrm>
          <a:prstGeom prst="rect">
            <a:avLst/>
          </a:prstGeom>
          <a:noFill/>
        </p:spPr>
        <p:txBody>
          <a:bodyPr wrap="square" lIns="36576" rIns="36576">
            <a:spAutoFit/>
          </a:bodyPr>
          <a:lstStyle/>
          <a:p>
            <a:pPr>
              <a:spcBef>
                <a:spcPts val="500"/>
              </a:spcBef>
              <a:spcAft>
                <a:spcPts val="200"/>
              </a:spcAft>
            </a:pPr>
            <a:r>
              <a:rPr sz="2400">
                <a:solidFill>
                  <a:srgbClr val="1A2F2F"/>
                </a:solidFill>
                <a:latin typeface="Segoe UI"/>
              </a:rPr>
              <a:t>  –  Đối tượng nguy cơ cao: Sản phụ có tiền sử phẫu thuật bóc u tuyến cơ tử cung (Adenomyomectomy) trước khi mang thai.</a:t>
            </a:r>
          </a:p>
          <a:p>
            <a:pPr>
              <a:spcBef>
                <a:spcPts val="500"/>
              </a:spcBef>
              <a:spcAft>
                <a:spcPts val="200"/>
              </a:spcAft>
            </a:pPr>
            <a:r>
              <a:rPr sz="2400">
                <a:solidFill>
                  <a:srgbClr val="1A2F2F"/>
                </a:solidFill>
                <a:latin typeface="Segoe UI"/>
              </a:rPr>
              <a:t>  –  Bản chất sẹo mổ Adenomyosis: Khác với u xơ có vỏ bao rõ, sẹo mổ bóc Adenomyosis nằm trên nền mô cơ bị viêm xơ hóa nên quá trình lành sẹo kém bền vững.</a:t>
            </a:r>
          </a:p>
          <a:p>
            <a:pPr>
              <a:spcBef>
                <a:spcPts val="500"/>
              </a:spcBef>
              <a:spcAft>
                <a:spcPts val="200"/>
              </a:spcAft>
            </a:pPr>
            <a:r>
              <a:rPr sz="2400">
                <a:solidFill>
                  <a:srgbClr val="1A2F2F"/>
                </a:solidFill>
                <a:latin typeface="Segoe UI"/>
              </a:rPr>
              <a:t>  –  Nguy cơ vỡ tự phát: Tử cung có nguy cơ vỡ tự phát trong 3 tháng cuối thai kỳ hoặc ngay khi xuất hiện những cơn co chuyển dạ đầu tiên mà không có triệu chứng báo trước.</a:t>
            </a:r>
          </a:p>
          <a:p>
            <a:pPr>
              <a:spcBef>
                <a:spcPts val="500"/>
              </a:spcBef>
              <a:spcAft>
                <a:spcPts val="200"/>
              </a:spcAft>
            </a:pPr>
            <a:r>
              <a:rPr sz="2400">
                <a:solidFill>
                  <a:srgbClr val="1A2F2F"/>
                </a:solidFill>
                <a:latin typeface="Segoe UI"/>
              </a:rPr>
              <a:t>  –  Chiến lược kết thúc thai kỳ: Chỉ định Mổ lấy thai chủ động khi thai đủ tháng (37 đến 38 tuần), tuyệt đối không thử thách sinh đường âm đạo và không dùng thuốc kích thích chuyển dạ.</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13282</Words>
  <Application>Microsoft Office PowerPoint</Application>
  <PresentationFormat>Widescreen</PresentationFormat>
  <Paragraphs>467</Paragraphs>
  <Slides>101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101</vt:i4>
      </vt:variant>
    </vt:vector>
  </HeadingPairs>
  <TitlesOfParts>
    <vt:vector size="108" baseType="lpstr">
      <vt:lpstr>Arial</vt:lpstr>
      <vt:lpstr>Calibri</vt:lpstr>
      <vt:lpstr>Calibri Light</vt:lpstr>
      <vt:lpstr>Roboto</vt:lpstr>
      <vt:lpstr>Segoe UI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Ngọc Hưng Đỗ Văn</dc:creator>
  <cp:lastModifiedBy>Ngọc Hưng Đỗ Văn</cp:lastModifiedBy>
  <cp:revision>8</cp:revision>
  <dcterms:created xsi:type="dcterms:W3CDTF">2026-08-23T13:31:33Z</dcterms:created>
  <dcterms:modified xsi:type="dcterms:W3CDTF">2026-08-23T13:52:29Z</dcterms:modified>
</cp:coreProperties>
</file>