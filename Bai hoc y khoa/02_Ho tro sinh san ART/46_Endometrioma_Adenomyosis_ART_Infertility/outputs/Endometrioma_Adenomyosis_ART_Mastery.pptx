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GIÁO TRÌNH BÀI GIẢNG Y KHOA CHUYÊN SÂU (EBM &amp; CLINICAL MASTERY)</a:t>
            </a:r>
          </a:p>
          <a:p>
            <a:pPr>
              <a:spcBef>
                <a:spcPts val="1200"/>
              </a:spcBef>
              <a:defRPr sz="3000" b="1">
                <a:solidFill>
                  <a:srgbClr val="F8FAFC"/>
                </a:solidFill>
              </a:defRPr>
            </a:pPr>
            <a:r>
              <a:t>U Lạc Nội Mạc Buồng Trứng &amp; Lạc Nội Mạc Tử Cung Trong Cơ</a:t>
            </a:r>
            <a:br/>
            <a:r>
              <a:t>trong Vô Sinh &amp; Hỗ Trợ Sinh Sản (ART)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Tích hợp Hình Ảnh Siêu Âm &amp; Phim MRI Thực Tế, Tiêu Chuẩn MUSA / #Enzian &amp; Phác Đồ Can Thiệp EBM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HỖ TRỢ SINH SẢN &amp; PHỤ KHOA LÂM SÀNG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Mục Tiêu Bài Học &amp; Chuẩn Đầu Ra Lâm Sàng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1. Nắm Vững Cơ Chế Bệnh Sinh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Hiểu rõ giải phẫu Vùng chuyển tiếp (Junctional Zone - JZ).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Cơ chế 'Toxic Follicular Environment' &amp; xơ hóa vỏ buồng trứng.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Cơ chế đề kháng Progesterone (PR-B) &amp; tăng nhu động tử cung.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45309"/>
                </a:solidFill>
              </a:defRPr>
            </a:pPr>
            <a:r>
              <a:t>2. Chẩn Đoán Hình Ảnh MUSA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Nhận diện 4 dấu hiệu trực tiếp &amp; 3 dấu hiệu gián tiếp MUSA.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Phân biệt Adenomyosis khu trú vs thể lan tỏa nặng.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Ứng dụng bản đồ Lạc nội mạc tử cung sâu #Enzian trên siêu âm.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15803D"/>
                </a:solidFill>
              </a:defRPr>
            </a:pPr>
            <a:r>
              <a:t>3. Phác Đồ Can Thiệp EBM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Hiểu vì sao ESHRE khuyến cáo KHÔNG mổ OMA thường quy.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Chỉ định Bảo tồn sinh sản (Trữ đông noãn/phôi trước mổ).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Phác đồ Kích trứng kép DuoStim &amp; Ultra-long GnRHa cho FET.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1: CƠ CHẾ BỆNH SINH HỌC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Giải Phẫu Vùng Chuyển Tiếp (Junctional Zone) &amp; Đối Chiếu Phim MRI Thật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669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Cấu Trúc Giải Phẫu &amp; Tiêu Chuẩn Bệnh Học JZ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Lớp Cơ Ngoài (Outer Myometrium): Sợi cơ đan chéo, chức năng co hồi cầm máu sau sổ rau.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Vùng Chuyển Tiếp (Junctional Zone - JZ / Inner Myometrium): Nguồn gốc ống Müller, cơ trơn xếp vòng kiểm soát nhu động tử cung.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Mốc Bình Thường: JZ &lt; 8 mm (sóng nhu động nhẹ nhàng hướng lên đáy hút tinh trùng).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Mốc Bệnh Lý (Adenomyosis): JZ &gt;= 12 mm hoặc JZ_diff &gt;= 5 mm trên MRI.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Hậu quả: Gây tăng co bóp nghịch thường (Dysperistalsis) tống phôi ra ngoài trước khi kịp làm tổ.</a:t>
            </a:r>
          </a:p>
        </p:txBody>
      </p:sp>
      <p:pic>
        <p:nvPicPr>
          <p:cNvPr id="4" name="Picture 3" descr="real_mri_adenomyosis_thick_j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510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69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📷 Phim MRI T2W thật: Thành sau dày bất đối xứng, dải đen JZ dày vượt mốc 12 mm điển hình của Adenomyosis.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1: CƠ CHẾ BỆNH SINH HỌC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Endometrioma: Vi Môi Trường Độc Hại &amp; Hình Ảnh Siêu Âm 'Kính Mờ' Thật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66928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45309"/>
                </a:solidFill>
              </a:defRPr>
            </a:pPr>
            <a:r>
              <a:t>Cơ Chế Phản Ứng Fenton &amp; Suy Kiệt Buồng Trứng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Dịch u sô-cô-la chứa nồng độ Sắt tự do (Fe2+) cực cao từ máu thoái hóa.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Phản ứng Fenton: Fe2+ sinh ra ồ ạt các gốc oxy hóa tự do (ROS) và Cytokine viêm (TNF-a, IL-6, IL-8).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Gây đứt gãy thoi vô sắc, phân mảnh DNA giao tử, giảm chất lượng noãn/phôi.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Xơ hóa vỏ buồng trứng (Cortical Fibrosis) làm tắc mạch máu và kích hoạt cạn kiệt nang noãn nguyên thủy (Primordial follicle burnout).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Dẫn đến sụt giảm nhanh nồng độ AMH và số lượng nang thứ cấp AFC.</a:t>
            </a:r>
          </a:p>
        </p:txBody>
      </p:sp>
      <p:pic>
        <p:nvPicPr>
          <p:cNvPr id="4" name="Picture 3" descr="real_us_endometrioma_ground_g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3445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69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📷 Siêu âm TVS thật: Nang lạc nội mạc buồng trứng (OMA) với hồi âm kém 'kính mờ' (ground-glass) đồng nhất đặc trưng.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2: CHẨN ĐOÁN HÌNH ẢNH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Tiêu Chuẩn Siêu Âm MUSA: Đối Chiếu Dấu Hiệu 'Bóng Lưng Hình Quạt' Thật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669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Đồng Thuận MUSA: Dấu Hiệu Trực Tiếp &amp; Gián Tiếp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4 DẤU HIỆU TRỰC TIẾP (Khẳng định):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1. Nang cơ tử cung (Myometrial cysts: ổ trống âm 1-5 mm).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2. Đảo tăng âm (Hyperechoic islands) từ mô đệm nội mạc lạc chỗ.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3. Bóng lưng hình quạt (Fan-shaped shadowing / Linear striations).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4. Vệt tăng âm dưới nội mạc (Subendometrial lines/buds).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3 DẤU HIỆU GIÁN TIẾP (Gợi ý):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1. Thành cơ dày bất đối xứng trước - sau.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2. Tử cung to hình cầu (Globular uterus).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  3. Mạch máu xuyên cơ (Translesional flow trên Doppler).</a:t>
            </a:r>
          </a:p>
        </p:txBody>
      </p:sp>
      <p:pic>
        <p:nvPicPr>
          <p:cNvPr id="4" name="Picture 3" descr="real_us_adenomyosis_linear_stri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53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69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📷 Siêu âm TVS thật: Dải sọc tăng âm và bóng lưng hình quạt (linear striations / fan-shaped shadowing) tỏa ra từ cơ tử cung.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3: QUẢN LÝ ENDOMETRIOMA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Chiến Lược Quản Lý OMA &amp; Bảo Tồn Sinh Sản Trước Mổ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Tại Sao ESHRE Khuyên 'Không Mổ Thường Quy'?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Bóc nang (Stripping) tước mất mô buồng trứng lành dính kèm (&gt;90% vỏ nang bóc ra có nang noãn nguyên thủy).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Đốt điện lưỡng cực làm cháy và teo vi mạch nuôi dưỡng rốn buồng trứng.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EBM (Muzii / Zhang): Mổ bóc OMA làm giảm AMH trung bình 0.57 ng/mL, giảm noãn thu được mà KHÔNG tăng tỷ lệ trẻ sinh sống (LBR OR 0.89).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Ưu tiên: IVF / ICSI trực tiếp nếu u không cản trở OPU.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15803D"/>
                </a:solidFill>
              </a:defRPr>
            </a:pPr>
            <a:r>
              <a:t>Chỉ Định Mổ &amp; Bảo Tồn Sinh Sản (Clinical Pearl)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4 Chỉ định mổ: Cấp cứu (xoắn/vỡ u), nghi ngờ ác tính (IOTA), đau dữ dội kháng trị, u quá lớn (&gt;5-6cm) cản trở chọc hút noãn.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BẢO TỒN SINH SẢN (FERTILITY PRESERVATION): Ở phụ nữ trẻ có AMH giảm nhanh nhưng bắt buộc phải mổ -&gt; Bắt buộc Kích trứng &amp; Trữ đông noãn/phôi TRƯỚC KHI mổ.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Kỹ thuật thay thế: Tiêm xơ cồn EST hoặc bốc hơi Laser CO2.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4: KÍCH THÍCH BUỒNG TRỨNG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Phác Đồ DuoStim &amp; An Toàn Chọc Hút Noãn (OPU)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6B21A8"/>
                </a:solidFill>
              </a:defRPr>
            </a:pPr>
            <a:r>
              <a:t>Kích Thích Buồng Trứng Kép (DuoStim)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2 đợt kích trứng &amp; chọc hút liên tiếp trong 1 chu kỳ kinh (Pha nang noãn + Pha hoàng thể sau OPU-1 từ 2-5 ngày).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Gom tối đa số noãn &amp; phôi trong 1 tháng thay vì 3-4 tháng.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Giá trị cứu cánh cho bệnh nhân LNMTC bị Suy giảm dự trữ buồng trứng (DOR) hoặc lớn tuổi, ngăn bệnh tiến triển nặng trong thời gian chờ đợi.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E123C"/>
                </a:solidFill>
              </a:defRPr>
            </a:pPr>
            <a:r>
              <a:t>Xử Trí Sự Cố Chọc Nhầm Vào OMA (Clinical Pearl)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Tuyệt đối KHÔNG ĐƯỢC hút dịch sô-cô-la lẫn vào ống nghiệm chứa dịch noãn (gây độc tế bào noãn).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Rút kim ra, thay kim mới hoặc rửa sạch đầu kim bằng môi trường nuôi cấy, chuyển sang chọc buồng trứng đối diện trước.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Khử khuẩn âm đạo bằng Povidone-iodine và rửa sạch lại bằng nước muối sinh lý ấm trước chọc hút; bơm rửa túi cùng Douglas nếu rò rỉ dịch 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5: CHUẨN BỊ NIÊM MẠC FET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Chuẩn Bị Niêm Mạc: Phác Đồ Ultra-Long GnRHa &amp; Ca Lâm Sàng Thật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669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Phác Đồ Hạ Điều Hòa Kéo Dài (Ultra-Long Protocol)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Freeze-all toàn bộ phôi ngày 5 (tránh nồng độ Estrogen siêu sinh lý).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Tiêm bắp GnRHa Depot 3.75 mg (1-3 mũi cách nhau 28 ngày) tạo trạng thái mãn kinh tạm thời.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Tác dụng: Thu nhỏ u cơ tuyến, ức chế Aromatase, giảm co thắt tử cung và tái thiết lập thụ thể PR-B để mở lại cửa sổ làm tổ (WOI).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Đánh giá lại: Bắt buộc siêu âm kiểm tra tử cung co nhỏ &amp; JZ đạt chuẩn trước khi dùng Estrogen HRT.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Hỗ trợ hoàng thể (LPS): Progesterone âm đạo + tiêm bắp, mục tiêu P4 ngày chuyển phôi &gt; 10-15 ng/mL.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CHƯƠNG 6: QUẢN LÝ SẢN KHOA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Quản Lý Thai Kỳ Nguy Cơ Cao &amp; Dự Phòng Băng Huyết (PPH)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45309"/>
                </a:solidFill>
              </a:defRPr>
            </a:pPr>
            <a:r>
              <a:t>Tầm Soát Biến Chứng Sản Khoa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Quý 1: Duy trì Progesterone đến tuần 10-12 ngừa sảy thai.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Quý 2: Đo chiều dài cổ tử cung (CL) định kỳ tuần 16-24 ngừa sinh non (đặt vòng nâng / khâu vòng nếu CL &lt; 25mm).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Dự phòng Tiền sản giật: Uống Aspirin liều thấp (100-150 mg/ngày) từ tuần 12 đến tuần 36.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Khảo sát Doppler bánh rau quý 2-3 tầm soát Rau tiền đạo &amp; Rau cài răng lược (PAS).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Cơ Chế Băng Huyết (PPH) &amp; Cảnh Giác Vỡ Tử Cung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Cơ chế PPH: Mô tuyến lạc chỗ tiết MMPs phá hủy mạng lưới collagen và cơ trơn, làm mất khả năng co rút thắt nút mạch máu sinh lý (đờ tử cung).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Xử trí: Chuẩn bị Oxytocin liều cao, Carbetocin, bóng chèn Bakri hoặc thắt mạch tử cung.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Cảnh giác Vỡ tử cung: Ở bệnh nhân có tiền sử phẫu thuật bóc u tuyến cơ (Adenomyomectomy), sẹo mổ xơ hóa kém bền, cần mổ lấy thai chủ động ở tuần 37-38.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TỔNG KẾT BÀI GIẢNG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Thông Điệp Thực Hành Lâm Sàng Cốt Lõi (Key Takeaways)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5 Nguyên Tắc 'Sống Còn' Dành Cho Bác Sĩ Lâm Sàng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1. KHÔNG MỔ BÓC NANG OMA THƯỜNG QUY: Chỉ mổ khi có chỉ định rõ ràng; luôn ưu tiên Bảo tồn sinh sản (Trữ đông noãn/phôi) TRƯỚC KHI mổ.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2. AN TOÀN CHỌC HÚT NOÃN: Không đâm kim xuyên qua nang OMA; nếu vô tình chọc nhầm, lập tức ngừng hút, thay kim và rửa sạch túi cùng sau.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3. TẬN DỤNG PHÁC ĐỒ DUOSTIM: Gom tối đa noãn/phôi trong 1 tháng cho bệnh nhân Endometriosis suy giảm dự trữ buồng trứng.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4. CÁ THỂ HÓA ĐIỀU TRỊ ADENOMYOSIS: Freeze-all phôi ngày 5; áp dụng Ultra-long GnRHa 2-3 tháng cho thể lan tỏa nặng và bắt buộc siêu âm đánh giá lại JZ trước khi chuyển phôi.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5. QUẢN LÝ SẢN KHOA CHỦ ĐỘNG: Dự phòng Tiền sản giật bằng Aspirin từ tuần 12, tầm soát sinh non và chủ động phòng ngừa Băng huyết sau sinh do đờ tử cung.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