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60" r:id="rId4"/>
    <p:sldId id="261" r:id="rId5"/>
    <p:sldId id="262" r:id="rId6"/>
    <p:sldId id="283" r:id="rId7"/>
    <p:sldId id="263" r:id="rId8"/>
    <p:sldId id="265" r:id="rId9"/>
    <p:sldId id="284" r:id="rId10"/>
    <p:sldId id="266" r:id="rId11"/>
    <p:sldId id="267" r:id="rId12"/>
    <p:sldId id="268" r:id="rId13"/>
    <p:sldId id="269" r:id="rId14"/>
    <p:sldId id="270" r:id="rId15"/>
    <p:sldId id="285" r:id="rId16"/>
    <p:sldId id="271" r:id="rId17"/>
    <p:sldId id="272" r:id="rId18"/>
    <p:sldId id="286" r:id="rId19"/>
    <p:sldId id="287" r:id="rId20"/>
    <p:sldId id="291" r:id="rId21"/>
    <p:sldId id="292" r:id="rId22"/>
    <p:sldId id="273" r:id="rId23"/>
    <p:sldId id="274" r:id="rId24"/>
    <p:sldId id="275" r:id="rId25"/>
    <p:sldId id="276" r:id="rId26"/>
    <p:sldId id="277" r:id="rId27"/>
    <p:sldId id="288" r:id="rId28"/>
    <p:sldId id="278" r:id="rId29"/>
    <p:sldId id="289" r:id="rId30"/>
    <p:sldId id="280" r:id="rId31"/>
    <p:sldId id="290" r:id="rId3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4" d="100"/>
          <a:sy n="74" d="100"/>
        </p:scale>
        <p:origin x="558"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00"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0" y="0"/>
            <a:ext cx="57881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0" y="0"/>
            <a:ext cx="64008"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236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4672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4108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23544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82980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42416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5800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45236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672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64108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23544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82980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42416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5800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5236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4672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64108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23544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2980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42416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5800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45236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4672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64108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23544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82980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42416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85800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45236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04672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64108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23544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82980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042416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02920" y="1371600"/>
            <a:ext cx="5577840" cy="2560320"/>
          </a:xfrm>
          <a:prstGeom prst="rect">
            <a:avLst/>
          </a:prstGeom>
          <a:noFill/>
        </p:spPr>
        <p:txBody>
          <a:bodyPr wrap="square" lIns="36576" tIns="18288" rIns="36576" bIns="18288" anchor="t">
            <a:spAutoFit/>
          </a:bodyPr>
          <a:lstStyle/>
          <a:p>
            <a:pPr algn="l"/>
            <a:r>
              <a:rPr sz="3800" b="1" i="0">
                <a:solidFill>
                  <a:srgbClr val="FFFFFF"/>
                </a:solidFill>
                <a:latin typeface="Segoe UI"/>
              </a:rPr>
              <a:t>CHƯƠNG 2: CHẨN ĐOÁN HÌNH ẢNH CHUYÊN SÂU</a:t>
            </a:r>
          </a:p>
        </p:txBody>
      </p:sp>
      <p:sp>
        <p:nvSpPr>
          <p:cNvPr id="43" name="Rectangle 42"/>
          <p:cNvSpPr/>
          <p:nvPr/>
        </p:nvSpPr>
        <p:spPr>
          <a:xfrm>
            <a:off x="502920" y="4023360"/>
            <a:ext cx="128016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675120" y="5989320"/>
            <a:ext cx="5212080" cy="365760"/>
          </a:xfrm>
          <a:prstGeom prst="rect">
            <a:avLst/>
          </a:prstGeom>
          <a:noFill/>
        </p:spPr>
        <p:txBody>
          <a:bodyPr wrap="square" lIns="36576" tIns="18288" rIns="36576" bIns="18288">
            <a:spAutoFit/>
          </a:bodyPr>
          <a:lstStyle/>
          <a:p>
            <a:pPr algn="l"/>
            <a:r>
              <a:rPr sz="1100" b="0" i="0">
                <a:solidFill>
                  <a:srgbClr val="728C8C"/>
                </a:solidFill>
                <a:latin typeface="Segoe UI"/>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Quy Trình Tiếp Cận Siêu Âm Ngả Âm Đạo Theo Đồng Thuận IDEA (4 Bước)</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4848" y="1304798"/>
            <a:ext cx="10991088" cy="2895664"/>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a:t>
            </a:r>
            <a:r>
              <a:rPr sz="1700" b="1" i="1">
                <a:solidFill>
                  <a:srgbClr val="1A2F2F"/>
                </a:solidFill>
                <a:latin typeface="Segoe UI"/>
              </a:rPr>
              <a:t>Đồng thuận IDEA (International Deep Endometriosis Analysis group): Chuẩn hóa quy trình siêu âm ngả âm đạo động (dynamic TVS) có hệ thống.</a:t>
            </a:r>
          </a:p>
          <a:p>
            <a:pPr>
              <a:spcBef>
                <a:spcPts val="500"/>
              </a:spcBef>
              <a:spcAft>
                <a:spcPts val="200"/>
              </a:spcAft>
            </a:pPr>
            <a:r>
              <a:rPr sz="1700">
                <a:solidFill>
                  <a:srgbClr val="1A2F2F"/>
                </a:solidFill>
                <a:latin typeface="Segoe UI"/>
              </a:rPr>
              <a:t>  –  Mục đích: Giúp bác sĩ siêu âm khảo sát toàn diện từ cơ quan sinh dục đến khoang phúc mạc chậu, không bỏ sót tổn thương dính và lạc nội mạc sâu.</a:t>
            </a:r>
          </a:p>
          <a:p>
            <a:pPr>
              <a:spcBef>
                <a:spcPts val="500"/>
              </a:spcBef>
              <a:spcAft>
                <a:spcPts val="200"/>
              </a:spcAft>
            </a:pPr>
            <a:r>
              <a:rPr sz="1700">
                <a:solidFill>
                  <a:srgbClr val="1A2F2F"/>
                </a:solidFill>
                <a:latin typeface="Segoe UI"/>
              </a:rPr>
              <a:t>  –  Bước 1: Khảo sát tử cung (tìm 9 dấu hiệu Adenomyosis MUSA 2022/u xơ) và buồng trứng (đo thể tích, đếm AFC, tìm OMA).</a:t>
            </a:r>
          </a:p>
          <a:p>
            <a:pPr>
              <a:spcBef>
                <a:spcPts val="500"/>
              </a:spcBef>
              <a:spcAft>
                <a:spcPts val="200"/>
              </a:spcAft>
            </a:pPr>
            <a:r>
              <a:rPr sz="1700">
                <a:solidFill>
                  <a:srgbClr val="1A2F2F"/>
                </a:solidFill>
                <a:latin typeface="Segoe UI"/>
              </a:rPr>
              <a:t>  –  Bước 2: Tìm kiếm các dấu hiệu siêu âm mềm (độ di động buồng trứng, dấu hiệu buồng trứng dính nhau).</a:t>
            </a:r>
            <a:endParaRPr lang="en-US" sz="1700">
              <a:solidFill>
                <a:srgbClr val="1A2F2F"/>
              </a:solidFill>
              <a:latin typeface="Segoe UI"/>
            </a:endParaRPr>
          </a:p>
          <a:p>
            <a:pPr>
              <a:spcBef>
                <a:spcPts val="500"/>
              </a:spcBef>
              <a:spcAft>
                <a:spcPts val="200"/>
              </a:spcAft>
            </a:pPr>
            <a:r>
              <a:rPr lang="vi-VN" sz="1700">
                <a:solidFill>
                  <a:srgbClr val="1A2F2F"/>
                </a:solidFill>
                <a:latin typeface="Segoe UI"/>
              </a:rPr>
              <a:t> –  Bước 3: Đánh giá túi cùng sau bằng Dấu hiệu Trượt (Sliding Sign).</a:t>
            </a:r>
          </a:p>
          <a:p>
            <a:pPr>
              <a:spcBef>
                <a:spcPts val="500"/>
              </a:spcBef>
              <a:spcAft>
                <a:spcPts val="200"/>
              </a:spcAft>
            </a:pPr>
            <a:r>
              <a:rPr lang="vi-VN" sz="1700">
                <a:solidFill>
                  <a:srgbClr val="1A2F2F"/>
                </a:solidFill>
                <a:latin typeface="Segoe UI"/>
              </a:rPr>
              <a:t>  –  Bước 4: Khảo sát Lạc nội mạc tử cung sâu (DIE) ở khoang trước và khoang sau.</a:t>
            </a:r>
            <a:endParaRPr sz="1700" b="1">
              <a:solidFill>
                <a:srgbClr val="1A2F2F"/>
              </a:solidFill>
              <a:latin typeface="Segoe UI"/>
            </a:endParaRPr>
          </a:p>
        </p:txBody>
      </p:sp>
      <p:sp>
        <p:nvSpPr>
          <p:cNvPr id="7" name="Rectangle 6"/>
          <p:cNvSpPr/>
          <p:nvPr/>
        </p:nvSpPr>
        <p:spPr>
          <a:xfrm>
            <a:off x="6126480" y="1691640"/>
            <a:ext cx="12700" cy="452628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a:extLst>
              <a:ext uri="{FF2B5EF4-FFF2-40B4-BE49-F238E27FC236}">
                <a16:creationId xmlns:a16="http://schemas.microsoft.com/office/drawing/2014/main" id="{0606A4F8-0D06-4FCB-803F-D288971F1BBD}"/>
              </a:ext>
            </a:extLst>
          </p:cNvPr>
          <p:cNvPicPr>
            <a:picLocks noChangeAspect="1"/>
          </p:cNvPicPr>
          <p:nvPr/>
        </p:nvPicPr>
        <p:blipFill>
          <a:blip r:embed="rId2"/>
          <a:stretch>
            <a:fillRect/>
          </a:stretch>
        </p:blipFill>
        <p:spPr>
          <a:xfrm>
            <a:off x="6581263" y="4282251"/>
            <a:ext cx="4844673" cy="23471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Quy Trình IDEA — Bước 1: Khảo Sát Tử Cung &amp; Buồng Trứng</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316292"/>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Khảo sát tử cung: Đo kích thước 3 chiều (chiều dài, chiều trước - sau, chiều ngang), đánh giá độ dày thành trước/thành sau.</a:t>
            </a:r>
          </a:p>
          <a:p>
            <a:pPr>
              <a:spcBef>
                <a:spcPts val="500"/>
              </a:spcBef>
              <a:spcAft>
                <a:spcPts val="200"/>
              </a:spcAft>
            </a:pPr>
            <a:r>
              <a:rPr sz="2400">
                <a:solidFill>
                  <a:srgbClr val="1A2F2F"/>
                </a:solidFill>
                <a:latin typeface="Segoe UI"/>
              </a:rPr>
              <a:t>  –  Đánh giá cơ tử cung: Tầm soát đầy đủ 9 dấu hiệu của Adenomyosis theo MUSA 2022, phân biệt với u xơ tử cung (FIGO).</a:t>
            </a:r>
          </a:p>
          <a:p>
            <a:pPr>
              <a:spcBef>
                <a:spcPts val="500"/>
              </a:spcBef>
              <a:spcAft>
                <a:spcPts val="200"/>
              </a:spcAft>
            </a:pPr>
            <a:r>
              <a:rPr sz="2400">
                <a:solidFill>
                  <a:srgbClr val="1A2F2F"/>
                </a:solidFill>
                <a:latin typeface="Segoe UI"/>
              </a:rPr>
              <a:t>  –  Khảo sát buồng trứng: Xác định vị trí 2 buồng trứng, đếm số nang thứ cấp (Antral Follicle Count - AFC).</a:t>
            </a:r>
          </a:p>
          <a:p>
            <a:pPr>
              <a:spcBef>
                <a:spcPts val="500"/>
              </a:spcBef>
              <a:spcAft>
                <a:spcPts val="200"/>
              </a:spcAft>
            </a:pPr>
            <a:r>
              <a:rPr sz="2400">
                <a:solidFill>
                  <a:srgbClr val="1A2F2F"/>
                </a:solidFill>
                <a:latin typeface="Segoe UI"/>
              </a:rPr>
              <a:t>  –  Đo lường khối u OMA: Khi phát hiện u lạc nội mạc buồng trứng, bắt buộc đo kích thước 3 chiều và thể tích u, khảo sát cả 2 bên buồng trứng.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Quy Trình IDEA — Bước 2: Tìm Kiếm Các Dấu Hiệu Siêu Âm Mềm (Soft Markers)</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Độ di động buồng trứng: Dùng tay ấn nhẹ vùng hạ vị kết hợp đầu dò kiểm tra buồng trứng có trượt tự do trên thành chậu hay bị dính chặt vào hố buồng trứng.</a:t>
            </a:r>
          </a:p>
          <a:p>
            <a:pPr>
              <a:spcBef>
                <a:spcPts val="500"/>
              </a:spcBef>
              <a:spcAft>
                <a:spcPts val="200"/>
              </a:spcAft>
            </a:pPr>
            <a:r>
              <a:rPr sz="2400">
                <a:solidFill>
                  <a:srgbClr val="1A2F2F"/>
                </a:solidFill>
                <a:latin typeface="Segoe UI"/>
              </a:rPr>
              <a:t>  –  Dấu hiệu buồng trứng dính nhau ('Kissing Ovaries'): Cả 2 buồng trứng bị kéo dính sát vào nhau ở đường giữa phía sau tử cung.</a:t>
            </a:r>
          </a:p>
          <a:p>
            <a:pPr>
              <a:spcBef>
                <a:spcPts val="500"/>
              </a:spcBef>
              <a:spcAft>
                <a:spcPts val="200"/>
              </a:spcAft>
            </a:pPr>
            <a:r>
              <a:rPr sz="2400">
                <a:solidFill>
                  <a:srgbClr val="1A2F2F"/>
                </a:solidFill>
                <a:latin typeface="Segoe UI"/>
              </a:rPr>
              <a:t>  –  Ý nghĩa của 'Kissing Ovaries': Là chỉ điểm hình ảnh của tình trạng dính vùng chậu nặng nề, u OMA hai bên và lạc nội mạc ở ruột.</a:t>
            </a:r>
          </a:p>
          <a:p>
            <a:pPr>
              <a:spcBef>
                <a:spcPts val="500"/>
              </a:spcBef>
              <a:spcAft>
                <a:spcPts val="200"/>
              </a:spcAft>
            </a:pPr>
            <a:r>
              <a:rPr sz="2400">
                <a:solidFill>
                  <a:srgbClr val="1A2F2F"/>
                </a:solidFill>
                <a:latin typeface="Segoe UI"/>
              </a:rPr>
              <a:t>  –  Điểm đau khu trú tại chỗ </a:t>
            </a:r>
            <a:r>
              <a:rPr lang="en-US" sz="2400">
                <a:solidFill>
                  <a:srgbClr val="1A2F2F"/>
                </a:solidFill>
                <a:latin typeface="Segoe UI"/>
              </a:rPr>
              <a:t>: </a:t>
            </a:r>
            <a:r>
              <a:rPr sz="2400">
                <a:solidFill>
                  <a:srgbClr val="1A2F2F"/>
                </a:solidFill>
                <a:latin typeface="Segoe UI"/>
              </a:rPr>
              <a:t>Nhận biết chính xác vị trí đau chói khi đầu dò chạm vào dây chằng tử cung - cùng hoặc túi cùng Douglas.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Quy Trình IDEA — Bước 3: Đánh Giá Túi Cùng Sau Bằng Dấu Hiệu Trượt (Sliding Sign)</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89787" y="1466596"/>
            <a:ext cx="5321616" cy="524759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Kỹ thuật thực hiện: </a:t>
            </a:r>
            <a:endParaRPr lang="en-US" sz="2000">
              <a:solidFill>
                <a:srgbClr val="1A2F2F"/>
              </a:solidFill>
              <a:latin typeface="Segoe UI"/>
            </a:endParaRPr>
          </a:p>
          <a:p>
            <a:pPr>
              <a:spcBef>
                <a:spcPts val="500"/>
              </a:spcBef>
              <a:spcAft>
                <a:spcPts val="200"/>
              </a:spcAft>
            </a:pPr>
            <a:r>
              <a:rPr lang="vi-VN" sz="2000">
                <a:solidFill>
                  <a:srgbClr val="1A2F2F"/>
                </a:solidFill>
                <a:latin typeface="Segoe UI"/>
              </a:rPr>
              <a:t>•	Đối với Tử cung ngả trước </a:t>
            </a:r>
            <a:br>
              <a:rPr lang="en-US" sz="2000">
                <a:solidFill>
                  <a:srgbClr val="1A2F2F"/>
                </a:solidFill>
                <a:latin typeface="Segoe UI"/>
              </a:rPr>
            </a:br>
            <a:r>
              <a:rPr lang="en-US" sz="2000">
                <a:solidFill>
                  <a:srgbClr val="1A2F2F"/>
                </a:solidFill>
                <a:latin typeface="Segoe UI"/>
              </a:rPr>
              <a:t> - </a:t>
            </a:r>
            <a:r>
              <a:rPr lang="vi-VN" sz="2000">
                <a:solidFill>
                  <a:srgbClr val="1A2F2F"/>
                </a:solidFill>
                <a:latin typeface="Segoe UI"/>
              </a:rPr>
              <a:t>Đặt đầu dò âm đạo tại cùng đồ trước hoặc ấn nhẹ vào mặt trước cổ tử cung.</a:t>
            </a:r>
            <a:endParaRPr lang="en-US" sz="2000">
              <a:solidFill>
                <a:srgbClr val="1A2F2F"/>
              </a:solidFill>
              <a:latin typeface="Segoe UI"/>
            </a:endParaRPr>
          </a:p>
          <a:p>
            <a:pPr marL="285750" indent="-285750">
              <a:spcBef>
                <a:spcPts val="500"/>
              </a:spcBef>
              <a:spcAft>
                <a:spcPts val="200"/>
              </a:spcAft>
              <a:buFontTx/>
              <a:buChar char="-"/>
            </a:pPr>
            <a:r>
              <a:rPr lang="vi-VN" sz="2000">
                <a:solidFill>
                  <a:srgbClr val="1A2F2F"/>
                </a:solidFill>
                <a:latin typeface="Segoe UI"/>
              </a:rPr>
              <a:t>Tay trên thành bụng ấn đẩy đáy tử cung ra sau, đồng thời đầu dò đẩy nhẹ cổ tử cung.</a:t>
            </a:r>
            <a:endParaRPr lang="en-US" sz="2000">
              <a:solidFill>
                <a:srgbClr val="1A2F2F"/>
              </a:solidFill>
              <a:latin typeface="Segoe UI"/>
            </a:endParaRPr>
          </a:p>
          <a:p>
            <a:pPr marL="285750" indent="-285750">
              <a:spcBef>
                <a:spcPts val="500"/>
              </a:spcBef>
              <a:spcAft>
                <a:spcPts val="200"/>
              </a:spcAft>
              <a:buFontTx/>
              <a:buChar char="-"/>
            </a:pPr>
            <a:r>
              <a:rPr lang="vi-VN" sz="2000">
                <a:solidFill>
                  <a:srgbClr val="1A2F2F"/>
                </a:solidFill>
                <a:latin typeface="Segoe UI"/>
              </a:rPr>
              <a:t>Quan sát sự trượt giữa thành trước trực tràng/sigma và thành sau cổ tử cung/âm đạo.</a:t>
            </a:r>
          </a:p>
          <a:p>
            <a:pPr>
              <a:spcBef>
                <a:spcPts val="500"/>
              </a:spcBef>
              <a:spcAft>
                <a:spcPts val="200"/>
              </a:spcAft>
            </a:pPr>
            <a:r>
              <a:rPr lang="vi-VN" sz="2000">
                <a:solidFill>
                  <a:srgbClr val="1A2F2F"/>
                </a:solidFill>
                <a:latin typeface="Segoe UI"/>
              </a:rPr>
              <a:t>•	Đối với Tử cung ngả sau </a:t>
            </a:r>
            <a:endParaRPr lang="en-US" sz="2000">
              <a:solidFill>
                <a:srgbClr val="1A2F2F"/>
              </a:solidFill>
              <a:latin typeface="Segoe UI"/>
            </a:endParaRPr>
          </a:p>
          <a:p>
            <a:pPr>
              <a:spcBef>
                <a:spcPts val="500"/>
              </a:spcBef>
              <a:spcAft>
                <a:spcPts val="200"/>
              </a:spcAft>
            </a:pPr>
            <a:r>
              <a:rPr lang="en-US" sz="2000">
                <a:solidFill>
                  <a:srgbClr val="1A2F2F"/>
                </a:solidFill>
                <a:latin typeface="Segoe UI"/>
              </a:rPr>
              <a:t>-  </a:t>
            </a:r>
            <a:r>
              <a:rPr lang="vi-VN" sz="2000">
                <a:solidFill>
                  <a:srgbClr val="1A2F2F"/>
                </a:solidFill>
                <a:latin typeface="Segoe UI"/>
              </a:rPr>
              <a:t>Đặt đầu dò tại cùng đồ sau, ấn nhẹ vào thành sau đáy tử cung.</a:t>
            </a:r>
            <a:endParaRPr lang="en-US" sz="2000">
              <a:solidFill>
                <a:srgbClr val="1A2F2F"/>
              </a:solidFill>
              <a:latin typeface="Segoe UI"/>
            </a:endParaRPr>
          </a:p>
          <a:p>
            <a:pPr marL="285750" indent="-285750">
              <a:spcBef>
                <a:spcPts val="500"/>
              </a:spcBef>
              <a:spcAft>
                <a:spcPts val="200"/>
              </a:spcAft>
              <a:buFontTx/>
              <a:buChar char="-"/>
            </a:pPr>
            <a:r>
              <a:rPr lang="vi-VN" sz="2000">
                <a:solidFill>
                  <a:srgbClr val="1A2F2F"/>
                </a:solidFill>
                <a:latin typeface="Segoe UI"/>
              </a:rPr>
              <a:t>Quan sát xem thành trước trực tràng có trượt tự do trên mặt sau đáy tử cung hay không.</a:t>
            </a:r>
          </a:p>
        </p:txBody>
      </p:sp>
      <p:pic>
        <p:nvPicPr>
          <p:cNvPr id="8" name="Picture 7">
            <a:extLst>
              <a:ext uri="{FF2B5EF4-FFF2-40B4-BE49-F238E27FC236}">
                <a16:creationId xmlns:a16="http://schemas.microsoft.com/office/drawing/2014/main" id="{711D13A3-AF70-2A2E-FCC5-FBBBC8BCA90D}"/>
              </a:ext>
            </a:extLst>
          </p:cNvPr>
          <p:cNvPicPr>
            <a:picLocks noChangeAspect="1"/>
          </p:cNvPicPr>
          <p:nvPr/>
        </p:nvPicPr>
        <p:blipFill>
          <a:blip r:embed="rId2"/>
          <a:stretch>
            <a:fillRect/>
          </a:stretch>
        </p:blipFill>
        <p:spPr>
          <a:xfrm>
            <a:off x="5380758" y="1466596"/>
            <a:ext cx="6808067" cy="312225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6F5E7-C370-5839-C902-CDF65BD60B1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F58867C-79D3-FCB5-DBE8-1B806C210885}"/>
              </a:ext>
            </a:extLst>
          </p:cNvPr>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03C5775-C0D3-D89D-8BBF-6495A12D7456}"/>
              </a:ext>
            </a:extLst>
          </p:cNvPr>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Quy Trình IDEA — Bước 3: Đánh Giá Túi Cùng Sau Bằng Dấu Hiệu Trượt (Sliding Sign)</a:t>
            </a:r>
          </a:p>
        </p:txBody>
      </p:sp>
      <p:sp>
        <p:nvSpPr>
          <p:cNvPr id="5" name="Rectangle 4">
            <a:extLst>
              <a:ext uri="{FF2B5EF4-FFF2-40B4-BE49-F238E27FC236}">
                <a16:creationId xmlns:a16="http://schemas.microsoft.com/office/drawing/2014/main" id="{A8C8F6CE-91EC-1617-5625-72C304221D36}"/>
              </a:ext>
            </a:extLst>
          </p:cNvPr>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24F6E67-013D-1A52-6ED4-E6DF59038A27}"/>
              </a:ext>
            </a:extLst>
          </p:cNvPr>
          <p:cNvSpPr txBox="1"/>
          <p:nvPr/>
        </p:nvSpPr>
        <p:spPr>
          <a:xfrm>
            <a:off x="589787" y="1466596"/>
            <a:ext cx="11245897" cy="2823850"/>
          </a:xfrm>
          <a:prstGeom prst="rect">
            <a:avLst/>
          </a:prstGeom>
          <a:noFill/>
        </p:spPr>
        <p:txBody>
          <a:bodyPr wrap="square" lIns="36576" rIns="36576">
            <a:spAutoFit/>
          </a:bodyPr>
          <a:lstStyle/>
          <a:p>
            <a:pPr>
              <a:spcBef>
                <a:spcPts val="500"/>
              </a:spcBef>
              <a:spcAft>
                <a:spcPts val="200"/>
              </a:spcAft>
            </a:pPr>
            <a:r>
              <a:rPr lang="vi-VN" sz="2000">
                <a:solidFill>
                  <a:srgbClr val="1A2F2F"/>
                </a:solidFill>
                <a:latin typeface="Segoe UI"/>
              </a:rPr>
              <a:t>–  </a:t>
            </a:r>
            <a:r>
              <a:rPr lang="vi-VN" sz="2000" b="1">
                <a:solidFill>
                  <a:srgbClr val="1A2F2F"/>
                </a:solidFill>
                <a:latin typeface="Segoe UI"/>
              </a:rPr>
              <a:t>Sliding Sign dương tính (+): </a:t>
            </a:r>
            <a:r>
              <a:rPr lang="vi-VN" sz="2000">
                <a:solidFill>
                  <a:srgbClr val="1A2F2F"/>
                </a:solidFill>
                <a:latin typeface="Segoe UI"/>
              </a:rPr>
              <a:t>Thành trước trực tràng trượt êm dịu trên thành sau cổ tử cung/âm đạo → Túi cùng Douglas hoàn toàn thông thoáng.</a:t>
            </a:r>
          </a:p>
          <a:p>
            <a:pPr>
              <a:spcBef>
                <a:spcPts val="500"/>
              </a:spcBef>
              <a:spcAft>
                <a:spcPts val="200"/>
              </a:spcAft>
            </a:pPr>
            <a:r>
              <a:rPr lang="vi-VN" sz="2000">
                <a:solidFill>
                  <a:srgbClr val="1A2F2F"/>
                </a:solidFill>
                <a:latin typeface="Segoe UI"/>
              </a:rPr>
              <a:t>  –  </a:t>
            </a:r>
            <a:r>
              <a:rPr lang="vi-VN" sz="2000" b="1">
                <a:solidFill>
                  <a:srgbClr val="1A2F2F"/>
                </a:solidFill>
                <a:latin typeface="Segoe UI"/>
              </a:rPr>
              <a:t>Sliding Sign âm tính (-): </a:t>
            </a:r>
            <a:r>
              <a:rPr lang="vi-VN" sz="2000">
                <a:solidFill>
                  <a:srgbClr val="1A2F2F"/>
                </a:solidFill>
                <a:latin typeface="Segoe UI"/>
              </a:rPr>
              <a:t>Trực tràng dính chặt bất động vào mặt sau tử cung → Túi cùng Douglas bị bít tắc hoàn toàn </a:t>
            </a:r>
          </a:p>
          <a:p>
            <a:pPr>
              <a:spcBef>
                <a:spcPts val="500"/>
              </a:spcBef>
              <a:spcAft>
                <a:spcPts val="200"/>
              </a:spcAft>
            </a:pPr>
            <a:r>
              <a:rPr lang="vi-VN" sz="2000">
                <a:solidFill>
                  <a:srgbClr val="1A2F2F"/>
                </a:solidFill>
                <a:latin typeface="Segoe UI"/>
              </a:rPr>
              <a:t>–  Bít tắc một phần : Vùng giữa vẫn trượt được nhưng thành bên (vùng dây chằng tử cung - cùng) bị dính bất động.</a:t>
            </a:r>
          </a:p>
          <a:p>
            <a:pPr>
              <a:spcBef>
                <a:spcPts val="500"/>
              </a:spcBef>
              <a:spcAft>
                <a:spcPts val="200"/>
              </a:spcAft>
            </a:pPr>
            <a:r>
              <a:rPr lang="vi-VN" sz="2000">
                <a:solidFill>
                  <a:srgbClr val="1A2F2F"/>
                </a:solidFill>
                <a:latin typeface="Segoe UI"/>
              </a:rPr>
              <a:t> –  Cảnh báo lâm sàng: Sliding Sign âm tính là dấu hiệu báo trước nguy cơ chọc hút noãn hoặc phẫu thuật bóc tách cực kỳ phức tạp.</a:t>
            </a:r>
          </a:p>
        </p:txBody>
      </p:sp>
    </p:spTree>
    <p:extLst>
      <p:ext uri="{BB962C8B-B14F-4D97-AF65-F5344CB8AC3E}">
        <p14:creationId xmlns:p14="http://schemas.microsoft.com/office/powerpoint/2010/main" val="3237022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Quy Trình IDEA — Bước 4: Khảo Sát Lạc Nội Mạc Tử Cung Sâu (DIE)</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316292"/>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Khoang trước: Khảo sát thành bàng quang, tam giác bàng quang và nếp gấp tử cung - bàng quang (tìm nốt thâm nhiễm giảm âm).</a:t>
            </a:r>
          </a:p>
          <a:p>
            <a:pPr>
              <a:spcBef>
                <a:spcPts val="500"/>
              </a:spcBef>
              <a:spcAft>
                <a:spcPts val="200"/>
              </a:spcAft>
            </a:pPr>
            <a:r>
              <a:rPr sz="2400">
                <a:solidFill>
                  <a:srgbClr val="1A2F2F"/>
                </a:solidFill>
                <a:latin typeface="Segoe UI"/>
              </a:rPr>
              <a:t>  –  Khoang sau — Dây chằng tử cung - cùng: Quan sát dải giảm âm dày không đều hoặc nốt đặc gồ ghề.</a:t>
            </a:r>
          </a:p>
          <a:p>
            <a:pPr>
              <a:spcBef>
                <a:spcPts val="500"/>
              </a:spcBef>
              <a:spcAft>
                <a:spcPts val="200"/>
              </a:spcAft>
            </a:pPr>
            <a:r>
              <a:rPr sz="2400">
                <a:solidFill>
                  <a:srgbClr val="1A2F2F"/>
                </a:solidFill>
                <a:latin typeface="Segoe UI"/>
              </a:rPr>
              <a:t>  –  Khoang sau — Vách trực tràng - âm đạo: Khảo sát khoang giữa thành sau âm đạo và thành trước trực tràng.</a:t>
            </a:r>
          </a:p>
          <a:p>
            <a:pPr>
              <a:spcBef>
                <a:spcPts val="500"/>
              </a:spcBef>
              <a:spcAft>
                <a:spcPts val="200"/>
              </a:spcAft>
            </a:pPr>
            <a:r>
              <a:rPr sz="2400">
                <a:solidFill>
                  <a:srgbClr val="1A2F2F"/>
                </a:solidFill>
                <a:latin typeface="Segoe UI"/>
              </a:rPr>
              <a:t>  –  Khoang sau — Ruột: Đánh giá thành cơ trực tràng và đại tràng sigma (tìm nốt hình nón/hình liềm giảm âm làm dày lớp cơ ruột).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pPr algn="l"/>
            <a:r>
              <a:rPr sz="2700" b="1" i="0">
                <a:solidFill>
                  <a:srgbClr val="0D2B2B"/>
                </a:solidFill>
                <a:latin typeface="Segoe UI"/>
              </a:rPr>
              <a:t>U Lạc Nội Mạc Buồng Trứng (Endometrioma) </a:t>
            </a:r>
            <a:endParaRPr lang="en-US" sz="2700" b="1" i="0">
              <a:solidFill>
                <a:srgbClr val="0D2B2B"/>
              </a:solidFill>
              <a:latin typeface="Segoe UI"/>
            </a:endParaRPr>
          </a:p>
          <a:p>
            <a:pPr algn="l"/>
            <a:r>
              <a:rPr sz="2700" b="1" i="0">
                <a:solidFill>
                  <a:srgbClr val="0D2B2B"/>
                </a:solidFill>
                <a:latin typeface="Segoe UI"/>
              </a:rPr>
              <a:t> Đặc Điểm Siêu Âm Điển Hình</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Hình dạng &amp; Thành nang: Khối dạng nang tròn hoặc bầu dục, bờ đều đặn, thành nang dày và tăng âm nhẹ.</a:t>
            </a:r>
          </a:p>
          <a:p>
            <a:pPr>
              <a:spcBef>
                <a:spcPts val="500"/>
              </a:spcBef>
              <a:spcAft>
                <a:spcPts val="200"/>
              </a:spcAft>
            </a:pPr>
            <a:r>
              <a:rPr sz="2400">
                <a:solidFill>
                  <a:srgbClr val="1A2F2F"/>
                </a:solidFill>
                <a:latin typeface="Segoe UI"/>
              </a:rPr>
              <a:t>  –  Hồi âm dạng 'Kính Mờ' (Ground-glass echogenicity): Cấu trúc hồi âm kém đồng nhất mịn màng tạo bởi hàng triệu hồng cầu thoái hóa và hemosiderin lơ lửng.</a:t>
            </a:r>
          </a:p>
          <a:p>
            <a:pPr>
              <a:spcBef>
                <a:spcPts val="500"/>
              </a:spcBef>
              <a:spcAft>
                <a:spcPts val="200"/>
              </a:spcAft>
            </a:pPr>
            <a:r>
              <a:rPr sz="2400">
                <a:solidFill>
                  <a:srgbClr val="1A2F2F"/>
                </a:solidFill>
                <a:latin typeface="Segoe UI"/>
              </a:rPr>
              <a:t>  –  Đặc điểm Doppler màu: Hoàn toàn không có tín hiệu mạch máu bên trong lòng nang (chỉ thấy viền mạch máu ngoại vi ở vỏ buồng trứng lành).</a:t>
            </a:r>
          </a:p>
          <a:p>
            <a:pPr>
              <a:spcBef>
                <a:spcPts val="500"/>
              </a:spcBef>
              <a:spcAft>
                <a:spcPts val="200"/>
              </a:spcAft>
            </a:pPr>
            <a:r>
              <a:rPr sz="2400">
                <a:solidFill>
                  <a:srgbClr val="1A2F2F"/>
                </a:solidFill>
                <a:latin typeface="Segoe UI"/>
              </a:rPr>
              <a:t>  –  Tính chất tồn tại: Tồn tại dai dẳng qua nhiều chu kỳ kinh nguyệt liên tiếp (khác nang hoàng thể tự biến mất).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atural history of ovarian endometrioma in pregnancy | BMC Women's Health |  Springer Nature Link">
            <a:extLst>
              <a:ext uri="{FF2B5EF4-FFF2-40B4-BE49-F238E27FC236}">
                <a16:creationId xmlns:a16="http://schemas.microsoft.com/office/drawing/2014/main" id="{B850F532-6A5A-8F57-8923-28812F150F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444" y="1590072"/>
            <a:ext cx="11430000" cy="2905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301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U Lạc Nội Mạc Buồng Trứng — Chẩn Đoán Phân Biệt Trên Siêu Âm</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Nang hoàng thể xuất huyết: Có mạng lưới sợi fibrin dạng mạng nhện hoặc mạng lưới tổ ong và sẽ tự tiêu biến sau 1 - 2 chu kỳ kinh.</a:t>
            </a:r>
          </a:p>
          <a:p>
            <a:pPr>
              <a:spcBef>
                <a:spcPts val="500"/>
              </a:spcBef>
              <a:spcAft>
                <a:spcPts val="200"/>
              </a:spcAft>
            </a:pPr>
            <a:r>
              <a:rPr sz="2400">
                <a:solidFill>
                  <a:srgbClr val="1A2F2F"/>
                </a:solidFill>
                <a:latin typeface="Segoe UI"/>
              </a:rPr>
              <a:t>  –  U quái buồng trứng (Dermoid cyst / Teratoma): Chứa các dải tăng âm dạng vệt tóc (dermoid mesh) hoặc nốt tăng âm kèm bóng lưng cản âm mạnh (</a:t>
            </a:r>
            <a:r>
              <a:rPr lang="en-US" sz="2400">
                <a:solidFill>
                  <a:srgbClr val="1A2F2F"/>
                </a:solidFill>
                <a:latin typeface="Segoe UI"/>
              </a:rPr>
              <a:t>nốt </a:t>
            </a:r>
            <a:r>
              <a:rPr sz="2400">
                <a:solidFill>
                  <a:srgbClr val="1A2F2F"/>
                </a:solidFill>
                <a:latin typeface="Segoe UI"/>
              </a:rPr>
              <a:t>Rokitansky).</a:t>
            </a:r>
          </a:p>
          <a:p>
            <a:pPr>
              <a:spcBef>
                <a:spcPts val="500"/>
              </a:spcBef>
              <a:spcAft>
                <a:spcPts val="200"/>
              </a:spcAft>
            </a:pPr>
            <a:r>
              <a:rPr sz="2400">
                <a:solidFill>
                  <a:srgbClr val="1A2F2F"/>
                </a:solidFill>
                <a:latin typeface="Segoe UI"/>
              </a:rPr>
              <a:t>  –  U nang thanh dịch buồng trứng: Lòng nang trống âm hoàn toàn thành mỏng nhẵn, dịch trong.</a:t>
            </a:r>
          </a:p>
          <a:p>
            <a:pPr>
              <a:spcBef>
                <a:spcPts val="500"/>
              </a:spcBef>
              <a:spcAft>
                <a:spcPts val="200"/>
              </a:spcAft>
            </a:pPr>
            <a:r>
              <a:rPr sz="2400">
                <a:solidFill>
                  <a:srgbClr val="1A2F2F"/>
                </a:solidFill>
                <a:latin typeface="Segoe UI"/>
              </a:rPr>
              <a:t>  –  Áp xe buồng trứng </a:t>
            </a:r>
            <a:r>
              <a:rPr lang="en-US" sz="2400">
                <a:solidFill>
                  <a:srgbClr val="1A2F2F"/>
                </a:solidFill>
                <a:latin typeface="Segoe UI"/>
              </a:rPr>
              <a:t>: </a:t>
            </a:r>
            <a:r>
              <a:rPr sz="2400">
                <a:solidFill>
                  <a:srgbClr val="1A2F2F"/>
                </a:solidFill>
                <a:latin typeface="Segoe UI"/>
              </a:rPr>
              <a:t>Nang chứa dịch đục lợn cợn không đồng nhất kèm vách dày tăng sinh mạch máu dữ dội và hội chứng nhiễm trùng trên lâm sàng.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pPr algn="l"/>
            <a:r>
              <a:rPr sz="2700" b="1" i="0">
                <a:solidFill>
                  <a:srgbClr val="0D2B2B"/>
                </a:solidFill>
                <a:latin typeface="Segoe UI"/>
              </a:rPr>
              <a:t>Quy Tắc IOTA (International Ovarian Tumor Analysis) </a:t>
            </a:r>
            <a:endParaRPr lang="en-US" sz="2700" b="1" i="0">
              <a:solidFill>
                <a:srgbClr val="0D2B2B"/>
              </a:solidFill>
              <a:latin typeface="Segoe UI"/>
            </a:endParaRPr>
          </a:p>
          <a:p>
            <a:pPr algn="l"/>
            <a:r>
              <a:rPr sz="2700" b="1" i="0">
                <a:solidFill>
                  <a:srgbClr val="0D2B2B"/>
                </a:solidFill>
                <a:latin typeface="Segoe UI"/>
              </a:rPr>
              <a:t> Loại Trừ Thoái Hóa Ác Tính</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529171"/>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Nguy cơ ung thư: U OMA có nguy cơ thoái hóa thành ung thư buồng trứng dạng nội mạc hoặc tế bào sáng (Endometrioid / Clear Cell Carcinoma).</a:t>
            </a:r>
          </a:p>
          <a:p>
            <a:pPr>
              <a:spcBef>
                <a:spcPts val="500"/>
              </a:spcBef>
              <a:spcAft>
                <a:spcPts val="200"/>
              </a:spcAft>
            </a:pPr>
            <a:r>
              <a:rPr sz="2000">
                <a:solidFill>
                  <a:srgbClr val="1A2F2F"/>
                </a:solidFill>
                <a:latin typeface="Segoe UI"/>
              </a:rPr>
              <a:t>  –  Dấu hiệu báo động 1 </a:t>
            </a:r>
            <a:r>
              <a:rPr sz="2000" b="1" i="1">
                <a:solidFill>
                  <a:srgbClr val="1A2F2F"/>
                </a:solidFill>
                <a:latin typeface="Segoe UI"/>
              </a:rPr>
              <a:t>— Chồi nhú đặc</a:t>
            </a:r>
            <a:r>
              <a:rPr lang="en-US" sz="2000" b="1" i="1">
                <a:solidFill>
                  <a:srgbClr val="1A2F2F"/>
                </a:solidFill>
                <a:latin typeface="Segoe UI"/>
              </a:rPr>
              <a:t> </a:t>
            </a:r>
            <a:r>
              <a:rPr sz="2000">
                <a:solidFill>
                  <a:srgbClr val="1A2F2F"/>
                </a:solidFill>
                <a:latin typeface="Segoe UI"/>
              </a:rPr>
              <a:t>: Xuất hiện phần mô đặc dạng nhú nhô từ vách vào trong lòng nang.</a:t>
            </a:r>
          </a:p>
          <a:p>
            <a:pPr>
              <a:spcBef>
                <a:spcPts val="500"/>
              </a:spcBef>
              <a:spcAft>
                <a:spcPts val="200"/>
              </a:spcAft>
            </a:pPr>
            <a:r>
              <a:rPr sz="2000">
                <a:solidFill>
                  <a:srgbClr val="1A2F2F"/>
                </a:solidFill>
                <a:latin typeface="Segoe UI"/>
              </a:rPr>
              <a:t>  –  Dấu hiệu báo động 2 — </a:t>
            </a:r>
            <a:r>
              <a:rPr sz="2000" b="1" i="1">
                <a:solidFill>
                  <a:srgbClr val="1A2F2F"/>
                </a:solidFill>
                <a:latin typeface="Segoe UI"/>
              </a:rPr>
              <a:t>Tăng sinh mạch máu Doppler</a:t>
            </a:r>
            <a:r>
              <a:rPr sz="2000">
                <a:solidFill>
                  <a:srgbClr val="1A2F2F"/>
                </a:solidFill>
                <a:latin typeface="Segoe UI"/>
              </a:rPr>
              <a:t>: Tín hiệu mạch máu phong phú bên trong phần nhú đặc (Color Score 3 - 4).</a:t>
            </a:r>
          </a:p>
          <a:p>
            <a:pPr>
              <a:spcBef>
                <a:spcPts val="500"/>
              </a:spcBef>
              <a:spcAft>
                <a:spcPts val="200"/>
              </a:spcAft>
            </a:pPr>
            <a:r>
              <a:rPr sz="2000">
                <a:solidFill>
                  <a:srgbClr val="1A2F2F"/>
                </a:solidFill>
                <a:latin typeface="Segoe UI"/>
              </a:rPr>
              <a:t>  –  Dấu hiệu báo động 3 — </a:t>
            </a:r>
            <a:r>
              <a:rPr sz="2000" b="1" i="1">
                <a:solidFill>
                  <a:srgbClr val="1A2F2F"/>
                </a:solidFill>
                <a:latin typeface="Segoe UI"/>
              </a:rPr>
              <a:t>Vách ngăn dày &amp; Cổ trướng</a:t>
            </a:r>
            <a:r>
              <a:rPr sz="2000">
                <a:solidFill>
                  <a:srgbClr val="1A2F2F"/>
                </a:solidFill>
                <a:latin typeface="Segoe UI"/>
              </a:rPr>
              <a:t>: Vách ngăn dày bất thường (&gt; 3 mm), nhiều thùy hoặc có dịch tự do ổ bụng.</a:t>
            </a:r>
          </a:p>
          <a:p>
            <a:pPr>
              <a:spcBef>
                <a:spcPts val="500"/>
              </a:spcBef>
              <a:spcAft>
                <a:spcPts val="200"/>
              </a:spcAft>
            </a:pPr>
            <a:r>
              <a:rPr sz="2000">
                <a:solidFill>
                  <a:srgbClr val="1A2F2F"/>
                </a:solidFill>
                <a:latin typeface="Segoe UI"/>
              </a:rPr>
              <a:t>  –  Yếu tố nguy cơ cao: Bệnh nhân trên 40 tuổi hoặc khối u OMA</a:t>
            </a:r>
            <a:r>
              <a:rPr lang="en-US" sz="2000">
                <a:solidFill>
                  <a:srgbClr val="1A2F2F"/>
                </a:solidFill>
                <a:latin typeface="Segoe UI"/>
              </a:rPr>
              <a:t> ( u LNM) </a:t>
            </a:r>
            <a:r>
              <a:rPr sz="2000">
                <a:solidFill>
                  <a:srgbClr val="1A2F2F"/>
                </a:solidFill>
                <a:latin typeface="Segoe UI"/>
              </a:rPr>
              <a:t>tăng nhanh kích thước sau mãn kinh.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Đồng Thuận Quốc Tế MUSA 2022 — Hệ Thống 9 Tiêu Chuẩn Siêu Âm Adenomyosis</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316292"/>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Đồng thuận MUSA 2022 (Harmsen et al., UOG 2022): Hoàn thiện chuẩn hóa 9 đặc điểm siêu âm phân định rõ ràng giữa Dấu hiệu trực tiếp và Dấu hiệu gián tiếp.</a:t>
            </a:r>
          </a:p>
          <a:p>
            <a:pPr>
              <a:spcBef>
                <a:spcPts val="500"/>
              </a:spcBef>
              <a:spcAft>
                <a:spcPts val="200"/>
              </a:spcAft>
            </a:pPr>
            <a:r>
              <a:rPr sz="2400">
                <a:solidFill>
                  <a:srgbClr val="1A2F2F"/>
                </a:solidFill>
                <a:latin typeface="Segoe UI"/>
              </a:rPr>
              <a:t>  –  Nhóm Dấu hiệu Trực tiếp (Direct Features): Gồm 4 đặc điểm phản ánh mô bệnh học tuyến nội mạc trong cơ, có giá trị khẳng định cao.</a:t>
            </a:r>
          </a:p>
          <a:p>
            <a:pPr>
              <a:spcBef>
                <a:spcPts val="500"/>
              </a:spcBef>
              <a:spcAft>
                <a:spcPts val="200"/>
              </a:spcAft>
            </a:pPr>
            <a:r>
              <a:rPr sz="2400">
                <a:solidFill>
                  <a:srgbClr val="1A2F2F"/>
                </a:solidFill>
                <a:latin typeface="Segoe UI"/>
              </a:rPr>
              <a:t>  –  Nhóm Dấu hiệu Gián tiếp (Indirect Features): Gồm 5 đặc điểm phản ánh phản ứng phì đại xơ hóa cơ tử cung và bất thường vùng chuyển tiếp JZ.</a:t>
            </a:r>
          </a:p>
          <a:p>
            <a:pPr>
              <a:spcBef>
                <a:spcPts val="500"/>
              </a:spcBef>
              <a:spcAft>
                <a:spcPts val="200"/>
              </a:spcAft>
            </a:pPr>
            <a:r>
              <a:rPr sz="2400">
                <a:solidFill>
                  <a:srgbClr val="1A2F2F"/>
                </a:solidFill>
                <a:latin typeface="Segoe UI"/>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pPr algn="l"/>
            <a:r>
              <a:rPr sz="2700" b="1" i="0">
                <a:solidFill>
                  <a:srgbClr val="0D2B2B"/>
                </a:solidFill>
                <a:latin typeface="Segoe UI"/>
              </a:rPr>
              <a:t>Tiêu Chuẩn MUSA 2022 </a:t>
            </a:r>
            <a:endParaRPr lang="en-US" sz="2700" b="1" i="0">
              <a:solidFill>
                <a:srgbClr val="0D2B2B"/>
              </a:solidFill>
              <a:latin typeface="Segoe UI"/>
            </a:endParaRPr>
          </a:p>
          <a:p>
            <a:pPr algn="l"/>
            <a:r>
              <a:rPr sz="2700" b="1" i="0">
                <a:solidFill>
                  <a:srgbClr val="0D2B2B"/>
                </a:solidFill>
                <a:latin typeface="Segoe UI"/>
              </a:rPr>
              <a:t> Dấu Hiệu Trực Tiếp: Nang Cơ Tử Cung &amp; Đảo Tăng Âm</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1. Nang cơ tử cung (Myometrial cysts): Các ổ trống âm hoặc giảm âm nhỏ 1 - 5 mm nằm trong lớp cơ tử cung, được bao bọc bởi một viền tăng âm mỏng (hyperechoic rim/halo).</a:t>
            </a:r>
          </a:p>
          <a:p>
            <a:pPr>
              <a:spcBef>
                <a:spcPts val="500"/>
              </a:spcBef>
              <a:spcAft>
                <a:spcPts val="200"/>
              </a:spcAft>
            </a:pPr>
            <a:r>
              <a:rPr sz="2400">
                <a:solidFill>
                  <a:srgbClr val="1A2F2F"/>
                </a:solidFill>
                <a:latin typeface="Segoe UI"/>
              </a:rPr>
              <a:t>  –  Bản chất của Nang cơ: Tuyến nội mạc đáy lạc vào cơ chảy máu chu kỳ tích tụ thành nang máu vi thể; viền tăng âm tương ứng lớp mô đệm nội mạc bao quanh.</a:t>
            </a:r>
          </a:p>
          <a:p>
            <a:pPr>
              <a:spcBef>
                <a:spcPts val="500"/>
              </a:spcBef>
              <a:spcAft>
                <a:spcPts val="200"/>
              </a:spcAft>
            </a:pPr>
            <a:r>
              <a:rPr sz="2400">
                <a:solidFill>
                  <a:srgbClr val="1A2F2F"/>
                </a:solidFill>
                <a:latin typeface="Segoe UI"/>
              </a:rPr>
              <a:t>  –  2. Đảo tăng âm (Hyperechoic islands): Các nốt/vùng tăng âm nhỏ nằm trong nhu mô cơ tử cung, không có bóng cản âm phía sau.</a:t>
            </a:r>
          </a:p>
          <a:p>
            <a:pPr>
              <a:spcBef>
                <a:spcPts val="500"/>
              </a:spcBef>
              <a:spcAft>
                <a:spcPts val="200"/>
              </a:spcAft>
            </a:pPr>
            <a:r>
              <a:rPr sz="2400">
                <a:solidFill>
                  <a:srgbClr val="1A2F2F"/>
                </a:solidFill>
                <a:latin typeface="Segoe UI"/>
              </a:rPr>
              <a:t>  –  Bản chất của Đảo tăng âm: Tương ứng với các đám mô đệm nội mạc tử cung (endometrial stroma) lạc chỗ tập trung thành cụm trong cơ.</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Tiêu Chuẩn MUSA 2022 — Dấu Hiệu Trực Tiếp: Bóng Lưng Hình Quạt &amp; Vệt/Chồi Dưới Niêm</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131627"/>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3. Bóng lưng hình quạt (Fan-shaped shadowing / Linear striations): Các dải bóng cản âm giảm âm hẹp, thẳng, chạy song song với nhau tỏa ra từ vùng cơ tử cung (dạng rèm sập hoặc nan quạt).</a:t>
            </a:r>
          </a:p>
          <a:p>
            <a:pPr>
              <a:spcBef>
                <a:spcPts val="500"/>
              </a:spcBef>
              <a:spcAft>
                <a:spcPts val="200"/>
              </a:spcAft>
            </a:pPr>
            <a:r>
              <a:rPr sz="2000">
                <a:solidFill>
                  <a:srgbClr val="1A2F2F"/>
                </a:solidFill>
                <a:latin typeface="Segoe UI"/>
              </a:rPr>
              <a:t>  –  Bản chất Bóng lưng hình quạt: Hình thành do sóng siêu âm bị tán xạ khi đi qua ranh giới giữa ổ tuyến mềm và bó cơ xơ hóa cứng bao quanh.</a:t>
            </a:r>
          </a:p>
          <a:p>
            <a:pPr>
              <a:spcBef>
                <a:spcPts val="500"/>
              </a:spcBef>
              <a:spcAft>
                <a:spcPts val="200"/>
              </a:spcAft>
            </a:pPr>
            <a:r>
              <a:rPr sz="2000">
                <a:solidFill>
                  <a:srgbClr val="1A2F2F"/>
                </a:solidFill>
                <a:latin typeface="Segoe UI"/>
              </a:rPr>
              <a:t>  –  4. Vệt tăng âm và Chồi dưới nội mạc (Subendometrial lines and buds): Các đường tăng âm mỏng hoặc chồi tăng âm hình bán cầu đâm vuông góc từ lớp nội mạc đáy qua ranh giới EMI vào lớp cơ dưới nội mạc (JZ).</a:t>
            </a:r>
          </a:p>
          <a:p>
            <a:pPr>
              <a:spcBef>
                <a:spcPts val="500"/>
              </a:spcBef>
              <a:spcAft>
                <a:spcPts val="200"/>
              </a:spcAft>
            </a:pPr>
            <a:r>
              <a:rPr sz="2000">
                <a:solidFill>
                  <a:srgbClr val="1A2F2F"/>
                </a:solidFill>
                <a:latin typeface="Segoe UI"/>
              </a:rPr>
              <a:t>  –  Bản chất Vệt/Chồi tăng âm: Phản ánh trực tiếp quá trình đâm chồi xâm lấn cơ của tuyến nội mạc đáy.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308314-7485-3FFD-11C5-A6D886E939EC}"/>
              </a:ext>
            </a:extLst>
          </p:cNvPr>
          <p:cNvPicPr>
            <a:picLocks noChangeAspect="1"/>
          </p:cNvPicPr>
          <p:nvPr/>
        </p:nvPicPr>
        <p:blipFill>
          <a:blip r:embed="rId2"/>
          <a:stretch>
            <a:fillRect/>
          </a:stretch>
        </p:blipFill>
        <p:spPr>
          <a:xfrm>
            <a:off x="1880316" y="126908"/>
            <a:ext cx="8835851" cy="6604183"/>
          </a:xfrm>
          <a:prstGeom prst="rect">
            <a:avLst/>
          </a:prstGeom>
        </p:spPr>
      </p:pic>
    </p:spTree>
    <p:extLst>
      <p:ext uri="{BB962C8B-B14F-4D97-AF65-F5344CB8AC3E}">
        <p14:creationId xmlns:p14="http://schemas.microsoft.com/office/powerpoint/2010/main" val="2746390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pPr algn="l"/>
            <a:r>
              <a:rPr sz="2700" b="1" i="0">
                <a:solidFill>
                  <a:srgbClr val="0D2B2B"/>
                </a:solidFill>
                <a:latin typeface="Segoe UI"/>
              </a:rPr>
              <a:t>Tiêu Chuẩn MUSA 2022 </a:t>
            </a:r>
            <a:endParaRPr lang="en-US" sz="2700" b="1" i="0">
              <a:solidFill>
                <a:srgbClr val="0D2B2B"/>
              </a:solidFill>
              <a:latin typeface="Segoe UI"/>
            </a:endParaRPr>
          </a:p>
          <a:p>
            <a:pPr algn="l"/>
            <a:r>
              <a:rPr sz="2700" b="1" i="0">
                <a:solidFill>
                  <a:srgbClr val="0D2B2B"/>
                </a:solidFill>
                <a:latin typeface="Segoe UI"/>
              </a:rPr>
              <a:t> Dấu Hiệu Gián Tiếp</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5. Thành cơ tử cung dày bất đối xứng (Asymmetrical thickening): Thành trước hoặc thành sau dày bất đối xứng rõ rệt (chênh lệch &gt; 1.5 - 2 lần không do u xơ).</a:t>
            </a:r>
          </a:p>
          <a:p>
            <a:pPr>
              <a:spcBef>
                <a:spcPts val="500"/>
              </a:spcBef>
              <a:spcAft>
                <a:spcPts val="200"/>
              </a:spcAft>
            </a:pPr>
            <a:r>
              <a:rPr sz="2400">
                <a:solidFill>
                  <a:srgbClr val="1A2F2F"/>
                </a:solidFill>
                <a:latin typeface="Segoe UI"/>
              </a:rPr>
              <a:t>  –  6. Tử cung to hình cầu (Globular uterus): Tử cung mất dạng thon quả lê bình thường, trở nên tròn căng do tăng đường kính trước - sau.</a:t>
            </a:r>
          </a:p>
          <a:p>
            <a:pPr>
              <a:spcBef>
                <a:spcPts val="500"/>
              </a:spcBef>
              <a:spcAft>
                <a:spcPts val="200"/>
              </a:spcAft>
            </a:pPr>
            <a:r>
              <a:rPr sz="2400">
                <a:solidFill>
                  <a:srgbClr val="1A2F2F"/>
                </a:solidFill>
                <a:latin typeface="Segoe UI"/>
              </a:rPr>
              <a:t>  –  7. Mạch máu đâm xuyên tổn thương (Translesional vascularity): Trên Doppler màu, các nhánh mạch máu chạy thẳng góc đâm xuyên qua vùng tổn thương vào tận nội mạc.</a:t>
            </a:r>
          </a:p>
          <a:p>
            <a:pPr>
              <a:spcBef>
                <a:spcPts val="500"/>
              </a:spcBef>
              <a:spcAft>
                <a:spcPts val="200"/>
              </a:spcAft>
            </a:pPr>
            <a:r>
              <a:rPr sz="2400">
                <a:solidFill>
                  <a:srgbClr val="1A2F2F"/>
                </a:solidFill>
                <a:latin typeface="Segoe UI"/>
              </a:rPr>
              <a:t>  –  Ý nghĩa phân biệt với U xơ: U xơ tử cung có mạch máu chạy vòng bao quanh vỏ bao giả; Adenomyosis có mạch máu chạy đâm xuyên trực tiếp.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pPr algn="l"/>
            <a:r>
              <a:rPr sz="2700" b="1" i="0">
                <a:solidFill>
                  <a:srgbClr val="0D2B2B"/>
                </a:solidFill>
                <a:latin typeface="Segoe UI"/>
              </a:rPr>
              <a:t>Tiêu Chuẩn MUSA 2022 </a:t>
            </a:r>
            <a:endParaRPr lang="en-US" sz="2700" b="1" i="0">
              <a:solidFill>
                <a:srgbClr val="0D2B2B"/>
              </a:solidFill>
              <a:latin typeface="Segoe UI"/>
            </a:endParaRPr>
          </a:p>
          <a:p>
            <a:pPr algn="l"/>
            <a:r>
              <a:rPr sz="2700" b="1" i="0">
                <a:solidFill>
                  <a:srgbClr val="0D2B2B"/>
                </a:solidFill>
                <a:latin typeface="Segoe UI"/>
              </a:rPr>
              <a:t> Dấu Hiệu Gián Tiếp</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054956"/>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8. Vùng chuyển tiếp không đều / đứt đoạn (Irregular / Disrupted JZ): Dải cơ trong dưới nội mạc mất tính liên tục, bờ nham nhở không đều, bề dày dao động mạnh.</a:t>
            </a:r>
          </a:p>
          <a:p>
            <a:pPr>
              <a:spcBef>
                <a:spcPts val="500"/>
              </a:spcBef>
              <a:spcAft>
                <a:spcPts val="200"/>
              </a:spcAft>
            </a:pPr>
            <a:r>
              <a:rPr sz="2400">
                <a:solidFill>
                  <a:srgbClr val="1A2F2F"/>
                </a:solidFill>
                <a:latin typeface="Segoe UI"/>
              </a:rPr>
              <a:t>  –  9. Vùng chuyển tiếp gián đoạn hoàn toàn (Interrupted JZ): Mất hoàn toàn hình ảnh dải giảm âm bình thường của JZ trên một đoạn hoặc toàn bộ chu vi buồng tử cung.</a:t>
            </a:r>
          </a:p>
          <a:p>
            <a:pPr>
              <a:spcBef>
                <a:spcPts val="500"/>
              </a:spcBef>
              <a:spcAft>
                <a:spcPts val="200"/>
              </a:spcAft>
            </a:pPr>
            <a:r>
              <a:rPr sz="2400">
                <a:solidFill>
                  <a:srgbClr val="1A2F2F"/>
                </a:solidFill>
                <a:latin typeface="Segoe UI"/>
              </a:rPr>
              <a:t>  –  Bản chất mô học: Do sự xâm lấn phá hủy ồ ạt của các tuyến nội mạc đáy xóa nhòa ranh giới giữa lớp cơ trong và lớp cơ ngoài.</a:t>
            </a:r>
          </a:p>
          <a:p>
            <a:pPr>
              <a:spcBef>
                <a:spcPts val="500"/>
              </a:spcBef>
              <a:spcAft>
                <a:spcPts val="200"/>
              </a:spcAft>
            </a:pPr>
            <a:r>
              <a:rPr sz="2400">
                <a:solidFill>
                  <a:srgbClr val="1A2F2F"/>
                </a:solidFill>
                <a:latin typeface="Segoe UI"/>
              </a:rPr>
              <a:t>  –  Vai trò của siêu âm 3D: Mặt cắt đứng ngang Coronal plane là phương tiện tối ưu để quan sát tính liên tục của JZ.</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DB069A-530E-90AF-C148-2688F4E62D50}"/>
              </a:ext>
            </a:extLst>
          </p:cNvPr>
          <p:cNvPicPr>
            <a:picLocks noChangeAspect="1"/>
          </p:cNvPicPr>
          <p:nvPr/>
        </p:nvPicPr>
        <p:blipFill>
          <a:blip r:embed="rId2"/>
          <a:stretch>
            <a:fillRect/>
          </a:stretch>
        </p:blipFill>
        <p:spPr>
          <a:xfrm>
            <a:off x="3253453" y="182983"/>
            <a:ext cx="4747547" cy="6791816"/>
          </a:xfrm>
          <a:prstGeom prst="rect">
            <a:avLst/>
          </a:prstGeom>
        </p:spPr>
      </p:pic>
    </p:spTree>
    <p:extLst>
      <p:ext uri="{BB962C8B-B14F-4D97-AF65-F5344CB8AC3E}">
        <p14:creationId xmlns:p14="http://schemas.microsoft.com/office/powerpoint/2010/main" val="27805476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BB49B4-073A-6D27-3C74-875EE3DB27C9}"/>
              </a:ext>
            </a:extLst>
          </p:cNvPr>
          <p:cNvPicPr>
            <a:picLocks noChangeAspect="1"/>
          </p:cNvPicPr>
          <p:nvPr/>
        </p:nvPicPr>
        <p:blipFill>
          <a:blip r:embed="rId2"/>
          <a:stretch>
            <a:fillRect/>
          </a:stretch>
        </p:blipFill>
        <p:spPr>
          <a:xfrm>
            <a:off x="229054" y="419842"/>
            <a:ext cx="7968534" cy="5640946"/>
          </a:xfrm>
          <a:prstGeom prst="rect">
            <a:avLst/>
          </a:prstGeom>
        </p:spPr>
      </p:pic>
      <p:sp>
        <p:nvSpPr>
          <p:cNvPr id="5" name="TextBox 4">
            <a:extLst>
              <a:ext uri="{FF2B5EF4-FFF2-40B4-BE49-F238E27FC236}">
                <a16:creationId xmlns:a16="http://schemas.microsoft.com/office/drawing/2014/main" id="{B512ECC0-D16F-D097-1E76-50022B54B5B0}"/>
              </a:ext>
            </a:extLst>
          </p:cNvPr>
          <p:cNvSpPr txBox="1"/>
          <p:nvPr/>
        </p:nvSpPr>
        <p:spPr>
          <a:xfrm>
            <a:off x="8197588" y="1341523"/>
            <a:ext cx="3991237" cy="3416320"/>
          </a:xfrm>
          <a:prstGeom prst="rect">
            <a:avLst/>
          </a:prstGeom>
          <a:noFill/>
        </p:spPr>
        <p:txBody>
          <a:bodyPr wrap="square">
            <a:spAutoFit/>
          </a:bodyPr>
          <a:lstStyle/>
          <a:p>
            <a:pPr marL="285750" indent="-285750">
              <a:buFontTx/>
              <a:buChar char="-"/>
            </a:pPr>
            <a:r>
              <a:rPr lang="vi-VN"/>
              <a:t>1. Vùng chuyển tiếp bị gián đoạn</a:t>
            </a:r>
            <a:endParaRPr lang="en-US"/>
          </a:p>
          <a:p>
            <a:pPr marL="285750" indent="-285750">
              <a:buFontTx/>
              <a:buChar char="-"/>
            </a:pPr>
            <a:r>
              <a:rPr lang="vi-VN"/>
              <a:t> 2. Vùng chuyển tiếp không đều / đứt</a:t>
            </a:r>
            <a:endParaRPr lang="en-US"/>
          </a:p>
          <a:p>
            <a:pPr marL="285750" indent="-285750">
              <a:buFontTx/>
              <a:buChar char="-"/>
            </a:pPr>
            <a:r>
              <a:rPr lang="vi-VN"/>
              <a:t>3. Dày cơ tử cung bất đối xứng </a:t>
            </a:r>
            <a:endParaRPr lang="en-US"/>
          </a:p>
          <a:p>
            <a:pPr marL="285750" indent="-285750">
              <a:buFontTx/>
              <a:buChar char="-"/>
            </a:pPr>
            <a:r>
              <a:rPr lang="en-US"/>
              <a:t>4.</a:t>
            </a:r>
            <a:r>
              <a:rPr lang="vi-VN"/>
              <a:t>Tử cung to hình cầu </a:t>
            </a:r>
            <a:endParaRPr lang="en-US"/>
          </a:p>
          <a:p>
            <a:pPr marL="285750" indent="-285750">
              <a:buFontTx/>
              <a:buChar char="-"/>
            </a:pPr>
            <a:r>
              <a:rPr lang="vi-VN"/>
              <a:t>5. Các vệt và chồi tăng âm dưới nội mạc</a:t>
            </a:r>
            <a:endParaRPr lang="en-US"/>
          </a:p>
          <a:p>
            <a:pPr marL="285750" indent="-285750">
              <a:buFontTx/>
              <a:buChar char="-"/>
            </a:pPr>
            <a:r>
              <a:rPr lang="vi-VN"/>
              <a:t>6. Nang cơ tử cung </a:t>
            </a:r>
            <a:endParaRPr lang="en-US"/>
          </a:p>
          <a:p>
            <a:pPr marL="285750" indent="-285750">
              <a:buFontTx/>
              <a:buChar char="-"/>
            </a:pPr>
            <a:r>
              <a:rPr lang="vi-VN"/>
              <a:t>7. Các đảo tăng âm </a:t>
            </a:r>
            <a:endParaRPr lang="en-US"/>
          </a:p>
          <a:p>
            <a:pPr marL="285750" indent="-285750">
              <a:buFontTx/>
              <a:buChar char="-"/>
            </a:pPr>
            <a:r>
              <a:rPr lang="vi-VN"/>
              <a:t>8. Mạch máu đâm xuyên tổn thương trên Doppler </a:t>
            </a:r>
            <a:endParaRPr lang="en-US"/>
          </a:p>
          <a:p>
            <a:pPr marL="285750" indent="-285750">
              <a:buFontTx/>
              <a:buChar char="-"/>
            </a:pPr>
            <a:r>
              <a:rPr lang="vi-VN"/>
              <a:t>9. Bóng lưng hình quạt</a:t>
            </a:r>
          </a:p>
        </p:txBody>
      </p:sp>
    </p:spTree>
    <p:extLst>
      <p:ext uri="{BB962C8B-B14F-4D97-AF65-F5344CB8AC3E}">
        <p14:creationId xmlns:p14="http://schemas.microsoft.com/office/powerpoint/2010/main" val="42614513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descr="Direct features of adenomyosis—hyperechoic islands (A), myometrial cysts (A,B), and echogenic sub-endometrial buds (C). Red arrows are to indicate the hyperechogenic islands, myometrial cyst and echogenic buds.">
            <a:extLst>
              <a:ext uri="{FF2B5EF4-FFF2-40B4-BE49-F238E27FC236}">
                <a16:creationId xmlns:a16="http://schemas.microsoft.com/office/drawing/2014/main" id="{E487CDD9-ACE4-F062-FC66-F8FFF3D98A06}"/>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3" name="Picture 2">
            <a:extLst>
              <a:ext uri="{FF2B5EF4-FFF2-40B4-BE49-F238E27FC236}">
                <a16:creationId xmlns:a16="http://schemas.microsoft.com/office/drawing/2014/main" id="{77E18BE5-AD72-9E4B-66E8-703E47DC3AC5}"/>
              </a:ext>
            </a:extLst>
          </p:cNvPr>
          <p:cNvPicPr>
            <a:picLocks noChangeAspect="1"/>
          </p:cNvPicPr>
          <p:nvPr/>
        </p:nvPicPr>
        <p:blipFill>
          <a:blip r:embed="rId2"/>
          <a:stretch>
            <a:fillRect/>
          </a:stretch>
        </p:blipFill>
        <p:spPr>
          <a:xfrm>
            <a:off x="335188" y="75842"/>
            <a:ext cx="8924925" cy="6415446"/>
          </a:xfrm>
          <a:prstGeom prst="rect">
            <a:avLst/>
          </a:prstGeom>
        </p:spPr>
      </p:pic>
      <p:sp>
        <p:nvSpPr>
          <p:cNvPr id="5" name="TextBox 4">
            <a:extLst>
              <a:ext uri="{FF2B5EF4-FFF2-40B4-BE49-F238E27FC236}">
                <a16:creationId xmlns:a16="http://schemas.microsoft.com/office/drawing/2014/main" id="{6D0A0E3C-A597-8972-13C8-D0F94548BC3A}"/>
              </a:ext>
            </a:extLst>
          </p:cNvPr>
          <p:cNvSpPr txBox="1"/>
          <p:nvPr/>
        </p:nvSpPr>
        <p:spPr>
          <a:xfrm>
            <a:off x="4949371" y="4247496"/>
            <a:ext cx="6096000" cy="1938992"/>
          </a:xfrm>
          <a:prstGeom prst="rect">
            <a:avLst/>
          </a:prstGeom>
          <a:noFill/>
        </p:spPr>
        <p:txBody>
          <a:bodyPr wrap="square">
            <a:spAutoFit/>
          </a:bodyPr>
          <a:lstStyle/>
          <a:p>
            <a:r>
              <a:rPr lang="vi-VN" sz="2400" b="0" i="0">
                <a:solidFill>
                  <a:srgbClr val="252525"/>
                </a:solidFill>
                <a:effectLst/>
                <a:latin typeface="Roboto" panose="02000000000000000000" pitchFamily="2" charset="0"/>
              </a:rPr>
              <a:t>Các đặc điểm trực tiếp của lạc nội mạc tử cung – các đảo tăng âm (A), nang cơ tử cung (A, B) và chồi dưới nội mạc tử cung tăng âm (C). Mũi tên màu đỏ chỉ các đảo tăng âm, nang cơ tử cung và chồi tăng âm</a:t>
            </a:r>
            <a:endParaRPr lang="vi-VN" sz="2400"/>
          </a:p>
        </p:txBody>
      </p:sp>
    </p:spTree>
    <p:extLst>
      <p:ext uri="{BB962C8B-B14F-4D97-AF65-F5344CB8AC3E}">
        <p14:creationId xmlns:p14="http://schemas.microsoft.com/office/powerpoint/2010/main" val="14420863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Indirect features of adenomyosis—globular uterus (A), asymmetrical myometrium (A), fan-shaped shadowing (B), trans-lesional vascularity (C), irregular junctional zone and interrupted junctional zone (D).">
            <a:extLst>
              <a:ext uri="{FF2B5EF4-FFF2-40B4-BE49-F238E27FC236}">
                <a16:creationId xmlns:a16="http://schemas.microsoft.com/office/drawing/2014/main" id="{B23E651D-7BC8-FEE4-9180-207B18D304A3}"/>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3" name="Picture 2">
            <a:extLst>
              <a:ext uri="{FF2B5EF4-FFF2-40B4-BE49-F238E27FC236}">
                <a16:creationId xmlns:a16="http://schemas.microsoft.com/office/drawing/2014/main" id="{8A1E5D0B-D9E6-999A-2593-DD812C8326BB}"/>
              </a:ext>
            </a:extLst>
          </p:cNvPr>
          <p:cNvPicPr>
            <a:picLocks noChangeAspect="1"/>
          </p:cNvPicPr>
          <p:nvPr/>
        </p:nvPicPr>
        <p:blipFill>
          <a:blip r:embed="rId2"/>
          <a:stretch>
            <a:fillRect/>
          </a:stretch>
        </p:blipFill>
        <p:spPr>
          <a:xfrm>
            <a:off x="0" y="-76829"/>
            <a:ext cx="11335779" cy="6934829"/>
          </a:xfrm>
          <a:prstGeom prst="rect">
            <a:avLst/>
          </a:prstGeom>
        </p:spPr>
      </p:pic>
      <p:sp>
        <p:nvSpPr>
          <p:cNvPr id="5" name="TextBox 4">
            <a:extLst>
              <a:ext uri="{FF2B5EF4-FFF2-40B4-BE49-F238E27FC236}">
                <a16:creationId xmlns:a16="http://schemas.microsoft.com/office/drawing/2014/main" id="{67B82C9E-CC15-0E8E-9F3F-7255ED3CF23F}"/>
              </a:ext>
            </a:extLst>
          </p:cNvPr>
          <p:cNvSpPr txBox="1"/>
          <p:nvPr/>
        </p:nvSpPr>
        <p:spPr>
          <a:xfrm>
            <a:off x="5942013" y="3245393"/>
            <a:ext cx="6096000" cy="2308324"/>
          </a:xfrm>
          <a:prstGeom prst="rect">
            <a:avLst/>
          </a:prstGeom>
          <a:noFill/>
        </p:spPr>
        <p:txBody>
          <a:bodyPr wrap="square">
            <a:spAutoFit/>
          </a:bodyPr>
          <a:lstStyle/>
          <a:p>
            <a:r>
              <a:rPr lang="vi-VN" sz="2400" b="0" i="0">
                <a:solidFill>
                  <a:srgbClr val="252525"/>
                </a:solidFill>
                <a:effectLst/>
                <a:latin typeface="Roboto" panose="02000000000000000000" pitchFamily="2" charset="0"/>
              </a:rPr>
              <a:t>Các đặc điểm gián tiếp của lạc nội mạc tử cung trong cơ tử cung: tử cung hình cầu (A), cơ tử cung không đối xứng (A), bóng mờ hình quạt (B), mạch máu xuyên tổn thương (C), vùng nối không đều và vùng nối bị gián đoạn (D)</a:t>
            </a:r>
            <a:endParaRPr lang="vi-VN" sz="2400"/>
          </a:p>
        </p:txBody>
      </p:sp>
    </p:spTree>
    <p:extLst>
      <p:ext uri="{BB962C8B-B14F-4D97-AF65-F5344CB8AC3E}">
        <p14:creationId xmlns:p14="http://schemas.microsoft.com/office/powerpoint/2010/main" val="2671814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Khung Báo Cáo &amp; Phân Loại Mức Độ Adenomyosis Theo MUSA 2022</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1447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Vị trí tổn thương: Ghi nhận rõ thành trước, thành sau, vùng đáy, thành bên Trái / Phải.</a:t>
            </a:r>
          </a:p>
          <a:p>
            <a:pPr>
              <a:spcBef>
                <a:spcPts val="500"/>
              </a:spcBef>
              <a:spcAft>
                <a:spcPts val="200"/>
              </a:spcAft>
            </a:pPr>
            <a:r>
              <a:rPr sz="2400">
                <a:solidFill>
                  <a:srgbClr val="1A2F2F"/>
                </a:solidFill>
                <a:latin typeface="Segoe UI"/>
              </a:rPr>
              <a:t>  –  Hình thái lâm sàng: Phân biệt thể khu trú (Adenomyoma không có vỏ bao giả) vs thể lan tỏa (Diffuse Adenomyosis).</a:t>
            </a:r>
          </a:p>
          <a:p>
            <a:pPr>
              <a:spcBef>
                <a:spcPts val="500"/>
              </a:spcBef>
              <a:spcAft>
                <a:spcPts val="200"/>
              </a:spcAft>
            </a:pPr>
            <a:r>
              <a:rPr sz="2400">
                <a:solidFill>
                  <a:srgbClr val="1A2F2F"/>
                </a:solidFill>
                <a:latin typeface="Segoe UI"/>
              </a:rPr>
              <a:t>  –  Tầng lớp cơ thâm nhiễm: Cơ trong (Vùng chuyển tiếp JZ: 1/3 trong), Cơ giữa (1/3 giữa), Cơ ngoài (1/3 ngoài).</a:t>
            </a:r>
          </a:p>
          <a:p>
            <a:pPr>
              <a:spcBef>
                <a:spcPts val="500"/>
              </a:spcBef>
              <a:spcAft>
                <a:spcPts val="200"/>
              </a:spcAft>
            </a:pPr>
            <a:r>
              <a:rPr sz="2400">
                <a:solidFill>
                  <a:srgbClr val="1A2F2F"/>
                </a:solidFill>
                <a:latin typeface="Segoe UI"/>
              </a:rPr>
              <a:t>  –  Mức độ chiếm chỗ: Nhẹ (&lt; 25% thể tích cơ tử cung), Vừa (25 - 50%), Nặng (&gt; 50% thể tích cơ tử cung).</a:t>
            </a:r>
          </a:p>
          <a:p>
            <a:pPr>
              <a:spcBef>
                <a:spcPts val="500"/>
              </a:spcBef>
              <a:spcAft>
                <a:spcPts val="200"/>
              </a:spcAft>
            </a:pPr>
            <a:r>
              <a:rPr sz="2400">
                <a:solidFill>
                  <a:srgbClr val="1A2F2F"/>
                </a:solidFill>
                <a:latin typeface="Segoe UI"/>
              </a:rPr>
              <a:t>  –  Ý nghĩa ART: Thể lan tỏa nặng (&gt; 50% cơ, thâm nhiễm cả 3 tầng) bắt buộc dùng phác đồ Ultra-long GnRHa 2-3 tháng.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Hệ Thống Phân Loại #Enzian Trên Siêu Âm (Cập Nhật 2021 - 2023)</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Mục đích: Chuẩn hóa việc lập bản đồ toàn diện Lạc nội mạc tử cung vùng chậu thống nhất giữa Siêu âm và Phẫu thuật nội soi.</a:t>
            </a:r>
          </a:p>
          <a:p>
            <a:pPr>
              <a:spcBef>
                <a:spcPts val="500"/>
              </a:spcBef>
              <a:spcAft>
                <a:spcPts val="200"/>
              </a:spcAft>
            </a:pPr>
            <a:r>
              <a:rPr sz="2400">
                <a:solidFill>
                  <a:srgbClr val="1A2F2F"/>
                </a:solidFill>
                <a:latin typeface="Segoe UI"/>
              </a:rPr>
              <a:t>  –  Khắc phục nhược điểm của rASRM: rASRM bỏ sót lạc nội mạc sâu và Adenomyosis; #Enzian mô tả chi tiết từng cơ quan giải phẫu.</a:t>
            </a:r>
          </a:p>
          <a:p>
            <a:pPr>
              <a:spcBef>
                <a:spcPts val="500"/>
              </a:spcBef>
              <a:spcAft>
                <a:spcPts val="200"/>
              </a:spcAft>
            </a:pPr>
            <a:r>
              <a:rPr sz="2400">
                <a:solidFill>
                  <a:srgbClr val="1A2F2F"/>
                </a:solidFill>
                <a:latin typeface="Segoe UI"/>
              </a:rPr>
              <a:t>  –  Nguyên tắc phân nhóm: Phân chia theo cơ quan: #Enzian O (buồng trứng), #Enzian T (dính vòi - buồng trứng), #Enzian U (cơ tử cung), #Enzian A, B, C (DIE khoang sau).</a:t>
            </a:r>
          </a:p>
          <a:p>
            <a:pPr>
              <a:spcBef>
                <a:spcPts val="500"/>
              </a:spcBef>
              <a:spcAft>
                <a:spcPts val="200"/>
              </a:spcAft>
            </a:pPr>
            <a:r>
              <a:rPr sz="2400">
                <a:solidFill>
                  <a:srgbClr val="1A2F2F"/>
                </a:solidFill>
                <a:latin typeface="Segoe UI"/>
              </a:rPr>
              <a:t>  –  Độ chính xác cao: Siêu âm ngả âm đạo theo #Enzian có độ nhạy &gt; 90% tương đương phẫu thuật.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Hệ Thống #Enzian — Phân Nhóm Buồng Trứng (#Enzian O) &amp; Vòi Trứng (#Enzian T)</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406061"/>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#Enzian O (Ovary - Buồng trứng): Đánh giá u nang lạc nội mạc buồng trứng (O1 &lt; 3 cm, O2 = 3 - 7 cm, O3 &gt; 7 cm; kèm ký hiệu L/R cho Trái/Phải).</a:t>
            </a:r>
          </a:p>
          <a:p>
            <a:pPr>
              <a:spcBef>
                <a:spcPts val="500"/>
              </a:spcBef>
              <a:spcAft>
                <a:spcPts val="200"/>
              </a:spcAft>
            </a:pPr>
            <a:r>
              <a:rPr sz="2400">
                <a:solidFill>
                  <a:srgbClr val="1A2F2F"/>
                </a:solidFill>
                <a:latin typeface="Segoe UI"/>
              </a:rPr>
              <a:t>  –  #Enzian T (Tubo-ovarian - Dính vòi - buồng trứng): Đánh giá mức độ dính giải phẫu vùng chậu.</a:t>
            </a:r>
          </a:p>
          <a:p>
            <a:pPr>
              <a:spcBef>
                <a:spcPts val="500"/>
              </a:spcBef>
              <a:spcAft>
                <a:spcPts val="200"/>
              </a:spcAft>
            </a:pPr>
            <a:r>
              <a:rPr sz="2400">
                <a:solidFill>
                  <a:srgbClr val="1A2F2F"/>
                </a:solidFill>
                <a:latin typeface="Segoe UI"/>
              </a:rPr>
              <a:t>  –  Mức độ T1: Dính nhẹ giữa vòi tử cung và buồng trứng.</a:t>
            </a:r>
          </a:p>
          <a:p>
            <a:pPr>
              <a:spcBef>
                <a:spcPts val="500"/>
              </a:spcBef>
              <a:spcAft>
                <a:spcPts val="200"/>
              </a:spcAft>
            </a:pPr>
            <a:r>
              <a:rPr sz="2400">
                <a:solidFill>
                  <a:srgbClr val="1A2F2F"/>
                </a:solidFill>
                <a:latin typeface="Segoe UI"/>
              </a:rPr>
              <a:t>  –  Mức độ T2: Dính buồng trứng vào hố buồng trứng thành bên chậu.</a:t>
            </a:r>
          </a:p>
          <a:p>
            <a:pPr>
              <a:spcBef>
                <a:spcPts val="500"/>
              </a:spcBef>
              <a:spcAft>
                <a:spcPts val="200"/>
              </a:spcAft>
            </a:pPr>
            <a:r>
              <a:rPr sz="2400">
                <a:solidFill>
                  <a:srgbClr val="1A2F2F"/>
                </a:solidFill>
                <a:latin typeface="Segoe UI"/>
              </a:rPr>
              <a:t>  –  Mức độ T3: Dính nặng buồng trứng vào mặt sau tử cung hoặc dính 2 buồng trứng sát nhau ('Kissing Ovaries').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Hệ Thống #Enzian — Lạc Nội Mạc Trong Cơ (#Enzian U) &amp; Khoang Sau (A, B, C)</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316292"/>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#Enzian U (Uterus): Đánh giá mức độ tổn thương Adenomyosis trong cơ tử cung.</a:t>
            </a:r>
          </a:p>
          <a:p>
            <a:pPr>
              <a:spcBef>
                <a:spcPts val="500"/>
              </a:spcBef>
              <a:spcAft>
                <a:spcPts val="200"/>
              </a:spcAft>
            </a:pPr>
            <a:r>
              <a:rPr sz="2400">
                <a:solidFill>
                  <a:srgbClr val="1A2F2F"/>
                </a:solidFill>
                <a:latin typeface="Segoe UI"/>
              </a:rPr>
              <a:t>  –  Khoang A: Lạc nội mạc sâu ở âm đạo và vách trực tràng - âm đạo (A1 &lt; 1 cm, A2 = 1 - 3 cm, A3 &gt; 3 cm).</a:t>
            </a:r>
          </a:p>
          <a:p>
            <a:pPr>
              <a:spcBef>
                <a:spcPts val="500"/>
              </a:spcBef>
              <a:spcAft>
                <a:spcPts val="200"/>
              </a:spcAft>
            </a:pPr>
            <a:r>
              <a:rPr sz="2400">
                <a:solidFill>
                  <a:srgbClr val="1A2F2F"/>
                </a:solidFill>
                <a:latin typeface="Segoe UI"/>
              </a:rPr>
              <a:t>  –  Khoang B: Lạc nội mạc sâu ở dây chằng tử cung - cùng và thành bên chậu (B1 &lt; 1 cm, B2 = 1 - 3 cm, B3 &gt; 3 cm).</a:t>
            </a:r>
          </a:p>
          <a:p>
            <a:pPr>
              <a:spcBef>
                <a:spcPts val="500"/>
              </a:spcBef>
              <a:spcAft>
                <a:spcPts val="200"/>
              </a:spcAft>
            </a:pPr>
            <a:r>
              <a:rPr sz="2400">
                <a:solidFill>
                  <a:srgbClr val="1A2F2F"/>
                </a:solidFill>
                <a:latin typeface="Segoe UI"/>
              </a:rPr>
              <a:t>  –  Khoang C: Lạc nội mạc sâu ở trực tràng và đại tràng sigma (C1, C2, C3 theo mức độ xâm lấn chu vi và chiều dài đoạn ruột).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Hệ Thống #Enzian — Ý Nghĩa An Toàn Tuyệt Đối Trong Chọc Hút Noãn (OPU)</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316292"/>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Nhận diện 'Đáy chậu đóng băng' (Frozen Pelvis): Khi bệnh nhân có #Enzian B hoặc C nặng kết hợp T3, buồng trứng bị kéo dính chặt ra sau tử cung.</a:t>
            </a:r>
          </a:p>
          <a:p>
            <a:pPr>
              <a:spcBef>
                <a:spcPts val="500"/>
              </a:spcBef>
              <a:spcAft>
                <a:spcPts val="200"/>
              </a:spcAft>
            </a:pPr>
            <a:r>
              <a:rPr sz="2400">
                <a:solidFill>
                  <a:srgbClr val="1A2F2F"/>
                </a:solidFill>
                <a:latin typeface="Segoe UI"/>
              </a:rPr>
              <a:t>  –  Mối nguy trực tràng: Thành trước trực tràng bị kéo dính sát vào mặt sau buồng trứng và cổ tử cung.</a:t>
            </a:r>
          </a:p>
          <a:p>
            <a:pPr>
              <a:spcBef>
                <a:spcPts val="500"/>
              </a:spcBef>
              <a:spcAft>
                <a:spcPts val="200"/>
              </a:spcAft>
            </a:pPr>
            <a:r>
              <a:rPr sz="2400">
                <a:solidFill>
                  <a:srgbClr val="1A2F2F"/>
                </a:solidFill>
                <a:latin typeface="Segoe UI"/>
              </a:rPr>
              <a:t>  –  Nguyên tắc an toàn : Bác sĩ chọc hút noãn bắt buộc phải quan sát rõ ranh giới lòng trực tràng trên siêu âm trước khi tiến kim.</a:t>
            </a:r>
          </a:p>
          <a:p>
            <a:pPr>
              <a:spcBef>
                <a:spcPts val="500"/>
              </a:spcBef>
              <a:spcAft>
                <a:spcPts val="200"/>
              </a:spcAft>
            </a:pPr>
            <a:r>
              <a:rPr sz="2400">
                <a:solidFill>
                  <a:srgbClr val="1A2F2F"/>
                </a:solidFill>
                <a:latin typeface="Segoe UI"/>
              </a:rPr>
              <a:t>  –  Phòng ngừa biến chứng: Tuyệt đối không đâm kim xuyên qua tổn thương khoang C vào ruột, phòng ngừa rò phân và viêm phúc mạc nhiễm trùng huyết.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4973C165-34DE-EF34-7CD1-5833982817DC}"/>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3" name="Picture 2">
            <a:extLst>
              <a:ext uri="{FF2B5EF4-FFF2-40B4-BE49-F238E27FC236}">
                <a16:creationId xmlns:a16="http://schemas.microsoft.com/office/drawing/2014/main" id="{50639DD1-4B8B-5EE9-FB0D-5768365AC821}"/>
              </a:ext>
            </a:extLst>
          </p:cNvPr>
          <p:cNvPicPr>
            <a:picLocks noChangeAspect="1"/>
          </p:cNvPicPr>
          <p:nvPr/>
        </p:nvPicPr>
        <p:blipFill>
          <a:blip r:embed="rId2"/>
          <a:stretch>
            <a:fillRect/>
          </a:stretch>
        </p:blipFill>
        <p:spPr>
          <a:xfrm>
            <a:off x="1252400" y="0"/>
            <a:ext cx="9684024" cy="6858000"/>
          </a:xfrm>
          <a:prstGeom prst="rect">
            <a:avLst/>
          </a:prstGeom>
        </p:spPr>
      </p:pic>
    </p:spTree>
    <p:extLst>
      <p:ext uri="{BB962C8B-B14F-4D97-AF65-F5344CB8AC3E}">
        <p14:creationId xmlns:p14="http://schemas.microsoft.com/office/powerpoint/2010/main" val="15446919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Chụp Cộng Hưởng Từ (Pelvic MRI) — Ưu Thế &amp; Hình Ảnh Vùng Chuyển Tiếp (JZ)</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406061"/>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Tiêu chuẩn vàng hình ảnh: MRI là phương tiện chính xác nhất khảo sát mô mềm vùng chậu, không phụ thuộc thành bụng dày hay kinh nghiệm người làm.</a:t>
            </a:r>
          </a:p>
          <a:p>
            <a:pPr>
              <a:spcBef>
                <a:spcPts val="500"/>
              </a:spcBef>
              <a:spcAft>
                <a:spcPts val="200"/>
              </a:spcAft>
            </a:pPr>
            <a:r>
              <a:rPr sz="2400">
                <a:solidFill>
                  <a:srgbClr val="1A2F2F"/>
                </a:solidFill>
                <a:latin typeface="Segoe UI"/>
              </a:rPr>
              <a:t>  –  Chuỗi xung Sagittal T2-weighted (T2W): Cho phép phân biệt rõ nét 3 tầng cấu trúc thành tử cung.</a:t>
            </a:r>
          </a:p>
          <a:p>
            <a:pPr>
              <a:spcBef>
                <a:spcPts val="500"/>
              </a:spcBef>
              <a:spcAft>
                <a:spcPts val="200"/>
              </a:spcAft>
            </a:pPr>
            <a:r>
              <a:rPr sz="2400">
                <a:solidFill>
                  <a:srgbClr val="1A2F2F"/>
                </a:solidFill>
                <a:latin typeface="Segoe UI"/>
              </a:rPr>
              <a:t>  –  Lớp nội mạc tử cung: Tăng tín hiệu sáng màu trắng trên T2W.</a:t>
            </a:r>
          </a:p>
          <a:p>
            <a:pPr>
              <a:spcBef>
                <a:spcPts val="500"/>
              </a:spcBef>
              <a:spcAft>
                <a:spcPts val="200"/>
              </a:spcAft>
            </a:pPr>
            <a:r>
              <a:rPr sz="2400">
                <a:solidFill>
                  <a:srgbClr val="1A2F2F"/>
                </a:solidFill>
                <a:latin typeface="Segoe UI"/>
              </a:rPr>
              <a:t>  –  Vùng chuyển tiếp (Junctional Zone - JZ): Dải giảm tín hiệu đồng nhất màu đen sẫm bao quanh nội mạc.</a:t>
            </a:r>
          </a:p>
          <a:p>
            <a:pPr>
              <a:spcBef>
                <a:spcPts val="500"/>
              </a:spcBef>
              <a:spcAft>
                <a:spcPts val="200"/>
              </a:spcAft>
            </a:pPr>
            <a:r>
              <a:rPr sz="2400">
                <a:solidFill>
                  <a:srgbClr val="1A2F2F"/>
                </a:solidFill>
                <a:latin typeface="Segoe UI"/>
              </a:rPr>
              <a:t>  –  Lớp cơ ngoài tử cung: Tín hiệu trung gian màu xám.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EPOS™">
            <a:extLst>
              <a:ext uri="{FF2B5EF4-FFF2-40B4-BE49-F238E27FC236}">
                <a16:creationId xmlns:a16="http://schemas.microsoft.com/office/drawing/2014/main" id="{6C99F4F4-12E5-3FD9-7AA4-2FF30697C6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1028" y="128190"/>
            <a:ext cx="8507413" cy="6380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6277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Siêu Âm 3D Ngả Âm Đạo (3D-TVS) — Giá Trị Của Mặt Cắt Đứng Ngang (Coronal Plane)</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82385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Mặt cắt đứng ngang (Coronal plane): Siêu âm 3D cho phép tái tạo mặt cắt đứng ngang buồng tử cung — mặt cắt không thể quan sát trên siêu âm 2D thông thường.</a:t>
            </a:r>
          </a:p>
          <a:p>
            <a:pPr>
              <a:spcBef>
                <a:spcPts val="500"/>
              </a:spcBef>
              <a:spcAft>
                <a:spcPts val="200"/>
              </a:spcAft>
            </a:pPr>
            <a:r>
              <a:rPr sz="2000">
                <a:solidFill>
                  <a:srgbClr val="1A2F2F"/>
                </a:solidFill>
                <a:latin typeface="Segoe UI"/>
              </a:rPr>
              <a:t>  –  Đánh giá ranh giới nội - cơ (EMI): Khảo sát độ sắc nét và tính liên tục của ranh giới giữa nội mạc đáy và lớp cơ JZ.</a:t>
            </a:r>
          </a:p>
          <a:p>
            <a:pPr>
              <a:spcBef>
                <a:spcPts val="500"/>
              </a:spcBef>
              <a:spcAft>
                <a:spcPts val="200"/>
              </a:spcAft>
            </a:pPr>
            <a:r>
              <a:rPr sz="2000">
                <a:solidFill>
                  <a:srgbClr val="1A2F2F"/>
                </a:solidFill>
                <a:latin typeface="Segoe UI"/>
              </a:rPr>
              <a:t>  –  Đo lường JZ đa vị trí: Cho phép đo chính xác độ dày JZ ở vùng đáy tử cung và 2 góc sừng tử cung.</a:t>
            </a:r>
          </a:p>
          <a:p>
            <a:pPr>
              <a:spcBef>
                <a:spcPts val="500"/>
              </a:spcBef>
              <a:spcAft>
                <a:spcPts val="200"/>
              </a:spcAft>
            </a:pPr>
            <a:r>
              <a:rPr sz="2000">
                <a:solidFill>
                  <a:srgbClr val="1A2F2F"/>
                </a:solidFill>
                <a:latin typeface="Segoe UI"/>
              </a:rPr>
              <a:t>  –  Phát hiện xâm lấn sớm: Nhận diện các chồi nội mạc đâm xuyên vào JZ trước khi tử cung bị biến dạng hình cầu.</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istogram of junctional zone (JZ) thickness in patients with and... |  Download Scientific Diagram">
            <a:extLst>
              <a:ext uri="{FF2B5EF4-FFF2-40B4-BE49-F238E27FC236}">
                <a16:creationId xmlns:a16="http://schemas.microsoft.com/office/drawing/2014/main" id="{81C79858-2F64-7763-7A64-146B569CD9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66743"/>
            <a:ext cx="6343196" cy="467076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Junctional zone (uterus) | Radiology Reference Article | Radiopaedia.org">
            <a:extLst>
              <a:ext uri="{FF2B5EF4-FFF2-40B4-BE49-F238E27FC236}">
                <a16:creationId xmlns:a16="http://schemas.microsoft.com/office/drawing/2014/main" id="{19FEC770-B07B-23D6-F5EA-F4E5295C90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8103" y="-88592"/>
            <a:ext cx="4654468" cy="4654468"/>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n this T2-weighted sagittal image of 47-year-old woman, junctional zone...  | Download Scientific Diagram">
            <a:extLst>
              <a:ext uri="{FF2B5EF4-FFF2-40B4-BE49-F238E27FC236}">
                <a16:creationId xmlns:a16="http://schemas.microsoft.com/office/drawing/2014/main" id="{3634AD76-4CB2-35FC-2ED0-2084D2C64E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4139" y="3429000"/>
            <a:ext cx="3907518" cy="3515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243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93</TotalTime>
  <Words>3382</Words>
  <Application>Microsoft Office PowerPoint</Application>
  <PresentationFormat>Custom</PresentationFormat>
  <Paragraphs>132</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Roboto</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Ngọc Hưng Đỗ Văn</cp:lastModifiedBy>
  <cp:revision>4</cp:revision>
  <dcterms:created xsi:type="dcterms:W3CDTF">2013-01-27T09:14:16Z</dcterms:created>
  <dcterms:modified xsi:type="dcterms:W3CDTF">2026-08-23T13:38:35Z</dcterms:modified>
  <cp:category/>
</cp:coreProperties>
</file>