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 Type="http://schemas.openxmlformats.org/officeDocument/2006/relationships/printerSettings" Target="printerSettings/printerSettings1.bin"/><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 Type="http://schemas.openxmlformats.org/officeDocument/2006/relationships/presProps" Target="presProps.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Đem lại góc nhìn toàn diện từ sinh học phân tử đến từng quyết định lâm sàng thực tế trong phòng khám và labo IVF.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32720" cy="3657600"/>
          </a:xfrm>
          <a:prstGeom prst="rect">
            <a:avLst/>
          </a:prstGeom>
          <a:noFill/>
        </p:spPr>
        <p:txBody>
          <a:bodyPr wrap="square">
            <a:spAutoFit/>
          </a:bodyPr>
          <a:lstStyle/>
          <a:p>
            <a:pPr>
              <a:defRPr sz="1300" b="1">
                <a:solidFill>
                  <a:srgbClr val="38BDF8"/>
                </a:solidFill>
              </a:defRPr>
            </a:pPr>
            <a:r>
              <a:t>GIÁO TRÌNH BÀI GIẢNG Y KHOA CHUYÊN SÂU (EBM MASTER DECK)</a:t>
            </a:r>
          </a:p>
          <a:p>
            <a:pPr>
              <a:spcBef>
                <a:spcPts val="1200"/>
              </a:spcBef>
              <a:defRPr sz="2800" b="1">
                <a:solidFill>
                  <a:srgbClr val="F8FAFC"/>
                </a:solidFill>
              </a:defRPr>
            </a:pPr>
            <a:r>
              <a:t>U Lạc Nội Mạc Buồng Trứng &amp; Lạc Nội Mạc Tử Cung Trong Cơ</a:t>
            </a:r>
            <a:br/>
            <a:r>
              <a:t>trong Vô Sinh và Hỗ Trợ Sinh Sản (ART)</a:t>
            </a:r>
          </a:p>
          <a:p>
            <a:pPr>
              <a:spcBef>
                <a:spcPts val="1400"/>
              </a:spcBef>
              <a:defRPr sz="1500">
                <a:solidFill>
                  <a:srgbClr val="94A3B8"/>
                </a:solidFill>
              </a:defRPr>
            </a:pPr>
            <a:r>
              <a:t>Từ Cơ Chế Phân Tử, Hình Ảnh Siêu Âm MUSA / Phim MRI Thực Tế Đến Phác Đồ Can Thiệp Lâm Sàng Cá Thể Hóa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HỖ TRỢ SINH SẢN &amp; PHỤ KHOA LÂM SÀNG</a:t>
            </a:r>
          </a:p>
          <a:p>
            <a:pPr>
              <a:defRPr sz="2100" b="1">
                <a:solidFill>
                  <a:srgbClr val="0F172A"/>
                </a:solidFill>
              </a:defRPr>
            </a:pPr>
            <a:r>
              <a:t>Lộ Trình Bài Giảng: 6 Chương Học Toàn Diện</a:t>
            </a:r>
          </a:p>
        </p:txBody>
      </p:sp>
      <p:sp>
        <p:nvSpPr>
          <p:cNvPr id="3" name="Rounded Rectangle 2"/>
          <p:cNvSpPr/>
          <p:nvPr/>
        </p:nvSpPr>
        <p:spPr>
          <a:xfrm>
            <a:off x="731520" y="1554480"/>
            <a:ext cx="3291840" cy="219456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Chương 1: Cơ Chế Bệnh Sinh</a:t>
            </a:r>
          </a:p>
          <a:p>
            <a:pPr>
              <a:spcBef>
                <a:spcPts val="400"/>
              </a:spcBef>
              <a:defRPr sz="1100">
                <a:solidFill>
                  <a:srgbClr val="334155"/>
                </a:solidFill>
              </a:defRPr>
            </a:pPr>
            <a:r>
              <a:t>• Giải phẫu Vùng chuyển tiếp (JZ).</a:t>
            </a:r>
          </a:p>
          <a:p>
            <a:pPr>
              <a:spcBef>
                <a:spcPts val="400"/>
              </a:spcBef>
              <a:defRPr sz="1100">
                <a:solidFill>
                  <a:srgbClr val="334155"/>
                </a:solidFill>
              </a:defRPr>
            </a:pPr>
            <a:r>
              <a:t>• Cơ chế 'Toxic Follicular Milieu'.</a:t>
            </a:r>
          </a:p>
          <a:p>
            <a:pPr>
              <a:spcBef>
                <a:spcPts val="400"/>
              </a:spcBef>
              <a:defRPr sz="1100">
                <a:solidFill>
                  <a:srgbClr val="334155"/>
                </a:solidFill>
              </a:defRPr>
            </a:pPr>
            <a:r>
              <a:t>• Đề kháng Progesterone &amp; Dysperistalsis.</a:t>
            </a:r>
          </a:p>
        </p:txBody>
      </p:sp>
      <p:sp>
        <p:nvSpPr>
          <p:cNvPr id="4" name="Rounded Rectangle 3"/>
          <p:cNvSpPr/>
          <p:nvPr/>
        </p:nvSpPr>
        <p:spPr>
          <a:xfrm>
            <a:off x="4389120" y="1554480"/>
            <a:ext cx="3291840" cy="219456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Chương 2: Chẩn Đoán Hình Ảnh</a:t>
            </a:r>
          </a:p>
          <a:p>
            <a:pPr>
              <a:spcBef>
                <a:spcPts val="400"/>
              </a:spcBef>
              <a:defRPr sz="1100">
                <a:solidFill>
                  <a:srgbClr val="334155"/>
                </a:solidFill>
              </a:defRPr>
            </a:pPr>
            <a:r>
              <a:t>• Tiêu chuẩn siêu âm MUSA.</a:t>
            </a:r>
          </a:p>
          <a:p>
            <a:pPr>
              <a:spcBef>
                <a:spcPts val="400"/>
              </a:spcBef>
              <a:defRPr sz="1100">
                <a:solidFill>
                  <a:srgbClr val="334155"/>
                </a:solidFill>
              </a:defRPr>
            </a:pPr>
            <a:r>
              <a:t>• Phân loại #Enzian trên TVS.</a:t>
            </a:r>
          </a:p>
          <a:p>
            <a:pPr>
              <a:spcBef>
                <a:spcPts val="400"/>
              </a:spcBef>
              <a:defRPr sz="1100">
                <a:solidFill>
                  <a:srgbClr val="334155"/>
                </a:solidFill>
              </a:defRPr>
            </a:pPr>
            <a:r>
              <a:t>• Đo độ dày JZ trên MRI &amp; 3D TVS.</a:t>
            </a:r>
          </a:p>
        </p:txBody>
      </p:sp>
      <p:sp>
        <p:nvSpPr>
          <p:cNvPr id="5" name="Rounded Rectangle 4"/>
          <p:cNvSpPr/>
          <p:nvPr/>
        </p:nvSpPr>
        <p:spPr>
          <a:xfrm>
            <a:off x="8046720" y="1554480"/>
            <a:ext cx="3383280" cy="219456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91C1C"/>
                </a:solidFill>
              </a:defRPr>
            </a:pPr>
            <a:r>
              <a:t>Chương 3: Quản Lý Endometrioma</a:t>
            </a:r>
          </a:p>
          <a:p>
            <a:pPr>
              <a:spcBef>
                <a:spcPts val="400"/>
              </a:spcBef>
              <a:defRPr sz="1100">
                <a:solidFill>
                  <a:srgbClr val="334155"/>
                </a:solidFill>
              </a:defRPr>
            </a:pPr>
            <a:r>
              <a:t>• Khuyến cáo ESHRE: Không mổ thường quy.</a:t>
            </a:r>
          </a:p>
          <a:p>
            <a:pPr>
              <a:spcBef>
                <a:spcPts val="400"/>
              </a:spcBef>
              <a:defRPr sz="1100">
                <a:solidFill>
                  <a:srgbClr val="334155"/>
                </a:solidFill>
              </a:defRPr>
            </a:pPr>
            <a:r>
              <a:t>• Bảo tồn sinh sản trước mổ.</a:t>
            </a:r>
          </a:p>
          <a:p>
            <a:pPr>
              <a:spcBef>
                <a:spcPts val="400"/>
              </a:spcBef>
              <a:defRPr sz="1100">
                <a:solidFill>
                  <a:srgbClr val="334155"/>
                </a:solidFill>
              </a:defRPr>
            </a:pPr>
            <a:r>
              <a:t>• Kỹ thuật tiêm xơ cồn EST &amp; Laser.</a:t>
            </a:r>
          </a:p>
        </p:txBody>
      </p:sp>
      <p:sp>
        <p:nvSpPr>
          <p:cNvPr id="6" name="Rounded Rectangle 5"/>
          <p:cNvSpPr/>
          <p:nvPr/>
        </p:nvSpPr>
        <p:spPr>
          <a:xfrm>
            <a:off x="731520" y="4023360"/>
            <a:ext cx="3291840" cy="228600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Chương 4: Kích Thích Buồng Trứng</a:t>
            </a:r>
          </a:p>
          <a:p>
            <a:pPr>
              <a:spcBef>
                <a:spcPts val="400"/>
              </a:spcBef>
              <a:defRPr sz="1100">
                <a:solidFill>
                  <a:srgbClr val="334155"/>
                </a:solidFill>
              </a:defRPr>
            </a:pPr>
            <a:r>
              <a:t>• Phác đồ GnRH Antagonist &amp; PPOS.</a:t>
            </a:r>
          </a:p>
          <a:p>
            <a:pPr>
              <a:spcBef>
                <a:spcPts val="400"/>
              </a:spcBef>
              <a:defRPr sz="1100">
                <a:solidFill>
                  <a:srgbClr val="334155"/>
                </a:solidFill>
              </a:defRPr>
            </a:pPr>
            <a:r>
              <a:t>• Kích thích kép DuoStim cho DOR.</a:t>
            </a:r>
          </a:p>
          <a:p>
            <a:pPr>
              <a:spcBef>
                <a:spcPts val="400"/>
              </a:spcBef>
              <a:defRPr sz="1100">
                <a:solidFill>
                  <a:srgbClr val="334155"/>
                </a:solidFill>
              </a:defRPr>
            </a:pPr>
            <a:r>
              <a:t>• An toàn OPU &amp; Xử trí chọc nhầm OMA.</a:t>
            </a:r>
          </a:p>
        </p:txBody>
      </p:sp>
      <p:sp>
        <p:nvSpPr>
          <p:cNvPr id="7" name="Rounded Rectangle 6"/>
          <p:cNvSpPr/>
          <p:nvPr/>
        </p:nvSpPr>
        <p:spPr>
          <a:xfrm>
            <a:off x="4389120" y="4023360"/>
            <a:ext cx="3291840" cy="228600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5803D"/>
                </a:solidFill>
              </a:defRPr>
            </a:pPr>
            <a:r>
              <a:t>Chương 5: Chuẩn Bị Niêm Mạc FET</a:t>
            </a:r>
          </a:p>
          <a:p>
            <a:pPr>
              <a:spcBef>
                <a:spcPts val="400"/>
              </a:spcBef>
              <a:defRPr sz="1100">
                <a:solidFill>
                  <a:srgbClr val="334155"/>
                </a:solidFill>
              </a:defRPr>
            </a:pPr>
            <a:r>
              <a:t>• Chiến lược Freeze-all phôi ngày 5.</a:t>
            </a:r>
          </a:p>
          <a:p>
            <a:pPr>
              <a:spcBef>
                <a:spcPts val="400"/>
              </a:spcBef>
              <a:defRPr sz="1100">
                <a:solidFill>
                  <a:srgbClr val="334155"/>
                </a:solidFill>
              </a:defRPr>
            </a:pPr>
            <a:r>
              <a:t>• Phác đồ Ultra-long GnRHa 2-3 tháng.</a:t>
            </a:r>
          </a:p>
          <a:p>
            <a:pPr>
              <a:spcBef>
                <a:spcPts val="400"/>
              </a:spcBef>
              <a:defRPr sz="1100">
                <a:solidFill>
                  <a:srgbClr val="334155"/>
                </a:solidFill>
              </a:defRPr>
            </a:pPr>
            <a:r>
              <a:t>• Đánh giá lại JZ &amp; Tối ưu hoàng thể LPS.</a:t>
            </a:r>
          </a:p>
        </p:txBody>
      </p:sp>
      <p:sp>
        <p:nvSpPr>
          <p:cNvPr id="8" name="Rounded Rectangle 7"/>
          <p:cNvSpPr/>
          <p:nvPr/>
        </p:nvSpPr>
        <p:spPr>
          <a:xfrm>
            <a:off x="8046720" y="4023360"/>
            <a:ext cx="3383280" cy="228600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Chương 6: Quản Lý Sản Khoa</a:t>
            </a:r>
          </a:p>
          <a:p>
            <a:pPr>
              <a:spcBef>
                <a:spcPts val="400"/>
              </a:spcBef>
              <a:defRPr sz="1100">
                <a:solidFill>
                  <a:srgbClr val="334155"/>
                </a:solidFill>
              </a:defRPr>
            </a:pPr>
            <a:r>
              <a:t>• Dự phòng Tiền sản giật (Aspirin tuần 12).</a:t>
            </a:r>
          </a:p>
          <a:p>
            <a:pPr>
              <a:spcBef>
                <a:spcPts val="400"/>
              </a:spcBef>
              <a:defRPr sz="1100">
                <a:solidFill>
                  <a:srgbClr val="334155"/>
                </a:solidFill>
              </a:defRPr>
            </a:pPr>
            <a:r>
              <a:t>• Tầm soát sinh non &amp; Rau cài răng lược.</a:t>
            </a:r>
          </a:p>
          <a:p>
            <a:pPr>
              <a:spcBef>
                <a:spcPts val="400"/>
              </a:spcBef>
              <a:defRPr sz="1100">
                <a:solidFill>
                  <a:srgbClr val="334155"/>
                </a:solidFill>
              </a:defRPr>
            </a:pPr>
            <a:r>
              <a:t>• Cơ chế đờ tử cung &amp; Băng huyết (PPH).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1: ĐẠI CƯƠNG &amp; CƠ CHẾ BỆNH SINH</a:t>
            </a:r>
          </a:p>
          <a:p>
            <a:pPr>
              <a:defRPr sz="2100" b="1">
                <a:solidFill>
                  <a:srgbClr val="0F172A"/>
                </a:solidFill>
              </a:defRPr>
            </a:pPr>
            <a:r>
              <a:t>Dịch Tễ Học &amp; Gánh Nặng Bệnh Lý Trong Hỗ Trợ Sinh Sản</a:t>
            </a:r>
          </a:p>
        </p:txBody>
      </p:sp>
      <p:sp>
        <p:nvSpPr>
          <p:cNvPr id="3" name="Rounded Rectangle 2"/>
          <p:cNvSpPr/>
          <p:nvPr/>
        </p:nvSpPr>
        <p:spPr>
          <a:xfrm>
            <a:off x="731520" y="1554480"/>
            <a:ext cx="512064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Tỷ Lệ Mắc &amp; Tác Động Toàn Cầu</a:t>
            </a:r>
          </a:p>
          <a:p>
            <a:pPr>
              <a:spcBef>
                <a:spcPts val="400"/>
              </a:spcBef>
              <a:defRPr sz="1100">
                <a:solidFill>
                  <a:srgbClr val="334155"/>
                </a:solidFill>
              </a:defRPr>
            </a:pPr>
            <a:r>
              <a:t>• Lạc nội mạc tử cung (Endometriosis): Xuất hiện ở 10% phụ nữ trong độ tuổi sinh sản và chiếm 30% - 50% phụ nữ vô sinh, hiếm muộn.</a:t>
            </a:r>
          </a:p>
          <a:p>
            <a:pPr>
              <a:spcBef>
                <a:spcPts val="400"/>
              </a:spcBef>
              <a:defRPr sz="1100">
                <a:solidFill>
                  <a:srgbClr val="334155"/>
                </a:solidFill>
              </a:defRPr>
            </a:pPr>
            <a:r>
              <a:t>• U lạc nội mạc buồng trứng (Endometrioma - OMA): Chiếm 17% - 44% bệnh nhân Lạc nội mạc tử cung. Thường là chỉ điểm của tổn thương vùng chậu nặng.</a:t>
            </a:r>
          </a:p>
          <a:p>
            <a:pPr>
              <a:spcBef>
                <a:spcPts val="400"/>
              </a:spcBef>
              <a:defRPr sz="1100">
                <a:solidFill>
                  <a:srgbClr val="334155"/>
                </a:solidFill>
              </a:defRPr>
            </a:pPr>
            <a:r>
              <a:t>• Lạc nội mạc tử cung trong cơ (Adenomyosis): Đồng mắc ở 30% - 40% bệnh nhân lạc nội mạc tử cung sâu (DIE) hoặc u buồng trứng.</a:t>
            </a:r>
          </a:p>
          <a:p>
            <a:pPr>
              <a:spcBef>
                <a:spcPts val="400"/>
              </a:spcBef>
              <a:defRPr sz="1100">
                <a:solidFill>
                  <a:srgbClr val="334155"/>
                </a:solidFill>
              </a:defRPr>
            </a:pPr>
            <a:r>
              <a:t>• 'Bộ đôi thách thức': Khi OMA và Adenomyosis cùng tồn tại, khả năng sinh sản bị tấn công kép: vừa suy giảm chất lượng/số lượng noãn, vừa hỏng cửa sổ làm tổ.</a:t>
            </a:r>
          </a:p>
        </p:txBody>
      </p:sp>
      <p:sp>
        <p:nvSpPr>
          <p:cNvPr id="4" name="Rounded Rectangle 3"/>
          <p:cNvSpPr/>
          <p:nvPr/>
        </p:nvSpPr>
        <p:spPr>
          <a:xfrm>
            <a:off x="6217920" y="1554480"/>
            <a:ext cx="5212080" cy="47548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Sự Chuyển Dịch Quan Điểm Điều Trị (EBM Paradigm Shift)</a:t>
            </a:r>
          </a:p>
          <a:p>
            <a:pPr>
              <a:spcBef>
                <a:spcPts val="400"/>
              </a:spcBef>
              <a:defRPr sz="1100">
                <a:solidFill>
                  <a:srgbClr val="334155"/>
                </a:solidFill>
              </a:defRPr>
            </a:pPr>
            <a:r>
              <a:t>• Quan điểm cũ (Ngoại khoa cổ điển): Thấy u nang buồng trứng là mổ bóc nang; chẩn đoán muộn Adenomyosis sau nhiều lần thất bại chuyển phôi.</a:t>
            </a:r>
          </a:p>
          <a:p>
            <a:pPr>
              <a:spcBef>
                <a:spcPts val="400"/>
              </a:spcBef>
              <a:defRPr sz="1100">
                <a:solidFill>
                  <a:srgbClr val="334155"/>
                </a:solidFill>
              </a:defRPr>
            </a:pPr>
            <a:r>
              <a:t>• Quan điểm Y học chứng cứ hiện đại (EBM 2022 - 2026):</a:t>
            </a:r>
          </a:p>
          <a:p>
            <a:pPr>
              <a:spcBef>
                <a:spcPts val="400"/>
              </a:spcBef>
              <a:defRPr sz="1100">
                <a:solidFill>
                  <a:srgbClr val="334155"/>
                </a:solidFill>
              </a:defRPr>
            </a:pPr>
            <a:r>
              <a:t>  1. Tuyệt đối tránh phẫu thuật bóc nang OMA không cần thiết nhằm bảo toàn dự trữ buồng trứng (AMH/AFC).</a:t>
            </a:r>
          </a:p>
          <a:p>
            <a:pPr>
              <a:spcBef>
                <a:spcPts val="400"/>
              </a:spcBef>
              <a:defRPr sz="1100">
                <a:solidFill>
                  <a:srgbClr val="334155"/>
                </a:solidFill>
              </a:defRPr>
            </a:pPr>
            <a:r>
              <a:t>  2. Tầm soát chủ động Adenomyosis bằng siêu âm TVS chuẩn MUSA trước khi lên kế hoạch chuyển phôi.</a:t>
            </a:r>
          </a:p>
          <a:p>
            <a:pPr>
              <a:spcBef>
                <a:spcPts val="400"/>
              </a:spcBef>
              <a:defRPr sz="1100">
                <a:solidFill>
                  <a:srgbClr val="334155"/>
                </a:solidFill>
              </a:defRPr>
            </a:pPr>
            <a:r>
              <a:t>  3. Ưu tiên bảo tồn sinh sản (Fertility Preservation) trữ đông giao tử/phôi từ sớm.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1: ĐẠI CƯƠNG &amp; CƠ CHẾ BỆNH SINH</a:t>
            </a:r>
          </a:p>
          <a:p>
            <a:pPr>
              <a:defRPr sz="2100" b="1">
                <a:solidFill>
                  <a:srgbClr val="0F172A"/>
                </a:solidFill>
              </a:defRPr>
            </a:pPr>
            <a:r>
              <a:t>Phân Biệt 4 Khái Niệm Bệnh Học Nền Tảng</a:t>
            </a:r>
          </a:p>
        </p:txBody>
      </p:sp>
      <p:sp>
        <p:nvSpPr>
          <p:cNvPr id="3" name="Rounded Rectangle 2"/>
          <p:cNvSpPr/>
          <p:nvPr/>
        </p:nvSpPr>
        <p:spPr>
          <a:xfrm>
            <a:off x="731520" y="1554480"/>
            <a:ext cx="5120640" cy="228600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1. Nội Mạc Bình Thường (Eutopic Endometrium)</a:t>
            </a:r>
          </a:p>
          <a:p>
            <a:pPr>
              <a:spcBef>
                <a:spcPts val="400"/>
              </a:spcBef>
              <a:defRPr sz="1100">
                <a:solidFill>
                  <a:srgbClr val="334155"/>
                </a:solidFill>
              </a:defRPr>
            </a:pPr>
            <a:r>
              <a:t>• Lớp lót trong lòng tử cung, chịu sự kích thích chu kỳ của Estrogen &amp; Progesterone.</a:t>
            </a:r>
          </a:p>
          <a:p>
            <a:pPr>
              <a:spcBef>
                <a:spcPts val="400"/>
              </a:spcBef>
              <a:defRPr sz="1100">
                <a:solidFill>
                  <a:srgbClr val="334155"/>
                </a:solidFill>
              </a:defRPr>
            </a:pPr>
            <a:r>
              <a:t>• Gồm lớp chức năng (bong tróc tạo kinh) và lớp đáy (chứa tế bào gốc).</a:t>
            </a:r>
          </a:p>
        </p:txBody>
      </p:sp>
      <p:sp>
        <p:nvSpPr>
          <p:cNvPr id="4" name="Rounded Rectangle 3"/>
          <p:cNvSpPr/>
          <p:nvPr/>
        </p:nvSpPr>
        <p:spPr>
          <a:xfrm>
            <a:off x="6217920" y="1554480"/>
            <a:ext cx="5212080" cy="228600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2. Lạc Nội Mạc Tử Cung (Endometriosis)</a:t>
            </a:r>
          </a:p>
          <a:p>
            <a:pPr>
              <a:spcBef>
                <a:spcPts val="400"/>
              </a:spcBef>
              <a:defRPr sz="1100">
                <a:solidFill>
                  <a:srgbClr val="334155"/>
                </a:solidFill>
              </a:defRPr>
            </a:pPr>
            <a:r>
              <a:t>• Tuyến và mô đệm nội mạc xuất hiện bên ngoài buồng tử cung (phúc mạc, buồng trứng, vòi trứng, trực tràng).</a:t>
            </a:r>
          </a:p>
          <a:p>
            <a:pPr>
              <a:spcBef>
                <a:spcPts val="400"/>
              </a:spcBef>
              <a:defRPr sz="1100">
                <a:solidFill>
                  <a:srgbClr val="334155"/>
                </a:solidFill>
              </a:defRPr>
            </a:pPr>
            <a:r>
              <a:t>• Chảy máu chu kỳ gây viêm dính vùng chậu mạn tính.</a:t>
            </a:r>
          </a:p>
        </p:txBody>
      </p:sp>
      <p:sp>
        <p:nvSpPr>
          <p:cNvPr id="5" name="Rounded Rectangle 4"/>
          <p:cNvSpPr/>
          <p:nvPr/>
        </p:nvSpPr>
        <p:spPr>
          <a:xfrm>
            <a:off x="731520" y="4023360"/>
            <a:ext cx="5120640" cy="228600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91C1C"/>
                </a:solidFill>
              </a:defRPr>
            </a:pPr>
            <a:r>
              <a:t>3. U Lạc Nội Mạc Buồng Trứng (Endometrioma - OMA)</a:t>
            </a:r>
          </a:p>
          <a:p>
            <a:pPr>
              <a:spcBef>
                <a:spcPts val="400"/>
              </a:spcBef>
              <a:defRPr sz="1100">
                <a:solidFill>
                  <a:srgbClr val="334155"/>
                </a:solidFill>
              </a:defRPr>
            </a:pPr>
            <a:r>
              <a:t>• Nang hình thành do mô nội mạc lạc trong nhu mô buồng trứng chảy máu tích tụ lâu ngày.</a:t>
            </a:r>
          </a:p>
          <a:p>
            <a:pPr>
              <a:spcBef>
                <a:spcPts val="400"/>
              </a:spcBef>
              <a:defRPr sz="1100">
                <a:solidFill>
                  <a:srgbClr val="334155"/>
                </a:solidFill>
              </a:defRPr>
            </a:pPr>
            <a:r>
              <a:t>• Máu thoái hóa tạo dịch sô-cô-la sánh đặc, giàu sắt tự do và ROS.</a:t>
            </a:r>
          </a:p>
        </p:txBody>
      </p:sp>
      <p:sp>
        <p:nvSpPr>
          <p:cNvPr id="6" name="Rounded Rectangle 5"/>
          <p:cNvSpPr/>
          <p:nvPr/>
        </p:nvSpPr>
        <p:spPr>
          <a:xfrm>
            <a:off x="6217920" y="4023360"/>
            <a:ext cx="5212080" cy="228600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4. Lạc Nội Mạc Trong Cơ (Adenomyosis)</a:t>
            </a:r>
          </a:p>
          <a:p>
            <a:pPr>
              <a:spcBef>
                <a:spcPts val="400"/>
              </a:spcBef>
              <a:defRPr sz="1100">
                <a:solidFill>
                  <a:srgbClr val="334155"/>
                </a:solidFill>
              </a:defRPr>
            </a:pPr>
            <a:r>
              <a:t>• Tuyến và mô đệm lớp nội mạc đáy xâm lấn sâu vào trong lớp cơ tử cung (Myometrium).</a:t>
            </a:r>
          </a:p>
          <a:p>
            <a:pPr>
              <a:spcBef>
                <a:spcPts val="400"/>
              </a:spcBef>
              <a:defRPr sz="1100">
                <a:solidFill>
                  <a:srgbClr val="334155"/>
                </a:solidFill>
              </a:defRPr>
            </a:pPr>
            <a:r>
              <a:t>• Kèm theo sự phì đại và xơ hóa sợi cơ xung quanh, phá vỡ vùng chuyển tiếp JZ.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1: CƠ CHẾ BỆNH SINH HỌC</a:t>
            </a:r>
          </a:p>
          <a:p>
            <a:pPr>
              <a:defRPr sz="2100" b="1">
                <a:solidFill>
                  <a:srgbClr val="0F172A"/>
                </a:solidFill>
              </a:defRPr>
            </a:pPr>
            <a:r>
              <a:t>Vùng Chuyển Tiếp (Junctional Zone - JZ) &amp; Đối Chiếu Phim MRI Thật</a:t>
            </a:r>
          </a:p>
        </p:txBody>
      </p:sp>
      <p:sp>
        <p:nvSpPr>
          <p:cNvPr id="3" name="Rounded Rectangle 2"/>
          <p:cNvSpPr/>
          <p:nvPr/>
        </p:nvSpPr>
        <p:spPr>
          <a:xfrm>
            <a:off x="731520" y="1554480"/>
            <a:ext cx="566928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Giải Phẫu &amp; Ý Nghĩa Sinh Lý Bệnh Của JZ</a:t>
            </a:r>
          </a:p>
          <a:p>
            <a:pPr>
              <a:spcBef>
                <a:spcPts val="400"/>
              </a:spcBef>
              <a:defRPr sz="1100">
                <a:solidFill>
                  <a:srgbClr val="334155"/>
                </a:solidFill>
              </a:defRPr>
            </a:pPr>
            <a:r>
              <a:t>• Nguồn gốc phôi thai: JZ (lớp cơ trong) có nguồn gốc từ ống Müller, khác với cơ ngoài nguồn gốc trung mô.</a:t>
            </a:r>
          </a:p>
          <a:p>
            <a:pPr>
              <a:spcBef>
                <a:spcPts val="400"/>
              </a:spcBef>
              <a:defRPr sz="1100">
                <a:solidFill>
                  <a:srgbClr val="334155"/>
                </a:solidFill>
              </a:defRPr>
            </a:pPr>
            <a:r>
              <a:t>• Sinh lý bình thường: Độ dày JZ &lt; 8 mm. Co bóp nhẹ nhàng từ cổ tử cung lên đáy ở pha nang noãn để hút tinh trùng.</a:t>
            </a:r>
          </a:p>
          <a:p>
            <a:pPr>
              <a:spcBef>
                <a:spcPts val="400"/>
              </a:spcBef>
              <a:defRPr sz="1100">
                <a:solidFill>
                  <a:srgbClr val="334155"/>
                </a:solidFill>
              </a:defRPr>
            </a:pPr>
            <a:r>
              <a:t>• Bệnh lý Adenomyosis: JZ bị phá vỡ cấu trúc và phì đại dày bất thường (JZ &gt;= 12 mm hoặc JZ_diff &gt;= 5 mm trên MRI/3D TVS).</a:t>
            </a:r>
          </a:p>
          <a:p>
            <a:pPr>
              <a:spcBef>
                <a:spcPts val="400"/>
              </a:spcBef>
              <a:defRPr sz="1100">
                <a:solidFill>
                  <a:srgbClr val="334155"/>
                </a:solidFill>
              </a:defRPr>
            </a:pPr>
            <a:r>
              <a:t>• Hậu quả: Gây tăng nhu động tử cung bất thường (Dysperistalsis / Hyperperistalsis) tống phôi ra ngoài trước khi kịp làm tổ.</a:t>
            </a:r>
          </a:p>
        </p:txBody>
      </p:sp>
      <p:pic>
        <p:nvPicPr>
          <p:cNvPr id="4" name="Picture 3" descr="real_mri_adenomyosis_thick_jz.jpg"/>
          <p:cNvPicPr>
            <a:picLocks noChangeAspect="1"/>
          </p:cNvPicPr>
          <p:nvPr/>
        </p:nvPicPr>
        <p:blipFill>
          <a:blip r:embed="rId2"/>
          <a:stretch>
            <a:fillRect/>
          </a:stretch>
        </p:blipFill>
        <p:spPr>
          <a:xfrm>
            <a:off x="6675120" y="1554480"/>
            <a:ext cx="4754880" cy="5103915"/>
          </a:xfrm>
          <a:prstGeom prst="rect">
            <a:avLst/>
          </a:prstGeom>
        </p:spPr>
      </p:pic>
      <p:sp>
        <p:nvSpPr>
          <p:cNvPr id="5" name="TextBox 4"/>
          <p:cNvSpPr txBox="1"/>
          <p:nvPr/>
        </p:nvSpPr>
        <p:spPr>
          <a:xfrm>
            <a:off x="6675120" y="5577840"/>
            <a:ext cx="4754880" cy="640080"/>
          </a:xfrm>
          <a:prstGeom prst="rect">
            <a:avLst/>
          </a:prstGeom>
          <a:noFill/>
        </p:spPr>
        <p:txBody>
          <a:bodyPr wrap="square">
            <a:spAutoFit/>
          </a:bodyPr>
          <a:lstStyle/>
          <a:p>
            <a:pPr>
              <a:defRPr sz="1000" i="1">
                <a:solidFill>
                  <a:srgbClr val="64748B"/>
                </a:solidFill>
              </a:defRPr>
            </a:pPr>
            <a:r>
              <a:t>📷 Phim MRI Sagittal T2W thật: Thành sau tử cung dày bất đối xứng, dải đen JZ dày vượt mốc 12 mm (JZmax ≈ 18 mm) chứa nhiều chấm tăng tín hiệu nhỏ.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1: CƠ CHẾ BỆNH SINH HỌC</a:t>
            </a:r>
          </a:p>
          <a:p>
            <a:pPr>
              <a:defRPr sz="2100" b="1">
                <a:solidFill>
                  <a:srgbClr val="0F172A"/>
                </a:solidFill>
              </a:defRPr>
            </a:pPr>
            <a:r>
              <a:t>Endometrioma: Vi Môi Trường Độc Hại &amp; Hình Ảnh Siêu Âm 'Kính Mờ' Thật</a:t>
            </a:r>
          </a:p>
        </p:txBody>
      </p:sp>
      <p:sp>
        <p:nvSpPr>
          <p:cNvPr id="3" name="Rounded Rectangle 2"/>
          <p:cNvSpPr/>
          <p:nvPr/>
        </p:nvSpPr>
        <p:spPr>
          <a:xfrm>
            <a:off x="731520" y="1554480"/>
            <a:ext cx="5669280" cy="47548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Dòng Thác Phản Ứng Fenton &amp; Stress Oxy Hóa</a:t>
            </a:r>
          </a:p>
          <a:p>
            <a:pPr>
              <a:spcBef>
                <a:spcPts val="400"/>
              </a:spcBef>
              <a:defRPr sz="1100">
                <a:solidFill>
                  <a:srgbClr val="334155"/>
                </a:solidFill>
              </a:defRPr>
            </a:pPr>
            <a:r>
              <a:t>• Dịch u sô-cô-la chứa nồng độ Sắt tự do (Fe2+) cực cao từ máu thoái hóa.</a:t>
            </a:r>
          </a:p>
          <a:p>
            <a:pPr>
              <a:spcBef>
                <a:spcPts val="400"/>
              </a:spcBef>
              <a:defRPr sz="1100">
                <a:solidFill>
                  <a:srgbClr val="334155"/>
                </a:solidFill>
              </a:defRPr>
            </a:pPr>
            <a:r>
              <a:t>• Phản ứng Fenton: Fe2+ phản ứng tạo ồ ạt các gốc oxy hóa tự do (ROS) và Cytokine viêm (TNF-alpha, IL-6, IL-8).</a:t>
            </a:r>
          </a:p>
          <a:p>
            <a:pPr>
              <a:spcBef>
                <a:spcPts val="400"/>
              </a:spcBef>
              <a:defRPr sz="1100">
                <a:solidFill>
                  <a:srgbClr val="334155"/>
                </a:solidFill>
              </a:defRPr>
            </a:pPr>
            <a:r>
              <a:t>• Tác động lên noãn: Gây đứt gãy thoi vô sắc, phân mảnh DNA giao tử, làm giảm chất lượng noãn và phôi.</a:t>
            </a:r>
          </a:p>
          <a:p>
            <a:pPr>
              <a:spcBef>
                <a:spcPts val="400"/>
              </a:spcBef>
              <a:defRPr sz="1100">
                <a:solidFill>
                  <a:srgbClr val="334155"/>
                </a:solidFill>
              </a:defRPr>
            </a:pPr>
            <a:r>
              <a:t>• Tác động lên vỏ buồng trứng: Viêm mạn tính gây xơ hóa mô vỏ (Cortical Fibrosis), làm tắc mạch máu nuôi dưỡng và kích hoạt cạn kiệt nang noãn nguyên thủy ('Burnout' effect).</a:t>
            </a:r>
          </a:p>
          <a:p>
            <a:pPr>
              <a:spcBef>
                <a:spcPts val="400"/>
              </a:spcBef>
              <a:defRPr sz="1100">
                <a:solidFill>
                  <a:srgbClr val="334155"/>
                </a:solidFill>
              </a:defRPr>
            </a:pPr>
            <a:r>
              <a:t>• Dẫn đến sụt giảm nhanh nồng độ AMH và số lượng nang thứ cấp AFC.</a:t>
            </a:r>
          </a:p>
        </p:txBody>
      </p:sp>
      <p:pic>
        <p:nvPicPr>
          <p:cNvPr id="4" name="Picture 3" descr="real_us_endometrioma_ground_glass.jpg"/>
          <p:cNvPicPr>
            <a:picLocks noChangeAspect="1"/>
          </p:cNvPicPr>
          <p:nvPr/>
        </p:nvPicPr>
        <p:blipFill>
          <a:blip r:embed="rId2"/>
          <a:stretch>
            <a:fillRect/>
          </a:stretch>
        </p:blipFill>
        <p:spPr>
          <a:xfrm>
            <a:off x="6675120" y="1554480"/>
            <a:ext cx="4754880" cy="3344534"/>
          </a:xfrm>
          <a:prstGeom prst="rect">
            <a:avLst/>
          </a:prstGeom>
        </p:spPr>
      </p:pic>
      <p:sp>
        <p:nvSpPr>
          <p:cNvPr id="5" name="TextBox 4"/>
          <p:cNvSpPr txBox="1"/>
          <p:nvPr/>
        </p:nvSpPr>
        <p:spPr>
          <a:xfrm>
            <a:off x="6675120" y="5577840"/>
            <a:ext cx="4754880" cy="640080"/>
          </a:xfrm>
          <a:prstGeom prst="rect">
            <a:avLst/>
          </a:prstGeom>
          <a:noFill/>
        </p:spPr>
        <p:txBody>
          <a:bodyPr wrap="square">
            <a:spAutoFit/>
          </a:bodyPr>
          <a:lstStyle/>
          <a:p>
            <a:pPr>
              <a:defRPr sz="1000" i="1">
                <a:solidFill>
                  <a:srgbClr val="64748B"/>
                </a:solidFill>
              </a:defRPr>
            </a:pPr>
            <a:r>
              <a:t>📷 Siêu âm TVS thật: Khối u lạc nội mạc buồng trứng (OMA) kích thước lớn với hồi âm kém dạng 'kính mờ' (ground-glass) đồng nhất đặc trưng.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1: CƠ CHẾ BỆNH SINH HỌC</a:t>
            </a:r>
          </a:p>
          <a:p>
            <a:pPr>
              <a:defRPr sz="2100" b="1">
                <a:solidFill>
                  <a:srgbClr val="0F172A"/>
                </a:solidFill>
              </a:defRPr>
            </a:pPr>
            <a:r>
              <a:t>Adenomyosis: Hiện Tượng Đề Kháng Progesterone &amp; Hỏng Cửa Sổ Làm Tổ</a:t>
            </a:r>
          </a:p>
        </p:txBody>
      </p:sp>
      <p:sp>
        <p:nvSpPr>
          <p:cNvPr id="3" name="Rounded Rectangle 2"/>
          <p:cNvSpPr/>
          <p:nvPr/>
        </p:nvSpPr>
        <p:spPr>
          <a:xfrm>
            <a:off x="731520" y="1554480"/>
            <a:ext cx="5120640" cy="475488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91C1C"/>
                </a:solidFill>
              </a:defRPr>
            </a:pPr>
            <a:r>
              <a:t>Cơ Chế Đề Kháng Progesterone (PR-B)</a:t>
            </a:r>
          </a:p>
          <a:p>
            <a:pPr>
              <a:spcBef>
                <a:spcPts val="400"/>
              </a:spcBef>
              <a:defRPr sz="1100">
                <a:solidFill>
                  <a:srgbClr val="334155"/>
                </a:solidFill>
              </a:defRPr>
            </a:pPr>
            <a:r>
              <a:t>• Bình thường: Progesterone gắn thụ thể PR-B để chuyển nội mạc từ tăng sinh sang chế tiết và kích hoạt màng rụng hóa (Decidualization).</a:t>
            </a:r>
          </a:p>
          <a:p>
            <a:pPr>
              <a:spcBef>
                <a:spcPts val="400"/>
              </a:spcBef>
              <a:defRPr sz="1100">
                <a:solidFill>
                  <a:srgbClr val="334155"/>
                </a:solidFill>
              </a:defRPr>
            </a:pPr>
            <a:r>
              <a:t>• Trong Adenomyosis: Suy giảm nghiêm trọng thụ thể PR-B và tăng tỷ lệ thụ thể ức chế PR-A.</a:t>
            </a:r>
          </a:p>
          <a:p>
            <a:pPr>
              <a:spcBef>
                <a:spcPts val="400"/>
              </a:spcBef>
              <a:defRPr sz="1100">
                <a:solidFill>
                  <a:srgbClr val="334155"/>
                </a:solidFill>
              </a:defRPr>
            </a:pPr>
            <a:r>
              <a:t>• Hậu quả: Dù nồng độ Progesterone trong máu rất cao, nội mạc tử cung vẫn 'trơ' và không đáp ứng, làm hỏng quá trình màng rụng hóa.</a:t>
            </a:r>
          </a:p>
          <a:p>
            <a:pPr>
              <a:spcBef>
                <a:spcPts val="400"/>
              </a:spcBef>
              <a:defRPr sz="1100">
                <a:solidFill>
                  <a:srgbClr val="334155"/>
                </a:solidFill>
              </a:defRPr>
            </a:pPr>
            <a:r>
              <a:t>• Suy giảm các phân tử tiếp nhận then chốt của cửa sổ làm tổ (WOI): HOXA10, Leukemia Inhibitory Factor (LIF), và integrin alpha_v_beta_3.</a:t>
            </a:r>
          </a:p>
        </p:txBody>
      </p:sp>
      <p:sp>
        <p:nvSpPr>
          <p:cNvPr id="4" name="Rounded Rectangle 3"/>
          <p:cNvSpPr/>
          <p:nvPr/>
        </p:nvSpPr>
        <p:spPr>
          <a:xfrm>
            <a:off x="6217920" y="1554480"/>
            <a:ext cx="5212080" cy="475488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Tăng Sinh Mạch, Aromatase &amp; Thất Bại Làm Tổ (RIF)</a:t>
            </a:r>
          </a:p>
          <a:p>
            <a:pPr>
              <a:spcBef>
                <a:spcPts val="400"/>
              </a:spcBef>
              <a:defRPr sz="1100">
                <a:solidFill>
                  <a:srgbClr val="334155"/>
                </a:solidFill>
              </a:defRPr>
            </a:pPr>
            <a:r>
              <a:t>• Biểu hiện quá mức enzyme Aromatase tại cơ tử cung (chuyển Androgen thành Estrogen tại chỗ).</a:t>
            </a:r>
          </a:p>
          <a:p>
            <a:pPr>
              <a:spcBef>
                <a:spcPts val="400"/>
              </a:spcBef>
              <a:defRPr sz="1100">
                <a:solidFill>
                  <a:srgbClr val="334155"/>
                </a:solidFill>
              </a:defRPr>
            </a:pPr>
            <a:r>
              <a:t>• Sản xuất thừa Prostaglandin E2 (PGE2) tạo vòng xoắn bệnh lý viêm mạn tính và kích thích u cơ tuyến phát triển.</a:t>
            </a:r>
          </a:p>
          <a:p>
            <a:pPr>
              <a:spcBef>
                <a:spcPts val="400"/>
              </a:spcBef>
              <a:defRPr sz="1100">
                <a:solidFill>
                  <a:srgbClr val="334155"/>
                </a:solidFill>
              </a:defRPr>
            </a:pPr>
            <a:r>
              <a:t>• Bằng chứng EBM (Cozzolino 2022 - PMID: 34981458):</a:t>
            </a:r>
          </a:p>
          <a:p>
            <a:pPr>
              <a:spcBef>
                <a:spcPts val="400"/>
              </a:spcBef>
              <a:defRPr sz="1100">
                <a:solidFill>
                  <a:srgbClr val="334155"/>
                </a:solidFill>
              </a:defRPr>
            </a:pPr>
            <a:r>
              <a:t>  - Giảm tỷ lệ thai lâm sàng: RR = 0.69 (95% CI: 0.59 - 0.81).</a:t>
            </a:r>
          </a:p>
          <a:p>
            <a:pPr>
              <a:spcBef>
                <a:spcPts val="400"/>
              </a:spcBef>
              <a:defRPr sz="1100">
                <a:solidFill>
                  <a:srgbClr val="334155"/>
                </a:solidFill>
              </a:defRPr>
            </a:pPr>
            <a:r>
              <a:t>  - Giảm tỷ lệ trẻ sinh sống: RR = 0.69 (95% CI: 0.51 - 0.94).</a:t>
            </a:r>
          </a:p>
          <a:p>
            <a:pPr>
              <a:spcBef>
                <a:spcPts val="400"/>
              </a:spcBef>
              <a:defRPr sz="1100">
                <a:solidFill>
                  <a:srgbClr val="334155"/>
                </a:solidFill>
              </a:defRPr>
            </a:pPr>
            <a:r>
              <a:t>  - Tăng nguy cơ sảy thai tự nhiên: RR = 2.17 (95% CI: 1.25 - 3.79).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2: CHẨN ĐOÁN HÌNH ẢNH NÂNG CAO</a:t>
            </a:r>
          </a:p>
          <a:p>
            <a:pPr>
              <a:defRPr sz="2100" b="1">
                <a:solidFill>
                  <a:srgbClr val="0F172A"/>
                </a:solidFill>
              </a:defRPr>
            </a:pPr>
            <a:r>
              <a:t>Tiêu Chuẩn Siêu Âm MUSA: Dấu Hiệu 'Bóng Lưng Hình Quạt' Thật</a:t>
            </a:r>
          </a:p>
        </p:txBody>
      </p:sp>
      <p:sp>
        <p:nvSpPr>
          <p:cNvPr id="3" name="Rounded Rectangle 2"/>
          <p:cNvSpPr/>
          <p:nvPr/>
        </p:nvSpPr>
        <p:spPr>
          <a:xfrm>
            <a:off x="731520" y="1554480"/>
            <a:ext cx="566928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Đồng Thuận Quốc Tế MUSA (2015 / 2026)</a:t>
            </a:r>
          </a:p>
          <a:p>
            <a:pPr>
              <a:spcBef>
                <a:spcPts val="400"/>
              </a:spcBef>
              <a:defRPr sz="1100">
                <a:solidFill>
                  <a:srgbClr val="334155"/>
                </a:solidFill>
              </a:defRPr>
            </a:pPr>
            <a:r>
              <a:t>• 4 DẤU HIỆU TRỰC TIẾP (Khẳng định mô bệnh học):</a:t>
            </a:r>
          </a:p>
          <a:p>
            <a:pPr>
              <a:spcBef>
                <a:spcPts val="400"/>
              </a:spcBef>
              <a:defRPr sz="1100">
                <a:solidFill>
                  <a:srgbClr val="334155"/>
                </a:solidFill>
              </a:defRPr>
            </a:pPr>
            <a:r>
              <a:t>  1. Nang cơ tử cung (Myometrial cysts): Ổ trống âm 1-5 mm rải rác.</a:t>
            </a:r>
          </a:p>
          <a:p>
            <a:pPr>
              <a:spcBef>
                <a:spcPts val="400"/>
              </a:spcBef>
              <a:defRPr sz="1100">
                <a:solidFill>
                  <a:srgbClr val="334155"/>
                </a:solidFill>
              </a:defRPr>
            </a:pPr>
            <a:r>
              <a:t>  2. Đảo tăng âm (Hyperechoic islands): Nốt tăng âm từ mô đệm lạc chỗ.</a:t>
            </a:r>
          </a:p>
          <a:p>
            <a:pPr>
              <a:spcBef>
                <a:spcPts val="400"/>
              </a:spcBef>
              <a:defRPr sz="1100">
                <a:solidFill>
                  <a:srgbClr val="334155"/>
                </a:solidFill>
              </a:defRPr>
            </a:pPr>
            <a:r>
              <a:t>  3. Bóng lưng hình quạt (Fan-shaped shadowing / Linear striations): Dải cản âm song song tỏa ra từ cơ xơ hóa.</a:t>
            </a:r>
          </a:p>
          <a:p>
            <a:pPr>
              <a:spcBef>
                <a:spcPts val="400"/>
              </a:spcBef>
              <a:defRPr sz="1100">
                <a:solidFill>
                  <a:srgbClr val="334155"/>
                </a:solidFill>
              </a:defRPr>
            </a:pPr>
            <a:r>
              <a:t>  4. Vệt tăng âm dưới nội mạc (Subendometrial lines/buds).</a:t>
            </a:r>
          </a:p>
          <a:p>
            <a:pPr>
              <a:spcBef>
                <a:spcPts val="400"/>
              </a:spcBef>
              <a:defRPr sz="1100">
                <a:solidFill>
                  <a:srgbClr val="334155"/>
                </a:solidFill>
              </a:defRPr>
            </a:pPr>
            <a:r>
              <a:t>• 3 DẤU HIỆU GIÁN TIẾP (Gợi ý):</a:t>
            </a:r>
          </a:p>
          <a:p>
            <a:pPr>
              <a:spcBef>
                <a:spcPts val="400"/>
              </a:spcBef>
              <a:defRPr sz="1100">
                <a:solidFill>
                  <a:srgbClr val="334155"/>
                </a:solidFill>
              </a:defRPr>
            </a:pPr>
            <a:r>
              <a:t>  1. Thành cơ dày bất đối xứng (&gt; 1.5 - 2 lần).</a:t>
            </a:r>
          </a:p>
          <a:p>
            <a:pPr>
              <a:spcBef>
                <a:spcPts val="400"/>
              </a:spcBef>
              <a:defRPr sz="1100">
                <a:solidFill>
                  <a:srgbClr val="334155"/>
                </a:solidFill>
              </a:defRPr>
            </a:pPr>
            <a:r>
              <a:t>  2. Tử cung to hình cầu (Globular uterus).</a:t>
            </a:r>
          </a:p>
          <a:p>
            <a:pPr>
              <a:spcBef>
                <a:spcPts val="400"/>
              </a:spcBef>
              <a:defRPr sz="1100">
                <a:solidFill>
                  <a:srgbClr val="334155"/>
                </a:solidFill>
              </a:defRPr>
            </a:pPr>
            <a:r>
              <a:t>  3. Mạch máu xuyên cơ (Translesional flow trên Doppler).</a:t>
            </a:r>
          </a:p>
        </p:txBody>
      </p:sp>
      <p:pic>
        <p:nvPicPr>
          <p:cNvPr id="4" name="Picture 3" descr="real_us_adenomyosis_linear_striations.jpg"/>
          <p:cNvPicPr>
            <a:picLocks noChangeAspect="1"/>
          </p:cNvPicPr>
          <p:nvPr/>
        </p:nvPicPr>
        <p:blipFill>
          <a:blip r:embed="rId2"/>
          <a:stretch>
            <a:fillRect/>
          </a:stretch>
        </p:blipFill>
        <p:spPr>
          <a:xfrm>
            <a:off x="6675120" y="1554480"/>
            <a:ext cx="4754880" cy="3536120"/>
          </a:xfrm>
          <a:prstGeom prst="rect">
            <a:avLst/>
          </a:prstGeom>
        </p:spPr>
      </p:pic>
      <p:sp>
        <p:nvSpPr>
          <p:cNvPr id="5" name="TextBox 4"/>
          <p:cNvSpPr txBox="1"/>
          <p:nvPr/>
        </p:nvSpPr>
        <p:spPr>
          <a:xfrm>
            <a:off x="6675120" y="5577840"/>
            <a:ext cx="4754880" cy="640080"/>
          </a:xfrm>
          <a:prstGeom prst="rect">
            <a:avLst/>
          </a:prstGeom>
          <a:noFill/>
        </p:spPr>
        <p:txBody>
          <a:bodyPr wrap="square">
            <a:spAutoFit/>
          </a:bodyPr>
          <a:lstStyle/>
          <a:p>
            <a:pPr>
              <a:defRPr sz="1000" i="1">
                <a:solidFill>
                  <a:srgbClr val="64748B"/>
                </a:solidFill>
              </a:defRPr>
            </a:pPr>
            <a:r>
              <a:t>📷 Siêu âm TVS thật: Lớp nội mạc tăng âm ở giữa tỏa ra các dải sọc tăng âm và bóng lưng hình quạt (linear striations) cắm sâu vào lớp cơ.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2: CHẨN ĐOÁN HÌNH ẢNH NÂNG CAO</a:t>
            </a:r>
          </a:p>
          <a:p>
            <a:pPr>
              <a:defRPr sz="2100" b="1">
                <a:solidFill>
                  <a:srgbClr val="0F172A"/>
                </a:solidFill>
              </a:defRPr>
            </a:pPr>
            <a:r>
              <a:t>Phân Biệt Thể Khu Trú vs Lan Tỏa &amp; Ca Lâm Sàng Chuẩn Bị FET Thật</a:t>
            </a:r>
          </a:p>
        </p:txBody>
      </p:sp>
      <p:sp>
        <p:nvSpPr>
          <p:cNvPr id="3" name="Rounded Rectangle 2"/>
          <p:cNvSpPr/>
          <p:nvPr/>
        </p:nvSpPr>
        <p:spPr>
          <a:xfrm>
            <a:off x="731520" y="1554480"/>
            <a:ext cx="5669280" cy="47548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Phân Nhóm Lâm Sàng Quyết Định Phác Đồ ART</a:t>
            </a:r>
          </a:p>
          <a:p>
            <a:pPr>
              <a:spcBef>
                <a:spcPts val="400"/>
              </a:spcBef>
              <a:defRPr sz="1100">
                <a:solidFill>
                  <a:srgbClr val="334155"/>
                </a:solidFill>
              </a:defRPr>
            </a:pPr>
            <a:r>
              <a:t>• Adenomyosis Khu Trú (Adenomyoma):</a:t>
            </a:r>
          </a:p>
          <a:p>
            <a:pPr>
              <a:spcBef>
                <a:spcPts val="400"/>
              </a:spcBef>
              <a:defRPr sz="1100">
                <a:solidFill>
                  <a:srgbClr val="334155"/>
                </a:solidFill>
              </a:defRPr>
            </a:pPr>
            <a:r>
              <a:t>  - Tổn thương tụ thành khối khu trú, có ranh giới tương đối nhưng không có vỏ bao giả (khác u xơ).</a:t>
            </a:r>
          </a:p>
          <a:p>
            <a:pPr>
              <a:spcBef>
                <a:spcPts val="400"/>
              </a:spcBef>
              <a:defRPr sz="1100">
                <a:solidFill>
                  <a:srgbClr val="334155"/>
                </a:solidFill>
              </a:defRPr>
            </a:pPr>
            <a:r>
              <a:t>  - Ảnh hưởng vừa phải đến làm tổ nếu nằm xa niêm mạc.</a:t>
            </a:r>
          </a:p>
          <a:p>
            <a:pPr>
              <a:spcBef>
                <a:spcPts val="400"/>
              </a:spcBef>
              <a:defRPr sz="1100">
                <a:solidFill>
                  <a:srgbClr val="334155"/>
                </a:solidFill>
              </a:defRPr>
            </a:pPr>
            <a:r>
              <a:t>• Adenomyosis Lan Tỏa (Diffuse Adenomyosis):</a:t>
            </a:r>
          </a:p>
          <a:p>
            <a:pPr>
              <a:spcBef>
                <a:spcPts val="400"/>
              </a:spcBef>
              <a:defRPr sz="1100">
                <a:solidFill>
                  <a:srgbClr val="334155"/>
                </a:solidFill>
              </a:defRPr>
            </a:pPr>
            <a:r>
              <a:t>  - Tổn thương lan rộng toàn bộ thành tử cung, làm biến dạng hoàn toàn tử cung thành hình cầu.</a:t>
            </a:r>
          </a:p>
          <a:p>
            <a:pPr>
              <a:spcBef>
                <a:spcPts val="400"/>
              </a:spcBef>
              <a:defRPr sz="1100">
                <a:solidFill>
                  <a:srgbClr val="334155"/>
                </a:solidFill>
              </a:defRPr>
            </a:pPr>
            <a:r>
              <a:t>  - Là nguyên nhân hàng đầu gây thất bại làm tổ tái phát (RIF) và sảy thai liên tiếp trong ART.</a:t>
            </a:r>
          </a:p>
          <a:p>
            <a:pPr>
              <a:spcBef>
                <a:spcPts val="400"/>
              </a:spcBef>
              <a:defRPr sz="1100">
                <a:solidFill>
                  <a:srgbClr val="334155"/>
                </a:solidFill>
              </a:defRPr>
            </a:pPr>
            <a:r>
              <a:t>  - Bắt buộc phải điều trị hạ điều hòa GnRHa kéo dài trước khi chuyển phôi.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2: CHẨN ĐOÁN HÌNH ẢNH NÂNG CAO</a:t>
            </a:r>
          </a:p>
          <a:p>
            <a:pPr>
              <a:defRPr sz="2100" b="1">
                <a:solidFill>
                  <a:srgbClr val="0F172A"/>
                </a:solidFill>
              </a:defRPr>
            </a:pPr>
            <a:r>
              <a:t>Hệ Thống Phân Loại #Enzian Trên Siêu Âm &amp; Ý Nghĩa Trước OPU</a:t>
            </a:r>
          </a:p>
        </p:txBody>
      </p:sp>
      <p:sp>
        <p:nvSpPr>
          <p:cNvPr id="3" name="Rounded Rectangle 2"/>
          <p:cNvSpPr/>
          <p:nvPr/>
        </p:nvSpPr>
        <p:spPr>
          <a:xfrm>
            <a:off x="731520" y="1554480"/>
            <a:ext cx="5120640" cy="475488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Cấu Trúc Bảng Phân Loại #Enzian (Keckstein 2023)</a:t>
            </a:r>
          </a:p>
          <a:p>
            <a:pPr>
              <a:spcBef>
                <a:spcPts val="400"/>
              </a:spcBef>
              <a:defRPr sz="1100">
                <a:solidFill>
                  <a:srgbClr val="334155"/>
                </a:solidFill>
              </a:defRPr>
            </a:pPr>
            <a:r>
              <a:t>• #Enzian O: Lạc nội mạc buồng trứng (Ovary: O1 &lt; 3cm, O2 = 3-7cm, O3 &gt; 7cm).</a:t>
            </a:r>
          </a:p>
          <a:p>
            <a:pPr>
              <a:spcBef>
                <a:spcPts val="400"/>
              </a:spcBef>
              <a:defRPr sz="1100">
                <a:solidFill>
                  <a:srgbClr val="334155"/>
                </a:solidFill>
              </a:defRPr>
            </a:pPr>
            <a:r>
              <a:t>• #Enzian U: Lạc nội mạc cơ tử cung (Uterus / Adenomyosis).</a:t>
            </a:r>
          </a:p>
          <a:p>
            <a:pPr>
              <a:spcBef>
                <a:spcPts val="400"/>
              </a:spcBef>
              <a:defRPr sz="1100">
                <a:solidFill>
                  <a:srgbClr val="334155"/>
                </a:solidFill>
              </a:defRPr>
            </a:pPr>
            <a:r>
              <a:t>• #Enzian T: Dính vòi trứng - buồng trứng (Tubo-ovarian adhesions).</a:t>
            </a:r>
          </a:p>
          <a:p>
            <a:pPr>
              <a:spcBef>
                <a:spcPts val="400"/>
              </a:spcBef>
              <a:defRPr sz="1100">
                <a:solidFill>
                  <a:srgbClr val="334155"/>
                </a:solidFill>
              </a:defRPr>
            </a:pPr>
            <a:r>
              <a:t>• #Enzian A, B, C (Lạc nội mạc sâu DIE khoang sau):</a:t>
            </a:r>
          </a:p>
          <a:p>
            <a:pPr>
              <a:spcBef>
                <a:spcPts val="400"/>
              </a:spcBef>
              <a:defRPr sz="1100">
                <a:solidFill>
                  <a:srgbClr val="334155"/>
                </a:solidFill>
              </a:defRPr>
            </a:pPr>
            <a:r>
              <a:t>  - Khoang A: Âm đạo và vách trực tràng - âm đạo.</a:t>
            </a:r>
          </a:p>
          <a:p>
            <a:pPr>
              <a:spcBef>
                <a:spcPts val="400"/>
              </a:spcBef>
              <a:defRPr sz="1100">
                <a:solidFill>
                  <a:srgbClr val="334155"/>
                </a:solidFill>
              </a:defRPr>
            </a:pPr>
            <a:r>
              <a:t>  - Khoang B: Dây chằng tử cung - cùng và thành bên chậu.</a:t>
            </a:r>
          </a:p>
          <a:p>
            <a:pPr>
              <a:spcBef>
                <a:spcPts val="400"/>
              </a:spcBef>
              <a:defRPr sz="1100">
                <a:solidFill>
                  <a:srgbClr val="334155"/>
                </a:solidFill>
              </a:defRPr>
            </a:pPr>
            <a:r>
              <a:t>  - Khoang C: Trực tràng và đại tràng sigma.</a:t>
            </a:r>
          </a:p>
        </p:txBody>
      </p:sp>
      <p:sp>
        <p:nvSpPr>
          <p:cNvPr id="4" name="Rounded Rectangle 3"/>
          <p:cNvSpPr/>
          <p:nvPr/>
        </p:nvSpPr>
        <p:spPr>
          <a:xfrm>
            <a:off x="6217920" y="1554480"/>
            <a:ext cx="5212080" cy="475488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91C1C"/>
                </a:solidFill>
              </a:defRPr>
            </a:pPr>
            <a:r>
              <a:t>Ý Nghĩa Lâm Sàng Khi Chọc Hút Noãn (OPU)</a:t>
            </a:r>
          </a:p>
          <a:p>
            <a:pPr>
              <a:spcBef>
                <a:spcPts val="400"/>
              </a:spcBef>
              <a:defRPr sz="1100">
                <a:solidFill>
                  <a:srgbClr val="334155"/>
                </a:solidFill>
              </a:defRPr>
            </a:pPr>
            <a:r>
              <a:t>• Bệnh nhân có #Enzian B hoặc C nặng (Frozen Pelvis - Đáy chậu đóng băng):</a:t>
            </a:r>
          </a:p>
          <a:p>
            <a:pPr>
              <a:spcBef>
                <a:spcPts val="400"/>
              </a:spcBef>
              <a:defRPr sz="1100">
                <a:solidFill>
                  <a:srgbClr val="334155"/>
                </a:solidFill>
              </a:defRPr>
            </a:pPr>
            <a:r>
              <a:t>  1. Buồng trứng thường bị kéo dính chặt vào mặt sau tử cung hoặc dính sát vào thành trực tràng.</a:t>
            </a:r>
          </a:p>
          <a:p>
            <a:pPr>
              <a:spcBef>
                <a:spcPts val="400"/>
              </a:spcBef>
              <a:defRPr sz="1100">
                <a:solidFill>
                  <a:srgbClr val="334155"/>
                </a:solidFill>
              </a:defRPr>
            </a:pPr>
            <a:r>
              <a:t>  2. Mất dấu hiệu trượt ('Sliding sign' âm tính) giữa tử cung và trực tràng.</a:t>
            </a:r>
          </a:p>
          <a:p>
            <a:pPr>
              <a:spcBef>
                <a:spcPts val="400"/>
              </a:spcBef>
              <a:defRPr sz="1100">
                <a:solidFill>
                  <a:srgbClr val="334155"/>
                </a:solidFill>
              </a:defRPr>
            </a:pPr>
            <a:r>
              <a:t>  3. Cảnh báo an toàn: Bác sĩ chọc hút noãn phải xác định cực kỳ rõ ranh giới trực tràng trên siêu âm để tránh đâm kim xuyên vào lòng ruột gây viêm phúc mạc / nhiễm trùng huyết.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3: QUẢN LÝ ENDOMETRIOMA TRƯỚC ART</a:t>
            </a:r>
          </a:p>
          <a:p>
            <a:pPr>
              <a:defRPr sz="2100" b="1">
                <a:solidFill>
                  <a:srgbClr val="0F172A"/>
                </a:solidFill>
              </a:defRPr>
            </a:pPr>
            <a:r>
              <a:t>Quản Lý Endometrioma: Tại Sao ESHRE Khuyên 'Không Mổ Thường Quy'?</a:t>
            </a:r>
          </a:p>
        </p:txBody>
      </p:sp>
      <p:sp>
        <p:nvSpPr>
          <p:cNvPr id="3" name="Rounded Rectangle 2"/>
          <p:cNvSpPr/>
          <p:nvPr/>
        </p:nvSpPr>
        <p:spPr>
          <a:xfrm>
            <a:off x="731520" y="1554480"/>
            <a:ext cx="5120640" cy="475488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91C1C"/>
                </a:solidFill>
              </a:defRPr>
            </a:pPr>
            <a:r>
              <a:t>Bản Chất Kỹ Thuật Bóc Nang (Stripping Cystectomy)</a:t>
            </a:r>
          </a:p>
          <a:p>
            <a:pPr>
              <a:spcBef>
                <a:spcPts val="400"/>
              </a:spcBef>
              <a:defRPr sz="1100">
                <a:solidFill>
                  <a:srgbClr val="334155"/>
                </a:solidFill>
              </a:defRPr>
            </a:pPr>
            <a:r>
              <a:t>• Vỏ nang OMA không có ranh giới tự nhiên rõ ràng với nhu mô buồng trứng lành.</a:t>
            </a:r>
          </a:p>
          <a:p>
            <a:pPr>
              <a:spcBef>
                <a:spcPts val="400"/>
              </a:spcBef>
              <a:defRPr sz="1100">
                <a:solidFill>
                  <a:srgbClr val="334155"/>
                </a:solidFill>
              </a:defRPr>
            </a:pPr>
            <a:r>
              <a:t>• Khi bóc tách vỏ nang (stripping), phẫu thuật viên vô tình tước đi một dải mô buồng trứng lành bám chặt theo vỏ u.</a:t>
            </a:r>
          </a:p>
          <a:p>
            <a:pPr>
              <a:spcBef>
                <a:spcPts val="400"/>
              </a:spcBef>
              <a:defRPr sz="1100">
                <a:solidFill>
                  <a:srgbClr val="334155"/>
                </a:solidFill>
              </a:defRPr>
            </a:pPr>
            <a:r>
              <a:t>• Mô bệnh học: Trong &gt; 90% mảnh vỏ u bóc ra đều chứa các nang noãn nguyên thủy lành lặn.</a:t>
            </a:r>
          </a:p>
          <a:p>
            <a:pPr>
              <a:spcBef>
                <a:spcPts val="400"/>
              </a:spcBef>
              <a:defRPr sz="1100">
                <a:solidFill>
                  <a:srgbClr val="334155"/>
                </a:solidFill>
              </a:defRPr>
            </a:pPr>
            <a:r>
              <a:t>• Đốt điện cầm máu (Bipolar): Làm cháy và tắc nghẽn toàn bộ vi mạch rốn buồng trứng, khiến mô buồng trứng còn lại bị thiếu máu nuôi và teo xơ.</a:t>
            </a:r>
          </a:p>
        </p:txBody>
      </p:sp>
      <p:sp>
        <p:nvSpPr>
          <p:cNvPr id="4" name="Rounded Rectangle 3"/>
          <p:cNvSpPr/>
          <p:nvPr/>
        </p:nvSpPr>
        <p:spPr>
          <a:xfrm>
            <a:off x="6217920" y="1554480"/>
            <a:ext cx="521208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Bằng Chứng Y Học Chứng Cứ (EBM Evidence)</a:t>
            </a:r>
          </a:p>
          <a:p>
            <a:pPr>
              <a:spcBef>
                <a:spcPts val="400"/>
              </a:spcBef>
              <a:defRPr sz="1100">
                <a:solidFill>
                  <a:srgbClr val="334155"/>
                </a:solidFill>
              </a:defRPr>
            </a:pPr>
            <a:r>
              <a:t>• ESHRE Guideline 2022 (PMID: 35350465): Không phẫu thuật bóc OMA thường quy trước IVF chỉ nhằm mục đích tăng tỷ lệ thai.</a:t>
            </a:r>
          </a:p>
          <a:p>
            <a:pPr>
              <a:spcBef>
                <a:spcPts val="400"/>
              </a:spcBef>
              <a:defRPr sz="1100">
                <a:solidFill>
                  <a:srgbClr val="334155"/>
                </a:solidFill>
              </a:defRPr>
            </a:pPr>
            <a:r>
              <a:t>• Muzii et al. 2014 (PMID: 25085800): Phẫu thuật bóc nang làm giảm có ý nghĩa thống kê số nang AFC so với buồng trứng đối bên.</a:t>
            </a:r>
          </a:p>
          <a:p>
            <a:pPr>
              <a:spcBef>
                <a:spcPts val="400"/>
              </a:spcBef>
              <a:defRPr sz="1100">
                <a:solidFill>
                  <a:srgbClr val="334155"/>
                </a:solidFill>
              </a:defRPr>
            </a:pPr>
            <a:r>
              <a:t>• Riemma et al. 2026 (PMID: 41447907): Bóc OMA làm giảm AMH trung bình 0.57 ng/mL, giảm 1.24 noãn thu được mà KHÔNG làm tăng tỷ lệ sinh sống (LBR OR 0.89).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3: QUẢN LÝ ENDOMETRIOMA TRƯỚC ART</a:t>
            </a:r>
          </a:p>
          <a:p>
            <a:pPr>
              <a:defRPr sz="2100" b="1">
                <a:solidFill>
                  <a:srgbClr val="0F172A"/>
                </a:solidFill>
              </a:defRPr>
            </a:pPr>
            <a:r>
              <a:t>Chỉ Định Mổ Chọn Lọc &amp; Bảo Tồn Sinh Sản Trước Phẫu Thuật</a:t>
            </a:r>
          </a:p>
        </p:txBody>
      </p:sp>
      <p:sp>
        <p:nvSpPr>
          <p:cNvPr id="3" name="Rounded Rectangle 2"/>
          <p:cNvSpPr/>
          <p:nvPr/>
        </p:nvSpPr>
        <p:spPr>
          <a:xfrm>
            <a:off x="731520" y="1554480"/>
            <a:ext cx="5120640" cy="47548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4 Chỉ Định Phẫu Thuật Rõ Ràng</a:t>
            </a:r>
          </a:p>
          <a:p>
            <a:pPr>
              <a:spcBef>
                <a:spcPts val="400"/>
              </a:spcBef>
              <a:defRPr sz="1100">
                <a:solidFill>
                  <a:srgbClr val="334155"/>
                </a:solidFill>
              </a:defRPr>
            </a:pPr>
            <a:r>
              <a:t>1. Cấp cứu ngoại khoa: Xoắn buồng trứng hoặc vỡ nang OMA gây viêm phúc mạc cấp tính.</a:t>
            </a:r>
          </a:p>
          <a:p>
            <a:pPr>
              <a:spcBef>
                <a:spcPts val="400"/>
              </a:spcBef>
              <a:defRPr sz="1100">
                <a:solidFill>
                  <a:srgbClr val="334155"/>
                </a:solidFill>
              </a:defRPr>
            </a:pPr>
            <a:r>
              <a:t>2. Nghi ngờ u ác tính: U có chồi sùi, tăng sinh mạch máu Doppler (IOTA score 3-4), tăng kích thước nhanh ở phụ nữ &gt; 40 tuổi.</a:t>
            </a:r>
          </a:p>
          <a:p>
            <a:pPr>
              <a:spcBef>
                <a:spcPts val="400"/>
              </a:spcBef>
              <a:defRPr sz="1100">
                <a:solidFill>
                  <a:srgbClr val="334155"/>
                </a:solidFill>
              </a:defRPr>
            </a:pPr>
            <a:r>
              <a:t>3. Đau vùng chậu dữ dội kháng trị: Đau bụng kinh nặng, đau khi giao hợp sâu không đáp ứng thuốc nội khoa.</a:t>
            </a:r>
          </a:p>
          <a:p>
            <a:pPr>
              <a:spcBef>
                <a:spcPts val="400"/>
              </a:spcBef>
              <a:defRPr sz="1100">
                <a:solidFill>
                  <a:srgbClr val="334155"/>
                </a:solidFill>
              </a:defRPr>
            </a:pPr>
            <a:r>
              <a:t>4. Trở ngại cơ học cho OPU: U nang quá lớn (&gt; 5-6 cm) che khuất toàn bộ buồng trứng làm không thể tiếp cận các nang noãn lành.</a:t>
            </a:r>
          </a:p>
        </p:txBody>
      </p:sp>
      <p:sp>
        <p:nvSpPr>
          <p:cNvPr id="4" name="Rounded Rectangle 3"/>
          <p:cNvSpPr/>
          <p:nvPr/>
        </p:nvSpPr>
        <p:spPr>
          <a:xfrm>
            <a:off x="6217920" y="1554480"/>
            <a:ext cx="5212080" cy="475488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5803D"/>
                </a:solidFill>
              </a:defRPr>
            </a:pPr>
            <a:r>
              <a:t>Bảo Tồn Sinh Sản (Fertility Preservation) - Clinical Pearl</a:t>
            </a:r>
          </a:p>
          <a:p>
            <a:pPr>
              <a:spcBef>
                <a:spcPts val="400"/>
              </a:spcBef>
              <a:defRPr sz="1100">
                <a:solidFill>
                  <a:srgbClr val="334155"/>
                </a:solidFill>
              </a:defRPr>
            </a:pPr>
            <a:r>
              <a:t>• Nguyên tắc vàng: Ở bệnh nhân trẻ tuổi chưa có con, có u OMA 2 bên hoặc AMH đang suy giảm nhanh nhưng bắt buộc phải phẫu thuật:</a:t>
            </a:r>
          </a:p>
          <a:p>
            <a:pPr>
              <a:spcBef>
                <a:spcPts val="400"/>
              </a:spcBef>
              <a:defRPr sz="1100">
                <a:solidFill>
                  <a:srgbClr val="334155"/>
                </a:solidFill>
              </a:defRPr>
            </a:pPr>
            <a:r>
              <a:t>• BẮT BUỘC TƯ VẤN: Kích thích buồng trứng và Trữ đông noãn hoặc phôi TRƯỚC KHI bước vào phòng mổ.</a:t>
            </a:r>
          </a:p>
          <a:p>
            <a:pPr>
              <a:spcBef>
                <a:spcPts val="400"/>
              </a:spcBef>
              <a:defRPr sz="1100">
                <a:solidFill>
                  <a:srgbClr val="334155"/>
                </a:solidFill>
              </a:defRPr>
            </a:pPr>
            <a:r>
              <a:t>• Ý nghĩa: Đảm bảo người phụ nữ vẫn giữ được nguồn giao tử/phôi chất lượng cao ngay cả khi buồng trứng bị suy giảm chức năng sau phẫu thuật.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3: QUẢN LÝ ENDOMETRIOMA TRƯỚC ART</a:t>
            </a:r>
          </a:p>
          <a:p>
            <a:pPr>
              <a:defRPr sz="2100" b="1">
                <a:solidFill>
                  <a:srgbClr val="0F172A"/>
                </a:solidFill>
              </a:defRPr>
            </a:pPr>
            <a:r>
              <a:t>Kỹ Thuật Tiêm Xơ Cồn (EST) &amp; Bốc Hơi Laser CO2 Bảo Tồn AMH</a:t>
            </a:r>
          </a:p>
        </p:txBody>
      </p:sp>
      <p:sp>
        <p:nvSpPr>
          <p:cNvPr id="3" name="Rounded Rectangle 2"/>
          <p:cNvSpPr/>
          <p:nvPr/>
        </p:nvSpPr>
        <p:spPr>
          <a:xfrm>
            <a:off x="731520" y="1554480"/>
            <a:ext cx="5120640" cy="475488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5803D"/>
                </a:solidFill>
              </a:defRPr>
            </a:pPr>
            <a:r>
              <a:t>Quy Trình 4 Bước Tiêm Xơ Cồn (EST)</a:t>
            </a:r>
          </a:p>
          <a:p>
            <a:pPr>
              <a:spcBef>
                <a:spcPts val="400"/>
              </a:spcBef>
              <a:defRPr sz="1100">
                <a:solidFill>
                  <a:srgbClr val="334155"/>
                </a:solidFill>
              </a:defRPr>
            </a:pPr>
            <a:r>
              <a:t>1. Chọc hút sạch dịch: Hút triệt để toàn bộ dịch sô-cô-la qua ngả âm đạo dưới hướng dẫn siêu âm.</a:t>
            </a:r>
          </a:p>
          <a:p>
            <a:pPr>
              <a:spcBef>
                <a:spcPts val="400"/>
              </a:spcBef>
              <a:defRPr sz="1100">
                <a:solidFill>
                  <a:srgbClr val="334155"/>
                </a:solidFill>
              </a:defRPr>
            </a:pPr>
            <a:r>
              <a:t>2. Bơm rửa sạch lòng nang: Bơm rửa bằng nước muối sinh lý NaCl 0.9% 2-3 lần đến khi dịch trong.</a:t>
            </a:r>
          </a:p>
          <a:p>
            <a:pPr>
              <a:spcBef>
                <a:spcPts val="400"/>
              </a:spcBef>
              <a:defRPr sz="1100">
                <a:solidFill>
                  <a:srgbClr val="334155"/>
                </a:solidFill>
              </a:defRPr>
            </a:pPr>
            <a:r>
              <a:t>3. Bơm cồn 95-99%: Bơm cồn y tế (thể tích ~ 60-80% lượng dịch hút ra), ngâm lưu trong nang 10 - 15 phút.</a:t>
            </a:r>
          </a:p>
          <a:p>
            <a:pPr>
              <a:spcBef>
                <a:spcPts val="400"/>
              </a:spcBef>
              <a:defRPr sz="1100">
                <a:solidFill>
                  <a:srgbClr val="334155"/>
                </a:solidFill>
              </a:defRPr>
            </a:pPr>
            <a:r>
              <a:t>4. Hút cạn cồn: Hút sạch toàn bộ cồn ra ngoài, không để rò rỉ vào ổ bụng.</a:t>
            </a:r>
          </a:p>
          <a:p>
            <a:pPr>
              <a:spcBef>
                <a:spcPts val="400"/>
              </a:spcBef>
              <a:defRPr sz="1100">
                <a:solidFill>
                  <a:srgbClr val="334155"/>
                </a:solidFill>
              </a:defRPr>
            </a:pPr>
            <a:r>
              <a:t>• Cơ chế: Cồn làm đông vón protein và phá hủy tế bào nội mạc chế tiết mà không tước đi mô buồng trứng lành.</a:t>
            </a:r>
          </a:p>
        </p:txBody>
      </p:sp>
      <p:sp>
        <p:nvSpPr>
          <p:cNvPr id="4" name="Rounded Rectangle 3"/>
          <p:cNvSpPr/>
          <p:nvPr/>
        </p:nvSpPr>
        <p:spPr>
          <a:xfrm>
            <a:off x="6217920" y="1554480"/>
            <a:ext cx="521208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Bằng Chứng EBM Về Bảo Tồn AMH</a:t>
            </a:r>
          </a:p>
          <a:p>
            <a:pPr>
              <a:spcBef>
                <a:spcPts val="400"/>
              </a:spcBef>
              <a:defRPr sz="1100">
                <a:solidFill>
                  <a:srgbClr val="334155"/>
                </a:solidFill>
              </a:defRPr>
            </a:pPr>
            <a:r>
              <a:t>• Bennet et al. 2026 (PMID: 42471696): Tiêm xơ cồn EST giúp bảo tồn nồng độ AMH tốt hơn rõ rệt và thu được số noãn cao hơn trong các chu kỳ IVF tiếp theo so với bóc nang.</a:t>
            </a:r>
          </a:p>
          <a:p>
            <a:pPr>
              <a:spcBef>
                <a:spcPts val="400"/>
              </a:spcBef>
              <a:defRPr sz="1100">
                <a:solidFill>
                  <a:srgbClr val="334155"/>
                </a:solidFill>
              </a:defRPr>
            </a:pPr>
            <a:r>
              <a:t>• Zhang et al. 2022 (PMID: 36334993): Bốc hơi lòng nang bằng Laser CO2 hoặc Plasma chỉ hủy lớp niêm mạc nông (1-2 mm), duy trì AMH sau mổ cao hơn nhiều so với bóc vỏ nang kết hợp đốt điện.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4: KÍCH THÍCH BUỒNG TRỨNG (COS)</a:t>
            </a:r>
          </a:p>
          <a:p>
            <a:pPr>
              <a:defRPr sz="2100" b="1">
                <a:solidFill>
                  <a:srgbClr val="0F172A"/>
                </a:solidFill>
              </a:defRPr>
            </a:pPr>
            <a:r>
              <a:t>Kích Thích Buồng Trứng: Phác Đồ Antagonist Linh Hoạt &amp; PPOS</a:t>
            </a:r>
          </a:p>
        </p:txBody>
      </p:sp>
      <p:sp>
        <p:nvSpPr>
          <p:cNvPr id="3" name="Rounded Rectangle 2"/>
          <p:cNvSpPr/>
          <p:nvPr/>
        </p:nvSpPr>
        <p:spPr>
          <a:xfrm>
            <a:off x="731520" y="1554480"/>
            <a:ext cx="512064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Phác Đồ GnRH Antagonist Linh Hoạt</a:t>
            </a:r>
          </a:p>
          <a:p>
            <a:pPr>
              <a:spcBef>
                <a:spcPts val="400"/>
              </a:spcBef>
              <a:defRPr sz="1100">
                <a:solidFill>
                  <a:srgbClr val="334155"/>
                </a:solidFill>
              </a:defRPr>
            </a:pPr>
            <a:r>
              <a:t>• Bắt đầu tiêm Gonadotropin (phối hợp rFSH + hMG để bổ sung hoạt tính LH cho bệnh nhân LNMTC) từ ngày 2-3 chu kỳ.</a:t>
            </a:r>
          </a:p>
          <a:p>
            <a:pPr>
              <a:spcBef>
                <a:spcPts val="400"/>
              </a:spcBef>
              <a:defRPr sz="1100">
                <a:solidFill>
                  <a:srgbClr val="334155"/>
                </a:solidFill>
              </a:defRPr>
            </a:pPr>
            <a:r>
              <a:t>• Bắt đầu tiêm GnRH Antagonist (0.25 mg/ngày) khi nang vượt trội đạt &gt;= 14 mm hoặc E2 &gt; 500 pg/mL.</a:t>
            </a:r>
          </a:p>
          <a:p>
            <a:pPr>
              <a:spcBef>
                <a:spcPts val="400"/>
              </a:spcBef>
              <a:defRPr sz="1100">
                <a:solidFill>
                  <a:srgbClr val="334155"/>
                </a:solidFill>
              </a:defRPr>
            </a:pPr>
            <a:r>
              <a:t>• Trưởng thành noãn (Trigger) bằng GnRH Agonist (Triptorelin 0.2 mg) kết hợp Freeze-all để triệt tiêu hoàn toàn nguy cơ Quá kích buồng trứng (OHSS).</a:t>
            </a:r>
          </a:p>
        </p:txBody>
      </p:sp>
      <p:sp>
        <p:nvSpPr>
          <p:cNvPr id="4" name="Rounded Rectangle 3"/>
          <p:cNvSpPr/>
          <p:nvPr/>
        </p:nvSpPr>
        <p:spPr>
          <a:xfrm>
            <a:off x="6217920" y="1554480"/>
            <a:ext cx="5212080" cy="475488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Phác Đồ PPOS (Progestin-Primed Ovarian Stimulation)</a:t>
            </a:r>
          </a:p>
          <a:p>
            <a:pPr>
              <a:spcBef>
                <a:spcPts val="400"/>
              </a:spcBef>
              <a:defRPr sz="1100">
                <a:solidFill>
                  <a:srgbClr val="334155"/>
                </a:solidFill>
              </a:defRPr>
            </a:pPr>
            <a:r>
              <a:t>• Sử dụng Progestin đường uống (Medroxyprogesterone 10 mg/ngày hoặc Dydrogesterone 20 mg/ngày) ngay từ ngày đầu kích trứng cùng Gonadotropin.</a:t>
            </a:r>
          </a:p>
          <a:p>
            <a:pPr>
              <a:spcBef>
                <a:spcPts val="400"/>
              </a:spcBef>
              <a:defRPr sz="1100">
                <a:solidFill>
                  <a:srgbClr val="334155"/>
                </a:solidFill>
              </a:defRPr>
            </a:pPr>
            <a:r>
              <a:t>• Progestin ức chế hiệu quả đỉnh LH sớm mà không cần tiêm Antagonist.</a:t>
            </a:r>
          </a:p>
          <a:p>
            <a:pPr>
              <a:spcBef>
                <a:spcPts val="400"/>
              </a:spcBef>
              <a:defRPr sz="1100">
                <a:solidFill>
                  <a:srgbClr val="334155"/>
                </a:solidFill>
              </a:defRPr>
            </a:pPr>
            <a:r>
              <a:t>• Ưu điểm: Chi phí thấp, giảm số mũi tiêm, rất thuận tiện cho bệnh nhân Endometriosis gom noãn/phôi Freeze-all.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4: KÍCH THÍCH BUỒNG TRỨNG (COS)</a:t>
            </a:r>
          </a:p>
          <a:p>
            <a:pPr>
              <a:defRPr sz="2100" b="1">
                <a:solidFill>
                  <a:srgbClr val="0F172A"/>
                </a:solidFill>
              </a:defRPr>
            </a:pPr>
            <a:r>
              <a:t>Phác Đồ DuoStim: Gom Noãn Khẩn Cấp Cho Bệnh Nhân DOR</a:t>
            </a:r>
          </a:p>
        </p:txBody>
      </p:sp>
      <p:sp>
        <p:nvSpPr>
          <p:cNvPr id="3" name="Rounded Rectangle 2"/>
          <p:cNvSpPr/>
          <p:nvPr/>
        </p:nvSpPr>
        <p:spPr>
          <a:xfrm>
            <a:off x="731520" y="1554480"/>
            <a:ext cx="5120640" cy="475488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Lược Đồ 2 Đợt Kích Trứng Trong 1 Chu Kỳ</a:t>
            </a:r>
          </a:p>
          <a:p>
            <a:pPr>
              <a:spcBef>
                <a:spcPts val="400"/>
              </a:spcBef>
              <a:defRPr sz="1100">
                <a:solidFill>
                  <a:srgbClr val="334155"/>
                </a:solidFill>
              </a:defRPr>
            </a:pPr>
            <a:r>
              <a:t>• Đợt 1 (Pha nang noãn - FPS): Kích trứng từ ngày 2-3 chu kỳ -&gt; Trigger Agonist -&gt; Chọc hút noãn đợt 1 (OPU-1).</a:t>
            </a:r>
          </a:p>
          <a:p>
            <a:pPr>
              <a:spcBef>
                <a:spcPts val="400"/>
              </a:spcBef>
              <a:defRPr sz="1100">
                <a:solidFill>
                  <a:srgbClr val="334155"/>
                </a:solidFill>
              </a:defRPr>
            </a:pPr>
            <a:r>
              <a:t>• Đợt 2 (Pha hoàng thể - LPS): Nghỉ 2-5 ngày sau OPU-1, bắt đầu kích trứng đợt 2 ngay trong pha hoàng thể -&gt; Trigger -&gt; Chọc hút noãn đợt 2 (OPU-2).</a:t>
            </a:r>
          </a:p>
          <a:p>
            <a:pPr>
              <a:spcBef>
                <a:spcPts val="400"/>
              </a:spcBef>
              <a:defRPr sz="1100">
                <a:solidFill>
                  <a:srgbClr val="334155"/>
                </a:solidFill>
              </a:defRPr>
            </a:pPr>
            <a:r>
              <a:t>• Toàn bộ noãn thu được thụ tinh ICSI, nuôi cấy phôi ngày 5 và Freeze-all.</a:t>
            </a:r>
          </a:p>
        </p:txBody>
      </p:sp>
      <p:sp>
        <p:nvSpPr>
          <p:cNvPr id="4" name="Rounded Rectangle 3"/>
          <p:cNvSpPr/>
          <p:nvPr/>
        </p:nvSpPr>
        <p:spPr>
          <a:xfrm>
            <a:off x="6217920" y="1554480"/>
            <a:ext cx="5212080" cy="475488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5803D"/>
                </a:solidFill>
              </a:defRPr>
            </a:pPr>
            <a:r>
              <a:t>Giá Trị Cứu Cánh Lâm Sàng (Clinical Pearl)</a:t>
            </a:r>
          </a:p>
          <a:p>
            <a:pPr>
              <a:spcBef>
                <a:spcPts val="400"/>
              </a:spcBef>
              <a:defRPr sz="1100">
                <a:solidFill>
                  <a:srgbClr val="334155"/>
                </a:solidFill>
              </a:defRPr>
            </a:pPr>
            <a:r>
              <a:t>• Rút ngắn thời gian gom noãn: Gom được số phôi mục tiêu chỉ trong 1 tháng thay vì 3-4 tháng.</a:t>
            </a:r>
          </a:p>
          <a:p>
            <a:pPr>
              <a:spcBef>
                <a:spcPts val="400"/>
              </a:spcBef>
              <a:defRPr sz="1100">
                <a:solidFill>
                  <a:srgbClr val="334155"/>
                </a:solidFill>
              </a:defRPr>
            </a:pPr>
            <a:r>
              <a:t>• 'Chạy đua với thời gian': Ngăn chặn nguy cơ bệnh LNMTC tiến triển nặng hơn hoặc buồng trứng cạn kiệt nang noãn trong thời gian chờ đợi.</a:t>
            </a:r>
          </a:p>
          <a:p>
            <a:pPr>
              <a:spcBef>
                <a:spcPts val="400"/>
              </a:spcBef>
              <a:defRPr sz="1100">
                <a:solidFill>
                  <a:srgbClr val="334155"/>
                </a:solidFill>
              </a:defRPr>
            </a:pPr>
            <a:r>
              <a:t>• Tối ưu cho phụ nữ lớn tuổi (&gt;= 35 tuổi) hoặc có AMH thấp (&lt; 1.2 ng/mL).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4: KÍCH THÍCH BUỒNG TRỨNG (COS)</a:t>
            </a:r>
          </a:p>
          <a:p>
            <a:pPr>
              <a:defRPr sz="2100" b="1">
                <a:solidFill>
                  <a:srgbClr val="0F172A"/>
                </a:solidFill>
              </a:defRPr>
            </a:pPr>
            <a:r>
              <a:t>An Toàn Chọc Hút Noãn (OPU) &amp; Kịch Bản Xử Trí Chọc Nhầm OMA</a:t>
            </a:r>
          </a:p>
        </p:txBody>
      </p:sp>
      <p:sp>
        <p:nvSpPr>
          <p:cNvPr id="3" name="Rounded Rectangle 2"/>
          <p:cNvSpPr/>
          <p:nvPr/>
        </p:nvSpPr>
        <p:spPr>
          <a:xfrm>
            <a:off x="731520" y="1554480"/>
            <a:ext cx="512064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Nguyên Tắc An Toàn Thủ Thuật OPU</a:t>
            </a:r>
          </a:p>
          <a:p>
            <a:pPr>
              <a:spcBef>
                <a:spcPts val="400"/>
              </a:spcBef>
              <a:defRPr sz="1100">
                <a:solidFill>
                  <a:srgbClr val="334155"/>
                </a:solidFill>
              </a:defRPr>
            </a:pPr>
            <a:r>
              <a:t>• Tuyệt đối tránh đâm kim xuyên qua nang u lạc nội mạc buồng trứng.</a:t>
            </a:r>
          </a:p>
          <a:p>
            <a:pPr>
              <a:spcBef>
                <a:spcPts val="400"/>
              </a:spcBef>
              <a:defRPr sz="1100">
                <a:solidFill>
                  <a:srgbClr val="334155"/>
                </a:solidFill>
              </a:defRPr>
            </a:pPr>
            <a:r>
              <a:t>• Khử khuẩn âm đạo bằng dung dịch Povidone-iodine pha loãng, sau đó BẮT BUỘC rửa sạch lại bằng nước muối sinh lý ấm (tránh độc noãn).</a:t>
            </a:r>
          </a:p>
          <a:p>
            <a:pPr>
              <a:spcBef>
                <a:spcPts val="400"/>
              </a:spcBef>
              <a:defRPr sz="1100">
                <a:solidFill>
                  <a:srgbClr val="334155"/>
                </a:solidFill>
              </a:defRPr>
            </a:pPr>
            <a:r>
              <a:t>• Sử dụng kháng sinh dự phòng tĩnh mạch phổ rộng (Ceftriaxone 1g + Metronidazole 500mg) ngay trước chọc hút để phòng ngừa áp xe buồng trứng.</a:t>
            </a:r>
          </a:p>
        </p:txBody>
      </p:sp>
      <p:sp>
        <p:nvSpPr>
          <p:cNvPr id="4" name="Rounded Rectangle 3"/>
          <p:cNvSpPr/>
          <p:nvPr/>
        </p:nvSpPr>
        <p:spPr>
          <a:xfrm>
            <a:off x="6217920" y="1554480"/>
            <a:ext cx="5212080" cy="475488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91C1C"/>
                </a:solidFill>
              </a:defRPr>
            </a:pPr>
            <a:r>
              <a:t>Kịch Bản Xử Trí Khi Chọc Nhầm Vào OMA (Clinical Pearl)</a:t>
            </a:r>
          </a:p>
          <a:p>
            <a:pPr>
              <a:spcBef>
                <a:spcPts val="400"/>
              </a:spcBef>
              <a:defRPr sz="1100">
                <a:solidFill>
                  <a:srgbClr val="334155"/>
                </a:solidFill>
              </a:defRPr>
            </a:pPr>
            <a:r>
              <a:t>• HÀNH ĐỘNG TỨC THÌ: KHÔNG ĐƯỢC hút dịch sô-cô-la lẫn vào ống nghiệm chứa dịch noãn.</a:t>
            </a:r>
          </a:p>
          <a:p>
            <a:pPr>
              <a:spcBef>
                <a:spcPts val="400"/>
              </a:spcBef>
              <a:defRPr sz="1100">
                <a:solidFill>
                  <a:srgbClr val="334155"/>
                </a:solidFill>
              </a:defRPr>
            </a:pPr>
            <a:r>
              <a:t>• Rút kim ra ngoài, thay kim mới hoặc súc rửa kỹ đầu kim bằng môi trường nuôi cấy.</a:t>
            </a:r>
          </a:p>
          <a:p>
            <a:pPr>
              <a:spcBef>
                <a:spcPts val="400"/>
              </a:spcBef>
              <a:defRPr sz="1100">
                <a:solidFill>
                  <a:srgbClr val="334155"/>
                </a:solidFill>
              </a:defRPr>
            </a:pPr>
            <a:r>
              <a:t>• Chuyển sang chọc các nang noãn lành ở buồng trứng đối diện trước.</a:t>
            </a:r>
          </a:p>
          <a:p>
            <a:pPr>
              <a:spcBef>
                <a:spcPts val="400"/>
              </a:spcBef>
              <a:defRPr sz="1100">
                <a:solidFill>
                  <a:srgbClr val="334155"/>
                </a:solidFill>
              </a:defRPr>
            </a:pPr>
            <a:r>
              <a:t>• Bơm rửa sạch túi cùng Douglas bằng nước muối sinh lý ấm sau OPU nếu có rò rỉ dịch u để phòng viêm phúc mạc.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5: CHUẨN BỊ NIÊM MẠC &amp; CHUYỂN PHÔI FET</a:t>
            </a:r>
          </a:p>
          <a:p>
            <a:pPr>
              <a:defRPr sz="2100" b="1">
                <a:solidFill>
                  <a:srgbClr val="0F172A"/>
                </a:solidFill>
              </a:defRPr>
            </a:pPr>
            <a:r>
              <a:t>Tại Sao Bắt Buộc Phải Freeze-All Ở Bệnh Nhân Adenomyosis?</a:t>
            </a:r>
          </a:p>
        </p:txBody>
      </p:sp>
      <p:sp>
        <p:nvSpPr>
          <p:cNvPr id="3" name="Rounded Rectangle 2"/>
          <p:cNvSpPr/>
          <p:nvPr/>
        </p:nvSpPr>
        <p:spPr>
          <a:xfrm>
            <a:off x="731520" y="1554480"/>
            <a:ext cx="5120640" cy="475488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91C1C"/>
                </a:solidFill>
              </a:defRPr>
            </a:pPr>
            <a:r>
              <a:t>Tác Hại Của Môi Trường Kích Trứng Tươi</a:t>
            </a:r>
          </a:p>
          <a:p>
            <a:pPr>
              <a:spcBef>
                <a:spcPts val="400"/>
              </a:spcBef>
              <a:defRPr sz="1100">
                <a:solidFill>
                  <a:srgbClr val="334155"/>
                </a:solidFill>
              </a:defRPr>
            </a:pPr>
            <a:r>
              <a:t>• Nồng độ Estradiol trong chu kỳ kích trứng tươi tăng vọt lên mức siêu sinh lý (&gt; 3000 - 5000 pg/mL).</a:t>
            </a:r>
          </a:p>
          <a:p>
            <a:pPr>
              <a:spcBef>
                <a:spcPts val="400"/>
              </a:spcBef>
              <a:defRPr sz="1100">
                <a:solidFill>
                  <a:srgbClr val="334155"/>
                </a:solidFill>
              </a:defRPr>
            </a:pPr>
            <a:r>
              <a:t>• Estrogen cao kích thích trực tiếp thụ thể hormone trong cơ tử cung, làm bùng phát phản ứng viêm mạn tính.</a:t>
            </a:r>
          </a:p>
          <a:p>
            <a:pPr>
              <a:spcBef>
                <a:spcPts val="400"/>
              </a:spcBef>
              <a:defRPr sz="1100">
                <a:solidFill>
                  <a:srgbClr val="334155"/>
                </a:solidFill>
              </a:defRPr>
            </a:pPr>
            <a:r>
              <a:t>• Các ổ u cơ tuyến bị phù nề, tăng co bóp cơ tử cung dữ dội, phá hủy cửa sổ làm tổ.</a:t>
            </a:r>
          </a:p>
          <a:p>
            <a:pPr>
              <a:spcBef>
                <a:spcPts val="400"/>
              </a:spcBef>
              <a:defRPr sz="1100">
                <a:solidFill>
                  <a:srgbClr val="334155"/>
                </a:solidFill>
              </a:defRPr>
            </a:pPr>
            <a:r>
              <a:t>• Chuyển phôi tươi ở bệnh nhân Adenomyosis có tỷ lệ thất bại làm tổ và sảy thai rất cao.</a:t>
            </a:r>
          </a:p>
        </p:txBody>
      </p:sp>
      <p:sp>
        <p:nvSpPr>
          <p:cNvPr id="4" name="Rounded Rectangle 3"/>
          <p:cNvSpPr/>
          <p:nvPr/>
        </p:nvSpPr>
        <p:spPr>
          <a:xfrm>
            <a:off x="6217920" y="1554480"/>
            <a:ext cx="5212080" cy="475488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5803D"/>
                </a:solidFill>
              </a:defRPr>
            </a:pPr>
            <a:r>
              <a:t>Bằng Chứng EBM Về Chiến Lược Freeze-All</a:t>
            </a:r>
          </a:p>
          <a:p>
            <a:pPr>
              <a:spcBef>
                <a:spcPts val="400"/>
              </a:spcBef>
              <a:defRPr sz="1100">
                <a:solidFill>
                  <a:srgbClr val="334155"/>
                </a:solidFill>
              </a:defRPr>
            </a:pPr>
            <a:r>
              <a:t>• Han et al. 2025 (PMID: 40438397 - Phân tích gộp trên Front Endocrinol):</a:t>
            </a:r>
          </a:p>
          <a:p>
            <a:pPr>
              <a:spcBef>
                <a:spcPts val="400"/>
              </a:spcBef>
              <a:defRPr sz="1100">
                <a:solidFill>
                  <a:srgbClr val="334155"/>
                </a:solidFill>
              </a:defRPr>
            </a:pPr>
            <a:r>
              <a:t>  - Tăng tỷ lệ làm tổ: OR = 1.27 (95% CI: 1.05 - 1.54).</a:t>
            </a:r>
          </a:p>
          <a:p>
            <a:pPr>
              <a:spcBef>
                <a:spcPts val="400"/>
              </a:spcBef>
              <a:defRPr sz="1100">
                <a:solidFill>
                  <a:srgbClr val="334155"/>
                </a:solidFill>
              </a:defRPr>
            </a:pPr>
            <a:r>
              <a:t>  - Tăng tỷ lệ thai lâm sàng: OR = 1.25 (95% CI: 1.11 - 1.40).</a:t>
            </a:r>
          </a:p>
          <a:p>
            <a:pPr>
              <a:spcBef>
                <a:spcPts val="400"/>
              </a:spcBef>
              <a:defRPr sz="1100">
                <a:solidFill>
                  <a:srgbClr val="334155"/>
                </a:solidFill>
              </a:defRPr>
            </a:pPr>
            <a:r>
              <a:t>  - Tăng tỷ lệ trẻ sinh sống: OR = 1.31 (95% CI: 1.15 - 1.49).</a:t>
            </a:r>
          </a:p>
          <a:p>
            <a:pPr>
              <a:spcBef>
                <a:spcPts val="400"/>
              </a:spcBef>
              <a:defRPr sz="1100">
                <a:solidFill>
                  <a:srgbClr val="334155"/>
                </a:solidFill>
              </a:defRPr>
            </a:pPr>
            <a:r>
              <a:t>• Kết luận: Đông toàn bộ phôi nuôi ngày 5 và chuẩn bị niêm mạc chuyển phôi đông lạnh (FET) là lựa chọn chuẩn mực.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5: CHUẨN BỊ NIÊM MẠC &amp; CHUYỂN PHÔI FET</a:t>
            </a:r>
          </a:p>
          <a:p>
            <a:pPr>
              <a:defRPr sz="2100" b="1">
                <a:solidFill>
                  <a:srgbClr val="0F172A"/>
                </a:solidFill>
              </a:defRPr>
            </a:pPr>
            <a:r>
              <a:t>Phác Đồ Ultra-Long GnRH Agonist: Tiêu Chuẩn Vàng Cho Thể Lan Tỏa</a:t>
            </a:r>
          </a:p>
        </p:txBody>
      </p:sp>
      <p:sp>
        <p:nvSpPr>
          <p:cNvPr id="3" name="Rounded Rectangle 2"/>
          <p:cNvSpPr/>
          <p:nvPr/>
        </p:nvSpPr>
        <p:spPr>
          <a:xfrm>
            <a:off x="731520" y="1554480"/>
            <a:ext cx="512064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Cơ Chế Phục Hồi Cửa Sổ Làm Tổ (WOI)</a:t>
            </a:r>
          </a:p>
          <a:p>
            <a:pPr>
              <a:spcBef>
                <a:spcPts val="400"/>
              </a:spcBef>
              <a:defRPr sz="1100">
                <a:solidFill>
                  <a:srgbClr val="334155"/>
                </a:solidFill>
              </a:defRPr>
            </a:pPr>
            <a:r>
              <a:t>• Tiêm bắp GnRHa Depot 3.75 mg (Triptorelin/Leuprolide) từ 1-3 mũi cách nhau 28 ngày.</a:t>
            </a:r>
          </a:p>
          <a:p>
            <a:pPr>
              <a:spcBef>
                <a:spcPts val="400"/>
              </a:spcBef>
              <a:defRPr sz="1100">
                <a:solidFill>
                  <a:srgbClr val="334155"/>
                </a:solidFill>
              </a:defRPr>
            </a:pPr>
            <a:r>
              <a:t>• Đưa cơ thể về trạng thái mãn kinh tạm thời, cắt đứt nguồn cung Estrogen.</a:t>
            </a:r>
          </a:p>
          <a:p>
            <a:pPr>
              <a:spcBef>
                <a:spcPts val="400"/>
              </a:spcBef>
              <a:defRPr sz="1100">
                <a:solidFill>
                  <a:srgbClr val="334155"/>
                </a:solidFill>
              </a:defRPr>
            </a:pPr>
            <a:r>
              <a:t>• Tác dụng:</a:t>
            </a:r>
          </a:p>
          <a:p>
            <a:pPr>
              <a:spcBef>
                <a:spcPts val="400"/>
              </a:spcBef>
              <a:defRPr sz="1100">
                <a:solidFill>
                  <a:srgbClr val="334155"/>
                </a:solidFill>
              </a:defRPr>
            </a:pPr>
            <a:r>
              <a:t>  1. Thu nhỏ kích thước và thể tích khối u cơ tuyến.</a:t>
            </a:r>
          </a:p>
          <a:p>
            <a:pPr>
              <a:spcBef>
                <a:spcPts val="400"/>
              </a:spcBef>
              <a:defRPr sz="1100">
                <a:solidFill>
                  <a:srgbClr val="334155"/>
                </a:solidFill>
              </a:defRPr>
            </a:pPr>
            <a:r>
              <a:t>  2. Ức chế enzyme Aromatase và các cytokine gây viêm tại cơ tử cung.</a:t>
            </a:r>
          </a:p>
          <a:p>
            <a:pPr>
              <a:spcBef>
                <a:spcPts val="400"/>
              </a:spcBef>
              <a:defRPr sz="1100">
                <a:solidFill>
                  <a:srgbClr val="334155"/>
                </a:solidFill>
              </a:defRPr>
            </a:pPr>
            <a:r>
              <a:t>  3. Giảm co bóp cơ tử cung bất thường.</a:t>
            </a:r>
          </a:p>
          <a:p>
            <a:pPr>
              <a:spcBef>
                <a:spcPts val="400"/>
              </a:spcBef>
              <a:defRPr sz="1100">
                <a:solidFill>
                  <a:srgbClr val="334155"/>
                </a:solidFill>
              </a:defRPr>
            </a:pPr>
            <a:r>
              <a:t>  4. Tái thiết lập thụ thể PR-B, mở lại cửa sổ làm tổ (WOI).</a:t>
            </a:r>
          </a:p>
        </p:txBody>
      </p:sp>
      <p:sp>
        <p:nvSpPr>
          <p:cNvPr id="4" name="Rounded Rectangle 3"/>
          <p:cNvSpPr/>
          <p:nvPr/>
        </p:nvSpPr>
        <p:spPr>
          <a:xfrm>
            <a:off x="6217920" y="1554480"/>
            <a:ext cx="5212080" cy="475488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5803D"/>
                </a:solidFill>
              </a:defRPr>
            </a:pPr>
            <a:r>
              <a:t>Bằng Chứng Hiệu Quả Lâm Sàng</a:t>
            </a:r>
          </a:p>
          <a:p>
            <a:pPr>
              <a:spcBef>
                <a:spcPts val="400"/>
              </a:spcBef>
              <a:defRPr sz="1100">
                <a:solidFill>
                  <a:srgbClr val="334155"/>
                </a:solidFill>
              </a:defRPr>
            </a:pPr>
            <a:r>
              <a:t>• Latif et al. 2024 (PMID: 39116480 - Meta-analysis trên EJOGRB): Hạ điều hòa bằng GnRHa kéo dài trước chuyển phôi cải thiện đáng kể tỷ lệ làm tổ và tỷ lệ trẻ sinh sống ở bệnh nhân Adenomyosis.</a:t>
            </a:r>
          </a:p>
          <a:p>
            <a:pPr>
              <a:spcBef>
                <a:spcPts val="400"/>
              </a:spcBef>
              <a:defRPr sz="1100">
                <a:solidFill>
                  <a:srgbClr val="334155"/>
                </a:solidFill>
              </a:defRPr>
            </a:pPr>
            <a:r>
              <a:t>• González-Comadran et al. 2025 (PMID: 40674550): Phác đồ Ultra-long GnRHa làm tăng tỷ lệ thai lâm sàng với OR = 1.85 (95% CI: 1.32 - 2.59).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5: CHUẨN BỊ NIÊM MẠC &amp; CHUYỂN PHÔI FET</a:t>
            </a:r>
          </a:p>
          <a:p>
            <a:pPr>
              <a:defRPr sz="2100" b="1">
                <a:solidFill>
                  <a:srgbClr val="0F172A"/>
                </a:solidFill>
              </a:defRPr>
            </a:pPr>
            <a:r>
              <a:t>Cá Thể Hóa Chuẩn Bị Niêm Mạc &amp; Bước Đánh Giá Lại JZ Bắt Buộc</a:t>
            </a:r>
          </a:p>
        </p:txBody>
      </p:sp>
      <p:sp>
        <p:nvSpPr>
          <p:cNvPr id="3" name="Rounded Rectangle 2"/>
          <p:cNvSpPr/>
          <p:nvPr/>
        </p:nvSpPr>
        <p:spPr>
          <a:xfrm>
            <a:off x="731520" y="1554480"/>
            <a:ext cx="5120640" cy="47548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Phân Tầng Nguy Cơ Cá Thể Hóa</a:t>
            </a:r>
          </a:p>
          <a:p>
            <a:pPr>
              <a:spcBef>
                <a:spcPts val="400"/>
              </a:spcBef>
              <a:defRPr sz="1100">
                <a:solidFill>
                  <a:srgbClr val="334155"/>
                </a:solidFill>
              </a:defRPr>
            </a:pPr>
            <a:r>
              <a:t>• Thể nhẹ / Khu trú nhỏ (&lt; 2 cm, JZ &lt; 12 mm):</a:t>
            </a:r>
          </a:p>
          <a:p>
            <a:pPr>
              <a:spcBef>
                <a:spcPts val="400"/>
              </a:spcBef>
              <a:defRPr sz="1100">
                <a:solidFill>
                  <a:srgbClr val="334155"/>
                </a:solidFill>
              </a:defRPr>
            </a:pPr>
            <a:r>
              <a:t>  - Không nhất thiết phải tiêm GnRHa kéo dài 3 tháng.</a:t>
            </a:r>
          </a:p>
          <a:p>
            <a:pPr>
              <a:spcBef>
                <a:spcPts val="400"/>
              </a:spcBef>
              <a:defRPr sz="1100">
                <a:solidFill>
                  <a:srgbClr val="334155"/>
                </a:solidFill>
              </a:defRPr>
            </a:pPr>
            <a:r>
              <a:t>  - Chuẩn bị niêm mạc bằng HRT chuẩn hoặc chu kỳ tự nhiên cải biên kết hợp Letrozole.</a:t>
            </a:r>
          </a:p>
          <a:p>
            <a:pPr>
              <a:spcBef>
                <a:spcPts val="400"/>
              </a:spcBef>
              <a:defRPr sz="1100">
                <a:solidFill>
                  <a:srgbClr val="334155"/>
                </a:solidFill>
              </a:defRPr>
            </a:pPr>
            <a:r>
              <a:t>• Thể lan tỏa nặng (Tử cung to &gt; 8 cm, JZ &gt;= 12 mm):</a:t>
            </a:r>
          </a:p>
          <a:p>
            <a:pPr>
              <a:spcBef>
                <a:spcPts val="400"/>
              </a:spcBef>
              <a:defRPr sz="1100">
                <a:solidFill>
                  <a:srgbClr val="334155"/>
                </a:solidFill>
              </a:defRPr>
            </a:pPr>
            <a:r>
              <a:t>  - Bắt buộc áp dụng phác đồ Ultra-long GnRHa 2-3 tháng.</a:t>
            </a:r>
          </a:p>
        </p:txBody>
      </p:sp>
      <p:sp>
        <p:nvSpPr>
          <p:cNvPr id="4" name="Rounded Rectangle 3"/>
          <p:cNvSpPr/>
          <p:nvPr/>
        </p:nvSpPr>
        <p:spPr>
          <a:xfrm>
            <a:off x="6217920" y="1554480"/>
            <a:ext cx="5212080" cy="475488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Bước Đánh Giá Lại Tử Cung (Clinical Pearl)</a:t>
            </a:r>
          </a:p>
          <a:p>
            <a:pPr>
              <a:spcBef>
                <a:spcPts val="400"/>
              </a:spcBef>
              <a:defRPr sz="1100">
                <a:solidFill>
                  <a:srgbClr val="334155"/>
                </a:solidFill>
              </a:defRPr>
            </a:pPr>
            <a:r>
              <a:t>• Sau 2-3 mũi GnRHa: BẮT BUỘC siêu âm ngả âm đạo đo lại thể tích tử cung và độ dày JZ.</a:t>
            </a:r>
          </a:p>
          <a:p>
            <a:pPr>
              <a:spcBef>
                <a:spcPts val="400"/>
              </a:spcBef>
              <a:defRPr sz="1100">
                <a:solidFill>
                  <a:srgbClr val="334155"/>
                </a:solidFill>
              </a:defRPr>
            </a:pPr>
            <a:r>
              <a:t>• Nếu tử cung co nhỏ tốt &amp; JZ giảm rõ -&gt; Tiến hành uống Estrogen (Progynova 4-6 mg/ngày).</a:t>
            </a:r>
          </a:p>
          <a:p>
            <a:pPr>
              <a:spcBef>
                <a:spcPts val="400"/>
              </a:spcBef>
              <a:defRPr sz="1100">
                <a:solidFill>
                  <a:srgbClr val="334155"/>
                </a:solidFill>
              </a:defRPr>
            </a:pPr>
            <a:r>
              <a:t>• Nếu tử cung vẫn to và phù nề -&gt; Cân nhắc tiêm thêm mũi thứ 3 hoặc hội chẩn bổ trợ.</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5: CHUẨN BỊ NIÊM MẠC &amp; CHUYỂN PHÔI FET</a:t>
            </a:r>
          </a:p>
          <a:p>
            <a:pPr>
              <a:defRPr sz="2100" b="1">
                <a:solidFill>
                  <a:srgbClr val="0F172A"/>
                </a:solidFill>
              </a:defRPr>
            </a:pPr>
            <a:r>
              <a:t>Tối Ưu Hóa Hỗ Trợ Hoàng Thể (LPS) &amp; Mục Tiêu Progesterone</a:t>
            </a:r>
          </a:p>
        </p:txBody>
      </p:sp>
      <p:sp>
        <p:nvSpPr>
          <p:cNvPr id="3" name="Rounded Rectangle 2"/>
          <p:cNvSpPr/>
          <p:nvPr/>
        </p:nvSpPr>
        <p:spPr>
          <a:xfrm>
            <a:off x="731520" y="1554480"/>
            <a:ext cx="512064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Chế Độ Bổ Sung Progesterone Mạnh Mẽ</a:t>
            </a:r>
          </a:p>
          <a:p>
            <a:pPr>
              <a:spcBef>
                <a:spcPts val="400"/>
              </a:spcBef>
              <a:defRPr sz="1100">
                <a:solidFill>
                  <a:srgbClr val="334155"/>
                </a:solidFill>
              </a:defRPr>
            </a:pPr>
            <a:r>
              <a:t>• Do tình trạng đề kháng Progesterone nội tại, bệnh nhân Adenomyosis cần liều hoàng thể cao hơn bình thường.</a:t>
            </a:r>
          </a:p>
          <a:p>
            <a:pPr>
              <a:spcBef>
                <a:spcPts val="400"/>
              </a:spcBef>
              <a:defRPr sz="1100">
                <a:solidFill>
                  <a:srgbClr val="334155"/>
                </a:solidFill>
              </a:defRPr>
            </a:pPr>
            <a:r>
              <a:t>• Phối hợp đa đường dùng:</a:t>
            </a:r>
          </a:p>
          <a:p>
            <a:pPr>
              <a:spcBef>
                <a:spcPts val="400"/>
              </a:spcBef>
              <a:defRPr sz="1100">
                <a:solidFill>
                  <a:srgbClr val="334155"/>
                </a:solidFill>
              </a:defRPr>
            </a:pPr>
            <a:r>
              <a:t>  - Progesterone đặt âm đạo (Micro-progesterone 800 mg/ngày).</a:t>
            </a:r>
          </a:p>
          <a:p>
            <a:pPr>
              <a:spcBef>
                <a:spcPts val="400"/>
              </a:spcBef>
              <a:defRPr sz="1100">
                <a:solidFill>
                  <a:srgbClr val="334155"/>
                </a:solidFill>
              </a:defRPr>
            </a:pPr>
            <a:r>
              <a:t>  - KẾT HỢP Progesterone tiêm bắp (50 mg/ngày) hoặc tiêm dưới da (Prolutex 25 mg/ngày).</a:t>
            </a:r>
          </a:p>
        </p:txBody>
      </p:sp>
      <p:sp>
        <p:nvSpPr>
          <p:cNvPr id="4" name="Rounded Rectangle 3"/>
          <p:cNvSpPr/>
          <p:nvPr/>
        </p:nvSpPr>
        <p:spPr>
          <a:xfrm>
            <a:off x="6217920" y="1554480"/>
            <a:ext cx="5212080" cy="475488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5803D"/>
                </a:solidFill>
              </a:defRPr>
            </a:pPr>
            <a:r>
              <a:t>Mục Tiêu Nồng Độ Progesterone Huyết Thanh</a:t>
            </a:r>
          </a:p>
          <a:p>
            <a:pPr>
              <a:spcBef>
                <a:spcPts val="400"/>
              </a:spcBef>
              <a:defRPr sz="1100">
                <a:solidFill>
                  <a:srgbClr val="334155"/>
                </a:solidFill>
              </a:defRPr>
            </a:pPr>
            <a:r>
              <a:t>• Định lượng Progesterone huyết thanh vào buổi sáng ngày chuyển phôi.</a:t>
            </a:r>
          </a:p>
          <a:p>
            <a:pPr>
              <a:spcBef>
                <a:spcPts val="400"/>
              </a:spcBef>
              <a:defRPr sz="1100">
                <a:solidFill>
                  <a:srgbClr val="334155"/>
                </a:solidFill>
              </a:defRPr>
            </a:pPr>
            <a:r>
              <a:t>• MỤC TIÊU: Nồng độ P4 huyết thanh phải đạt &gt; 10 - 15 ng/mL.</a:t>
            </a:r>
          </a:p>
          <a:p>
            <a:pPr>
              <a:spcBef>
                <a:spcPts val="400"/>
              </a:spcBef>
              <a:defRPr sz="1100">
                <a:solidFill>
                  <a:srgbClr val="334155"/>
                </a:solidFill>
              </a:defRPr>
            </a:pPr>
            <a:r>
              <a:t>• Nếu P4 &lt; 10 ng/mL: Cần tăng ngay liều Progesterone tiêm để cứu vãn chu kỳ chuyển phôi.</a:t>
            </a:r>
          </a:p>
          <a:p>
            <a:pPr>
              <a:spcBef>
                <a:spcPts val="400"/>
              </a:spcBef>
              <a:defRPr sz="1100">
                <a:solidFill>
                  <a:srgbClr val="334155"/>
                </a:solidFill>
              </a:defRPr>
            </a:pPr>
            <a:r>
              <a:t>• Thời điểm chuyển phôi: Sau đúng 120 giờ tiếp xúc Progesterone (đối với phôi nang ngày 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6: QUẢN LÝ BIẾN CHỨNG SẢN KHOA</a:t>
            </a:r>
          </a:p>
          <a:p>
            <a:pPr>
              <a:defRPr sz="2100" b="1">
                <a:solidFill>
                  <a:srgbClr val="0F172A"/>
                </a:solidFill>
              </a:defRPr>
            </a:pPr>
            <a:r>
              <a:t>Quản Lý Thai Kỳ Nguy Cơ Cao: Quý 1 &amp; Quý 2</a:t>
            </a:r>
          </a:p>
        </p:txBody>
      </p:sp>
      <p:sp>
        <p:nvSpPr>
          <p:cNvPr id="3" name="Rounded Rectangle 2"/>
          <p:cNvSpPr/>
          <p:nvPr/>
        </p:nvSpPr>
        <p:spPr>
          <a:xfrm>
            <a:off x="731520" y="1554480"/>
            <a:ext cx="5120640" cy="47548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Quý 1 (Tuần 1 - 13): Phòng Ngừa Sảy Thai</a:t>
            </a:r>
          </a:p>
          <a:p>
            <a:pPr>
              <a:spcBef>
                <a:spcPts val="400"/>
              </a:spcBef>
              <a:defRPr sz="1100">
                <a:solidFill>
                  <a:srgbClr val="334155"/>
                </a:solidFill>
              </a:defRPr>
            </a:pPr>
            <a:r>
              <a:t>• Nguy cơ sảy thai tự nhiên tăng gấp đôi (RR ≈ 2.17) do tăng co bóp cơ tử cung và môi trường viêm.</a:t>
            </a:r>
          </a:p>
          <a:p>
            <a:pPr>
              <a:spcBef>
                <a:spcPts val="400"/>
              </a:spcBef>
              <a:defRPr sz="1100">
                <a:solidFill>
                  <a:srgbClr val="334155"/>
                </a:solidFill>
              </a:defRPr>
            </a:pPr>
            <a:r>
              <a:t>• Duy trì hỗ trợ hoàng thể bằng Progesterone liên tục đến tuần thai thứ 10 - 12.</a:t>
            </a:r>
          </a:p>
          <a:p>
            <a:pPr>
              <a:spcBef>
                <a:spcPts val="400"/>
              </a:spcBef>
              <a:defRPr sz="1100">
                <a:solidFill>
                  <a:srgbClr val="334155"/>
                </a:solidFill>
              </a:defRPr>
            </a:pPr>
            <a:r>
              <a:t>• Dự phòng Tiền sản giật: Bắt đầu uống Aspirin liều thấp (100 - 150 mg/ngày) vào buổi tối từ tuần thai thứ 12.</a:t>
            </a:r>
          </a:p>
        </p:txBody>
      </p:sp>
      <p:sp>
        <p:nvSpPr>
          <p:cNvPr id="4" name="Rounded Rectangle 3"/>
          <p:cNvSpPr/>
          <p:nvPr/>
        </p:nvSpPr>
        <p:spPr>
          <a:xfrm>
            <a:off x="6217920" y="1554480"/>
            <a:ext cx="5212080" cy="475488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Quý 2 (Tuần 14 - 27): Tầm Soát Sinh Non</a:t>
            </a:r>
          </a:p>
          <a:p>
            <a:pPr>
              <a:spcBef>
                <a:spcPts val="400"/>
              </a:spcBef>
              <a:defRPr sz="1100">
                <a:solidFill>
                  <a:srgbClr val="334155"/>
                </a:solidFill>
              </a:defRPr>
            </a:pPr>
            <a:r>
              <a:t>• Nguy cơ sinh non trước 37 tuần tăng 1.5 - 1.8 lần.</a:t>
            </a:r>
          </a:p>
          <a:p>
            <a:pPr>
              <a:spcBef>
                <a:spcPts val="400"/>
              </a:spcBef>
              <a:defRPr sz="1100">
                <a:solidFill>
                  <a:srgbClr val="334155"/>
                </a:solidFill>
              </a:defRPr>
            </a:pPr>
            <a:r>
              <a:t>• Siêu âm ngả âm đạo đo chiều dài kênh cổ tử cung (Cervical Length - CL) định kỳ mỗi 2 tuần từ tuần 16 đến 24.</a:t>
            </a:r>
          </a:p>
          <a:p>
            <a:pPr>
              <a:spcBef>
                <a:spcPts val="400"/>
              </a:spcBef>
              <a:defRPr sz="1100">
                <a:solidFill>
                  <a:srgbClr val="334155"/>
                </a:solidFill>
              </a:defRPr>
            </a:pPr>
            <a:r>
              <a:t>• Nếu CL &lt; 25 mm: Can thiệp ngay bằng Progesterone đặt âm đạo, đặt vòng nâng pessary hoặc khâu vòng cổ tử cung.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CHƯƠNG 6: QUẢN LÝ BIẾN CHỨNG SẢN KHOA</a:t>
            </a:r>
          </a:p>
          <a:p>
            <a:pPr>
              <a:defRPr sz="2100" b="1">
                <a:solidFill>
                  <a:srgbClr val="0F172A"/>
                </a:solidFill>
              </a:defRPr>
            </a:pPr>
            <a:r>
              <a:t>Cơ Chế Băng Huyết Sau Sinh (PPH) &amp; Cảnh Giác Vỡ Tử Cung</a:t>
            </a:r>
          </a:p>
        </p:txBody>
      </p:sp>
      <p:sp>
        <p:nvSpPr>
          <p:cNvPr id="3" name="Rounded Rectangle 2"/>
          <p:cNvSpPr/>
          <p:nvPr/>
        </p:nvSpPr>
        <p:spPr>
          <a:xfrm>
            <a:off x="731520" y="1554480"/>
            <a:ext cx="5120640" cy="475488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91C1C"/>
                </a:solidFill>
              </a:defRPr>
            </a:pPr>
            <a:r>
              <a:t>Cơ Chế Băng Huyết (PPH) Do Đờ Tử Cung</a:t>
            </a:r>
          </a:p>
          <a:p>
            <a:pPr>
              <a:spcBef>
                <a:spcPts val="400"/>
              </a:spcBef>
              <a:defRPr sz="1100">
                <a:solidFill>
                  <a:srgbClr val="334155"/>
                </a:solidFill>
              </a:defRPr>
            </a:pPr>
            <a:r>
              <a:t>• Tuyến lạc chỗ tiết Prostaglandin và enzyme tiêu protein (MMPs) phá hủy mạng lưới collagen và sợi cơ trơn.</a:t>
            </a:r>
          </a:p>
          <a:p>
            <a:pPr>
              <a:spcBef>
                <a:spcPts val="400"/>
              </a:spcBef>
              <a:defRPr sz="1100">
                <a:solidFill>
                  <a:srgbClr val="334155"/>
                </a:solidFill>
              </a:defRPr>
            </a:pPr>
            <a:r>
              <a:t>• Cơ tử cung xơ hóa cứng đờ, mất hoàn toàn khả năng co rút sinh lý ('Living ligatures' - nút thắt sống) sau khi sổ rau.</a:t>
            </a:r>
          </a:p>
          <a:p>
            <a:pPr>
              <a:spcBef>
                <a:spcPts val="400"/>
              </a:spcBef>
              <a:defRPr sz="1100">
                <a:solidFill>
                  <a:srgbClr val="334155"/>
                </a:solidFill>
              </a:defRPr>
            </a:pPr>
            <a:r>
              <a:t>• Gruber et al. 2026 (PMID: 42453498): Tăng nguy cơ PPH rõ rệt.</a:t>
            </a:r>
          </a:p>
          <a:p>
            <a:pPr>
              <a:spcBef>
                <a:spcPts val="400"/>
              </a:spcBef>
              <a:defRPr sz="1100">
                <a:solidFill>
                  <a:srgbClr val="334155"/>
                </a:solidFill>
              </a:defRPr>
            </a:pPr>
            <a:r>
              <a:t>• Dự phòng: Chuẩn bị Oxytocin liều cao, Carbetocin, bóng chèn Bakri hoặc phẫu thuật thắt mạch.</a:t>
            </a:r>
          </a:p>
        </p:txBody>
      </p:sp>
      <p:sp>
        <p:nvSpPr>
          <p:cNvPr id="4" name="Rounded Rectangle 3"/>
          <p:cNvSpPr/>
          <p:nvPr/>
        </p:nvSpPr>
        <p:spPr>
          <a:xfrm>
            <a:off x="6217920" y="1554480"/>
            <a:ext cx="5212080" cy="47548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Cảnh Giác Nguy Cơ Vỡ Tử Cung</a:t>
            </a:r>
          </a:p>
          <a:p>
            <a:pPr>
              <a:spcBef>
                <a:spcPts val="400"/>
              </a:spcBef>
              <a:defRPr sz="1100">
                <a:solidFill>
                  <a:srgbClr val="334155"/>
                </a:solidFill>
              </a:defRPr>
            </a:pPr>
            <a:r>
              <a:t>• Ở bệnh nhân có tiền sử phẫu thuật bóc u tuyến cơ tử cung (Adenomyomectomy):</a:t>
            </a:r>
          </a:p>
          <a:p>
            <a:pPr>
              <a:spcBef>
                <a:spcPts val="400"/>
              </a:spcBef>
              <a:defRPr sz="1100">
                <a:solidFill>
                  <a:srgbClr val="334155"/>
                </a:solidFill>
              </a:defRPr>
            </a:pPr>
            <a:r>
              <a:t>• Sẹo mổ ở cơ tử cung rất kém bền vững do mô cơ xung quanh bị xơ hóa không lành tốt.</a:t>
            </a:r>
          </a:p>
          <a:p>
            <a:pPr>
              <a:spcBef>
                <a:spcPts val="400"/>
              </a:spcBef>
              <a:defRPr sz="1100">
                <a:solidFill>
                  <a:srgbClr val="334155"/>
                </a:solidFill>
              </a:defRPr>
            </a:pPr>
            <a:r>
              <a:t>• Nguy cơ vỡ tử cung tự phát trong quý 3 hoặc khi bắt đầu chuyển dạ.</a:t>
            </a:r>
          </a:p>
          <a:p>
            <a:pPr>
              <a:spcBef>
                <a:spcPts val="400"/>
              </a:spcBef>
              <a:defRPr sz="1100">
                <a:solidFill>
                  <a:srgbClr val="334155"/>
                </a:solidFill>
              </a:defRPr>
            </a:pPr>
            <a:r>
              <a:t>• Chỉ định: Mổ lấy thai chủ động ở tuần 37-38, không thử thách sinh đường âm đạo.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TỔNG KẾT &amp; LƯỢNG GIÁ</a:t>
            </a:r>
          </a:p>
          <a:p>
            <a:pPr>
              <a:defRPr sz="2100" b="1">
                <a:solidFill>
                  <a:srgbClr val="0F172A"/>
                </a:solidFill>
              </a:defRPr>
            </a:pPr>
            <a:r>
              <a:t>Lượng Giá Lâm Sàng (Self-Assessment MCQs) - Phần 1</a:t>
            </a:r>
          </a:p>
        </p:txBody>
      </p:sp>
      <p:sp>
        <p:nvSpPr>
          <p:cNvPr id="3" name="Rounded Rectangle 2"/>
          <p:cNvSpPr/>
          <p:nvPr/>
        </p:nvSpPr>
        <p:spPr>
          <a:xfrm>
            <a:off x="731520" y="1554480"/>
            <a:ext cx="5120640" cy="475488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1D4ED8"/>
                </a:solidFill>
              </a:defRPr>
            </a:pPr>
            <a:r>
              <a:t>Case 1: Xử Trí Endometrioma Trước IVF</a:t>
            </a:r>
          </a:p>
          <a:p>
            <a:pPr>
              <a:spcBef>
                <a:spcPts val="400"/>
              </a:spcBef>
              <a:defRPr sz="1100">
                <a:solidFill>
                  <a:srgbClr val="334155"/>
                </a:solidFill>
              </a:defRPr>
            </a:pPr>
            <a:r>
              <a:t>Bệnh nhân nữ 29 tuổi, chưa có con, vô sinh 2 năm, AMH = 1.2 ng/mL. Siêu âm thấy u OMA phải 4 cm dạng kính mờ, không đau bụng, buồng trứng trái bình thường.</a:t>
            </a:r>
          </a:p>
          <a:p>
            <a:pPr>
              <a:spcBef>
                <a:spcPts val="400"/>
              </a:spcBef>
              <a:defRPr sz="1100">
                <a:solidFill>
                  <a:srgbClr val="334155"/>
                </a:solidFill>
              </a:defRPr>
            </a:pPr>
            <a:r>
              <a:t>👉 Chiến lược đúng đắn nhất:</a:t>
            </a:r>
          </a:p>
          <a:p>
            <a:pPr>
              <a:spcBef>
                <a:spcPts val="400"/>
              </a:spcBef>
              <a:defRPr sz="1100">
                <a:solidFill>
                  <a:srgbClr val="334155"/>
                </a:solidFill>
              </a:defRPr>
            </a:pPr>
            <a:r>
              <a:t>A. Mổ nội soi bóc u buồng trứng trước để tăng tỷ lệ thai.</a:t>
            </a:r>
          </a:p>
          <a:p>
            <a:pPr>
              <a:spcBef>
                <a:spcPts val="400"/>
              </a:spcBef>
              <a:defRPr sz="1100">
                <a:solidFill>
                  <a:srgbClr val="334155"/>
                </a:solidFill>
              </a:defRPr>
            </a:pPr>
            <a:r>
              <a:t>B. Tiến hành kích thích buồng trứng làm IVF trực tiếp, không mổ.</a:t>
            </a:r>
          </a:p>
          <a:p>
            <a:pPr>
              <a:spcBef>
                <a:spcPts val="400"/>
              </a:spcBef>
              <a:defRPr sz="1100">
                <a:solidFill>
                  <a:srgbClr val="334155"/>
                </a:solidFill>
              </a:defRPr>
            </a:pPr>
            <a:r>
              <a:t>C. Tiêm GnRHa 6 tháng cho u tiêu rồi mới làm IVF.</a:t>
            </a:r>
          </a:p>
          <a:p>
            <a:pPr>
              <a:spcBef>
                <a:spcPts val="400"/>
              </a:spcBef>
              <a:defRPr sz="1100">
                <a:solidFill>
                  <a:srgbClr val="334155"/>
                </a:solidFill>
              </a:defRPr>
            </a:pPr>
            <a:r>
              <a:t>✅ ĐÁP ÁN: B (Tránh suy buồng trứng sớm vì AMH thấp).</a:t>
            </a:r>
          </a:p>
        </p:txBody>
      </p:sp>
      <p:sp>
        <p:nvSpPr>
          <p:cNvPr id="4" name="Rounded Rectangle 3"/>
          <p:cNvSpPr/>
          <p:nvPr/>
        </p:nvSpPr>
        <p:spPr>
          <a:xfrm>
            <a:off x="6217920" y="1554480"/>
            <a:ext cx="5212080" cy="4754880"/>
          </a:xfrm>
          <a:prstGeom prst="roundRect">
            <a:avLst/>
          </a:prstGeom>
          <a:solidFill>
            <a:srgbClr val="FFFBEB"/>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B45309"/>
                </a:solidFill>
              </a:defRPr>
            </a:pPr>
            <a:r>
              <a:t>Case 2: Dấu Hiệu Trực Tiếp MUSA</a:t>
            </a:r>
          </a:p>
          <a:p>
            <a:pPr>
              <a:spcBef>
                <a:spcPts val="400"/>
              </a:spcBef>
              <a:defRPr sz="1100">
                <a:solidFill>
                  <a:srgbClr val="334155"/>
                </a:solidFill>
              </a:defRPr>
            </a:pPr>
            <a:r>
              <a:t>Dấu hiệu nào sau đây trên siêu âm ngả âm đạo được MUSA xếp vào nhóm 'Dấu hiệu trực tiếp' của Adenomyosis?</a:t>
            </a:r>
          </a:p>
          <a:p>
            <a:pPr>
              <a:spcBef>
                <a:spcPts val="400"/>
              </a:spcBef>
              <a:defRPr sz="1100">
                <a:solidFill>
                  <a:srgbClr val="334155"/>
                </a:solidFill>
              </a:defRPr>
            </a:pPr>
            <a:r>
              <a:t>A. Thành cơ tử cung dày bất đối xứng trước - sau.</a:t>
            </a:r>
          </a:p>
          <a:p>
            <a:pPr>
              <a:spcBef>
                <a:spcPts val="400"/>
              </a:spcBef>
              <a:defRPr sz="1100">
                <a:solidFill>
                  <a:srgbClr val="334155"/>
                </a:solidFill>
              </a:defRPr>
            </a:pPr>
            <a:r>
              <a:t>B. Tử cung to biến dạng hình cầu.</a:t>
            </a:r>
          </a:p>
          <a:p>
            <a:pPr>
              <a:spcBef>
                <a:spcPts val="400"/>
              </a:spcBef>
              <a:defRPr sz="1100">
                <a:solidFill>
                  <a:srgbClr val="334155"/>
                </a:solidFill>
              </a:defRPr>
            </a:pPr>
            <a:r>
              <a:t>C. Nang cơ tử cung (Myometrial cysts) &amp; đảo tăng âm.</a:t>
            </a:r>
          </a:p>
          <a:p>
            <a:pPr>
              <a:spcBef>
                <a:spcPts val="400"/>
              </a:spcBef>
              <a:defRPr sz="1100">
                <a:solidFill>
                  <a:srgbClr val="334155"/>
                </a:solidFill>
              </a:defRPr>
            </a:pPr>
            <a:r>
              <a:t>D. Mạch máu đâm xuyên tổn thương trên Doppler.</a:t>
            </a:r>
          </a:p>
          <a:p>
            <a:pPr>
              <a:spcBef>
                <a:spcPts val="400"/>
              </a:spcBef>
              <a:defRPr sz="1100">
                <a:solidFill>
                  <a:srgbClr val="334155"/>
                </a:solidFill>
              </a:defRPr>
            </a:pPr>
            <a:r>
              <a:t>✅ ĐÁP ÁN: C (Phản ánh trực tiếp mô tuyến &amp; xuất huyết trong cơ).</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TỔNG KẾT &amp; LƯỢNG GIÁ</a:t>
            </a:r>
          </a:p>
          <a:p>
            <a:pPr>
              <a:defRPr sz="2100" b="1">
                <a:solidFill>
                  <a:srgbClr val="0F172A"/>
                </a:solidFill>
              </a:defRPr>
            </a:pPr>
            <a:r>
              <a:t>Lượng Giá Lâm Sàng (Self-Assessment MCQs) - Phần 2</a:t>
            </a:r>
          </a:p>
        </p:txBody>
      </p:sp>
      <p:sp>
        <p:nvSpPr>
          <p:cNvPr id="3" name="Rounded Rectangle 2"/>
          <p:cNvSpPr/>
          <p:nvPr/>
        </p:nvSpPr>
        <p:spPr>
          <a:xfrm>
            <a:off x="731520" y="1554480"/>
            <a:ext cx="10698480" cy="4754880"/>
          </a:xfrm>
          <a:prstGeom prst="roundRect">
            <a:avLst/>
          </a:prstGeom>
          <a:solidFill>
            <a:srgbClr val="FAF5FF"/>
          </a:solidFill>
          <a:ln w="1905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6B21A8"/>
                </a:solidFill>
              </a:defRPr>
            </a:pPr>
            <a:r>
              <a:t>Case 3: Lựa Chọn Phác Đồ Chuẩn Bị Niêm Mạc Cho Adenomyosis Nặng</a:t>
            </a:r>
          </a:p>
          <a:p>
            <a:pPr>
              <a:spcBef>
                <a:spcPts val="400"/>
              </a:spcBef>
              <a:defRPr sz="1100">
                <a:solidFill>
                  <a:srgbClr val="334155"/>
                </a:solidFill>
              </a:defRPr>
            </a:pPr>
            <a:r>
              <a:t>Bệnh nhân 34 tuổi làm IVF có Adenomyosis thể lan tỏa nặng (tử cung to 9 cm, JZ = 14 mm trên MRI), đã có 4 phôi nang ngày 5 đông lạnh chất lượng tốt. Phác đồ chuẩn bị nội mạc tử cung chuyển phôi nào mang lại tỷ lệ thai lâm sàng và sinh sống cao nhất theo EBM?</a:t>
            </a:r>
          </a:p>
          <a:p>
            <a:pPr>
              <a:spcBef>
                <a:spcPts val="400"/>
              </a:spcBef>
              <a:defRPr sz="1100">
                <a:solidFill>
                  <a:srgbClr val="334155"/>
                </a:solidFill>
              </a:defRPr>
            </a:pPr>
          </a:p>
          <a:p>
            <a:pPr>
              <a:spcBef>
                <a:spcPts val="400"/>
              </a:spcBef>
              <a:defRPr sz="1100">
                <a:solidFill>
                  <a:srgbClr val="334155"/>
                </a:solidFill>
              </a:defRPr>
            </a:pPr>
            <a:r>
              <a:t>A. Chuyển phôi tươi ngay trong chu kỳ kích thích buồng trứng.</a:t>
            </a:r>
          </a:p>
          <a:p>
            <a:pPr>
              <a:spcBef>
                <a:spcPts val="400"/>
              </a:spcBef>
              <a:defRPr sz="1100">
                <a:solidFill>
                  <a:srgbClr val="334155"/>
                </a:solidFill>
              </a:defRPr>
            </a:pPr>
            <a:r>
              <a:t>B. Chuẩn bị nội mạc bằng chu kỳ tự nhiên không dùng thuốc.</a:t>
            </a:r>
          </a:p>
          <a:p>
            <a:pPr>
              <a:spcBef>
                <a:spcPts val="400"/>
              </a:spcBef>
              <a:defRPr sz="1100">
                <a:solidFill>
                  <a:srgbClr val="334155"/>
                </a:solidFill>
              </a:defRPr>
            </a:pPr>
            <a:r>
              <a:t>C. Chuẩn bị nội mạc bằng liệu pháp nội tiết thay thế (HRT) đơn thuần trong 14 ngày rồi chuyển phôi ngay.</a:t>
            </a:r>
          </a:p>
          <a:p>
            <a:pPr>
              <a:spcBef>
                <a:spcPts val="400"/>
              </a:spcBef>
              <a:defRPr sz="1100">
                <a:solidFill>
                  <a:srgbClr val="334155"/>
                </a:solidFill>
              </a:defRPr>
            </a:pPr>
            <a:r>
              <a:t>D. Hạ điều hòa tuyến yên bằng GnRH Agonist Depot 3.75 mg từ 2-3 tháng trước khi chuẩn bị nội mạc bằng HRT (Ultra-long protocol).</a:t>
            </a:r>
          </a:p>
          <a:p>
            <a:pPr>
              <a:spcBef>
                <a:spcPts val="400"/>
              </a:spcBef>
              <a:defRPr sz="1100">
                <a:solidFill>
                  <a:srgbClr val="334155"/>
                </a:solidFill>
              </a:defRPr>
            </a:pPr>
          </a:p>
          <a:p>
            <a:pPr>
              <a:spcBef>
                <a:spcPts val="400"/>
              </a:spcBef>
              <a:defRPr sz="1100">
                <a:solidFill>
                  <a:srgbClr val="334155"/>
                </a:solidFill>
              </a:defRPr>
            </a:pPr>
            <a:r>
              <a:t>✅ ĐÁP ÁN ĐÚNG: D</a:t>
            </a:r>
          </a:p>
          <a:p>
            <a:pPr>
              <a:spcBef>
                <a:spcPts val="400"/>
              </a:spcBef>
              <a:defRPr sz="1100">
                <a:solidFill>
                  <a:srgbClr val="334155"/>
                </a:solidFill>
              </a:defRPr>
            </a:pPr>
            <a:r>
              <a:t>💡 Giải thích chuyên môn: Phác đồ Ultra-long GnRHa 2-3 tháng giúp ức chế môi trường viêm, thu nhỏ thể tích cơ tử cung, giảm co thắt nghịch thường và đảo ngược tình trạng đề kháng Progesterone, tái mở cửa sổ làm tổ (WOI) cho thể lan tỏa nặng.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1005840"/>
          </a:xfrm>
          <a:prstGeom prst="rect">
            <a:avLst/>
          </a:prstGeom>
          <a:noFill/>
        </p:spPr>
        <p:txBody>
          <a:bodyPr wrap="square" lIns="0" tIns="0" rIns="0" bIns="0">
            <a:spAutoFit/>
          </a:bodyPr>
          <a:lstStyle/>
          <a:p>
            <a:pPr>
              <a:defRPr sz="1100" b="1">
                <a:solidFill>
                  <a:srgbClr val="0284C7"/>
                </a:solidFill>
              </a:defRPr>
            </a:pPr>
            <a:r>
              <a:t>TỔNG KẾT BÀI GIẢNG</a:t>
            </a:r>
          </a:p>
          <a:p>
            <a:pPr>
              <a:defRPr sz="2100" b="1">
                <a:solidFill>
                  <a:srgbClr val="0F172A"/>
                </a:solidFill>
              </a:defRPr>
            </a:pPr>
            <a:r>
              <a:t>Thông Điệp Thực Hành Lâm Sàng Cốt Lõi (Key Takeaways)</a:t>
            </a:r>
          </a:p>
        </p:txBody>
      </p:sp>
      <p:sp>
        <p:nvSpPr>
          <p:cNvPr id="3" name="Rounded Rectangle 2"/>
          <p:cNvSpPr/>
          <p:nvPr/>
        </p:nvSpPr>
        <p:spPr>
          <a:xfrm>
            <a:off x="731520" y="1554480"/>
            <a:ext cx="10698480" cy="4754880"/>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bIns="182880"/>
          <a:lstStyle/>
          <a:p>
            <a:pPr algn="ctr">
              <a:defRPr sz="1350" b="1">
                <a:solidFill>
                  <a:srgbClr val="F8FAFC"/>
                </a:solidFill>
              </a:defRPr>
            </a:pPr>
            <a:r>
              <a:t>5 Nguyên Tắc 'Sống Còn' Dành Cho Bác Sĩ Thực Hành Lâm Sàng</a:t>
            </a:r>
          </a:p>
          <a:p>
            <a:pPr>
              <a:spcBef>
                <a:spcPts val="400"/>
              </a:spcBef>
              <a:defRPr sz="1100">
                <a:solidFill>
                  <a:srgbClr val="334155"/>
                </a:solidFill>
              </a:defRPr>
            </a:pPr>
            <a:r>
              <a:t>1. KHÔNG MỔ BÓC NANG OMA THƯỜNG QUY: Chỉ mổ khi có chỉ định rõ ràng; luôn ưu tiên Bảo tồn sinh sản (Trữ đông noãn/phôi) TRƯỚC KHI mổ.</a:t>
            </a:r>
          </a:p>
          <a:p>
            <a:pPr>
              <a:spcBef>
                <a:spcPts val="400"/>
              </a:spcBef>
              <a:defRPr sz="1100">
                <a:solidFill>
                  <a:srgbClr val="334155"/>
                </a:solidFill>
              </a:defRPr>
            </a:pPr>
            <a:r>
              <a:t>2. AN TOÀN CHỌC HÚT NOÃN: Không đâm kim xuyên qua nang OMA; nếu vô tình chọc nhầm, lập tức ngừng hút, thay kim và rửa sạch túi cùng sau.</a:t>
            </a:r>
          </a:p>
          <a:p>
            <a:pPr>
              <a:spcBef>
                <a:spcPts val="400"/>
              </a:spcBef>
              <a:defRPr sz="1100">
                <a:solidFill>
                  <a:srgbClr val="334155"/>
                </a:solidFill>
              </a:defRPr>
            </a:pPr>
            <a:r>
              <a:t>3. TẬN DỤNG PHÁC ĐỒ DUOSTIM: Gom tối đa noãn/phôi trong 1 tháng cho bệnh nhân Endometriosis suy giảm dự trữ buồng trứng.</a:t>
            </a:r>
          </a:p>
          <a:p>
            <a:pPr>
              <a:spcBef>
                <a:spcPts val="400"/>
              </a:spcBef>
              <a:defRPr sz="1100">
                <a:solidFill>
                  <a:srgbClr val="334155"/>
                </a:solidFill>
              </a:defRPr>
            </a:pPr>
            <a:r>
              <a:t>4. CÁ THỂ HÓA ĐIỀU TRỊ ADENOMYOSIS: Freeze-all phôi ngày 5; áp dụng Ultra-long GnRHa 2-3 tháng cho thể lan tỏa nặng và bắt buộc siêu âm đánh giá lại JZ trước khi chuyển phôi.</a:t>
            </a:r>
          </a:p>
          <a:p>
            <a:pPr>
              <a:spcBef>
                <a:spcPts val="400"/>
              </a:spcBef>
              <a:defRPr sz="1100">
                <a:solidFill>
                  <a:srgbClr val="334155"/>
                </a:solidFill>
              </a:defRPr>
            </a:pPr>
            <a:r>
              <a:t>5. QUẢN LÝ SẢN KHOA CHỦ ĐỘNG: Dự phòng Tiền sản giật bằng Aspirin từ tuần 12, tầm soát sinh non và chủ động phòng ngừa Băng huyết sau sinh do đờ tử cung.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