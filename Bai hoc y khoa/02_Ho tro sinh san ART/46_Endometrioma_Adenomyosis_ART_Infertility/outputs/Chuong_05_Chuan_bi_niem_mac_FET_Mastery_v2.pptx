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CHƯƠNG 5: CHUẨN BỊ NIÊM MẠC &amp; CHUYỂN PHÔI ĐÔNG LẠNH CHO ADENOMYOSIS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Tổng Quan Chiến Lược Chuẩn Bị Niêm Mạc Chuyển Phôi Cho Adenomyosis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6856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Thách thức nội mạc trong Adenomyosis: Tình trạng viêm mạn tính, tự sản xuất Estrogen tại chỗ và đề kháng Progesterone làm hỏng quá trình màng rụng hóa.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Chiến lược 2 giai đoạn: Giai đoạn 1 kiểm soát tổn thương cơ tử cung và tái lập nhạy cảm thụ thể → Giai đoạn 2 chuẩn bị nội mạc đón nhận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Phân tầng theo thể tổn thương: Phân biệt rõ thể khu trú nhỏ (&lt; 2 cm, JZ &lt; 12 mm) với thể lan tỏa nặng (tử cung to &gt; 8 cm, JZ ≥ 12 mm).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Mục tiêu cuối cùng: Tái mở cửa sổ làm tổ (WOI), kiểm soát nhu động cơ tử cung và tối ưu hóa nồng độ Progesterone huyết thanh ngày chuyển phôi.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Cơ Sở Sinh Học Của Việc Ưu Tiên Đông Phôi Toàn Bộ (Freeze-All)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0549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Tác hại của môi trường kích trứng tươi: Nồng độ Estradiol trong chu kỳ tươi tăng vọt lên mức siêu sinh lý (&gt; 3000 - 5000 pg/mL).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Kích hoạt ổ viêm u cơ tuyến: Estrogen siêu cao kích thích trực tiếp các thụ thể hormone trong cơ tử cung, làm các ổ Adenomyosis phù nề và tăng co thắt dữ dội.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Đình trệ màng rụng hóa: Nồng độ Estrogen quá mức làm lệch pha cửa sổ làm tổ (WOI) và làm nặng thêm tình trạng đề kháng Progesterone.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Lợi ích của Freeze-all: Đông toàn bộ phôi ngày 5 giúp đưa cơ thể người bệnh thoát khỏi môi trường kích thích hormone nặng nề, chuẩn bị niêm mạc ở trạng thái cơ tử cung ổn định nhất.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Bằng Chứng EBM Về Chuyển Phôi Đông Lạnh (FET) Trong Lạc Nội Mạc Tử Cung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6856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Tổng quan hệ thống Han et al. (Front Endocrinol 2025 - PMID: 40438397): Phân tích trên phân nhóm bệnh nhân Lạc nội mạc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Tăng tỷ lệ làm tổ: Chiến lược FET mang lại tỷ lệ làm tổ cao hơn rõ rệt so với chuyển phôi tươi (OR = 1.27, 95% CI: 1.05 - 1.54).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Tăng tỷ lệ thai lâm sàng &amp; sinh sống: FET cải thiện tỷ lệ thai lâm sàng (OR = 1.25, 95% CI: 1.11 - 1.40) và tỷ lệ trẻ sinh sống (OR = 1.31, 95% CI: 1.15 - 1.49).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Lưu ý đối với Adenomyosis: Đối với thể u cơ tuyến nặng, kết quả chuyển phôi cần được cá thể hóa dựa trên mức độ tổn thương cơ tử cung và thảo luận cùng người bệnh.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Phân Định Khuyến Cáo ESHRE 2022 Với Bằng Chứng Trên Adenomyosis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0549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Khuyến cáo ESHRE 2022 cho Endometriosis nói chung (PMID: 35350465): Không khuyến cáo dùng phác đồ GnRH agonist kéo dài thường quy trước ART vì chưa chứng minh được lợi ích rõ ràng trên nhóm cơ tử cung bình thường </a:t>
            </a:r>
            <a:endParaRPr lang="en-US" sz="2400">
              <a:solidFill>
                <a:srgbClr val="1A2F2F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–  Bản chất khác biệt trong Adenomyosis: Tổn thương nằm ngay tại lớp cơ và Vùng chuyển tiếp JZ, nơi xuất hiện vòng xoắn tự tạo Estrogen và đề kháng PR-B.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Tổng quan chuyên biệt trên Adenomyosis (Latif et al., EJOGRB 2024 - PMID: 39116480): Hạ điều hòa bằng GnRHa trước FET cải thiện tỷ lệ làm tổ (OR = 1.69) và tỷ lệ thai lâm sàng (OR = 1.42).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Nguyên tắc chỉ định: Áp dụng có chọn lọc cho thể lan tỏa nặng dựa trên thảo luận và chia sẻ quyết định cùng người bệnh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Cơ Chế Phục Hồi Cửa Sổ Làm Tổ Của Phác Đồ Ultra-Long GnRH Agonist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6856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Cắt đứt nguồn Estrogen nuôi dưỡng: GnRHa Depot ức chế thụ thể GnRH tuyến yên</a:t>
            </a:r>
            <a:r>
              <a:rPr lang="en-US" sz="2400">
                <a:solidFill>
                  <a:srgbClr val="1A2F2F"/>
                </a:solidFill>
                <a:latin typeface="Segoe UI"/>
              </a:rPr>
              <a:t>, </a:t>
            </a:r>
            <a:r>
              <a:rPr sz="2400">
                <a:solidFill>
                  <a:srgbClr val="1A2F2F"/>
                </a:solidFill>
                <a:latin typeface="Segoe UI"/>
              </a:rPr>
              <a:t>đưa cơ thể về trạng thái mãn kinh tạm thời trong 2-3 tháng.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Thu nhỏ thể tích u cơ tuyến: Cắt nguồn nội tiết làm teo nhỏ các ổ tuyến lạc chỗ và giảm phù nề cơ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Ức chế men Aromatase &amp; Viêm: Giảm biểu hiện enzyme Aromatase (CYP19A1), giảm sản xuất Prostaglandin E2 (PGE2) và các cytokine viêm tại chỗ.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Tái thiết lập thụ thể PR-B: Khôi phục độ nhạy của nội mạc tử cung với Progesterone, tái mở cửa sổ làm tổ (WOI) và dập tắt các cơn loạn động cơ tử cung (Dysperistalsis).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Quy Trình 5 Bước Thực Hiện Phác Đồ Ultra-Long GnRHa + HRT Chuẩn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1447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Bước 1 — Hạ điều hòa tuyến yên: Tiêm bắp GnRH Agonist Depot (Triptorelin hoặc Leuprolide 3.75 mg) từ 1 đến 3 mũi (mỗi mũi cách nhau 28 ngày).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Bước 2 — Siêu âm đánh giá lại : Sau mũi cuối 28 ngày, bắt buộc siêu âm ngả âm đạo đo lại thể tích tử cung và độ dày JZ.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Bước 3 — Chuẩn bị nội mạc bằng Estrogen: Bắt đầu uống Estradiol valerate (Progynova 4 - 6 mg/ngày) tăng dần để kích thích niêm mạc phát triển.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Bước 4 — Bổ sung Progesterone: Khi niêm mạc đạt độ dày ≥ 8 mm và có cấu trúc 3 lá (triple-line), bắt đầu dùng Progesterone.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Bước 5 — Chuyển phôi đông lạnh (FET): Tiến hành chuyển phôi sau đúng 120 giờ tiếp xúc Progesterone đối với phôi nang ngày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59584"/>
            <a:ext cx="10972800" cy="4524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Bước Đánh Giá Lại Cơ Tử Cung Sau Hạ Điều Hòa 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6856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Thời điểm kiểm tra: 28 ngày sau mũi tiêm GnRH Agonist Depot thứ 2 hoặc thứ 3.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Tiêu chuẩn đạt yêu cầu: Thể tích tử cung co nhỏ rõ rệt, cơ tử cung bớt phù nề, bề dày JZ giảm rõ (JZ &lt; 10 - 12 mm trên TVS/3D).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Xử trí khi đáp ứng tốt: Bắt đầu cho bệnh nhân uống Estrogen ngoại sinh (HRT) để chuẩn bị niêm mạc.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Xử trí khi chưa đáp ứng: Nếu tử cung vẫn to và cơ tử cung còn phù nề tăng âm mạnh, cân nhắc tiêm thêm mũi thứ 3 hoặc hội chẩn điều trị bổ trợ trước khi dùng Estrogen.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Cá Thể Hóa Phác Đồ Chuẩn Bị Niêm Mạc Theo Mức Độ Tổn Thương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816322" cy="331116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Segoe UI"/>
              </a:rPr>
              <a:t>  –  Adenomyosis Thể Nhẹ / Khu Trú Nhỏ (&lt; 2 cm, JZ &lt; 12 mm):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Segoe UI"/>
              </a:rPr>
              <a:t>  </a:t>
            </a:r>
            <a:r>
              <a:rPr lang="en-US" sz="2000">
                <a:solidFill>
                  <a:srgbClr val="1A2F2F"/>
                </a:solidFill>
                <a:latin typeface="Segoe UI"/>
              </a:rPr>
              <a:t> + </a:t>
            </a:r>
            <a:r>
              <a:rPr sz="2000">
                <a:solidFill>
                  <a:srgbClr val="1A2F2F"/>
                </a:solidFill>
                <a:latin typeface="Segoe UI"/>
              </a:rPr>
              <a:t>Không nhất thiết phải tiêm GnRHa kéo dài 2-3 tháng để tránh tác dụng phụ bốc hỏa và kéo dài thời gian.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000">
                <a:solidFill>
                  <a:srgbClr val="1A2F2F"/>
                </a:solidFill>
                <a:latin typeface="Segoe UI"/>
              </a:rPr>
              <a:t>  </a:t>
            </a:r>
            <a:r>
              <a:rPr lang="en-US" sz="2000">
                <a:solidFill>
                  <a:srgbClr val="1A2F2F"/>
                </a:solidFill>
                <a:latin typeface="Segoe UI"/>
              </a:rPr>
              <a:t>+ </a:t>
            </a:r>
            <a:r>
              <a:rPr sz="2000">
                <a:solidFill>
                  <a:srgbClr val="1A2F2F"/>
                </a:solidFill>
                <a:latin typeface="Segoe UI"/>
              </a:rPr>
              <a:t>Chuẩn bị niêm mạc bằng HRT chuẩn hoặc phác đồ chu kỳ tự nhiên cải biên kết hợp Letrozole.</a:t>
            </a:r>
            <a:endParaRPr lang="en-US" sz="2000">
              <a:solidFill>
                <a:srgbClr val="1A2F2F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vi-VN" sz="2000">
                <a:solidFill>
                  <a:srgbClr val="1A2F2F"/>
                </a:solidFill>
                <a:latin typeface="Segoe UI"/>
              </a:rPr>
              <a:t> –  Adenomyosis Thể Lan Tỏa Nặng (JZ ≥ 12 mm, Tử cung to hình cầu &gt; 8 cm):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vi-VN" sz="2000">
                <a:solidFill>
                  <a:srgbClr val="1A2F2F"/>
                </a:solidFill>
                <a:latin typeface="Segoe UI"/>
              </a:rPr>
              <a:t>  </a:t>
            </a:r>
            <a:r>
              <a:rPr lang="en-US" sz="2000">
                <a:solidFill>
                  <a:srgbClr val="1A2F2F"/>
                </a:solidFill>
                <a:latin typeface="Segoe UI"/>
              </a:rPr>
              <a:t>+ </a:t>
            </a:r>
            <a:r>
              <a:rPr lang="vi-VN" sz="2000">
                <a:solidFill>
                  <a:srgbClr val="1A2F2F"/>
                </a:solidFill>
                <a:latin typeface="Segoe UI"/>
              </a:rPr>
              <a:t> Cân nhắc chỉ định phác đồ Ultra-long GnRHa 2 - 3 tháng sau khi đã tư vấn kỹ lợi ích và nguy cơ cho người bệnh.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vi-VN" sz="2000">
                <a:solidFill>
                  <a:srgbClr val="1A2F2F"/>
                </a:solidFill>
                <a:latin typeface="Segoe UI"/>
              </a:rPr>
              <a:t>  </a:t>
            </a:r>
            <a:r>
              <a:rPr lang="en-US" sz="2000">
                <a:solidFill>
                  <a:srgbClr val="1A2F2F"/>
                </a:solidFill>
                <a:latin typeface="Segoe UI"/>
              </a:rPr>
              <a:t>+</a:t>
            </a:r>
            <a:r>
              <a:rPr lang="vi-VN" sz="2000">
                <a:solidFill>
                  <a:srgbClr val="1A2F2F"/>
                </a:solidFill>
                <a:latin typeface="Segoe UI"/>
              </a:rPr>
              <a:t> Kết hợp hỗ trợ hoàng thể đa đường dùng để đạt tỷ lệ trẻ sinh sống tối ưu.</a:t>
            </a:r>
            <a:endParaRPr sz="2000">
              <a:solidFill>
                <a:srgbClr val="1A2F2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Tối Ưu Hóa Hỗ Trợ Pha Hoàng Thể (LPS) Trong Chu Kỳ Chuyển Phôi FET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1447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Nhu cầu Progesterone tăng cao: Do tình trạng đề kháng Progesterone nội tại, bệnh nhân Adenomyosis cần chế độ hỗ trợ hoàng thể mạnh mẽ hơn bình thường.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Phối hợp đa đường dùng (Vaginal + Injectable):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</a:t>
            </a:r>
            <a:r>
              <a:rPr lang="en-US" sz="2400">
                <a:solidFill>
                  <a:srgbClr val="1A2F2F"/>
                </a:solidFill>
                <a:latin typeface="Segoe UI"/>
              </a:rPr>
              <a:t>+ </a:t>
            </a:r>
            <a:r>
              <a:rPr sz="2400">
                <a:solidFill>
                  <a:srgbClr val="1A2F2F"/>
                </a:solidFill>
                <a:latin typeface="Segoe UI"/>
              </a:rPr>
              <a:t>Progesterone đặt âm đạo: Micro-progesterone 800 mg/ngày (chia 2-4 lần) để tạo nồng độ cao trực tiếp tại mô nội mạc tử cung.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lang="en-US" sz="2400">
                <a:solidFill>
                  <a:srgbClr val="1A2F2F"/>
                </a:solidFill>
                <a:latin typeface="Segoe UI"/>
              </a:rPr>
              <a:t> + </a:t>
            </a:r>
            <a:r>
              <a:rPr sz="2400">
                <a:solidFill>
                  <a:srgbClr val="1A2F2F"/>
                </a:solidFill>
                <a:latin typeface="Segoe UI"/>
              </a:rPr>
              <a:t>KẾT HỢP Progesterone tiêm: Progesterone tiêm bắp 50 mg/ngày hoặc tiêm dưới da (Prolutex 25 mg/ngày) để đảm bảo nồng độ trong máu.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Thời điểm bắt đầu: Bắt đầu dùng Progesterone khi niêm mạc đạt chuẩn ≥ 8 mm cấu trúc 3 lá; chuyển phôi sau đúng 120 giờ tiếp xúc đối với phôi ngày 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0D2B2B"/>
                </a:solidFill>
                <a:latin typeface="Segoe UI"/>
              </a:rPr>
              <a:t>Mục Tiêu Nồng Độ Progesterone Huyết Thanh Ngày Chuyển Phôi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68562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Thời điểm xét nghiệm: Định lượng nồng độ Progesterone (P4) trong máu vào buổi sáng ngày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Mục tiêu điều trị: Nồng độ P4 huyết thanh phải đạt tối thiểu &gt; 10 - 15 ng/mL (tương đương &gt; 32 - 48 nmol/L).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Xử trí khi P4 dưới ngưỡng (&lt; 10 ng/mL): Tăng ngay liều Progesterone tiêm (bổ sung Prolutex 25 mg SC hoặc Progesterone dầu 50 mg IM) ngay trong ngày chuyển phôi.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2400">
                <a:solidFill>
                  <a:srgbClr val="1A2F2F"/>
                </a:solidFill>
                <a:latin typeface="Segoe UI"/>
              </a:rPr>
              <a:t>  –  Cứu vãn chu kỳ: Đảm bảo nồng độ P4 đạt chuẩn giúp duy trì tỷ lệ làm tổ và giảm thiểu tối đa nguy cơ sảy thai sớm trong 3 tháng đầu.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1624</Words>
  <Application>Microsoft Office PowerPoint</Application>
  <PresentationFormat>Custom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Ngọc Hưng Đỗ Văn</cp:lastModifiedBy>
  <cp:revision>2</cp:revision>
  <dcterms:created xsi:type="dcterms:W3CDTF">2013-01-27T09:14:16Z</dcterms:created>
  <dcterms:modified xsi:type="dcterms:W3CDTF">2026-08-23T13:43:09Z</dcterms:modified>
  <cp:category/>
</cp:coreProperties>
</file>