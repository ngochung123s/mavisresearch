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62" r:id="rId5"/>
    <p:sldId id="263" r:id="rId6"/>
    <p:sldId id="264" r:id="rId7"/>
    <p:sldId id="265" r:id="rId8"/>
    <p:sldId id="266" r:id="rId9"/>
    <p:sldId id="267" r:id="rId10"/>
    <p:sldId id="268" r:id="rId11"/>
    <p:sldId id="269" r:id="rId12"/>
    <p:sldId id="270" r:id="rId13"/>
    <p:sldId id="271" r:id="rId14"/>
    <p:sldId id="272" r:id="rId15"/>
    <p:sldId id="280" r:id="rId16"/>
    <p:sldId id="273" r:id="rId17"/>
    <p:sldId id="274" r:id="rId18"/>
    <p:sldId id="275" r:id="rId19"/>
    <p:sldId id="276" r:id="rId20"/>
    <p:sldId id="281" r:id="rId21"/>
    <p:sldId id="277" r:id="rId22"/>
    <p:sldId id="278" r:id="rId23"/>
    <p:sldId id="279" r:id="rId2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360"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0"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672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108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544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298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41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23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108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544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298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41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23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2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108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544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298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41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80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23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672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108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544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298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41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80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23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672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108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544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298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41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675120" y="822960"/>
            <a:ext cx="2871215" cy="2560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75120" y="822960"/>
            <a:ext cx="2871215" cy="256032"/>
          </a:xfrm>
          <a:prstGeom prst="rect">
            <a:avLst/>
          </a:prstGeom>
          <a:noFill/>
        </p:spPr>
        <p:txBody>
          <a:bodyPr wrap="square" lIns="36576" tIns="18288" rIns="36576" bIns="18288" anchor="ctr">
            <a:spAutoFit/>
          </a:bodyPr>
          <a:lstStyle/>
          <a:p>
            <a:pPr algn="ctr"/>
            <a:r>
              <a:rPr sz="900" b="1" i="0">
                <a:solidFill>
                  <a:srgbClr val="FFFFFF"/>
                </a:solidFill>
                <a:latin typeface="Segoe UI"/>
              </a:rPr>
              <a:t>HỖ TRỢ SINH SẢN &amp; PHỤ KHOA</a:t>
            </a:r>
          </a:p>
        </p:txBody>
      </p:sp>
      <p:sp>
        <p:nvSpPr>
          <p:cNvPr id="42" name="TextBox 41"/>
          <p:cNvSpPr txBox="1"/>
          <p:nvPr/>
        </p:nvSpPr>
        <p:spPr>
          <a:xfrm>
            <a:off x="502920" y="1371600"/>
            <a:ext cx="5577840" cy="2560320"/>
          </a:xfrm>
          <a:prstGeom prst="rect">
            <a:avLst/>
          </a:prstGeom>
          <a:noFill/>
        </p:spPr>
        <p:txBody>
          <a:bodyPr wrap="square" lIns="36576" tIns="18288" rIns="36576" bIns="18288" anchor="t">
            <a:spAutoFit/>
          </a:bodyPr>
          <a:lstStyle/>
          <a:p>
            <a:pPr algn="l"/>
            <a:r>
              <a:rPr sz="3800" b="1" i="0">
                <a:solidFill>
                  <a:srgbClr val="FFFFFF"/>
                </a:solidFill>
                <a:latin typeface="Segoe UI"/>
              </a:rPr>
              <a:t>CHƯƠNG 1: ĐẠI CƯƠNG &amp; CƠ CHẾ SINH BỆNH HỌC PHÂN TỬ</a:t>
            </a:r>
          </a:p>
        </p:txBody>
      </p:sp>
      <p:sp>
        <p:nvSpPr>
          <p:cNvPr id="43" name="Rectangle 42"/>
          <p:cNvSpPr/>
          <p:nvPr/>
        </p:nvSpPr>
        <p:spPr>
          <a:xfrm>
            <a:off x="502920"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4206240"/>
            <a:ext cx="5577840" cy="640080"/>
          </a:xfrm>
          <a:prstGeom prst="rect">
            <a:avLst/>
          </a:prstGeom>
          <a:noFill/>
        </p:spPr>
        <p:txBody>
          <a:bodyPr wrap="square" lIns="36576" tIns="18288" rIns="36576" bIns="18288">
            <a:spAutoFit/>
          </a:bodyPr>
          <a:lstStyle/>
          <a:p>
            <a:pPr algn="l"/>
            <a:r>
              <a:rPr sz="1700" b="0" i="0">
                <a:solidFill>
                  <a:srgbClr val="B0C8E0"/>
                </a:solidFill>
                <a:latin typeface="Segoe UI"/>
              </a:rPr>
              <a:t>Định Nghĩa Chi Tiết, Học Thuyết Hình Thành &amp; Cơ Chế Suy Giảm Khả Năng Sinh Sản</a:t>
            </a:r>
          </a:p>
        </p:txBody>
      </p:sp>
      <p:sp>
        <p:nvSpPr>
          <p:cNvPr id="45" name="TextBox 44"/>
          <p:cNvSpPr txBox="1"/>
          <p:nvPr/>
        </p:nvSpPr>
        <p:spPr>
          <a:xfrm>
            <a:off x="502920" y="4937760"/>
            <a:ext cx="5577840" cy="457200"/>
          </a:xfrm>
          <a:prstGeom prst="rect">
            <a:avLst/>
          </a:prstGeom>
          <a:noFill/>
        </p:spPr>
        <p:txBody>
          <a:bodyPr wrap="square" lIns="36576" tIns="18288" rIns="36576" bIns="18288">
            <a:spAutoFit/>
          </a:bodyPr>
          <a:lstStyle/>
          <a:p>
            <a:pPr algn="l"/>
            <a:r>
              <a:rPr sz="1400" b="0" i="1">
                <a:solidFill>
                  <a:srgbClr val="728C8C"/>
                </a:solidFill>
                <a:latin typeface="Segoe UI"/>
              </a:rPr>
              <a:t>Giáo Trình Master Chuyên Sâu — Dạng Bullet Thuần</a:t>
            </a:r>
          </a:p>
        </p:txBody>
      </p:sp>
      <p:sp>
        <p:nvSpPr>
          <p:cNvPr id="46" name="TextBox 45"/>
          <p:cNvSpPr txBox="1"/>
          <p:nvPr/>
        </p:nvSpPr>
        <p:spPr>
          <a:xfrm>
            <a:off x="6675120" y="5989320"/>
            <a:ext cx="5212080" cy="365760"/>
          </a:xfrm>
          <a:prstGeom prst="rect">
            <a:avLst/>
          </a:prstGeom>
          <a:noFill/>
        </p:spPr>
        <p:txBody>
          <a:bodyPr wrap="square" lIns="36576" tIns="18288" rIns="36576" bIns="18288">
            <a:spAutoFit/>
          </a:bodyPr>
          <a:lstStyle/>
          <a:p>
            <a:pPr algn="l"/>
            <a:r>
              <a:rPr sz="1100" b="0" i="0">
                <a:solidFill>
                  <a:srgbClr val="728C8C"/>
                </a:solidFill>
                <a:latin typeface="Segoe UI"/>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28600"/>
            <a:ext cx="10972800" cy="914400"/>
          </a:xfrm>
          <a:prstGeom prst="rect">
            <a:avLst/>
          </a:prstGeom>
          <a:noFill/>
        </p:spPr>
        <p:txBody>
          <a:bodyPr wrap="square" lIns="36576" tIns="18288" rIns="36576" bIns="18288" anchor="ctr">
            <a:spAutoFit/>
          </a:bodyPr>
          <a:lstStyle/>
          <a:p>
            <a:pPr algn="l"/>
            <a:r>
              <a:rPr sz="2700" b="1" i="0">
                <a:solidFill>
                  <a:srgbClr val="0D2B2B"/>
                </a:solidFill>
                <a:latin typeface="Segoe UI"/>
              </a:rPr>
              <a:t>Dịch Tễ Học Lạc Nội Mạc Tử Cung &amp; Adenomyosis Trong Vô Sinh</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Tỷ lệ mắc trong cộng đồng: Chiếm khoảng 10% phụ nữ trong độ tuổi sinh sản (~190 triệu người theo WHO &amp; NEJM).</a:t>
            </a:r>
          </a:p>
          <a:p>
            <a:pPr>
              <a:spcBef>
                <a:spcPts val="500"/>
              </a:spcBef>
              <a:spcAft>
                <a:spcPts val="200"/>
              </a:spcAft>
            </a:pPr>
            <a:r>
              <a:rPr sz="1700">
                <a:solidFill>
                  <a:srgbClr val="1A2F2F"/>
                </a:solidFill>
                <a:latin typeface="Segoe UI"/>
              </a:rPr>
              <a:t>  –  Tỷ lệ trong quần thể vô sinh: Tăng vọt lên 30% - 50% ở phụ nữ đến khám và điều trị hiếm muộn (ESHRE 2022).</a:t>
            </a:r>
          </a:p>
          <a:p>
            <a:pPr>
              <a:spcBef>
                <a:spcPts val="500"/>
              </a:spcBef>
              <a:spcAft>
                <a:spcPts val="200"/>
              </a:spcAft>
            </a:pPr>
            <a:r>
              <a:rPr sz="1700">
                <a:solidFill>
                  <a:srgbClr val="1A2F2F"/>
                </a:solidFill>
                <a:latin typeface="Segoe UI"/>
              </a:rPr>
              <a:t>  –  Tỷ lệ u lạc nội mạc buồng trứng (OMA): Xuất hiện ở 17% - 44% bệnh nhân Lạc nội mạc tử cung; 20% - 30% bị cả hai bên.</a:t>
            </a:r>
          </a:p>
          <a:p>
            <a:pPr>
              <a:spcBef>
                <a:spcPts val="500"/>
              </a:spcBef>
              <a:spcAft>
                <a:spcPts val="200"/>
              </a:spcAft>
            </a:pPr>
            <a:r>
              <a:rPr sz="1700">
                <a:solidFill>
                  <a:srgbClr val="1A2F2F"/>
                </a:solidFill>
                <a:latin typeface="Segoe UI"/>
              </a:rPr>
              <a:t>  –  Tỷ lệ đồng mắc Adenomyosis: Xuất hiện ở 30% - 40% bệnh nhân lạc nội mạc sâu (DIE) hoặc u OMA, tạo tổn thương kép.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59584"/>
            <a:ext cx="10972800" cy="452432"/>
          </a:xfrm>
          <a:prstGeom prst="rect">
            <a:avLst/>
          </a:prstGeom>
          <a:noFill/>
        </p:spPr>
        <p:txBody>
          <a:bodyPr wrap="square" lIns="36576" tIns="18288" rIns="36576" bIns="18288" anchor="ctr">
            <a:spAutoFit/>
          </a:bodyPr>
          <a:lstStyle/>
          <a:p>
            <a:pPr algn="l"/>
            <a:r>
              <a:rPr sz="2700" b="1" i="0">
                <a:solidFill>
                  <a:srgbClr val="0D2B2B"/>
                </a:solidFill>
                <a:latin typeface="Segoe UI"/>
              </a:rPr>
              <a:t>Nội Mạc Tử Cung Bình Thường </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466596"/>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a:t>
            </a:r>
            <a:r>
              <a:rPr lang="en-US" sz="2000">
                <a:solidFill>
                  <a:srgbClr val="1A2F2F"/>
                </a:solidFill>
                <a:latin typeface="Segoe UI"/>
              </a:rPr>
              <a:t>		</a:t>
            </a:r>
            <a:r>
              <a:rPr sz="2000">
                <a:solidFill>
                  <a:srgbClr val="1A2F2F"/>
                </a:solidFill>
                <a:latin typeface="Segoe UI"/>
              </a:rPr>
              <a:t>Lớp niêm mạc lót bên trong lòng tử cung, chịu sự biến đổi chu kỳ theo trục Dưới đồi - Tuyến yên - Buồng trứng.</a:t>
            </a:r>
          </a:p>
          <a:p>
            <a:pPr>
              <a:spcBef>
                <a:spcPts val="500"/>
              </a:spcBef>
              <a:spcAft>
                <a:spcPts val="200"/>
              </a:spcAft>
            </a:pPr>
            <a:r>
              <a:rPr sz="2000">
                <a:solidFill>
                  <a:srgbClr val="1A2F2F"/>
                </a:solidFill>
                <a:latin typeface="Segoe UI"/>
              </a:rPr>
              <a:t>  –  Lớp Chức Năng </a:t>
            </a:r>
            <a:r>
              <a:rPr lang="en-US" sz="2000">
                <a:solidFill>
                  <a:srgbClr val="1A2F2F"/>
                </a:solidFill>
                <a:latin typeface="Segoe UI"/>
              </a:rPr>
              <a:t>: </a:t>
            </a:r>
            <a:r>
              <a:rPr sz="2000">
                <a:solidFill>
                  <a:srgbClr val="1A2F2F"/>
                </a:solidFill>
                <a:latin typeface="Segoe UI"/>
              </a:rPr>
              <a:t>Nằm nông, gồm lớp đặc và lớp xốp, cấp máu bởi động mạch xoắn nhạy cảm hormone; dày lên ở pha tăng sinh/chế tiết và bong ra tạo kinh nguyệt.</a:t>
            </a:r>
          </a:p>
          <a:p>
            <a:pPr>
              <a:spcBef>
                <a:spcPts val="500"/>
              </a:spcBef>
              <a:spcAft>
                <a:spcPts val="200"/>
              </a:spcAft>
            </a:pPr>
            <a:r>
              <a:rPr sz="2000">
                <a:solidFill>
                  <a:srgbClr val="1A2F2F"/>
                </a:solidFill>
                <a:latin typeface="Segoe UI"/>
              </a:rPr>
              <a:t>  –  Lớp Đáy </a:t>
            </a:r>
            <a:r>
              <a:rPr lang="en-US" sz="2000">
                <a:solidFill>
                  <a:srgbClr val="1A2F2F"/>
                </a:solidFill>
                <a:latin typeface="Segoe UI"/>
              </a:rPr>
              <a:t>: </a:t>
            </a:r>
            <a:r>
              <a:rPr sz="2000">
                <a:solidFill>
                  <a:srgbClr val="1A2F2F"/>
                </a:solidFill>
                <a:latin typeface="Segoe UI"/>
              </a:rPr>
              <a:t>Nằm sâu sát cơ tử cung, cấp máu bởi động mạch thẳng không phụ thuộc hormone; không bao giờ bong ra trong kỳ kinh.</a:t>
            </a:r>
          </a:p>
          <a:p>
            <a:pPr>
              <a:spcBef>
                <a:spcPts val="500"/>
              </a:spcBef>
              <a:spcAft>
                <a:spcPts val="200"/>
              </a:spcAft>
            </a:pPr>
            <a:r>
              <a:rPr sz="2000">
                <a:solidFill>
                  <a:srgbClr val="1A2F2F"/>
                </a:solidFill>
                <a:latin typeface="Segoe UI"/>
              </a:rPr>
              <a:t>  –  Quần thể tế bào gốc: Lớp đáy chứa các tế bào gốc trung mô (eMSCs) và tế bào tiền thân biểu mô chịu trách nhiệm tái tạo lớp chức năng sau mỗi chu kỳ.</a:t>
            </a:r>
          </a:p>
        </p:txBody>
      </p:sp>
      <p:pic>
        <p:nvPicPr>
          <p:cNvPr id="1026" name="Picture 2" descr="What is the endometrium? - Thickening, types and pathologies">
            <a:extLst>
              <a:ext uri="{FF2B5EF4-FFF2-40B4-BE49-F238E27FC236}">
                <a16:creationId xmlns:a16="http://schemas.microsoft.com/office/drawing/2014/main" id="{BDAD9F9A-97C9-0FF6-2399-B90966212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0083" y="4390533"/>
            <a:ext cx="5809826" cy="24674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59584"/>
            <a:ext cx="10972800" cy="452432"/>
          </a:xfrm>
          <a:prstGeom prst="rect">
            <a:avLst/>
          </a:prstGeom>
          <a:noFill/>
        </p:spPr>
        <p:txBody>
          <a:bodyPr wrap="square" lIns="36576" tIns="18288" rIns="36576" bIns="18288" anchor="ctr">
            <a:spAutoFit/>
          </a:bodyPr>
          <a:lstStyle/>
          <a:p>
            <a:pPr algn="l"/>
            <a:r>
              <a:rPr sz="2700" b="1" i="0">
                <a:solidFill>
                  <a:srgbClr val="0D2B2B"/>
                </a:solidFill>
                <a:latin typeface="Segoe UI"/>
              </a:rPr>
              <a:t>Lạc Nội Mạc Tử Cung (Endometriosis)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Định nghĩa: Bệnh lý viêm mạn tính phụ thuộc estrogen, đặc trưng bởi sự xuất hiện của mô nội mạc tử cung ở bên ngoài buồng tử cung.</a:t>
            </a:r>
          </a:p>
          <a:p>
            <a:pPr>
              <a:spcBef>
                <a:spcPts val="500"/>
              </a:spcBef>
              <a:spcAft>
                <a:spcPts val="200"/>
              </a:spcAft>
            </a:pPr>
            <a:r>
              <a:rPr sz="2400">
                <a:solidFill>
                  <a:srgbClr val="1A2F2F"/>
                </a:solidFill>
                <a:latin typeface="Segoe UI"/>
              </a:rPr>
              <a:t>  –  Tiêu chuẩn vàng mô bệnh học: Bắt buộc phải có đồng thời cả Tuyến nội mạc (glands) và Mô đệm nội mạc (stroma) kèm đại thực bào ăn hemosiderin.</a:t>
            </a:r>
          </a:p>
          <a:p>
            <a:pPr>
              <a:spcBef>
                <a:spcPts val="500"/>
              </a:spcBef>
              <a:spcAft>
                <a:spcPts val="200"/>
              </a:spcAft>
            </a:pPr>
            <a:r>
              <a:rPr sz="2400">
                <a:solidFill>
                  <a:srgbClr val="1A2F2F"/>
                </a:solidFill>
                <a:latin typeface="Segoe UI"/>
              </a:rPr>
              <a:t>  –  Vị trí giải phẫu: Phúc mạc chậu, bề mặt buồng trứng, vòi tử cung, dây chằng tử cung - cùng, túi cùng Douglas, vách trực tràng - âm đạo, bàng quang và quai ruột.</a:t>
            </a:r>
          </a:p>
          <a:p>
            <a:pPr>
              <a:spcBef>
                <a:spcPts val="500"/>
              </a:spcBef>
              <a:spcAft>
                <a:spcPts val="200"/>
              </a:spcAft>
            </a:pPr>
            <a:r>
              <a:rPr sz="2400">
                <a:solidFill>
                  <a:srgbClr val="1A2F2F"/>
                </a:solidFill>
                <a:latin typeface="Segoe UI"/>
              </a:rPr>
              <a:t>  –  Đặc tính lâm sàng: Mô lạc chỗ chảy máu chu kỳ gây phản ứng viêm mạn tính, lắng đọng fibrin và tạo các dải xơ dính co kéo vùng chậu.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lang="en-US" sz="2700" b="1" i="0">
                <a:solidFill>
                  <a:srgbClr val="0D2B2B"/>
                </a:solidFill>
                <a:latin typeface="Segoe UI"/>
              </a:rPr>
              <a:t>Thuyết Hình Thành </a:t>
            </a:r>
            <a:r>
              <a:rPr sz="2700" b="1" i="0">
                <a:solidFill>
                  <a:srgbClr val="0D2B2B"/>
                </a:solidFill>
                <a:latin typeface="Segoe UI"/>
              </a:rPr>
              <a:t>Lạc Nội Mạc Tử Cung</a:t>
            </a:r>
            <a:endParaRPr lang="en-US" sz="2700" b="1" i="0">
              <a:solidFill>
                <a:srgbClr val="0D2B2B"/>
              </a:solidFill>
              <a:latin typeface="Segoe UI"/>
            </a:endParaRPr>
          </a:p>
          <a:p>
            <a:pPr algn="l"/>
            <a:r>
              <a:rPr sz="2700" b="1" i="0">
                <a:solidFill>
                  <a:srgbClr val="0D2B2B"/>
                </a:solidFill>
                <a:latin typeface="Segoe UI"/>
              </a:rPr>
              <a:t>Thuyết Trào Ngược Máu Kinh (Sampson 1927) &amp; Miễn Dịch</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Hiện tượng trào ngược: Trong chu kỳ hành kinh, máu kinh mang theo các mảnh biểu mô và mô đệm nội mạc còn sống bị trào ngược qua vòi trứng vào ổ phúc mạc.</a:t>
            </a:r>
          </a:p>
          <a:p>
            <a:pPr>
              <a:spcBef>
                <a:spcPts val="500"/>
              </a:spcBef>
              <a:spcAft>
                <a:spcPts val="200"/>
              </a:spcAft>
            </a:pPr>
            <a:r>
              <a:rPr sz="2400">
                <a:solidFill>
                  <a:srgbClr val="1A2F2F"/>
                </a:solidFill>
                <a:latin typeface="Segoe UI"/>
              </a:rPr>
              <a:t>  –  Nghịch lý miễn dịch: 90% phụ nữ có hiện tượng trào ngược nhưng chỉ 10% bị bệnh do ở người bệnh có sự suy giảm hoạt tính dọn dẹp của tế bào NK và đại thực bào phúc mạc.</a:t>
            </a:r>
          </a:p>
          <a:p>
            <a:pPr>
              <a:spcBef>
                <a:spcPts val="500"/>
              </a:spcBef>
              <a:spcAft>
                <a:spcPts val="200"/>
              </a:spcAft>
            </a:pPr>
            <a:r>
              <a:rPr sz="2400">
                <a:solidFill>
                  <a:srgbClr val="1A2F2F"/>
                </a:solidFill>
                <a:latin typeface="Segoe UI"/>
              </a:rPr>
              <a:t>  –  Kháng chết tế bào </a:t>
            </a:r>
            <a:r>
              <a:rPr lang="en-US" sz="2400">
                <a:solidFill>
                  <a:srgbClr val="1A2F2F"/>
                </a:solidFill>
                <a:latin typeface="Segoe UI"/>
              </a:rPr>
              <a:t>: </a:t>
            </a:r>
            <a:r>
              <a:rPr sz="2400">
                <a:solidFill>
                  <a:srgbClr val="1A2F2F"/>
                </a:solidFill>
                <a:latin typeface="Segoe UI"/>
              </a:rPr>
              <a:t>Tế bào nội mạc trào ngược tăng biểu hiện protein kháng chết Bcl-2, giúp chúng sống sót dai dẳng ngoài buồng tử cung.</a:t>
            </a:r>
          </a:p>
          <a:p>
            <a:pPr>
              <a:spcBef>
                <a:spcPts val="500"/>
              </a:spcBef>
              <a:spcAft>
                <a:spcPts val="200"/>
              </a:spcAft>
            </a:pPr>
            <a:r>
              <a:rPr sz="2400">
                <a:solidFill>
                  <a:srgbClr val="1A2F2F"/>
                </a:solidFill>
                <a:latin typeface="Segoe UI"/>
              </a:rPr>
              <a:t>  –  Bám dính &amp; Cấy ghép: Tăng biểu hiện các phân tử bám dính (Integrins, CD44, ICAM-1) giúp mảnh mô gắn chặt vào lớp thanh mạc phúc mạc.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r>
              <a:rPr lang="en-US" sz="2700" b="1">
                <a:solidFill>
                  <a:srgbClr val="0D2B2B"/>
                </a:solidFill>
                <a:latin typeface="Segoe UI"/>
              </a:rPr>
              <a:t>Thuyết Hình Thành Lạc Nội Mạc Tử Cung</a:t>
            </a:r>
          </a:p>
          <a:p>
            <a:pPr algn="l"/>
            <a:r>
              <a:rPr sz="2700" b="1" i="0">
                <a:solidFill>
                  <a:srgbClr val="0D2B2B"/>
                </a:solidFill>
                <a:latin typeface="Segoe UI"/>
              </a:rPr>
              <a:t>Thuyết Dị Sản Biểu Mô Thể Xoang (Meyer 1919)</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2265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Cơ sở phôi thai học: Biểu mô phúc mạc, buồng trứng và nội mạc tử cung đều có chung nguồn gốc phôi thai từ biểu mô thể xoang nguyên thủy</a:t>
            </a:r>
          </a:p>
          <a:p>
            <a:pPr>
              <a:spcBef>
                <a:spcPts val="500"/>
              </a:spcBef>
              <a:spcAft>
                <a:spcPts val="200"/>
              </a:spcAft>
            </a:pPr>
            <a:r>
              <a:rPr sz="2400">
                <a:solidFill>
                  <a:srgbClr val="1A2F2F"/>
                </a:solidFill>
                <a:latin typeface="Segoe UI"/>
              </a:rPr>
              <a:t>  –  Chuyển dạng tế bào (Metaplasia): Dưới kích thích của nồng độ Estrogen cao và tình trạng viêm mạn tính, các tế bào trung biểu mô phúc mạc biệt hóa ngược thành biểu mô tuyến nội mạc.</a:t>
            </a:r>
          </a:p>
          <a:p>
            <a:pPr>
              <a:spcBef>
                <a:spcPts val="500"/>
              </a:spcBef>
              <a:spcAft>
                <a:spcPts val="200"/>
              </a:spcAft>
            </a:pPr>
            <a:r>
              <a:rPr sz="2400">
                <a:solidFill>
                  <a:srgbClr val="1A2F2F"/>
                </a:solidFill>
                <a:latin typeface="Segoe UI"/>
              </a:rPr>
              <a:t>  –  Bằng chứng y học ủng hộ: Giải thích được các ca bệnh Lạc nội mạc tử cung ở bé gái trước tuổi dậy thì, phụ nữ không có tử cung bẩm sinh (Hội chứng MRKH), hoặc nam giới dùng Estrogen liều cao trị ung thư tuyến tiền liệt.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r>
              <a:rPr lang="en-US" sz="2700" b="1">
                <a:solidFill>
                  <a:srgbClr val="0D2B2B"/>
                </a:solidFill>
                <a:latin typeface="Segoe UI"/>
              </a:rPr>
              <a:t>Thuyết Hình Thành Lạc Nội Mạc Tử Cung</a:t>
            </a:r>
          </a:p>
          <a:p>
            <a:pPr algn="l"/>
            <a:r>
              <a:rPr sz="2700" b="1" i="0">
                <a:solidFill>
                  <a:srgbClr val="0D2B2B"/>
                </a:solidFill>
                <a:latin typeface="Segoe UI"/>
              </a:rPr>
              <a:t>Thuyết Tế Bào Gốc &amp; Tế Bào Tiền Thân (eMSCs)</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1417116"/>
            <a:ext cx="11064240" cy="5189049"/>
          </a:xfrm>
          <a:prstGeom prst="rect">
            <a:avLst/>
          </a:prstGeom>
          <a:noFill/>
        </p:spPr>
        <p:txBody>
          <a:bodyPr wrap="square" lIns="36576" rIns="36576">
            <a:spAutoFit/>
          </a:bodyPr>
          <a:lstStyle/>
          <a:p>
            <a:pPr>
              <a:lnSpc>
                <a:spcPct val="150000"/>
              </a:lnSpc>
              <a:spcBef>
                <a:spcPts val="500"/>
              </a:spcBef>
              <a:spcAft>
                <a:spcPts val="200"/>
              </a:spcAft>
            </a:pPr>
            <a:r>
              <a:rPr sz="2400">
                <a:solidFill>
                  <a:srgbClr val="1A2F2F"/>
                </a:solidFill>
                <a:latin typeface="Segoe UI"/>
              </a:rPr>
              <a:t>  –  Nguồn gốc tế bào gốc: Quần thể tế bào gốc trung mô nội mạc (eMSCs - CD146+/PDGFRβ+) và tế bào tiền thân biểu mô (SUSD2+) nằm ở lớp nội mạc đáy bị bong theo máu kinh trào ngược.</a:t>
            </a:r>
          </a:p>
          <a:p>
            <a:pPr>
              <a:lnSpc>
                <a:spcPct val="150000"/>
              </a:lnSpc>
              <a:spcBef>
                <a:spcPts val="500"/>
              </a:spcBef>
              <a:spcAft>
                <a:spcPts val="200"/>
              </a:spcAft>
            </a:pPr>
            <a:r>
              <a:rPr sz="2400">
                <a:solidFill>
                  <a:srgbClr val="1A2F2F"/>
                </a:solidFill>
                <a:latin typeface="Segoe UI"/>
              </a:rPr>
              <a:t>  –  Di chuyển theo mạch máu/bạch huyết: Thuyết Halban giải thích các tế bào gốc có thể đi theo đường tuần hoàn máu và bạch huyết đến các cơ quan xa (phổi, não, rốn).</a:t>
            </a:r>
          </a:p>
          <a:p>
            <a:pPr>
              <a:lnSpc>
                <a:spcPct val="150000"/>
              </a:lnSpc>
              <a:spcBef>
                <a:spcPts val="500"/>
              </a:spcBef>
              <a:spcAft>
                <a:spcPts val="200"/>
              </a:spcAft>
            </a:pPr>
            <a:r>
              <a:rPr sz="2400">
                <a:solidFill>
                  <a:srgbClr val="1A2F2F"/>
                </a:solidFill>
                <a:latin typeface="Segoe UI"/>
              </a:rPr>
              <a:t>  –  Khả năng tạo mạch tân tạo: Do có tính đa tiềm năng, eMSCs khi rơi vào khoang chậu tiết mạnh yếu tố tăng sinh mạch VEGF để tạo mạng mạch máu nuôi dưỡng và thiết lập ổ bệnh vĩnh viễn.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8012" y="306699"/>
            <a:ext cx="10972800" cy="867930"/>
          </a:xfrm>
          <a:prstGeom prst="rect">
            <a:avLst/>
          </a:prstGeom>
          <a:noFill/>
        </p:spPr>
        <p:txBody>
          <a:bodyPr wrap="square" lIns="36576" tIns="18288" rIns="36576" bIns="18288" anchor="ctr">
            <a:spAutoFit/>
          </a:bodyPr>
          <a:lstStyle/>
          <a:p>
            <a:r>
              <a:rPr lang="en-US" sz="2700" b="1">
                <a:solidFill>
                  <a:srgbClr val="0D2B2B"/>
                </a:solidFill>
                <a:latin typeface="Segoe UI"/>
              </a:rPr>
              <a:t>Thuyết Hình Thành Lạc Nội Mạc Tử Cung</a:t>
            </a:r>
          </a:p>
          <a:p>
            <a:pPr algn="l"/>
            <a:r>
              <a:rPr sz="2700" b="1" i="0">
                <a:solidFill>
                  <a:srgbClr val="0D2B2B"/>
                </a:solidFill>
                <a:latin typeface="Segoe UI"/>
              </a:rPr>
              <a:t>Vai Trò Của Đột Biến Gen Soma </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Phát hiện giải trình tự gen : Các ổ Lạc nội mạc tử cung sâu (DIE) và u OMA thường mang các đột biến gen soma tương tự như trong khối u (nhưng không biến thành ung thư).</a:t>
            </a:r>
          </a:p>
          <a:p>
            <a:pPr>
              <a:spcBef>
                <a:spcPts val="500"/>
              </a:spcBef>
              <a:spcAft>
                <a:spcPts val="200"/>
              </a:spcAft>
            </a:pPr>
            <a:r>
              <a:rPr sz="2400">
                <a:solidFill>
                  <a:srgbClr val="1A2F2F"/>
                </a:solidFill>
                <a:latin typeface="Segoe UI"/>
              </a:rPr>
              <a:t>  –  Các gen đột biến chính: ARID1A (mất chức năng phức hợp tái cấu trúc chất nhiễm sắc SWI/SNF), PIK3CA, KRAS và PPP2R1A.</a:t>
            </a:r>
          </a:p>
          <a:p>
            <a:pPr>
              <a:spcBef>
                <a:spcPts val="500"/>
              </a:spcBef>
              <a:spcAft>
                <a:spcPts val="200"/>
              </a:spcAft>
            </a:pPr>
            <a:r>
              <a:rPr sz="2400">
                <a:solidFill>
                  <a:srgbClr val="1A2F2F"/>
                </a:solidFill>
                <a:latin typeface="Segoe UI"/>
              </a:rPr>
              <a:t>  –  Hậu quả sinh học phân tử: Kích hoạt liên tục con đường sinh tồn tế bào PI3K/Akt/mTOR và MAPK, mang lại khả năng xâm lấn mô sâu, đề kháng apoptosis và tự sản xuất hormone tại chỗ.</a:t>
            </a:r>
          </a:p>
          <a:p>
            <a:pPr>
              <a:spcBef>
                <a:spcPts val="500"/>
              </a:spcBef>
              <a:spcAft>
                <a:spcPts val="200"/>
              </a:spcAft>
            </a:pPr>
            <a:r>
              <a:rPr sz="2400">
                <a:solidFill>
                  <a:srgbClr val="1A2F2F"/>
                </a:solidFill>
                <a:latin typeface="Segoe UI"/>
              </a:rPr>
              <a:t>  </a:t>
            </a:r>
            <a:r>
              <a:rPr sz="2400" b="1" i="1">
                <a:solidFill>
                  <a:srgbClr val="1A2F2F"/>
                </a:solidFill>
                <a:latin typeface="Segoe UI"/>
              </a:rPr>
              <a:t>–  Giải thích tính chất xâm lấn phá hủy mô và tái phát dai dẳng của bệnh Lạc nội mạc tử cung.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59584"/>
            <a:ext cx="10972800" cy="452432"/>
          </a:xfrm>
          <a:prstGeom prst="rect">
            <a:avLst/>
          </a:prstGeom>
          <a:noFill/>
        </p:spPr>
        <p:txBody>
          <a:bodyPr wrap="square" lIns="36576" tIns="18288" rIns="36576" bIns="18288" anchor="ctr">
            <a:spAutoFit/>
          </a:bodyPr>
          <a:lstStyle/>
          <a:p>
            <a:pPr algn="l"/>
            <a:r>
              <a:rPr sz="2700" b="1" i="0">
                <a:solidFill>
                  <a:srgbClr val="0D2B2B"/>
                </a:solidFill>
                <a:latin typeface="Segoe UI"/>
              </a:rPr>
              <a:t>U Lạc Nội Mạc Buồng Trứng (Endometrioma - OMA)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01522"/>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a:t>
            </a:r>
            <a:r>
              <a:rPr sz="2400" b="1" i="1">
                <a:solidFill>
                  <a:srgbClr val="1A2F2F"/>
                </a:solidFill>
                <a:latin typeface="Segoe UI"/>
              </a:rPr>
              <a:t>Định nghĩa: </a:t>
            </a:r>
            <a:r>
              <a:rPr sz="2400">
                <a:solidFill>
                  <a:srgbClr val="1A2F2F"/>
                </a:solidFill>
                <a:latin typeface="Segoe UI"/>
              </a:rPr>
              <a:t>Thể tổn thương lạc nội mạc nằm trong nhu mô buồng trứng, tạo thành nang chứa dịch máu thoái hóa màu nâu đen đặc sánh như sô-cô-la.</a:t>
            </a:r>
          </a:p>
          <a:p>
            <a:pPr>
              <a:spcBef>
                <a:spcPts val="500"/>
              </a:spcBef>
              <a:spcAft>
                <a:spcPts val="200"/>
              </a:spcAft>
            </a:pPr>
            <a:r>
              <a:rPr sz="2400">
                <a:solidFill>
                  <a:srgbClr val="1A2F2F"/>
                </a:solidFill>
                <a:latin typeface="Segoe UI"/>
              </a:rPr>
              <a:t>  –  Bản chất u nang giả (Pseudocyst): Phần lớn u OMA không có vỏ bao biểu mô thực thụ của buồng trứng mà là </a:t>
            </a:r>
            <a:r>
              <a:rPr sz="2400" b="1" i="1">
                <a:solidFill>
                  <a:srgbClr val="1A2F2F"/>
                </a:solidFill>
                <a:latin typeface="Segoe UI"/>
              </a:rPr>
              <a:t>khoang kín hình thành do vỏ buồng trứng bị cuộn lõm vào trong.</a:t>
            </a:r>
          </a:p>
          <a:p>
            <a:pPr>
              <a:spcBef>
                <a:spcPts val="500"/>
              </a:spcBef>
              <a:spcAft>
                <a:spcPts val="200"/>
              </a:spcAft>
            </a:pPr>
            <a:r>
              <a:rPr sz="2400">
                <a:solidFill>
                  <a:srgbClr val="1A2F2F"/>
                </a:solidFill>
                <a:latin typeface="Segoe UI"/>
              </a:rPr>
              <a:t>  –  </a:t>
            </a:r>
            <a:r>
              <a:rPr sz="2400" b="1" i="1">
                <a:solidFill>
                  <a:srgbClr val="1A2F2F"/>
                </a:solidFill>
                <a:latin typeface="Segoe UI"/>
              </a:rPr>
              <a:t>Tích tụ độc tố</a:t>
            </a:r>
            <a:r>
              <a:rPr sz="2400">
                <a:solidFill>
                  <a:srgbClr val="1A2F2F"/>
                </a:solidFill>
                <a:latin typeface="Segoe UI"/>
              </a:rPr>
              <a:t>: Máu kinh thoái hóa giải phóng lượng khổng lồ sắt tự do (Fe2+) và hạt sắc tố hemosiderin lơ lửng, tạo hình ảnh </a:t>
            </a:r>
            <a:r>
              <a:rPr sz="2400" b="1" i="1">
                <a:solidFill>
                  <a:srgbClr val="1A2F2F"/>
                </a:solidFill>
                <a:latin typeface="Segoe UI"/>
              </a:rPr>
              <a:t>'kính mờ' (ground-glass) </a:t>
            </a:r>
            <a:r>
              <a:rPr sz="2400">
                <a:solidFill>
                  <a:srgbClr val="1A2F2F"/>
                </a:solidFill>
                <a:latin typeface="Segoe UI"/>
              </a:rPr>
              <a:t>trên siêu âm.</a:t>
            </a:r>
          </a:p>
          <a:p>
            <a:pPr>
              <a:spcBef>
                <a:spcPts val="500"/>
              </a:spcBef>
              <a:spcAft>
                <a:spcPts val="200"/>
              </a:spcAft>
            </a:pPr>
            <a:r>
              <a:rPr sz="2400">
                <a:solidFill>
                  <a:srgbClr val="1A2F2F"/>
                </a:solidFill>
                <a:latin typeface="Segoe UI"/>
              </a:rPr>
              <a:t>  –  </a:t>
            </a:r>
            <a:r>
              <a:rPr sz="2400" b="1" i="1">
                <a:solidFill>
                  <a:srgbClr val="1A2F2F"/>
                </a:solidFill>
                <a:latin typeface="Segoe UI"/>
              </a:rPr>
              <a:t>Ổ độc tính sinh học: Nang OMA liên tục khuếch tán các gốc oxy hóa tự do (ROS) và cytokine viêm tàn phá nhu mô buồng trứng lành lân cận.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459584"/>
            <a:ext cx="10972800" cy="452432"/>
          </a:xfrm>
          <a:prstGeom prst="rect">
            <a:avLst/>
          </a:prstGeom>
          <a:noFill/>
        </p:spPr>
        <p:txBody>
          <a:bodyPr wrap="square" lIns="36576" tIns="18288" rIns="36576" bIns="18288" anchor="ctr">
            <a:spAutoFit/>
          </a:bodyPr>
          <a:lstStyle/>
          <a:p>
            <a:pPr algn="l"/>
            <a:r>
              <a:rPr lang="en-US" sz="2700" b="1" i="0">
                <a:solidFill>
                  <a:srgbClr val="0D2B2B"/>
                </a:solidFill>
                <a:latin typeface="Segoe UI"/>
              </a:rPr>
              <a:t>Thuyết Hình Thành </a:t>
            </a:r>
            <a:r>
              <a:rPr sz="2700" b="1" i="0">
                <a:solidFill>
                  <a:srgbClr val="0D2B2B"/>
                </a:solidFill>
                <a:latin typeface="Segoe UI"/>
              </a:rPr>
              <a:t>U Lạc Nội Mạc Buồng Trứng </a:t>
            </a:r>
            <a:endParaRPr lang="en-US" sz="2700" b="1">
              <a:solidFill>
                <a:srgbClr val="0D2B2B"/>
              </a:solidFill>
              <a:latin typeface="Segoe UI"/>
            </a:endParaRP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45654"/>
            <a:ext cx="11064240" cy="4831194"/>
          </a:xfrm>
          <a:prstGeom prst="rect">
            <a:avLst/>
          </a:prstGeom>
          <a:noFill/>
        </p:spPr>
        <p:txBody>
          <a:bodyPr wrap="square" lIns="36576" rIns="36576">
            <a:spAutoFit/>
          </a:bodyPr>
          <a:lstStyle/>
          <a:p>
            <a:pPr>
              <a:lnSpc>
                <a:spcPct val="150000"/>
              </a:lnSpc>
              <a:spcBef>
                <a:spcPts val="500"/>
              </a:spcBef>
              <a:spcAft>
                <a:spcPts val="200"/>
              </a:spcAft>
            </a:pPr>
            <a:r>
              <a:rPr sz="2000">
                <a:solidFill>
                  <a:srgbClr val="1A2F2F"/>
                </a:solidFill>
                <a:latin typeface="Segoe UI"/>
              </a:rPr>
              <a:t>  –  </a:t>
            </a:r>
            <a:r>
              <a:rPr sz="2000" b="1" i="1">
                <a:solidFill>
                  <a:srgbClr val="1A2F2F"/>
                </a:solidFill>
                <a:latin typeface="Segoe UI"/>
              </a:rPr>
              <a:t>Thuyết Cuộn Gập Vỏ Buồng Trứng (Invagination Theory - Hughesdon 1957 / Brosens 1994): </a:t>
            </a:r>
            <a:r>
              <a:rPr lang="en-US" sz="2000" b="1" i="1">
                <a:solidFill>
                  <a:srgbClr val="1A2F2F"/>
                </a:solidFill>
                <a:latin typeface="Segoe UI"/>
              </a:rPr>
              <a:t> </a:t>
            </a:r>
            <a:br>
              <a:rPr lang="en-US" sz="2000" b="1" i="1">
                <a:solidFill>
                  <a:srgbClr val="1A2F2F"/>
                </a:solidFill>
                <a:latin typeface="Segoe UI"/>
              </a:rPr>
            </a:br>
            <a:r>
              <a:rPr sz="2000">
                <a:solidFill>
                  <a:srgbClr val="1A2F2F"/>
                </a:solidFill>
                <a:latin typeface="Segoe UI"/>
              </a:rPr>
              <a:t>Mảnh nội mạc trào ngược bám vào mặt ngoài buồng trứng → Viêm dính buồng trứng vào hố buồng trứng thành chậu → Chảy máu chu kỳ giam cầm kéo cuộn lõm vỏ buồng trứng vào trong nhu mô tạo nang giả.</a:t>
            </a:r>
          </a:p>
          <a:p>
            <a:pPr>
              <a:lnSpc>
                <a:spcPct val="150000"/>
              </a:lnSpc>
              <a:spcBef>
                <a:spcPts val="500"/>
              </a:spcBef>
              <a:spcAft>
                <a:spcPts val="200"/>
              </a:spcAft>
            </a:pPr>
            <a:r>
              <a:rPr sz="2000">
                <a:solidFill>
                  <a:srgbClr val="1A2F2F"/>
                </a:solidFill>
                <a:latin typeface="Segoe UI"/>
              </a:rPr>
              <a:t>  –  </a:t>
            </a:r>
            <a:r>
              <a:rPr sz="2000" b="1" i="1">
                <a:solidFill>
                  <a:srgbClr val="1A2F2F"/>
                </a:solidFill>
                <a:latin typeface="Segoe UI"/>
              </a:rPr>
              <a:t>Thuyết Dị Sản Biểu Mô Mầm (Donnez 1996): </a:t>
            </a:r>
            <a:r>
              <a:rPr sz="2000">
                <a:solidFill>
                  <a:srgbClr val="1A2F2F"/>
                </a:solidFill>
                <a:latin typeface="Segoe UI"/>
              </a:rPr>
              <a:t>Dưới kích thích của dịch phúc mạc viêm, các túi lõm của biểu mô bề mặt mầm buồng trứng biến đổi dị sản thành biểu mô tuyến nội mạc và phát triển thành nang trong nhu mô.</a:t>
            </a:r>
          </a:p>
          <a:p>
            <a:pPr>
              <a:lnSpc>
                <a:spcPct val="150000"/>
              </a:lnSpc>
              <a:spcBef>
                <a:spcPts val="500"/>
              </a:spcBef>
              <a:spcAft>
                <a:spcPts val="200"/>
              </a:spcAft>
            </a:pPr>
            <a:r>
              <a:rPr sz="2000">
                <a:solidFill>
                  <a:srgbClr val="1A2F2F"/>
                </a:solidFill>
                <a:latin typeface="Segoe UI"/>
              </a:rPr>
              <a:t>  –  </a:t>
            </a:r>
            <a:r>
              <a:rPr sz="2000" b="1" i="1">
                <a:solidFill>
                  <a:srgbClr val="1A2F2F"/>
                </a:solidFill>
                <a:latin typeface="Segoe UI"/>
              </a:rPr>
              <a:t>Thuyết Rụng Trứng &amp; Hoàng Thể (Nezhat): </a:t>
            </a:r>
            <a:r>
              <a:rPr sz="2000">
                <a:solidFill>
                  <a:srgbClr val="1A2F2F"/>
                </a:solidFill>
                <a:latin typeface="Segoe UI"/>
              </a:rPr>
              <a:t>Mô lạc nội mạc cấy ghép vào lỗ rách hoàng thể sau rụng trứng và phát triển thành nang sô-cô-la.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U Lạc Nội Mạc Buồng Trứng </a:t>
            </a:r>
            <a:endParaRPr lang="en-US" sz="2700" b="1" i="0">
              <a:solidFill>
                <a:srgbClr val="0D2B2B"/>
              </a:solidFill>
              <a:latin typeface="Segoe UI"/>
            </a:endParaRPr>
          </a:p>
          <a:p>
            <a:pPr algn="l"/>
            <a:r>
              <a:rPr sz="2700" b="1" i="0">
                <a:solidFill>
                  <a:srgbClr val="0D2B2B"/>
                </a:solidFill>
                <a:latin typeface="Segoe UI"/>
              </a:rPr>
              <a:t> Phản Ứng Fenton &amp; Stress Oxy Hóa Dịch Nang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Tích tụ sắt tự do: Dịch sô-cô-la chứa nồng độ Sắt tự do (Fe2+) cao gấp hàng trăm lần huyết thanh bình thường.</a:t>
            </a:r>
          </a:p>
          <a:p>
            <a:pPr>
              <a:spcBef>
                <a:spcPts val="500"/>
              </a:spcBef>
              <a:spcAft>
                <a:spcPts val="200"/>
              </a:spcAft>
            </a:pPr>
            <a:r>
              <a:rPr sz="2400">
                <a:solidFill>
                  <a:srgbClr val="1A2F2F"/>
                </a:solidFill>
                <a:latin typeface="Segoe UI"/>
              </a:rPr>
              <a:t>  –  Phản ứng Fenton: Fe2+ xúc tác phản ứng với H2O2 tạo ra gốc tự do Hydroxyl (•OH) — </a:t>
            </a:r>
            <a:r>
              <a:rPr sz="2400" b="1" i="1">
                <a:solidFill>
                  <a:srgbClr val="1A2F2F"/>
                </a:solidFill>
                <a:latin typeface="Segoe UI"/>
              </a:rPr>
              <a:t>gốc oxy hóa hoạt tính (ROS) có độc tính mạnh nhất.</a:t>
            </a:r>
          </a:p>
          <a:p>
            <a:pPr>
              <a:spcBef>
                <a:spcPts val="500"/>
              </a:spcBef>
              <a:spcAft>
                <a:spcPts val="200"/>
              </a:spcAft>
            </a:pPr>
            <a:r>
              <a:rPr sz="2400">
                <a:solidFill>
                  <a:srgbClr val="1A2F2F"/>
                </a:solidFill>
                <a:latin typeface="Segoe UI"/>
              </a:rPr>
              <a:t>  –  Khuếch tán độc tố: ROS và các cytokine viêm (TNF-α, IL-6, IL-8) thẩm thấu xuyên qua vách nang vào dịch nang noãn xung quanh.</a:t>
            </a:r>
          </a:p>
          <a:p>
            <a:pPr>
              <a:spcBef>
                <a:spcPts val="500"/>
              </a:spcBef>
              <a:spcAft>
                <a:spcPts val="200"/>
              </a:spcAft>
            </a:pPr>
            <a:r>
              <a:rPr sz="2400">
                <a:solidFill>
                  <a:srgbClr val="1A2F2F"/>
                </a:solidFill>
                <a:latin typeface="Segoe UI"/>
              </a:rPr>
              <a:t>  –  </a:t>
            </a:r>
            <a:r>
              <a:rPr sz="2400" b="1" i="1">
                <a:solidFill>
                  <a:srgbClr val="1A2F2F"/>
                </a:solidFill>
                <a:latin typeface="Segoe UI"/>
              </a:rPr>
              <a:t>Tổn thương giao tử</a:t>
            </a:r>
            <a:r>
              <a:rPr sz="2400">
                <a:solidFill>
                  <a:srgbClr val="1A2F2F"/>
                </a:solidFill>
                <a:latin typeface="Segoe UI"/>
              </a:rPr>
              <a:t>: Gây peroxy hóa lipid màng noãn, đứt gãy thoi vô sắc và phân mảnh DNA noãn/tinh trùng, làm giảm tỷ lệ thụ tinh.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U Lạc Nội Mạc Buồng Trứng </a:t>
            </a:r>
            <a:endParaRPr lang="en-US" sz="2700" b="1" i="0">
              <a:solidFill>
                <a:srgbClr val="0D2B2B"/>
              </a:solidFill>
              <a:latin typeface="Segoe UI"/>
            </a:endParaRPr>
          </a:p>
          <a:p>
            <a:pPr algn="l"/>
            <a:r>
              <a:rPr sz="2700" b="1" i="0">
                <a:solidFill>
                  <a:srgbClr val="0D2B2B"/>
                </a:solidFill>
                <a:latin typeface="Segoe UI"/>
              </a:rPr>
              <a:t> Xơ Hóa Mô Vỏ &amp; Hiện Tượng Cạn Kiệt Nang Noãn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Xơ Hóa Mô Vỏ </a:t>
            </a:r>
            <a:r>
              <a:rPr lang="en-US" sz="2400">
                <a:solidFill>
                  <a:srgbClr val="1A2F2F"/>
                </a:solidFill>
                <a:latin typeface="Segoe UI"/>
              </a:rPr>
              <a:t>: </a:t>
            </a:r>
            <a:r>
              <a:rPr sz="2400">
                <a:solidFill>
                  <a:srgbClr val="1A2F2F"/>
                </a:solidFill>
                <a:latin typeface="Segoe UI"/>
              </a:rPr>
              <a:t>Cytokine viêm kích thích nguyên bào sợi lắng đọng mạng lưới collagen đặc quánh làm xơ cứng mô đệm vỏ buồng trứng bao quanh u nang.</a:t>
            </a:r>
          </a:p>
          <a:p>
            <a:pPr>
              <a:spcBef>
                <a:spcPts val="500"/>
              </a:spcBef>
              <a:spcAft>
                <a:spcPts val="200"/>
              </a:spcAft>
            </a:pPr>
            <a:r>
              <a:rPr sz="2400">
                <a:solidFill>
                  <a:srgbClr val="1A2F2F"/>
                </a:solidFill>
                <a:latin typeface="Segoe UI"/>
              </a:rPr>
              <a:t>  –  Thiếu Máu Nuôi Vi Mạch: Các tiểu động mạch rốn buồng trứng nuôi cụm nang nguyên thủy bị chèn ép và xơ hóa tắc nghẽn.</a:t>
            </a:r>
          </a:p>
          <a:p>
            <a:pPr>
              <a:spcBef>
                <a:spcPts val="500"/>
              </a:spcBef>
              <a:spcAft>
                <a:spcPts val="200"/>
              </a:spcAft>
            </a:pPr>
            <a:r>
              <a:rPr sz="2400">
                <a:solidFill>
                  <a:srgbClr val="1A2F2F"/>
                </a:solidFill>
                <a:latin typeface="Segoe UI"/>
              </a:rPr>
              <a:t>  –  Hiện Tượng Cạn Kiệt Nang Noãn </a:t>
            </a:r>
            <a:r>
              <a:rPr lang="en-US" sz="2400">
                <a:solidFill>
                  <a:srgbClr val="1A2F2F"/>
                </a:solidFill>
                <a:latin typeface="Segoe UI"/>
              </a:rPr>
              <a:t>“ </a:t>
            </a:r>
            <a:r>
              <a:rPr sz="2400">
                <a:solidFill>
                  <a:srgbClr val="1A2F2F"/>
                </a:solidFill>
                <a:latin typeface="Segoe UI"/>
              </a:rPr>
              <a:t>Lực căng cơ học và viêm kích hoạt bất thường con đường PTEN/Akt/Foxo3, làm các nang noãn nguyên thủy đang ngủ yên thức giấc đồng loạt ngoài tầm kiểm soát.</a:t>
            </a:r>
          </a:p>
          <a:p>
            <a:pPr>
              <a:spcBef>
                <a:spcPts val="500"/>
              </a:spcBef>
              <a:spcAft>
                <a:spcPts val="200"/>
              </a:spcAft>
            </a:pPr>
            <a:r>
              <a:rPr sz="2400">
                <a:solidFill>
                  <a:srgbClr val="1A2F2F"/>
                </a:solidFill>
                <a:latin typeface="Segoe UI"/>
              </a:rPr>
              <a:t>  –  Hậu quả lâm sàng: </a:t>
            </a:r>
            <a:r>
              <a:rPr sz="2400" b="1" i="1">
                <a:solidFill>
                  <a:srgbClr val="1A2F2F"/>
                </a:solidFill>
                <a:latin typeface="Segoe UI"/>
              </a:rPr>
              <a:t>Nang noãn sau đó thoái hóa và teo hàng loạt (Atresia), làm sụt giảm nhanh nồng độ AMH và số lượng nang thứ cấp AFC.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U Lạc Nội Mạc Buồng Trứng </a:t>
            </a:r>
            <a:endParaRPr lang="en-US" sz="2700" b="1" i="0">
              <a:solidFill>
                <a:srgbClr val="0D2B2B"/>
              </a:solidFill>
              <a:latin typeface="Segoe UI"/>
            </a:endParaRPr>
          </a:p>
          <a:p>
            <a:pPr algn="l"/>
            <a:r>
              <a:rPr sz="2700" b="1" i="0">
                <a:solidFill>
                  <a:srgbClr val="0D2B2B"/>
                </a:solidFill>
                <a:latin typeface="Segoe UI"/>
              </a:rPr>
              <a:t>Tác Động Lên Kết Cục ART (Hamdan 2015)</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487861"/>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Giảm số lượng noãn thu hồi: Bệnh nhân OMA thu được ít noãn hơn đáng kể (Mean Difference -1.97 noãn, 95% CI: -2.62</a:t>
            </a:r>
            <a:r>
              <a:rPr lang="en-US" sz="2400">
                <a:solidFill>
                  <a:srgbClr val="1A2F2F"/>
                </a:solidFill>
                <a:latin typeface="Segoe UI"/>
              </a:rPr>
              <a:t> -</a:t>
            </a:r>
            <a:r>
              <a:rPr sz="2400">
                <a:solidFill>
                  <a:srgbClr val="1A2F2F"/>
                </a:solidFill>
                <a:latin typeface="Segoe UI"/>
              </a:rPr>
              <a:t> -1.33).</a:t>
            </a:r>
          </a:p>
          <a:p>
            <a:pPr>
              <a:spcBef>
                <a:spcPts val="500"/>
              </a:spcBef>
              <a:spcAft>
                <a:spcPts val="200"/>
              </a:spcAft>
            </a:pPr>
            <a:r>
              <a:rPr sz="2400">
                <a:solidFill>
                  <a:srgbClr val="1A2F2F"/>
                </a:solidFill>
                <a:latin typeface="Segoe UI"/>
              </a:rPr>
              <a:t>  –  Tăng tiêu tốn thuốc kích trứng: Cần tổng liều Gonadotropin cao hơn và thời gian tiêm thuốc dài hơn.</a:t>
            </a:r>
          </a:p>
          <a:p>
            <a:pPr>
              <a:spcBef>
                <a:spcPts val="500"/>
              </a:spcBef>
              <a:spcAft>
                <a:spcPts val="200"/>
              </a:spcAft>
            </a:pPr>
            <a:r>
              <a:rPr sz="2400">
                <a:solidFill>
                  <a:srgbClr val="1A2F2F"/>
                </a:solidFill>
                <a:latin typeface="Segoe UI"/>
              </a:rPr>
              <a:t>  –  Tỷ lệ tạo phôi nang giảm: Tỷ lệ phát triển thành phôi nang ngày 5 thấp hơn do chất lượng noãn bị ảnh hưởng bởi stress oxy hóa.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Vùng Chuyển Tiếp (Junctional Zone - JZ) </a:t>
            </a:r>
            <a:endParaRPr lang="en-US" sz="2700" b="1" i="0">
              <a:solidFill>
                <a:srgbClr val="0D2B2B"/>
              </a:solidFill>
              <a:latin typeface="Segoe UI"/>
            </a:endParaRPr>
          </a:p>
          <a:p>
            <a:pPr algn="l"/>
            <a:r>
              <a:rPr sz="2700" b="1" i="0">
                <a:solidFill>
                  <a:srgbClr val="0D2B2B"/>
                </a:solidFill>
                <a:latin typeface="Segoe UI"/>
              </a:rPr>
              <a:t> Giải Phẫu &amp; Sinh Lý Nhu Động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Định nghĩa giải phẫu: Dải mô cơ trơn trong tử cung (Inner myometrium) nằm ngay dưới lớp nội mạc đáy, có nguồn gốc phôi thai từ ống Müller</a:t>
            </a:r>
          </a:p>
          <a:p>
            <a:pPr>
              <a:spcBef>
                <a:spcPts val="500"/>
              </a:spcBef>
              <a:spcAft>
                <a:spcPts val="200"/>
              </a:spcAft>
            </a:pPr>
            <a:r>
              <a:rPr sz="2400">
                <a:solidFill>
                  <a:srgbClr val="1A2F2F"/>
                </a:solidFill>
                <a:latin typeface="Segoe UI"/>
              </a:rPr>
              <a:t>  –  Sinh lý bình thường: </a:t>
            </a:r>
            <a:r>
              <a:rPr sz="2400" b="1" i="1">
                <a:solidFill>
                  <a:srgbClr val="1A2F2F"/>
                </a:solidFill>
                <a:latin typeface="Segoe UI"/>
              </a:rPr>
              <a:t>Độ dày JZ &lt; 8 mm </a:t>
            </a:r>
            <a:r>
              <a:rPr sz="2400">
                <a:solidFill>
                  <a:srgbClr val="1A2F2F"/>
                </a:solidFill>
                <a:latin typeface="Segoe UI"/>
              </a:rPr>
              <a:t>trên phim chụp CHT (MRI T2-weighted) hoặc siêu âm 3D ngả âm đạo.</a:t>
            </a:r>
          </a:p>
          <a:p>
            <a:pPr>
              <a:spcBef>
                <a:spcPts val="500"/>
              </a:spcBef>
              <a:spcAft>
                <a:spcPts val="200"/>
              </a:spcAft>
            </a:pPr>
            <a:r>
              <a:rPr sz="2400">
                <a:solidFill>
                  <a:srgbClr val="1A2F2F"/>
                </a:solidFill>
                <a:latin typeface="Segoe UI"/>
              </a:rPr>
              <a:t>  –  Nhu động pha nang noãn : JZ co bóp nhẹ nhàng từ cổ tử cung hướng lên đáy với tần số 1 - 2 lần/phút dưới tác động của Estrogen, hỗ trợ hút tinh trùng đi lên gặp noãn.</a:t>
            </a:r>
          </a:p>
          <a:p>
            <a:pPr>
              <a:spcBef>
                <a:spcPts val="500"/>
              </a:spcBef>
              <a:spcAft>
                <a:spcPts val="200"/>
              </a:spcAft>
            </a:pPr>
            <a:r>
              <a:rPr sz="2400">
                <a:solidFill>
                  <a:srgbClr val="1A2F2F"/>
                </a:solidFill>
                <a:latin typeface="Segoe UI"/>
              </a:rPr>
              <a:t>  –  Yên tĩnh pha hoàng thể: Dưới tác động ức chế của Progesterone, JZ trở nên hoàn toàn yên tĩnh để phôi nang bám dính và làm tổ.</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Junctional Zone | The Common Vein">
            <a:extLst>
              <a:ext uri="{FF2B5EF4-FFF2-40B4-BE49-F238E27FC236}">
                <a16:creationId xmlns:a16="http://schemas.microsoft.com/office/drawing/2014/main" id="{AFF7EC7A-CD63-DA3D-AFC3-11E18F5CD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71" y="2961629"/>
            <a:ext cx="5943891" cy="367144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Junctional Zone | The Common Vein">
            <a:extLst>
              <a:ext uri="{FF2B5EF4-FFF2-40B4-BE49-F238E27FC236}">
                <a16:creationId xmlns:a16="http://schemas.microsoft.com/office/drawing/2014/main" id="{AEBC7207-7545-9528-7063-8E6D57CDE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75" y="-119398"/>
            <a:ext cx="7600950" cy="363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391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Vùng Chuyển Tiếp (JZ) </a:t>
            </a:r>
            <a:endParaRPr lang="en-US" sz="2700" b="1" i="0">
              <a:solidFill>
                <a:srgbClr val="0D2B2B"/>
              </a:solidFill>
              <a:latin typeface="Segoe UI"/>
            </a:endParaRPr>
          </a:p>
          <a:p>
            <a:pPr algn="l"/>
            <a:r>
              <a:rPr sz="2700" b="1" i="0">
                <a:solidFill>
                  <a:srgbClr val="0D2B2B"/>
                </a:solidFill>
                <a:latin typeface="Segoe UI"/>
              </a:rPr>
              <a:t> Tiêu Chuẩn Bệnh Học &amp; Hậu Quả Loạn Động </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Tiêu chuẩn vàng trên MRI T2W: Bề dày tối đa JZmax ≥ 12 mm hoặc độ chênh lệch JZdiff (JZmax - JZmin) ≥ 5 mm khẳng định tổn thương Adenomyosis.</a:t>
            </a:r>
          </a:p>
          <a:p>
            <a:pPr>
              <a:spcBef>
                <a:spcPts val="500"/>
              </a:spcBef>
              <a:spcAft>
                <a:spcPts val="200"/>
              </a:spcAft>
            </a:pPr>
            <a:r>
              <a:rPr sz="2400">
                <a:solidFill>
                  <a:srgbClr val="1A2F2F"/>
                </a:solidFill>
                <a:latin typeface="Segoe UI"/>
              </a:rPr>
              <a:t>  –  Vùng ranh giới nghi ngờ: JZmax từ 8 đến 11 mm (cần kết hợp triệu chứng lâm sàng và tiêu chuẩn siêu âm MUSA).</a:t>
            </a:r>
          </a:p>
          <a:p>
            <a:pPr>
              <a:spcBef>
                <a:spcPts val="500"/>
              </a:spcBef>
              <a:spcAft>
                <a:spcPts val="200"/>
              </a:spcAft>
            </a:pPr>
            <a:r>
              <a:rPr sz="2400">
                <a:solidFill>
                  <a:srgbClr val="1A2F2F"/>
                </a:solidFill>
                <a:latin typeface="Segoe UI"/>
              </a:rPr>
              <a:t>  –  </a:t>
            </a:r>
            <a:r>
              <a:rPr lang="en-US" sz="2400">
                <a:solidFill>
                  <a:srgbClr val="1A2F2F"/>
                </a:solidFill>
                <a:latin typeface="Segoe UI"/>
              </a:rPr>
              <a:t>Hậu quả khi rối loạn cơ học JZ : </a:t>
            </a:r>
            <a:r>
              <a:rPr sz="2400">
                <a:solidFill>
                  <a:srgbClr val="1A2F2F"/>
                </a:solidFill>
                <a:latin typeface="Segoe UI"/>
              </a:rPr>
              <a:t> Cấu trúc JZ bị phá vỡ làm mất tính ức chế sinh lý của progesterone, cơ tử cung liên tục co thắt mạnh bạo ngay trong pha hoàng thể.</a:t>
            </a:r>
          </a:p>
          <a:p>
            <a:pPr>
              <a:spcBef>
                <a:spcPts val="500"/>
              </a:spcBef>
              <a:spcAft>
                <a:spcPts val="200"/>
              </a:spcAft>
            </a:pPr>
            <a:r>
              <a:rPr sz="2400">
                <a:solidFill>
                  <a:srgbClr val="1A2F2F"/>
                </a:solidFill>
                <a:latin typeface="Segoe UI"/>
              </a:rPr>
              <a:t>  –  Hậu quả sinh sản: Tống xuất phôi thai cơ học ra ngoài lòng tử cung trước khi phôi kịp tiếp xúc và bám dính vào lớp nội mạc màng rụng.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Lạc Nội Mạc Trong Cơ (Adenomyosis) </a:t>
            </a:r>
            <a:endParaRPr lang="en-US" sz="2700" b="1" i="0">
              <a:solidFill>
                <a:srgbClr val="0D2B2B"/>
              </a:solidFill>
              <a:latin typeface="Segoe UI"/>
            </a:endParaRPr>
          </a:p>
          <a:p>
            <a:pPr algn="l"/>
            <a:r>
              <a:rPr sz="2700" b="1" i="0">
                <a:solidFill>
                  <a:srgbClr val="0D2B2B"/>
                </a:solidFill>
                <a:latin typeface="Segoe UI"/>
              </a:rPr>
              <a:t> Định Nghĩa &amp; Phân Loại FIGO</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Định nghĩa mô bệnh học (Bird 1972 / FIGO): </a:t>
            </a:r>
            <a:r>
              <a:rPr sz="2400" b="1" i="1">
                <a:solidFill>
                  <a:srgbClr val="1A2F2F"/>
                </a:solidFill>
                <a:latin typeface="Segoe UI"/>
              </a:rPr>
              <a:t>Sự xâm lấn lành tính của tuyến và mô đệm nội mạc đáy vào sâu trong lớp cơ tử cung vượt quá mốc 2.5 mm (hoặc &gt; 1 vi trường độ phóng đại thấp).</a:t>
            </a:r>
          </a:p>
          <a:p>
            <a:pPr>
              <a:spcBef>
                <a:spcPts val="500"/>
              </a:spcBef>
              <a:spcAft>
                <a:spcPts val="200"/>
              </a:spcAft>
            </a:pPr>
            <a:r>
              <a:rPr sz="2400">
                <a:solidFill>
                  <a:srgbClr val="1A2F2F"/>
                </a:solidFill>
                <a:latin typeface="Segoe UI"/>
              </a:rPr>
              <a:t>  –  Phản ứng phì đại cơ trơn: Mô cơ trơn xung quanh tăng sinh và xơ hóa phản ứng làm biến dạng tử cung thành hình cầu.</a:t>
            </a:r>
          </a:p>
          <a:p>
            <a:pPr>
              <a:spcBef>
                <a:spcPts val="500"/>
              </a:spcBef>
              <a:spcAft>
                <a:spcPts val="200"/>
              </a:spcAft>
            </a:pPr>
            <a:r>
              <a:rPr sz="2400">
                <a:solidFill>
                  <a:srgbClr val="1A2F2F"/>
                </a:solidFill>
                <a:latin typeface="Segoe UI"/>
              </a:rPr>
              <a:t>  –  Adenomyosis Khu Trú (Adenomyoma): Tổn thương tụ thành khối u cơ tuyến có ranh giới tương đối nhưng không có vỏ bao giả (khác u xơ tử cung).</a:t>
            </a:r>
          </a:p>
          <a:p>
            <a:pPr>
              <a:spcBef>
                <a:spcPts val="500"/>
              </a:spcBef>
              <a:spcAft>
                <a:spcPts val="200"/>
              </a:spcAft>
            </a:pPr>
            <a:r>
              <a:rPr sz="2400">
                <a:solidFill>
                  <a:srgbClr val="1A2F2F"/>
                </a:solidFill>
                <a:latin typeface="Segoe UI"/>
              </a:rPr>
              <a:t>  –  Adenomyosis Lan Tỏa (Diffuse Adenomyosis): Tổn thương lan rộng khắp các thành tử cung, là thủ phạm chính gây thất bại làm tổ (RIF) và sảy thai trong ART.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Adenomyosis </a:t>
            </a:r>
            <a:endParaRPr lang="en-US" sz="2700" b="1" i="0">
              <a:solidFill>
                <a:srgbClr val="0D2B2B"/>
              </a:solidFill>
              <a:latin typeface="Segoe UI"/>
            </a:endParaRPr>
          </a:p>
          <a:p>
            <a:pPr algn="l"/>
            <a:r>
              <a:rPr sz="2700" b="1" i="0">
                <a:solidFill>
                  <a:srgbClr val="0D2B2B"/>
                </a:solidFill>
                <a:latin typeface="Segoe UI"/>
              </a:rPr>
              <a:t> Thuyết Chấn Thương Vi Thể (TIAR) &amp; Chuyển Dạng EMT</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424288"/>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Chấn thương vi thể lặp lại: Tăng nhu động tử cung (hyperperistalsis) gây lực căng kéo liên tục làm </a:t>
            </a:r>
            <a:r>
              <a:rPr sz="2400" b="1" i="1">
                <a:solidFill>
                  <a:srgbClr val="1A2F2F"/>
                </a:solidFill>
                <a:latin typeface="Segoe UI"/>
              </a:rPr>
              <a:t>nứt rạn vi thể tại ranh giới cơ - nội mạc </a:t>
            </a:r>
            <a:r>
              <a:rPr sz="2400">
                <a:solidFill>
                  <a:srgbClr val="1A2F2F"/>
                </a:solidFill>
                <a:latin typeface="Segoe UI"/>
              </a:rPr>
              <a:t>(Endometrial-Myometrial Interface - EMI).</a:t>
            </a:r>
          </a:p>
          <a:p>
            <a:pPr>
              <a:spcBef>
                <a:spcPts val="500"/>
              </a:spcBef>
              <a:spcAft>
                <a:spcPts val="200"/>
              </a:spcAft>
            </a:pPr>
            <a:r>
              <a:rPr sz="2400">
                <a:solidFill>
                  <a:srgbClr val="1A2F2F"/>
                </a:solidFill>
                <a:latin typeface="Segoe UI"/>
              </a:rPr>
              <a:t>  –  Quá trình tự sửa chữa (TIAR Theory / Leyendecker): Phản ứng sửa chữa vết thương kích thích giải phóng ồ ạt Estrogen nội tại (qua men Aromatase) và Prostaglandin E2 (PGE2) tại chỗ.</a:t>
            </a:r>
          </a:p>
          <a:p>
            <a:pPr>
              <a:spcBef>
                <a:spcPts val="500"/>
              </a:spcBef>
              <a:spcAft>
                <a:spcPts val="200"/>
              </a:spcAft>
            </a:pPr>
            <a:r>
              <a:rPr sz="2400">
                <a:solidFill>
                  <a:srgbClr val="1A2F2F"/>
                </a:solidFill>
                <a:latin typeface="Segoe UI"/>
              </a:rPr>
              <a:t>  –  Chuyển Dạng Biểu Mô - Trung Mô (EMT): Estrogen cao kích hoạt trục TGF-β1/Smad </a:t>
            </a:r>
            <a:r>
              <a:rPr sz="2400" b="1" i="1">
                <a:solidFill>
                  <a:srgbClr val="1A2F2F"/>
                </a:solidFill>
                <a:latin typeface="Segoe UI"/>
              </a:rPr>
              <a:t>làm tế bào tuyến nội mạc đáy mất tính phân cực, trở nên di động và đâm chồi xâm lấn sâu vào cơ tử cung.</a:t>
            </a:r>
          </a:p>
          <a:p>
            <a:pPr>
              <a:spcBef>
                <a:spcPts val="500"/>
              </a:spcBef>
              <a:spcAft>
                <a:spcPts val="200"/>
              </a:spcAft>
            </a:pPr>
            <a:r>
              <a:rPr sz="2400">
                <a:solidFill>
                  <a:srgbClr val="1A2F2F"/>
                </a:solidFill>
                <a:latin typeface="Segoe UI"/>
              </a:rPr>
              <a:t>  –  Chuyển Dạng Sợi - Cơ (FMT): Nguyên bào sợi trong cơ chuyển thành tế bào sợi cơ tạo mạng lưới xơ hóa bao quanh.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Adenomyosis </a:t>
            </a:r>
            <a:endParaRPr lang="en-US" sz="2700" b="1">
              <a:solidFill>
                <a:srgbClr val="0D2B2B"/>
              </a:solidFill>
              <a:latin typeface="Segoe UI"/>
            </a:endParaRPr>
          </a:p>
          <a:p>
            <a:pPr algn="l"/>
            <a:r>
              <a:rPr sz="2700" b="1" i="0">
                <a:solidFill>
                  <a:srgbClr val="0D2B2B"/>
                </a:solidFill>
                <a:latin typeface="Segoe UI"/>
              </a:rPr>
              <a:t> Con Đường Xâm Lấn Từ Ngoài Vào &amp; Tế Bào Gốc</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5958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Con đường từ ngoài vào (Outside-In Invasion): Các tổn thương Lạc nội mạc tử cung sâu (DIE) ở túi cùng sau (dây chằng tử cung - cùng, trực tràng) xâm lấn trực tiếp xuyên qua thanh mạc vào lớp cơ ngoài (thể Extrinsic Adenomyosis).</a:t>
            </a:r>
          </a:p>
          <a:p>
            <a:pPr>
              <a:spcBef>
                <a:spcPts val="500"/>
              </a:spcBef>
              <a:spcAft>
                <a:spcPts val="200"/>
              </a:spcAft>
            </a:pPr>
            <a:r>
              <a:rPr sz="2400">
                <a:solidFill>
                  <a:srgbClr val="1A2F2F"/>
                </a:solidFill>
                <a:latin typeface="Segoe UI"/>
              </a:rPr>
              <a:t>  –  Con đường tế bào gốc tại chỗ: Tế bào gốc trung mô ống Müller tồn dư hoặc tế bào gốc từ tủy xương di chuyển đến cơ tử cung bị kích hoạt biệt hóa bất thường thành tuyến nội mạc.</a:t>
            </a:r>
          </a:p>
          <a:p>
            <a:pPr>
              <a:spcBef>
                <a:spcPts val="500"/>
              </a:spcBef>
              <a:spcAft>
                <a:spcPts val="200"/>
              </a:spcAft>
            </a:pPr>
            <a:r>
              <a:rPr sz="2400">
                <a:solidFill>
                  <a:srgbClr val="1A2F2F"/>
                </a:solidFill>
                <a:latin typeface="Segoe UI"/>
              </a:rPr>
              <a:t>  –  Tăng sinh mạch tân tạo: Mô tuyến lạc chỗ tiết lượng lớn VEGF và PDGF thúc đẩy hình thành mạng mạch máu nuôi dưỡng đâm xuyên cơ (dấu hiệu translesional flow trên Doppler).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6320BB-7EE3-5F16-B9B0-007E1B96EFCB}"/>
              </a:ext>
            </a:extLst>
          </p:cNvPr>
          <p:cNvPicPr>
            <a:picLocks noChangeAspect="1"/>
          </p:cNvPicPr>
          <p:nvPr/>
        </p:nvPicPr>
        <p:blipFill>
          <a:blip r:embed="rId2"/>
          <a:stretch>
            <a:fillRect/>
          </a:stretch>
        </p:blipFill>
        <p:spPr>
          <a:xfrm>
            <a:off x="1041734" y="636565"/>
            <a:ext cx="8096250" cy="5353050"/>
          </a:xfrm>
          <a:prstGeom prst="rect">
            <a:avLst/>
          </a:prstGeom>
        </p:spPr>
      </p:pic>
    </p:spTree>
    <p:extLst>
      <p:ext uri="{BB962C8B-B14F-4D97-AF65-F5344CB8AC3E}">
        <p14:creationId xmlns:p14="http://schemas.microsoft.com/office/powerpoint/2010/main" val="3180372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Adenomyosis </a:t>
            </a:r>
            <a:endParaRPr lang="en-US" sz="2700" b="1">
              <a:solidFill>
                <a:srgbClr val="0D2B2B"/>
              </a:solidFill>
              <a:latin typeface="Segoe UI"/>
            </a:endParaRPr>
          </a:p>
          <a:p>
            <a:pPr algn="l"/>
            <a:r>
              <a:rPr sz="2700" b="1" i="0">
                <a:solidFill>
                  <a:srgbClr val="0D2B2B"/>
                </a:solidFill>
                <a:latin typeface="Segoe UI"/>
              </a:rPr>
              <a:t>Hiện Tượng Đề Kháng Progesterone (PR-B)</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424288"/>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Sinh lý bình thường: Progesterone gắn thụ thể PR-B trên mô đệm nội mạc để kích hoạt quá trình màng rụng hóa (Decidualization) biến đổi tế bào giàu glycogen nuôi phôi.</a:t>
            </a:r>
          </a:p>
          <a:p>
            <a:pPr>
              <a:spcBef>
                <a:spcPts val="500"/>
              </a:spcBef>
              <a:spcAft>
                <a:spcPts val="200"/>
              </a:spcAft>
            </a:pPr>
            <a:r>
              <a:rPr sz="2400">
                <a:solidFill>
                  <a:srgbClr val="1A2F2F"/>
                </a:solidFill>
                <a:latin typeface="Segoe UI"/>
              </a:rPr>
              <a:t>  –  Bất thường trong Adenomyosis: Tình trạng viêm và methyl hóa promoter gen làm suy giảm trầm trọng thụ thể PR-B, trong khi thụ thể ức chế PR-A chiếm ưu thế.</a:t>
            </a:r>
          </a:p>
          <a:p>
            <a:pPr>
              <a:spcBef>
                <a:spcPts val="500"/>
              </a:spcBef>
              <a:spcAft>
                <a:spcPts val="200"/>
              </a:spcAft>
            </a:pPr>
            <a:r>
              <a:rPr sz="2400">
                <a:solidFill>
                  <a:srgbClr val="1A2F2F"/>
                </a:solidFill>
                <a:latin typeface="Segoe UI"/>
              </a:rPr>
              <a:t>  –  Nội mạc 'trơ' với Progesterone: Dù nồng độ Progesterone trong máu đạt rất cao, nội mạc tử cung vẫn không đáp ứng và đình trệ quá trình màng rụng hóa.</a:t>
            </a:r>
          </a:p>
          <a:p>
            <a:pPr>
              <a:spcBef>
                <a:spcPts val="500"/>
              </a:spcBef>
              <a:spcAft>
                <a:spcPts val="200"/>
              </a:spcAft>
            </a:pPr>
            <a:r>
              <a:rPr sz="2400">
                <a:solidFill>
                  <a:srgbClr val="1A2F2F"/>
                </a:solidFill>
                <a:latin typeface="Segoe UI"/>
              </a:rPr>
              <a:t>  –  Đóng kín Cửa sổ làm tổ (WOI): Suy giảm biểu hiện các phân tử bám dính then chốt gồm HOXA10, Leukemia Inhibitory Factor (LIF), glycodelin-A và integrin αvβ3.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251835"/>
            <a:ext cx="10972800" cy="867930"/>
          </a:xfrm>
          <a:prstGeom prst="rect">
            <a:avLst/>
          </a:prstGeom>
          <a:noFill/>
        </p:spPr>
        <p:txBody>
          <a:bodyPr wrap="square" lIns="36576" tIns="18288" rIns="36576" bIns="18288" anchor="ctr">
            <a:spAutoFit/>
          </a:bodyPr>
          <a:lstStyle/>
          <a:p>
            <a:pPr algn="l"/>
            <a:r>
              <a:rPr sz="2700" b="1" i="0">
                <a:solidFill>
                  <a:srgbClr val="0D2B2B"/>
                </a:solidFill>
                <a:latin typeface="Segoe UI"/>
              </a:rPr>
              <a:t>Adenomyosis </a:t>
            </a:r>
            <a:endParaRPr lang="en-US" sz="2700" b="1">
              <a:solidFill>
                <a:srgbClr val="0D2B2B"/>
              </a:solidFill>
              <a:latin typeface="Segoe UI"/>
            </a:endParaRPr>
          </a:p>
          <a:p>
            <a:pPr algn="l"/>
            <a:r>
              <a:rPr sz="2700" b="1" i="0">
                <a:solidFill>
                  <a:srgbClr val="0D2B2B"/>
                </a:solidFill>
                <a:latin typeface="Segoe UI"/>
              </a:rPr>
              <a:t> Vòng Xoắn Tự Duy Trì Aromatase ↔ Prostaglandin E2</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Tự sản xuất Estrogen tại chỗ: Mô tuyến lạc trong cơ biểu hiện quá mức enzyme Aromatase (CYP19A1) và 17β-HSD1, tự chuyển Androgen thành Estradiol (E2) nồng độ cao trong cơ.</a:t>
            </a:r>
          </a:p>
          <a:p>
            <a:pPr>
              <a:spcBef>
                <a:spcPts val="500"/>
              </a:spcBef>
              <a:spcAft>
                <a:spcPts val="200"/>
              </a:spcAft>
            </a:pPr>
            <a:r>
              <a:rPr sz="2400">
                <a:solidFill>
                  <a:srgbClr val="1A2F2F"/>
                </a:solidFill>
                <a:latin typeface="Segoe UI"/>
              </a:rPr>
              <a:t>  –  Kích hoạt enzyme COX-2: E2 nội tại kích thích enzyme COX-2 tổng hợp ồ ạt Prostaglandin E2 (PGE2).</a:t>
            </a:r>
          </a:p>
          <a:p>
            <a:pPr>
              <a:spcBef>
                <a:spcPts val="500"/>
              </a:spcBef>
              <a:spcAft>
                <a:spcPts val="200"/>
              </a:spcAft>
            </a:pPr>
            <a:r>
              <a:rPr sz="2400">
                <a:solidFill>
                  <a:srgbClr val="1A2F2F"/>
                </a:solidFill>
                <a:latin typeface="Segoe UI"/>
              </a:rPr>
              <a:t>  –  Duy trì ổ viêm &amp; Co thắt: PGE2 gây phản ứng viêm mạn tính, tăng co thắt cơ tử cung và ức chế miễn dịch làm tổ của phôi.</a:t>
            </a:r>
          </a:p>
          <a:p>
            <a:pPr>
              <a:spcBef>
                <a:spcPts val="500"/>
              </a:spcBef>
              <a:spcAft>
                <a:spcPts val="200"/>
              </a:spcAft>
            </a:pPr>
            <a:r>
              <a:rPr sz="2400">
                <a:solidFill>
                  <a:srgbClr val="1A2F2F"/>
                </a:solidFill>
                <a:latin typeface="Segoe UI"/>
              </a:rPr>
              <a:t>  –  Khuếch đại ngược: PGE2 quay lại kích hoạt tăng phiên mã gen Aromatase, tạo thành vòng xoắn bệnh lý tự duy trì vĩnh viễn.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72246"/>
            <a:ext cx="10972800" cy="1283428"/>
          </a:xfrm>
          <a:prstGeom prst="rect">
            <a:avLst/>
          </a:prstGeom>
          <a:noFill/>
        </p:spPr>
        <p:txBody>
          <a:bodyPr wrap="square" lIns="36576" tIns="18288" rIns="36576" bIns="18288" anchor="ctr">
            <a:spAutoFit/>
          </a:bodyPr>
          <a:lstStyle/>
          <a:p>
            <a:pPr algn="l"/>
            <a:r>
              <a:rPr sz="2700" b="1" i="0">
                <a:solidFill>
                  <a:srgbClr val="0D2B2B"/>
                </a:solidFill>
                <a:latin typeface="Segoe UI"/>
              </a:rPr>
              <a:t>Adenomyosis </a:t>
            </a:r>
            <a:endParaRPr lang="en-US" sz="2700" b="1" i="0">
              <a:solidFill>
                <a:srgbClr val="0D2B2B"/>
              </a:solidFill>
              <a:latin typeface="Segoe UI"/>
            </a:endParaRPr>
          </a:p>
          <a:p>
            <a:pPr algn="l"/>
            <a:r>
              <a:rPr sz="2700" b="1" i="0">
                <a:solidFill>
                  <a:srgbClr val="0D2B2B"/>
                </a:solidFill>
                <a:latin typeface="Segoe UI"/>
              </a:rPr>
              <a:t> Tác Động Lâm Sàng Lên Kết Cục ART (Cozzolino 2022 / Vercellini 2014)</a:t>
            </a:r>
          </a:p>
        </p:txBody>
      </p:sp>
      <p:sp>
        <p:nvSpPr>
          <p:cNvPr id="6" name="TextBox 5"/>
          <p:cNvSpPr txBox="1"/>
          <p:nvPr/>
        </p:nvSpPr>
        <p:spPr>
          <a:xfrm>
            <a:off x="594360"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Giảm 31% Tỷ Lệ Thai Lâm Sàng (CPR): RR = 0.69 (95% CI: 0.59 - 0.81) do hỏng cửa sổ làm tổ và loạn động tử cung.</a:t>
            </a:r>
          </a:p>
          <a:p>
            <a:pPr>
              <a:spcBef>
                <a:spcPts val="500"/>
              </a:spcBef>
              <a:spcAft>
                <a:spcPts val="200"/>
              </a:spcAft>
            </a:pPr>
            <a:r>
              <a:rPr sz="2400">
                <a:solidFill>
                  <a:srgbClr val="1A2F2F"/>
                </a:solidFill>
                <a:latin typeface="Segoe UI"/>
              </a:rPr>
              <a:t>  –  Giảm 31% Tỷ Lệ Trẻ Sinh Sống (LBR): RR = 0.69 (95% CI: 0.51 - 0.94) trên mỗi chu kỳ chuyển phôi.</a:t>
            </a:r>
          </a:p>
          <a:p>
            <a:pPr>
              <a:spcBef>
                <a:spcPts val="500"/>
              </a:spcBef>
              <a:spcAft>
                <a:spcPts val="200"/>
              </a:spcAft>
            </a:pPr>
            <a:r>
              <a:rPr sz="2400">
                <a:solidFill>
                  <a:srgbClr val="1A2F2F"/>
                </a:solidFill>
                <a:latin typeface="Segoe UI"/>
              </a:rPr>
              <a:t>  –  Tăng gấp hơn 2 lần Nguy Cơ Sảy Thai: RR = 2.17 (95% CI: 1.25 - 3.79) trong 3 tháng đầu thai kỳ.</a:t>
            </a:r>
          </a:p>
          <a:p>
            <a:pPr>
              <a:spcBef>
                <a:spcPts val="500"/>
              </a:spcBef>
              <a:spcAft>
                <a:spcPts val="200"/>
              </a:spcAft>
            </a:pPr>
            <a:r>
              <a:rPr sz="2400">
                <a:solidFill>
                  <a:srgbClr val="1A2F2F"/>
                </a:solidFill>
                <a:latin typeface="Segoe UI"/>
              </a:rPr>
              <a:t>  –  Giảm tỷ lệ làm tổ của phôi nang: RR = 0.72 (95% CI: 0.55 - 0.95) khẳng định Adenomyosis là nguyên nhân hàng đầu gây thất bại làm tổ tái phát (RIF).</a:t>
            </a:r>
          </a:p>
        </p:txBody>
      </p:sp>
      <p:sp>
        <p:nvSpPr>
          <p:cNvPr id="7" name="AutoShape 2" descr="The structure of the uterus. The endometrial–myometrial interface (EMI)...  | Download Scientific Diagram">
            <a:extLst>
              <a:ext uri="{FF2B5EF4-FFF2-40B4-BE49-F238E27FC236}">
                <a16:creationId xmlns:a16="http://schemas.microsoft.com/office/drawing/2014/main" id="{57323DFC-A73E-F67C-6BBC-494058BDE82B}"/>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TotalTime>
  <Words>3126</Words>
  <Application>Microsoft Office PowerPoint</Application>
  <PresentationFormat>Custom</PresentationFormat>
  <Paragraphs>115</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Ngọc Hưng Đỗ Văn</cp:lastModifiedBy>
  <cp:revision>3</cp:revision>
  <dcterms:created xsi:type="dcterms:W3CDTF">2013-01-27T09:14:16Z</dcterms:created>
  <dcterms:modified xsi:type="dcterms:W3CDTF">2026-08-22T16:47:12Z</dcterms:modified>
  <cp:category/>
</cp:coreProperties>
</file>