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61" r:id="rId5"/>
    <p:sldId id="262" r:id="rId6"/>
    <p:sldId id="263" r:id="rId7"/>
    <p:sldId id="264" r:id="rId8"/>
    <p:sldId id="265"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558"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0"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672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108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544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298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41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23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108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544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298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41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23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2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108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544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298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41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80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23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672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108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544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298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41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80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23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672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108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544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298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41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2920" y="1371600"/>
            <a:ext cx="5577840" cy="2560320"/>
          </a:xfrm>
          <a:prstGeom prst="rect">
            <a:avLst/>
          </a:prstGeom>
          <a:noFill/>
        </p:spPr>
        <p:txBody>
          <a:bodyPr wrap="square" lIns="36576" tIns="18288" rIns="36576" bIns="18288" anchor="t">
            <a:spAutoFit/>
          </a:bodyPr>
          <a:lstStyle/>
          <a:p>
            <a:pPr algn="l"/>
            <a:r>
              <a:rPr sz="3800" b="1" i="0">
                <a:solidFill>
                  <a:srgbClr val="FFFFFF"/>
                </a:solidFill>
                <a:latin typeface="Segoe UI"/>
              </a:rPr>
              <a:t>CHƯƠNG 6: THEO DÕI THAI KỲ &amp; QUẢN LÝ BIẾN CHỨNG SẢN KHOA</a:t>
            </a:r>
          </a:p>
        </p:txBody>
      </p:sp>
      <p:sp>
        <p:nvSpPr>
          <p:cNvPr id="43" name="Rectangle 42"/>
          <p:cNvSpPr/>
          <p:nvPr/>
        </p:nvSpPr>
        <p:spPr>
          <a:xfrm>
            <a:off x="502920"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5120" y="5989320"/>
            <a:ext cx="5212080" cy="365760"/>
          </a:xfrm>
          <a:prstGeom prst="rect">
            <a:avLst/>
          </a:prstGeom>
          <a:noFill/>
        </p:spPr>
        <p:txBody>
          <a:bodyPr wrap="square" lIns="36576" tIns="18288" rIns="36576" bIns="18288">
            <a:spAutoFit/>
          </a:bodyPr>
          <a:lstStyle/>
          <a:p>
            <a:pPr algn="l"/>
            <a:r>
              <a:rPr sz="1100" b="0" i="0">
                <a:solidFill>
                  <a:srgbClr val="728C8C"/>
                </a:solidFill>
                <a:latin typeface="Segoe UI"/>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Lộ Trình Theo Dõi Thai Kỳ Nguy Cơ Cao Qua 3 Tam Cá Nguyệt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Tam cá nguyệt 1 (Tuần 1 - 13): Phòng ngừa dọa sảy thai, duy trì Progesterone hoàng thể đến tuần 10-12, khởi động Aspirin từ tuần 12.</a:t>
            </a:r>
          </a:p>
          <a:p>
            <a:pPr>
              <a:spcBef>
                <a:spcPts val="500"/>
              </a:spcBef>
              <a:spcAft>
                <a:spcPts val="200"/>
              </a:spcAft>
            </a:pPr>
            <a:r>
              <a:rPr sz="1700">
                <a:solidFill>
                  <a:srgbClr val="1A2F2F"/>
                </a:solidFill>
                <a:latin typeface="Segoe UI"/>
              </a:rPr>
              <a:t>  –  Tam cá nguyệt 2 (Tuần 14 - 27): Siêu âm đo chiều dài kênh cổ tử cung (CL) định kỳ tuần 16-24 ngừa sinh non, khám hình thái học thai nhi.</a:t>
            </a:r>
          </a:p>
          <a:p>
            <a:pPr>
              <a:spcBef>
                <a:spcPts val="500"/>
              </a:spcBef>
              <a:spcAft>
                <a:spcPts val="200"/>
              </a:spcAft>
            </a:pPr>
            <a:r>
              <a:rPr sz="1700">
                <a:solidFill>
                  <a:srgbClr val="1A2F2F"/>
                </a:solidFill>
                <a:latin typeface="Segoe UI"/>
              </a:rPr>
              <a:t>  –  Tam cá nguyệt 3 (Tuần 28 trở đi): Khảo sát Doppler bánh rau tầm soát Rau tiền đạo và Rau cài răng lược (PAS), theo dõi tăng trưởng thai ngừa FGR.</a:t>
            </a:r>
          </a:p>
          <a:p>
            <a:pPr>
              <a:spcBef>
                <a:spcPts val="500"/>
              </a:spcBef>
              <a:spcAft>
                <a:spcPts val="200"/>
              </a:spcAft>
            </a:pPr>
            <a:r>
              <a:rPr sz="1700">
                <a:solidFill>
                  <a:srgbClr val="1A2F2F"/>
                </a:solidFill>
                <a:latin typeface="Segoe UI"/>
              </a:rPr>
              <a:t>  –  Chuyển dạ &amp; Hậu sản: Chủ động dự phòng Băng huyết sau sinh (PPH) do đờ tử cung xơ hóa và cảnh giác nguy cơ vỡ tử cung ở bệnh nhân từng bóc u cơ tuyến.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Tam Cá Nguyệt 1 — Nguy Cơ Sảy Thai Tự Nhiên &amp; Chiến Lược Duy Trì Hoàng Thể</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Nguy cơ sảy thai tăng gấp đôi: Các phân tích gộp (Cozzolino 2022 / Vercellini 2014) chứng minh nguy cơ sảy thai quý 1 ở thai phụ Adenomyosis tăng hơn 2 lần (RR ≈ 2.12 - 2.17).</a:t>
            </a:r>
          </a:p>
          <a:p>
            <a:pPr>
              <a:spcBef>
                <a:spcPts val="500"/>
              </a:spcBef>
              <a:spcAft>
                <a:spcPts val="200"/>
              </a:spcAft>
            </a:pPr>
            <a:r>
              <a:rPr sz="1700">
                <a:solidFill>
                  <a:srgbClr val="1A2F2F"/>
                </a:solidFill>
                <a:latin typeface="Segoe UI"/>
              </a:rPr>
              <a:t>  –  Cơ chế bệnh sinh: Tình trạng viêm mạn tính cơ tử cung, tăng tiết PGE2, loạn động cơ tử cung (Dysperistalsis) và khiếm khuyết màng rụng hóa làm giảm độ bám của gai rau sớm.</a:t>
            </a:r>
          </a:p>
          <a:p>
            <a:pPr>
              <a:spcBef>
                <a:spcPts val="500"/>
              </a:spcBef>
              <a:spcAft>
                <a:spcPts val="200"/>
              </a:spcAft>
            </a:pPr>
            <a:r>
              <a:rPr sz="1700">
                <a:solidFill>
                  <a:srgbClr val="1A2F2F"/>
                </a:solidFill>
                <a:latin typeface="Segoe UI"/>
              </a:rPr>
              <a:t>  –  Duy trì hỗ trợ hoàng thể: Bắt buộc duy trì Progesterone liên tục đến hết tuần thai thứ 10 - 12 (thời điểm bánh rau tự sản xuất đủ Progesterone thay thế hoàng thể).</a:t>
            </a:r>
          </a:p>
          <a:p>
            <a:pPr>
              <a:spcBef>
                <a:spcPts val="500"/>
              </a:spcBef>
              <a:spcAft>
                <a:spcPts val="200"/>
              </a:spcAft>
            </a:pPr>
            <a:r>
              <a:rPr sz="1700">
                <a:solidFill>
                  <a:srgbClr val="1A2F2F"/>
                </a:solidFill>
                <a:latin typeface="Segoe UI"/>
              </a:rPr>
              <a:t>  –  Theo dõi hình ảnh siêu âm: Khảo sát định kỳ túi thai và nồng độ P4 để phát hiện sớm các ổ bóc tách màng nuôi hoặc tụ dịch dưới màng đệm.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Tam Cá Nguyệt 2 — Tầm Soát Sinh Non &amp; Đánh Giá Chiều Dài Cổ Tử Cung (CL)</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Nguy cơ chuyển dạ sinh non: Tăng từ 1.5 đến 1.8 lần ở thai phụ có Adenomyosis và Lạc nội mạc tử cung sâu.</a:t>
            </a:r>
          </a:p>
          <a:p>
            <a:pPr>
              <a:spcBef>
                <a:spcPts val="500"/>
              </a:spcBef>
              <a:spcAft>
                <a:spcPts val="200"/>
              </a:spcAft>
            </a:pPr>
            <a:r>
              <a:rPr sz="1700">
                <a:solidFill>
                  <a:srgbClr val="1A2F2F"/>
                </a:solidFill>
                <a:latin typeface="Segoe UI"/>
              </a:rPr>
              <a:t>  –  Cơ chế sinh non: Sự xơ hóa của u cơ tuyến làm giảm tính đàn hồi giãn nở của thân tử cung khi thai lớn, kết hợp các cytokine viêm kích hoạt sớm cơn co chuyển dạ.</a:t>
            </a:r>
          </a:p>
          <a:p>
            <a:pPr>
              <a:spcBef>
                <a:spcPts val="500"/>
              </a:spcBef>
              <a:spcAft>
                <a:spcPts val="200"/>
              </a:spcAft>
            </a:pPr>
            <a:r>
              <a:rPr sz="1700">
                <a:solidFill>
                  <a:srgbClr val="1A2F2F"/>
                </a:solidFill>
                <a:latin typeface="Segoe UI"/>
              </a:rPr>
              <a:t>  –  Quy trình tầm soát CL: Siêu âm ngả âm đạo đo chiều dài kênh cổ tử cung (Cervical Length - CL) định kỳ mỗi 2 tuần một lần từ tuần thai thứ 16 đến 24.</a:t>
            </a:r>
          </a:p>
          <a:p>
            <a:pPr>
              <a:spcBef>
                <a:spcPts val="500"/>
              </a:spcBef>
              <a:spcAft>
                <a:spcPts val="200"/>
              </a:spcAft>
            </a:pPr>
            <a:r>
              <a:rPr sz="1700">
                <a:solidFill>
                  <a:srgbClr val="1A2F2F"/>
                </a:solidFill>
                <a:latin typeface="Segoe UI"/>
              </a:rPr>
              <a:t>  –  Can thiệp khi cổ tử cung ngắn (CL &lt; 25 mm): Đặt Progesterone tự nhiên âm đạo liều cao (200 - 400 mg/ngày) liên tục đến tuần 36; cân nhắc đặt vòng nâng pessary hoặc khâu vòng cổ tử cung.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Dự Phòng Tiền Sản Giật (Preeclampsia) &amp; Thai Chậm Tăng Trưởng (FGR)</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Cơ chế khiếm khuyết bánh rau: Vùng chuyển tiếp (JZ) bị xơ hóa cản trở nguyên bào nuôi xâm lấn sâu, dẫn đến khiếm khuyết tái cấu trúc động mạch xoắn (Defective deep placentation).</a:t>
            </a:r>
          </a:p>
          <a:p>
            <a:pPr>
              <a:spcBef>
                <a:spcPts val="500"/>
              </a:spcBef>
              <a:spcAft>
                <a:spcPts val="200"/>
              </a:spcAft>
            </a:pPr>
            <a:r>
              <a:rPr sz="1700">
                <a:solidFill>
                  <a:srgbClr val="1A2F2F"/>
                </a:solidFill>
                <a:latin typeface="Segoe UI"/>
              </a:rPr>
              <a:t>  –  Hậu quả: Động mạch xoắn vẫn hẹp và có sức cản cao, gây thiếu máu cục bộ bánh rau mạn tính dẫn đến Tiền sản giật và Thai chậm tăng trưởng (FGR).</a:t>
            </a:r>
          </a:p>
          <a:p>
            <a:pPr>
              <a:spcBef>
                <a:spcPts val="500"/>
              </a:spcBef>
              <a:spcAft>
                <a:spcPts val="200"/>
              </a:spcAft>
            </a:pPr>
            <a:r>
              <a:rPr sz="1700">
                <a:solidFill>
                  <a:srgbClr val="1A2F2F"/>
                </a:solidFill>
                <a:latin typeface="Segoe UI"/>
              </a:rPr>
              <a:t>  –  Phác đồ dự phòng bằng Aspirin liều thấp: Uống Aspirin 100 - 150 mg/ngày vào buổi tối trước khi đi ngủ.</a:t>
            </a:r>
          </a:p>
          <a:p>
            <a:pPr>
              <a:spcBef>
                <a:spcPts val="500"/>
              </a:spcBef>
              <a:spcAft>
                <a:spcPts val="200"/>
              </a:spcAft>
            </a:pPr>
            <a:r>
              <a:rPr sz="1700">
                <a:solidFill>
                  <a:srgbClr val="1A2F2F"/>
                </a:solidFill>
                <a:latin typeface="Segoe UI"/>
              </a:rPr>
              <a:t>  –  Thời điểm vàng: Bắt đầu từ tuần thai thứ 12 (trước tuần 16 để đón đầu đợt xâm lấn thứ 2 của nguyên bào nuôi) và duy trì liên tục đến tuần thứ 36.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Bất Thường Bám Bánh Rau: Rau Tiền Đạo &amp; Phổ Bệnh Lý Rau Cài Răng Lược (PAS)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Rau tiền đạo (Placenta Previa): Vùng đáy và thân tử cung xơ hóa kém thuận lợi khiến phôi nang bám thấp xuống đoạn dưới cổ tử cung, tăng nguy cơ rau tiền đạo gấp 2-3 lần.</a:t>
            </a:r>
          </a:p>
          <a:p>
            <a:pPr>
              <a:spcBef>
                <a:spcPts val="500"/>
              </a:spcBef>
              <a:spcAft>
                <a:spcPts val="200"/>
              </a:spcAft>
            </a:pPr>
            <a:r>
              <a:rPr sz="1700">
                <a:solidFill>
                  <a:srgbClr val="1A2F2F"/>
                </a:solidFill>
                <a:latin typeface="Segoe UI"/>
              </a:rPr>
              <a:t>  –  Phổ bệnh lý Rau cài răng lược (PAS): Khuyết thiếu lớp nội mạc đáy và màng rụng nền khiến các gai rau ăn sâu trực tiếp vào lớp cơ tử cung (Accreta/Increta) hoặc xuyên thủng thanh mạc (Percreta).</a:t>
            </a:r>
          </a:p>
          <a:p>
            <a:pPr>
              <a:spcBef>
                <a:spcPts val="500"/>
              </a:spcBef>
              <a:spcAft>
                <a:spcPts val="200"/>
              </a:spcAft>
            </a:pPr>
            <a:r>
              <a:rPr sz="1700">
                <a:solidFill>
                  <a:srgbClr val="1A2F2F"/>
                </a:solidFill>
                <a:latin typeface="Segoe UI"/>
              </a:rPr>
              <a:t>  –  Khảo sát siêu âm Doppler chuyên sâu: Siêu âm 2D và Doppler màu ở tuần thai 20-24 và 30-32 để tìm các dấu hiệu: Mất dải giảm âm sau rau, hồ huyết xoáy bất thường (lacunae) trong bánh rau.</a:t>
            </a:r>
          </a:p>
          <a:p>
            <a:pPr>
              <a:spcBef>
                <a:spcPts val="500"/>
              </a:spcBef>
              <a:spcAft>
                <a:spcPts val="200"/>
              </a:spcAft>
            </a:pPr>
            <a:r>
              <a:rPr sz="1700">
                <a:solidFill>
                  <a:srgbClr val="1A2F2F"/>
                </a:solidFill>
                <a:latin typeface="Segoe UI"/>
              </a:rPr>
              <a:t>  –  Kế hoạch sinh an toàn: Hội chẩn liên chuyên khoa và mổ lấy thai chủ động tại các trung tâm sản khoa lớn có sẵn nguồn máu và phẫu thuật viên giàu kinh nghiệm.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Cơ Chế Phân Tử Của Đờ Tử Cung &amp; Băng Huyết Sau Sinh (PPH) Ở Adenomyosis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Hiệu ứng 'Nút thắt sống' bình thường: Sau khi sổ rau, các sợi cơ trơn đan chéo co rút mạnh mẽ thắt nghẹt cơ học các mạch máu hở tại diện rau bám để cầm máu sinh lý.</a:t>
            </a:r>
          </a:p>
          <a:p>
            <a:pPr>
              <a:spcBef>
                <a:spcPts val="500"/>
              </a:spcBef>
              <a:spcAft>
                <a:spcPts val="200"/>
              </a:spcAft>
            </a:pPr>
            <a:r>
              <a:rPr sz="1700">
                <a:solidFill>
                  <a:srgbClr val="1A2F2F"/>
                </a:solidFill>
                <a:latin typeface="Segoe UI"/>
              </a:rPr>
              <a:t>  –  Sự phá hủy của enzyme MMPs: Mô tuyến lạc chỗ trong cơ tiết ra các enzyme tiêu protein (Matrix Metalloproteinases - MMPs) và cytokine viêm phá hủy mạng lưới collagen đàn hồi.</a:t>
            </a:r>
          </a:p>
          <a:p>
            <a:pPr>
              <a:spcBef>
                <a:spcPts val="500"/>
              </a:spcBef>
              <a:spcAft>
                <a:spcPts val="200"/>
              </a:spcAft>
            </a:pPr>
            <a:r>
              <a:rPr sz="1700">
                <a:solidFill>
                  <a:srgbClr val="1A2F2F"/>
                </a:solidFill>
                <a:latin typeface="Segoe UI"/>
              </a:rPr>
              <a:t>  –  Mất khả năng co rút sinh lý: Cơ tử cung bị xơ hóa cứng đờ, mất hoàn toàn khả năng co rút (Uterine Atony) sau khi sổ rau, dẫn đến chảy máu ồ ạt (Gruber et al., 2026 - PMID: 42453498).</a:t>
            </a:r>
          </a:p>
          <a:p>
            <a:pPr>
              <a:spcBef>
                <a:spcPts val="500"/>
              </a:spcBef>
              <a:spcAft>
                <a:spcPts val="200"/>
              </a:spcAft>
            </a:pPr>
            <a:r>
              <a:rPr sz="1700">
                <a:solidFill>
                  <a:srgbClr val="1A2F2F"/>
                </a:solidFill>
                <a:latin typeface="Segoe UI"/>
              </a:rPr>
              <a:t>  –  Chiến lược xử trí chủ động: Tiêm thuốc tăng co tích cực ngay sau sổ thai (Oxytocin liều cao, Carbetocin, Misoprostol) và sẵn sàng bóng chèn Bakri hoặc phẫu thuật thắt mạch.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Cảnh Giác Nguy Cơ Vỡ Tử Cung (Uterine Rupture) &amp; Chiến Lược Đỡ Đẻ An Toàn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Đối tượng nguy cơ cao: Sản phụ có tiền sử phẫu thuật bóc u tuyến cơ tử cung (Adenomyomectomy) trước khi mang thai.</a:t>
            </a:r>
          </a:p>
          <a:p>
            <a:pPr>
              <a:spcBef>
                <a:spcPts val="500"/>
              </a:spcBef>
              <a:spcAft>
                <a:spcPts val="200"/>
              </a:spcAft>
            </a:pPr>
            <a:r>
              <a:rPr sz="1700">
                <a:solidFill>
                  <a:srgbClr val="1A2F2F"/>
                </a:solidFill>
                <a:latin typeface="Segoe UI"/>
              </a:rPr>
              <a:t>  –  Bản chất sẹo mổ Adenomyosis: Khác với u xơ có vỏ bao rõ, sẹo mổ bóc Adenomyosis nằm trên nền mô cơ bị viêm xơ hóa nên quá trình lành sẹo kém bền vững.</a:t>
            </a:r>
          </a:p>
          <a:p>
            <a:pPr>
              <a:spcBef>
                <a:spcPts val="500"/>
              </a:spcBef>
              <a:spcAft>
                <a:spcPts val="200"/>
              </a:spcAft>
            </a:pPr>
            <a:r>
              <a:rPr sz="1700">
                <a:solidFill>
                  <a:srgbClr val="1A2F2F"/>
                </a:solidFill>
                <a:latin typeface="Segoe UI"/>
              </a:rPr>
              <a:t>  –  Nguy cơ vỡ tự phát: Tử cung có nguy cơ vỡ tự phát trong 3 tháng cuối thai kỳ hoặc ngay khi xuất hiện những cơn co chuyển dạ đầu tiên mà không có triệu chứng báo trước.</a:t>
            </a:r>
          </a:p>
          <a:p>
            <a:pPr>
              <a:spcBef>
                <a:spcPts val="500"/>
              </a:spcBef>
              <a:spcAft>
                <a:spcPts val="200"/>
              </a:spcAft>
            </a:pPr>
            <a:r>
              <a:rPr sz="1700">
                <a:solidFill>
                  <a:srgbClr val="1A2F2F"/>
                </a:solidFill>
                <a:latin typeface="Segoe UI"/>
              </a:rPr>
              <a:t>  –  Chiến lược kết thúc thai kỳ: Chỉ định Mổ lấy thai chủ động khi thai đủ tháng (37 đến 38 tuần), tuyệt đối không thử thách sinh đường âm đạo và không dùng thuốc kích thích chuyển dạ.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1265</Words>
  <Application>Microsoft Office PowerPoint</Application>
  <PresentationFormat>Custom</PresentationFormat>
  <Paragraphs>37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Ngọc Hưng Đỗ Văn</cp:lastModifiedBy>
  <cp:revision>2</cp:revision>
  <dcterms:created xsi:type="dcterms:W3CDTF">2013-01-27T09:14:16Z</dcterms:created>
  <dcterms:modified xsi:type="dcterms:W3CDTF">2026-08-23T13:31:40Z</dcterms:modified>
  <cp:category/>
</cp:coreProperties>
</file>