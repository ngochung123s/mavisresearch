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viewProps" Target="viewProp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 Type="http://schemas.openxmlformats.org/officeDocument/2006/relationships/theme" Target="theme/theme1.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75120" y="822960"/>
            <a:ext cx="2871215"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822960"/>
            <a:ext cx="2871215"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HỖ TRỢ SINH SẢN &amp; PHỤ KHOA</a:t>
            </a:r>
          </a:p>
        </p:txBody>
      </p:sp>
      <p:sp>
        <p:nvSpPr>
          <p:cNvPr id="42" name="TextBox 41"/>
          <p:cNvSpPr txBox="1"/>
          <p:nvPr/>
        </p:nvSpPr>
        <p:spPr>
          <a:xfrm>
            <a:off x="502920" y="1371600"/>
            <a:ext cx="5577840" cy="2560320"/>
          </a:xfrm>
          <a:prstGeom prst="rect">
            <a:avLst/>
          </a:prstGeom>
          <a:noFill/>
        </p:spPr>
        <p:txBody>
          <a:bodyPr wrap="square" lIns="36576" rIns="36576" tIns="18288" bIns="18288" anchor="t">
            <a:spAutoFit/>
          </a:bodyPr>
          <a:lstStyle/>
          <a:p>
            <a:pPr algn="l"/>
            <a:r>
              <a:rPr sz="3800" b="1" i="0">
                <a:solidFill>
                  <a:srgbClr val="FFFFFF"/>
                </a:solidFill>
                <a:latin typeface="Segoe UI"/>
              </a:rPr>
              <a:t>U Lạc Nội Mạc Buồng Trứng &amp; Lạc Nội Mạc Tử Cung Trong Cơ</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206240"/>
            <a:ext cx="5577840" cy="640080"/>
          </a:xfrm>
          <a:prstGeom prst="rect">
            <a:avLst/>
          </a:prstGeom>
          <a:noFill/>
        </p:spPr>
        <p:txBody>
          <a:bodyPr wrap="square" lIns="36576" rIns="36576" tIns="18288" bIns="18288">
            <a:spAutoFit/>
          </a:bodyPr>
          <a:lstStyle/>
          <a:p>
            <a:pPr algn="l"/>
            <a:r>
              <a:rPr sz="1700" b="0" i="0">
                <a:solidFill>
                  <a:srgbClr val="B0C8E0"/>
                </a:solidFill>
                <a:latin typeface="Segoe UI"/>
              </a:rPr>
              <a:t>Tối Ưu Hóa Điều Trị Vô Sinh &amp; Hỗ Trợ Sinh Sản (ART) Dựa Trên Y Học Chứng Cứ</a:t>
            </a:r>
          </a:p>
        </p:txBody>
      </p:sp>
      <p:sp>
        <p:nvSpPr>
          <p:cNvPr id="45" name="TextBox 44"/>
          <p:cNvSpPr txBox="1"/>
          <p:nvPr/>
        </p:nvSpPr>
        <p:spPr>
          <a:xfrm>
            <a:off x="502920" y="4937760"/>
            <a:ext cx="5577840" cy="457200"/>
          </a:xfrm>
          <a:prstGeom prst="rect">
            <a:avLst/>
          </a:prstGeom>
          <a:noFill/>
        </p:spPr>
        <p:txBody>
          <a:bodyPr wrap="square" lIns="36576" rIns="36576" tIns="18288" bIns="18288">
            <a:spAutoFit/>
          </a:bodyPr>
          <a:lstStyle/>
          <a:p>
            <a:pPr algn="l"/>
            <a:r>
              <a:rPr sz="1400" b="0" i="1">
                <a:solidFill>
                  <a:srgbClr val="728C8C"/>
                </a:solidFill>
                <a:latin typeface="Segoe UI"/>
              </a:rPr>
              <a:t>Giáo Trình Lâm Sàng Chi Tiết Toàn Diện</a:t>
            </a:r>
          </a:p>
        </p:txBody>
      </p:sp>
      <p:sp>
        <p:nvSpPr>
          <p:cNvPr id="46" name="TextBox 45"/>
          <p:cNvSpPr txBox="1"/>
          <p:nvPr/>
        </p:nvSpPr>
        <p:spPr>
          <a:xfrm>
            <a:off x="6675120" y="5989320"/>
            <a:ext cx="5212080" cy="365760"/>
          </a:xfrm>
          <a:prstGeom prst="rect">
            <a:avLst/>
          </a:prstGeom>
          <a:noFill/>
        </p:spPr>
        <p:txBody>
          <a:bodyPr wrap="square" lIns="36576" rIns="36576" tIns="18288"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1828800"/>
            <a:ext cx="1188720" cy="635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993392"/>
            <a:ext cx="10972800" cy="411480"/>
          </a:xfrm>
          <a:prstGeom prst="rect">
            <a:avLst/>
          </a:prstGeom>
          <a:noFill/>
        </p:spPr>
        <p:txBody>
          <a:bodyPr wrap="square" lIns="36576" rIns="36576" tIns="18288" bIns="18288">
            <a:spAutoFit/>
          </a:bodyPr>
          <a:lstStyle/>
          <a:p>
            <a:pPr algn="l"/>
            <a:r>
              <a:rPr sz="1200" b="1" i="0">
                <a:solidFill>
                  <a:srgbClr val="00977A"/>
                </a:solidFill>
                <a:latin typeface="Segoe UI"/>
              </a:rPr>
              <a:t>SỰ CHUYỂN DỊCH QUAN ĐIỂM Y HỌC CHỨNG CỨ</a:t>
            </a:r>
          </a:p>
        </p:txBody>
      </p:sp>
      <p:sp>
        <p:nvSpPr>
          <p:cNvPr id="5" name="TextBox 4"/>
          <p:cNvSpPr txBox="1"/>
          <p:nvPr/>
        </p:nvSpPr>
        <p:spPr>
          <a:xfrm>
            <a:off x="502920" y="2606040"/>
            <a:ext cx="11155680" cy="3017520"/>
          </a:xfrm>
          <a:prstGeom prst="rect">
            <a:avLst/>
          </a:prstGeom>
          <a:noFill/>
        </p:spPr>
        <p:txBody>
          <a:bodyPr wrap="square" lIns="36576" rIns="36576" tIns="18288" bIns="18288" anchor="t">
            <a:spAutoFit/>
          </a:bodyPr>
          <a:lstStyle/>
          <a:p>
            <a:pPr algn="l"/>
            <a:r>
              <a:rPr sz="3200" b="1" i="0">
                <a:solidFill>
                  <a:srgbClr val="FFFFFF"/>
                </a:solidFill>
                <a:latin typeface="Segoe UI"/>
              </a:rPr>
              <a:t>Không Mổ Bóc U Buồng Trứng Thường Quy
Ưu Tiên Bảo Tồn Dự Trữ Noãn &amp; Tái Mở Cửa Sổ Làm Tổ</a:t>
            </a:r>
          </a:p>
        </p:txBody>
      </p:sp>
      <p:sp>
        <p:nvSpPr>
          <p:cNvPr id="6" name="Rectangle 5"/>
          <p:cNvSpPr/>
          <p:nvPr/>
        </p:nvSpPr>
        <p:spPr>
          <a:xfrm>
            <a:off x="502920" y="5852160"/>
            <a:ext cx="11155680" cy="1905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
            <a:ext cx="11247120" cy="1051560"/>
          </a:xfrm>
          <a:prstGeom prst="rect">
            <a:avLst/>
          </a:prstGeom>
          <a:noFill/>
        </p:spPr>
        <p:txBody>
          <a:bodyPr wrap="square" lIns="36576" rIns="36576" tIns="18288" bIns="18288" anchor="ctr">
            <a:spAutoFit/>
          </a:bodyPr>
          <a:lstStyle/>
          <a:p>
            <a:pPr algn="l"/>
            <a:r>
              <a:rPr sz="3200" b="1" i="0">
                <a:solidFill>
                  <a:srgbClr val="0D2B2B"/>
                </a:solidFill>
                <a:latin typeface="Segoe UI"/>
              </a:rPr>
              <a:t>Mục Tiêu Học Tập &amp; Chuẩn Đầu Ra Lâm Sàng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916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Nắm vững cơ chế sinh bệnh học phân tử: stress oxy hóa OMA, tổn thương JZ và đề kháng Progesterone.</a:t>
            </a:r>
          </a:p>
        </p:txBody>
      </p:sp>
      <p:sp>
        <p:nvSpPr>
          <p:cNvPr id="9" name="Rectangle 8"/>
          <p:cNvSpPr/>
          <p:nvPr/>
        </p:nvSpPr>
        <p:spPr>
          <a:xfrm>
            <a:off x="457200" y="26060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060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1" name="TextBox 10"/>
          <p:cNvSpPr txBox="1"/>
          <p:nvPr/>
        </p:nvSpPr>
        <p:spPr>
          <a:xfrm>
            <a:off x="1143000" y="25146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Thành thạo chẩn đoán hình ảnh chuyên sâu: 4 dấu hiệu trực tiếp &amp; 3 dấu hiệu gián tiếp MUSA, phân loại #Enzian.</a:t>
            </a:r>
          </a:p>
        </p:txBody>
      </p:sp>
      <p:sp>
        <p:nvSpPr>
          <p:cNvPr id="12" name="Rectangle 11"/>
          <p:cNvSpPr/>
          <p:nvPr/>
        </p:nvSpPr>
        <p:spPr>
          <a:xfrm>
            <a:off x="457200" y="35204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5204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4" name="TextBox 13"/>
          <p:cNvSpPr txBox="1"/>
          <p:nvPr/>
        </p:nvSpPr>
        <p:spPr>
          <a:xfrm>
            <a:off x="1143000" y="34290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Áp dụng chính xác phác đồ can thiệp: kỹ thuật tiêm xơ cồn EST, kích trứng kép DuoStim và Ultra-long GnRHa.</a:t>
            </a:r>
          </a:p>
        </p:txBody>
      </p:sp>
      <p:sp>
        <p:nvSpPr>
          <p:cNvPr id="15" name="Rectangle 14"/>
          <p:cNvSpPr/>
          <p:nvPr/>
        </p:nvSpPr>
        <p:spPr>
          <a:xfrm>
            <a:off x="457200" y="44348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4348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4</a:t>
            </a:r>
          </a:p>
        </p:txBody>
      </p:sp>
      <p:sp>
        <p:nvSpPr>
          <p:cNvPr id="17" name="TextBox 16"/>
          <p:cNvSpPr txBox="1"/>
          <p:nvPr/>
        </p:nvSpPr>
        <p:spPr>
          <a:xfrm>
            <a:off x="1143000" y="43434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Chủ động nhận diện, dự phòng và xử trí các biến chứng sản khoa: tiền sản giật, đờ tử cung gây băng huyết (PPH).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Nội Dung Bài Học: 6 Chương Toàn Diện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01</a:t>
            </a:r>
          </a:p>
        </p:txBody>
      </p:sp>
      <p:sp>
        <p:nvSpPr>
          <p:cNvPr id="7" name="Rectangle 6"/>
          <p:cNvSpPr/>
          <p:nvPr/>
        </p:nvSpPr>
        <p:spPr>
          <a:xfrm>
            <a:off x="1691640" y="171678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160020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1: Đại cương &amp; Cơ chế bệnh sinh học phân tử</a:t>
            </a:r>
          </a:p>
        </p:txBody>
      </p:sp>
      <p:sp>
        <p:nvSpPr>
          <p:cNvPr id="9" name="TextBox 8"/>
          <p:cNvSpPr txBox="1"/>
          <p:nvPr/>
        </p:nvSpPr>
        <p:spPr>
          <a:xfrm>
            <a:off x="457200" y="237744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02</a:t>
            </a:r>
          </a:p>
        </p:txBody>
      </p:sp>
      <p:sp>
        <p:nvSpPr>
          <p:cNvPr id="10" name="Rectangle 9"/>
          <p:cNvSpPr/>
          <p:nvPr/>
        </p:nvSpPr>
        <p:spPr>
          <a:xfrm>
            <a:off x="1691640" y="249402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237744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2: Chẩn đoán hình ảnh nâng cao (MUSA, #Enzian, MRI)</a:t>
            </a:r>
          </a:p>
        </p:txBody>
      </p:sp>
      <p:sp>
        <p:nvSpPr>
          <p:cNvPr id="12" name="TextBox 11"/>
          <p:cNvSpPr txBox="1"/>
          <p:nvPr/>
        </p:nvSpPr>
        <p:spPr>
          <a:xfrm>
            <a:off x="457200" y="315468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03</a:t>
            </a:r>
          </a:p>
        </p:txBody>
      </p:sp>
      <p:sp>
        <p:nvSpPr>
          <p:cNvPr id="13" name="Rectangle 12"/>
          <p:cNvSpPr/>
          <p:nvPr/>
        </p:nvSpPr>
        <p:spPr>
          <a:xfrm>
            <a:off x="1691640" y="327126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315468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3: Chiến lược quản lý Endometrioma trước ART</a:t>
            </a:r>
          </a:p>
        </p:txBody>
      </p:sp>
      <p:sp>
        <p:nvSpPr>
          <p:cNvPr id="15" name="TextBox 14"/>
          <p:cNvSpPr txBox="1"/>
          <p:nvPr/>
        </p:nvSpPr>
        <p:spPr>
          <a:xfrm>
            <a:off x="457200" y="393192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04</a:t>
            </a:r>
          </a:p>
        </p:txBody>
      </p:sp>
      <p:sp>
        <p:nvSpPr>
          <p:cNvPr id="16" name="Rectangle 15"/>
          <p:cNvSpPr/>
          <p:nvPr/>
        </p:nvSpPr>
        <p:spPr>
          <a:xfrm>
            <a:off x="1691640" y="404850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393192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4: Kích thích buồng trứng &amp; Kỹ thuật chọc hút noãn an toàn</a:t>
            </a:r>
          </a:p>
        </p:txBody>
      </p:sp>
      <p:sp>
        <p:nvSpPr>
          <p:cNvPr id="18" name="TextBox 17"/>
          <p:cNvSpPr txBox="1"/>
          <p:nvPr/>
        </p:nvSpPr>
        <p:spPr>
          <a:xfrm>
            <a:off x="457200" y="470916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05</a:t>
            </a:r>
          </a:p>
        </p:txBody>
      </p:sp>
      <p:sp>
        <p:nvSpPr>
          <p:cNvPr id="19" name="Rectangle 18"/>
          <p:cNvSpPr/>
          <p:nvPr/>
        </p:nvSpPr>
        <p:spPr>
          <a:xfrm>
            <a:off x="1691640" y="482574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0240" y="470916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5: Chuẩn bị niêm mạc &amp; Chuyển phôi đông lạnh (FET)</a:t>
            </a:r>
          </a:p>
        </p:txBody>
      </p:sp>
      <p:sp>
        <p:nvSpPr>
          <p:cNvPr id="21" name="TextBox 20"/>
          <p:cNvSpPr txBox="1"/>
          <p:nvPr/>
        </p:nvSpPr>
        <p:spPr>
          <a:xfrm>
            <a:off x="457200" y="5486400"/>
            <a:ext cx="1097280" cy="777240"/>
          </a:xfrm>
          <a:prstGeom prst="rect">
            <a:avLst/>
          </a:prstGeom>
          <a:noFill/>
        </p:spPr>
        <p:txBody>
          <a:bodyPr wrap="square" lIns="36576" rIns="36576" tIns="18288" bIns="18288" anchor="ctr">
            <a:spAutoFit/>
          </a:bodyPr>
          <a:lstStyle/>
          <a:p>
            <a:pPr algn="l"/>
            <a:r>
              <a:rPr sz="3700" b="1" i="0">
                <a:solidFill>
                  <a:srgbClr val="00977A"/>
                </a:solidFill>
                <a:latin typeface="Segoe UI"/>
              </a:rPr>
              <a:t>06</a:t>
            </a:r>
          </a:p>
        </p:txBody>
      </p:sp>
      <p:sp>
        <p:nvSpPr>
          <p:cNvPr id="22" name="Rectangle 21"/>
          <p:cNvSpPr/>
          <p:nvPr/>
        </p:nvSpPr>
        <p:spPr>
          <a:xfrm>
            <a:off x="1691640" y="5602986"/>
            <a:ext cx="25400" cy="544068"/>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0240" y="5486400"/>
            <a:ext cx="9784080" cy="777240"/>
          </a:xfrm>
          <a:prstGeom prst="rect">
            <a:avLst/>
          </a:prstGeom>
          <a:noFill/>
        </p:spPr>
        <p:txBody>
          <a:bodyPr wrap="square" lIns="36576" rIns="36576" tIns="18288" bIns="18288" anchor="ctr">
            <a:spAutoFit/>
          </a:bodyPr>
          <a:lstStyle/>
          <a:p>
            <a:pPr algn="l"/>
            <a:r>
              <a:rPr sz="1900" b="1" i="0">
                <a:solidFill>
                  <a:srgbClr val="0D2B2B"/>
                </a:solidFill>
                <a:latin typeface="Segoe UI"/>
              </a:rPr>
              <a:t>Chương 6: Quản lý thai kỳ nguy cơ cao &amp; Dự phòng biến chứng sản khoa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01</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Cơ Chế Bệnh Sinh Học Phân Tử</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Giải Phẫu JZ, Stress Oxy Hóa Dịch Nang &amp; Đề Kháng Progesterone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Gánh Nặng Dịch Tễ Học Trong Vô Sinh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828800"/>
            <a:ext cx="11430000" cy="2286000"/>
          </a:xfrm>
          <a:prstGeom prst="rect">
            <a:avLst/>
          </a:prstGeom>
          <a:noFill/>
        </p:spPr>
        <p:txBody>
          <a:bodyPr wrap="square" lIns="36576" rIns="36576" tIns="18288" bIns="18288" anchor="ctr">
            <a:spAutoFit/>
          </a:bodyPr>
          <a:lstStyle/>
          <a:p>
            <a:pPr algn="ctr"/>
            <a:r>
              <a:rPr sz="10200" b="1" i="0">
                <a:solidFill>
                  <a:srgbClr val="00977A"/>
                </a:solidFill>
                <a:latin typeface="Segoe UI"/>
              </a:rPr>
              <a:t>30 - 50%</a:t>
            </a:r>
          </a:p>
        </p:txBody>
      </p:sp>
      <p:sp>
        <p:nvSpPr>
          <p:cNvPr id="7" name="Rectangle 6"/>
          <p:cNvSpPr/>
          <p:nvPr/>
        </p:nvSpPr>
        <p:spPr>
          <a:xfrm>
            <a:off x="5632704" y="4937760"/>
            <a:ext cx="91440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360152" cy="914400"/>
          </a:xfrm>
          <a:prstGeom prst="rect">
            <a:avLst/>
          </a:prstGeom>
          <a:noFill/>
        </p:spPr>
        <p:txBody>
          <a:bodyPr wrap="square" lIns="36576" rIns="36576" tIns="18288" bIns="18288">
            <a:spAutoFit/>
          </a:bodyPr>
          <a:lstStyle/>
          <a:p>
            <a:pPr algn="ctr"/>
            <a:r>
              <a:rPr sz="1800" b="0" i="0">
                <a:solidFill>
                  <a:srgbClr val="728C8C"/>
                </a:solidFill>
                <a:latin typeface="Segoe UI"/>
              </a:rPr>
              <a:t>Tỷ lệ phụ nữ vô sinh hiếm muộn mắc Lạc nội mạc tử cung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Định Nghĩa Bệnh Học Cơ Bản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11064240" cy="1463040"/>
          </a:xfrm>
          <a:prstGeom prst="rect">
            <a:avLst/>
          </a:prstGeom>
          <a:noFill/>
        </p:spPr>
        <p:txBody>
          <a:bodyPr wrap="square" lIns="36576" rIns="36576" tIns="18288" bIns="18288" anchor="ctr">
            <a:spAutoFit/>
          </a:bodyPr>
          <a:lstStyle/>
          <a:p>
            <a:pPr algn="l"/>
            <a:r>
              <a:rPr sz="3600" b="1" i="0">
                <a:solidFill>
                  <a:srgbClr val="FFFFFF"/>
                </a:solidFill>
                <a:latin typeface="Segoe UI"/>
              </a:rPr>
              <a:t>Lạc Nội Mạc Tử Cung (Endometriosis)</a:t>
            </a:r>
          </a:p>
        </p:txBody>
      </p:sp>
      <p:sp>
        <p:nvSpPr>
          <p:cNvPr id="8" name="TextBox 7"/>
          <p:cNvSpPr txBox="1"/>
          <p:nvPr/>
        </p:nvSpPr>
        <p:spPr>
          <a:xfrm>
            <a:off x="548640" y="3246120"/>
            <a:ext cx="11064240" cy="365760"/>
          </a:xfrm>
          <a:prstGeom prst="rect">
            <a:avLst/>
          </a:prstGeom>
          <a:noFill/>
        </p:spPr>
        <p:txBody>
          <a:bodyPr wrap="square" lIns="36576" rIns="36576" tIns="18288" bIns="18288">
            <a:spAutoFit/>
          </a:bodyPr>
          <a:lstStyle/>
          <a:p>
            <a:pPr algn="l"/>
            <a:r>
              <a:rPr sz="1600" b="0" i="1">
                <a:solidFill>
                  <a:srgbClr val="728C8C"/>
                </a:solidFill>
                <a:latin typeface="Segoe UI"/>
              </a:rPr>
              <a:t>en-doe-me-tree-O-sis</a:t>
            </a:r>
          </a:p>
        </p:txBody>
      </p:sp>
      <p:sp>
        <p:nvSpPr>
          <p:cNvPr id="9" name="TextBox 8"/>
          <p:cNvSpPr txBox="1"/>
          <p:nvPr/>
        </p:nvSpPr>
        <p:spPr>
          <a:xfrm>
            <a:off x="548640" y="3657600"/>
            <a:ext cx="11064240" cy="320040"/>
          </a:xfrm>
          <a:prstGeom prst="rect">
            <a:avLst/>
          </a:prstGeom>
          <a:noFill/>
        </p:spPr>
        <p:txBody>
          <a:bodyPr wrap="square" lIns="36576" rIns="36576" tIns="18288" bIns="18288">
            <a:spAutoFit/>
          </a:bodyPr>
          <a:lstStyle/>
          <a:p>
            <a:pPr algn="l"/>
            <a:r>
              <a:rPr sz="1100" b="1" i="0">
                <a:solidFill>
                  <a:srgbClr val="00977A"/>
                </a:solidFill>
                <a:latin typeface="Segoe UI"/>
              </a:rPr>
              <a:t>ĐỊNH NGHĨA</a:t>
            </a:r>
          </a:p>
        </p:txBody>
      </p:sp>
      <p:sp>
        <p:nvSpPr>
          <p:cNvPr id="10" name="Rectangle 9"/>
          <p:cNvSpPr/>
          <p:nvPr/>
        </p:nvSpPr>
        <p:spPr>
          <a:xfrm>
            <a:off x="548640" y="3977639"/>
            <a:ext cx="1106424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114800"/>
            <a:ext cx="11064240" cy="2148840"/>
          </a:xfrm>
          <a:prstGeom prst="rect">
            <a:avLst/>
          </a:prstGeom>
          <a:noFill/>
        </p:spPr>
        <p:txBody>
          <a:bodyPr wrap="square" lIns="36576" rIns="36576" tIns="18288" bIns="18288">
            <a:spAutoFit/>
          </a:bodyPr>
          <a:lstStyle/>
          <a:p>
            <a:pPr algn="l"/>
            <a:r>
              <a:rPr sz="1800" b="0" i="0">
                <a:solidFill>
                  <a:srgbClr val="1A2F2F"/>
                </a:solidFill>
                <a:latin typeface="Segoe UI"/>
              </a:rPr>
              <a:t>Tình trạng các tuyến và mô đệm nội mạc tử cung xuất hiện và phát triển bên ngoài buồng tử cung (phúc mạc chậu, buồng trứng, vòi tử cung, bàng quang, trực tràng). Chảy máu chu kỳ gây phản ứng viêm mạn tính và xơ dính vùng chậu.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Định Nghĩa Thể Tổn Thương Đặc Thù</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11064240" cy="1463040"/>
          </a:xfrm>
          <a:prstGeom prst="rect">
            <a:avLst/>
          </a:prstGeom>
          <a:noFill/>
        </p:spPr>
        <p:txBody>
          <a:bodyPr wrap="square" lIns="36576" rIns="36576" tIns="18288" bIns="18288" anchor="ctr">
            <a:spAutoFit/>
          </a:bodyPr>
          <a:lstStyle/>
          <a:p>
            <a:pPr algn="l"/>
            <a:r>
              <a:rPr sz="3600" b="1" i="0">
                <a:solidFill>
                  <a:srgbClr val="FFFFFF"/>
                </a:solidFill>
                <a:latin typeface="Segoe UI"/>
              </a:rPr>
              <a:t>Endometrioma &amp; Adenomyosis</a:t>
            </a:r>
          </a:p>
        </p:txBody>
      </p:sp>
      <p:sp>
        <p:nvSpPr>
          <p:cNvPr id="8" name="TextBox 7"/>
          <p:cNvSpPr txBox="1"/>
          <p:nvPr/>
        </p:nvSpPr>
        <p:spPr>
          <a:xfrm>
            <a:off x="548640" y="3246120"/>
            <a:ext cx="11064240" cy="365760"/>
          </a:xfrm>
          <a:prstGeom prst="rect">
            <a:avLst/>
          </a:prstGeom>
          <a:noFill/>
        </p:spPr>
        <p:txBody>
          <a:bodyPr wrap="square" lIns="36576" rIns="36576" tIns="18288" bIns="18288">
            <a:spAutoFit/>
          </a:bodyPr>
          <a:lstStyle/>
          <a:p>
            <a:pPr algn="l"/>
            <a:r>
              <a:rPr sz="1600" b="0" i="1">
                <a:solidFill>
                  <a:srgbClr val="728C8C"/>
                </a:solidFill>
                <a:latin typeface="Segoe UI"/>
              </a:rPr>
              <a:t>En-do-me-tri-o-ma &amp; Ad-e-no-my-o-sis</a:t>
            </a:r>
          </a:p>
        </p:txBody>
      </p:sp>
      <p:sp>
        <p:nvSpPr>
          <p:cNvPr id="9" name="TextBox 8"/>
          <p:cNvSpPr txBox="1"/>
          <p:nvPr/>
        </p:nvSpPr>
        <p:spPr>
          <a:xfrm>
            <a:off x="548640" y="3657600"/>
            <a:ext cx="11064240" cy="320040"/>
          </a:xfrm>
          <a:prstGeom prst="rect">
            <a:avLst/>
          </a:prstGeom>
          <a:noFill/>
        </p:spPr>
        <p:txBody>
          <a:bodyPr wrap="square" lIns="36576" rIns="36576" tIns="18288" bIns="18288">
            <a:spAutoFit/>
          </a:bodyPr>
          <a:lstStyle/>
          <a:p>
            <a:pPr algn="l"/>
            <a:r>
              <a:rPr sz="1100" b="1" i="0">
                <a:solidFill>
                  <a:srgbClr val="00977A"/>
                </a:solidFill>
                <a:latin typeface="Segoe UI"/>
              </a:rPr>
              <a:t>ĐỊNH NGHĨA</a:t>
            </a:r>
          </a:p>
        </p:txBody>
      </p:sp>
      <p:sp>
        <p:nvSpPr>
          <p:cNvPr id="10" name="Rectangle 9"/>
          <p:cNvSpPr/>
          <p:nvPr/>
        </p:nvSpPr>
        <p:spPr>
          <a:xfrm>
            <a:off x="548640" y="3977639"/>
            <a:ext cx="1106424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114800"/>
            <a:ext cx="11064240" cy="2148840"/>
          </a:xfrm>
          <a:prstGeom prst="rect">
            <a:avLst/>
          </a:prstGeom>
          <a:noFill/>
        </p:spPr>
        <p:txBody>
          <a:bodyPr wrap="square" lIns="36576" rIns="36576" tIns="18288" bIns="18288">
            <a:spAutoFit/>
          </a:bodyPr>
          <a:lstStyle/>
          <a:p>
            <a:pPr algn="l"/>
            <a:r>
              <a:rPr sz="1800" b="0" i="0">
                <a:solidFill>
                  <a:srgbClr val="1A2F2F"/>
                </a:solidFill>
                <a:latin typeface="Segoe UI"/>
              </a:rPr>
              <a:t>Endometrioma (OMA) là khối u nang chứa máu thoái hóa màu sô-cô-la nằm trong nhu mô buồng trứng. Adenomyosis là tình trạng tuyến nội mạc đáy xâm lấn sâu vào lớp cơ tử cung kèm phì đại xơ hóa cơ trơn xung quanh.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100" b="1" i="0">
                <a:solidFill>
                  <a:srgbClr val="0D2B2B"/>
                </a:solidFill>
                <a:latin typeface="Segoe UI"/>
              </a:rPr>
              <a:t>Giải Phẫu Thành Tử Cung &amp; Vùng Chuyển Tiếp (JZ)</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3 Lớp Cấu Trúc Thành Tử Cung</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Lớp cơ ngoài: Sợi cơ đan chéo, chức năng co hồi cầm máu sau sổ rau.</a:t>
            </a:r>
          </a:p>
          <a:p>
            <a:pPr>
              <a:spcBef>
                <a:spcPts val="500"/>
              </a:spcBef>
              <a:spcAft>
                <a:spcPts val="200"/>
              </a:spcAft>
            </a:pPr>
            <a:r>
              <a:rPr sz="1600">
                <a:solidFill>
                  <a:srgbClr val="1A2F2F"/>
                </a:solidFill>
                <a:latin typeface="Segoe UI"/>
              </a:rPr>
              <a:t>  –  Vùng chuyển tiếp (JZ): Lớp cơ trong bao quanh lòng tử cung, nguồn gốc ống Müller.</a:t>
            </a:r>
          </a:p>
          <a:p>
            <a:pPr>
              <a:spcBef>
                <a:spcPts val="500"/>
              </a:spcBef>
              <a:spcAft>
                <a:spcPts val="200"/>
              </a:spcAft>
            </a:pPr>
            <a:r>
              <a:rPr sz="1600">
                <a:solidFill>
                  <a:srgbClr val="1A2F2F"/>
                </a:solidFill>
                <a:latin typeface="Segoe UI"/>
              </a:rPr>
              <a:t>  –  Lớp nội mạc: Gồm lớp đáy sát JZ và lớp chức năng bong tróc tạo kinh.</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Ý Nghĩa Sinh Lý Bệnh Của JZ</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Sinh lý bình thường: Độ dày JZ &lt; 8 mm, tạo sóng nhu động nhẹ hướng lên đáy hút tinh trùng.</a:t>
            </a:r>
          </a:p>
          <a:p>
            <a:pPr>
              <a:spcBef>
                <a:spcPts val="500"/>
              </a:spcBef>
              <a:spcAft>
                <a:spcPts val="200"/>
              </a:spcAft>
            </a:pPr>
            <a:r>
              <a:rPr sz="1600">
                <a:solidFill>
                  <a:srgbClr val="1A2F2F"/>
                </a:solidFill>
                <a:latin typeface="Segoe UI"/>
              </a:rPr>
              <a:t>  –  Bệnh lý Adenomyosis: JZ bị phá vỡ cấu trúc và dày bất thường (JZ &gt;= 12 mm trên MRI).</a:t>
            </a:r>
          </a:p>
          <a:p>
            <a:pPr>
              <a:spcBef>
                <a:spcPts val="500"/>
              </a:spcBef>
              <a:spcAft>
                <a:spcPts val="200"/>
              </a:spcAft>
            </a:pPr>
            <a:r>
              <a:rPr sz="1600">
                <a:solidFill>
                  <a:srgbClr val="1A2F2F"/>
                </a:solidFill>
                <a:latin typeface="Segoe UI"/>
              </a:rPr>
              <a:t>  –  Hậu quả: Gây tăng co bóp nghịch thường (Dysperistalsis) tống phôi ra ngoài.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Tiêu Chuẩn Vàng Bề Dày Vùng Chuyển Tiếp (JZ)</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828800"/>
            <a:ext cx="11430000" cy="2286000"/>
          </a:xfrm>
          <a:prstGeom prst="rect">
            <a:avLst/>
          </a:prstGeom>
          <a:noFill/>
        </p:spPr>
        <p:txBody>
          <a:bodyPr wrap="square" lIns="36576" rIns="36576" tIns="18288" bIns="18288" anchor="ctr">
            <a:spAutoFit/>
          </a:bodyPr>
          <a:lstStyle/>
          <a:p>
            <a:pPr algn="ctr"/>
            <a:r>
              <a:rPr sz="10200" b="1" i="0">
                <a:solidFill>
                  <a:srgbClr val="00977A"/>
                </a:solidFill>
                <a:latin typeface="Segoe UI"/>
              </a:rPr>
              <a:t>≥ 12 mm</a:t>
            </a:r>
          </a:p>
        </p:txBody>
      </p:sp>
      <p:sp>
        <p:nvSpPr>
          <p:cNvPr id="7" name="Rectangle 6"/>
          <p:cNvSpPr/>
          <p:nvPr/>
        </p:nvSpPr>
        <p:spPr>
          <a:xfrm>
            <a:off x="5632704" y="4937760"/>
            <a:ext cx="91440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360152" cy="914400"/>
          </a:xfrm>
          <a:prstGeom prst="rect">
            <a:avLst/>
          </a:prstGeom>
          <a:noFill/>
        </p:spPr>
        <p:txBody>
          <a:bodyPr wrap="square" lIns="36576" rIns="36576" tIns="18288" bIns="18288">
            <a:spAutoFit/>
          </a:bodyPr>
          <a:lstStyle/>
          <a:p>
            <a:pPr algn="ctr"/>
            <a:r>
              <a:rPr sz="1800" b="0" i="0">
                <a:solidFill>
                  <a:srgbClr val="728C8C"/>
                </a:solidFill>
                <a:latin typeface="Segoe UI"/>
              </a:rPr>
              <a:t>Ngưỡng chẩn đoán xác định Adenomyosis trên MRI / 3D 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Cơ Chế Vi Môi Trường Dịch Nang Độc Hại của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Tích Tụ Sắt Tự Do</a:t>
            </a:r>
          </a:p>
        </p:txBody>
      </p:sp>
      <p:sp>
        <p:nvSpPr>
          <p:cNvPr id="10" name="TextBox 9"/>
          <p:cNvSpPr txBox="1"/>
          <p:nvPr/>
        </p:nvSpPr>
        <p:spPr>
          <a:xfrm>
            <a:off x="395020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Phản Ứng Fenton</a:t>
            </a:r>
          </a:p>
        </p:txBody>
      </p:sp>
      <p:sp>
        <p:nvSpPr>
          <p:cNvPr id="15" name="TextBox 14"/>
          <p:cNvSpPr txBox="1"/>
          <p:nvPr/>
        </p:nvSpPr>
        <p:spPr>
          <a:xfrm>
            <a:off x="788212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Độc Tế Bào Noãn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800" b="1" i="0">
                <a:solidFill>
                  <a:srgbClr val="0D2B2B"/>
                </a:solidFill>
                <a:latin typeface="Segoe UI"/>
              </a:rPr>
              <a:t>Xơ Hóa Mô Vỏ &amp; Cạn Kiệt Nang Noãn ('Burnout' Effect)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Xơ Hóa Nhu Mô Vỏ (Cortical Fibrosis)</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Viêm mạn tính kích thích nguyên bào sợi lắng đọng collagen quá mức quanh u OMA.</a:t>
            </a:r>
          </a:p>
          <a:p>
            <a:pPr>
              <a:spcBef>
                <a:spcPts val="500"/>
              </a:spcBef>
              <a:spcAft>
                <a:spcPts val="200"/>
              </a:spcAft>
            </a:pPr>
            <a:r>
              <a:rPr sz="1600">
                <a:solidFill>
                  <a:srgbClr val="1A2F2F"/>
                </a:solidFill>
                <a:latin typeface="Segoe UI"/>
              </a:rPr>
              <a:t>  –  Mô vỏ buồng trứng bị xơ cứng, làm tắc nghẽn các vi mạch nuôi dưỡng nang noãn nguyên thủy.</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600" b="1" i="0">
                <a:solidFill>
                  <a:srgbClr val="00CCA3"/>
                </a:solidFill>
                <a:latin typeface="Segoe UI"/>
              </a:rPr>
              <a:t>Hiện Tượng Cạn Kiệt Nang Noãn ('Burnout')</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Môi trường viêm kích hoạt bất thường các nang noãn nguyên thủy thức giấc đồng loạt.</a:t>
            </a:r>
          </a:p>
          <a:p>
            <a:pPr>
              <a:spcBef>
                <a:spcPts val="500"/>
              </a:spcBef>
              <a:spcAft>
                <a:spcPts val="200"/>
              </a:spcAft>
            </a:pPr>
            <a:r>
              <a:rPr sz="1600">
                <a:solidFill>
                  <a:srgbClr val="1A2F2F"/>
                </a:solidFill>
                <a:latin typeface="Segoe UI"/>
              </a:rPr>
              <a:t>  –  Nang noãn sau đó thoái hóa hàng loạt làm suy giảm nhanh nồng độ AMH và số lượng nang AFC.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Cơ Chế Thất Bại Làm Tổ Ở Bệnh Nhân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Đề Kháng Progesterone</a:t>
            </a:r>
          </a:p>
        </p:txBody>
      </p:sp>
      <p:sp>
        <p:nvSpPr>
          <p:cNvPr id="10" name="TextBox 9"/>
          <p:cNvSpPr txBox="1"/>
          <p:nvPr/>
        </p:nvSpPr>
        <p:spPr>
          <a:xfrm>
            <a:off x="395020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Suy Giảm Yếu Tố Bám Dính</a:t>
            </a:r>
          </a:p>
        </p:txBody>
      </p:sp>
      <p:sp>
        <p:nvSpPr>
          <p:cNvPr id="15" name="TextBox 14"/>
          <p:cNvSpPr txBox="1"/>
          <p:nvPr/>
        </p:nvSpPr>
        <p:spPr>
          <a:xfrm>
            <a:off x="788212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Tăng Nhu Động Tử Cung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0152" cy="457200"/>
          </a:xfrm>
          <a:prstGeom prst="rect">
            <a:avLst/>
          </a:prstGeom>
          <a:noFill/>
        </p:spPr>
        <p:txBody>
          <a:bodyPr wrap="square" lIns="36576" rIns="36576" tIns="18288" bIns="18288">
            <a:spAutoFit/>
          </a:bodyPr>
          <a:lstStyle/>
          <a:p>
            <a:pPr algn="ctr"/>
            <a:r>
              <a:rPr sz="1300" b="1" i="0">
                <a:solidFill>
                  <a:srgbClr val="00977A"/>
                </a:solidFill>
                <a:latin typeface="Segoe UI"/>
              </a:rPr>
              <a:t>BẰNG CHỨNG EBM (Cozzolino et al., 2022 - PMID: 34981458)</a:t>
            </a:r>
          </a:p>
        </p:txBody>
      </p:sp>
      <p:sp>
        <p:nvSpPr>
          <p:cNvPr id="4" name="Rectangle 3"/>
          <p:cNvSpPr/>
          <p:nvPr/>
        </p:nvSpPr>
        <p:spPr>
          <a:xfrm>
            <a:off x="0" y="2194560"/>
            <a:ext cx="12188952" cy="24688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0152" cy="2286000"/>
          </a:xfrm>
          <a:prstGeom prst="rect">
            <a:avLst/>
          </a:prstGeom>
          <a:noFill/>
        </p:spPr>
        <p:txBody>
          <a:bodyPr wrap="square" lIns="36576" rIns="36576" tIns="18288" bIns="18288" anchor="ctr">
            <a:spAutoFit/>
          </a:bodyPr>
          <a:lstStyle/>
          <a:p>
            <a:pPr algn="ctr"/>
            <a:r>
              <a:rPr sz="3000" b="1" i="0">
                <a:solidFill>
                  <a:srgbClr val="FFFFFF"/>
                </a:solidFill>
                <a:latin typeface="Segoe UI"/>
              </a:rPr>
              <a:t>Adenomyosis Làm Giảm 31% Tỷ Lệ Trẻ Sinh Sống (LBR RR 0.69)
Và Làm Tăng Gấp Đôi Nguy Cơ Sảy Thai Tự Nhiên (RR 2.17)</a:t>
            </a:r>
          </a:p>
        </p:txBody>
      </p:sp>
      <p:sp>
        <p:nvSpPr>
          <p:cNvPr id="6" name="Rectangle 5"/>
          <p:cNvSpPr/>
          <p:nvPr/>
        </p:nvSpPr>
        <p:spPr>
          <a:xfrm>
            <a:off x="5632704" y="5212080"/>
            <a:ext cx="914400" cy="381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02</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Chẩn Đoán Hình Ảnh Nâng Cao</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Tiêu Chuẩn Siêu Âm MUSA, Phân Loại #Enzian &amp; Đánh Giá MRI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900" b="1" i="0">
                <a:solidFill>
                  <a:srgbClr val="0D2B2B"/>
                </a:solidFill>
                <a:latin typeface="Segoe UI"/>
              </a:rPr>
              <a:t>Đặc Điểm Siêu Âm Ngả Âm Đạo (TVS) Của Endometrioma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Khối dạng nang tròn hoặc bầu dục, bờ đều đặn, thành nang dày.</a:t>
            </a:r>
          </a:p>
          <a:p>
            <a:pPr>
              <a:spcBef>
                <a:spcPts val="500"/>
              </a:spcBef>
              <a:spcAft>
                <a:spcPts val="200"/>
              </a:spcAft>
            </a:pPr>
            <a:r>
              <a:rPr sz="1700">
                <a:solidFill>
                  <a:srgbClr val="1A2F2F"/>
                </a:solidFill>
                <a:latin typeface="Segoe UI"/>
              </a:rPr>
              <a:t>  –  Cấu trúc hồi âm kém đồng nhất dạng 'kính mờ' (Ground-glass echogenicity) đặc trưng.</a:t>
            </a:r>
          </a:p>
          <a:p>
            <a:pPr>
              <a:spcBef>
                <a:spcPts val="500"/>
              </a:spcBef>
              <a:spcAft>
                <a:spcPts val="200"/>
              </a:spcAft>
            </a:pPr>
            <a:r>
              <a:rPr sz="1700">
                <a:solidFill>
                  <a:srgbClr val="1A2F2F"/>
                </a:solidFill>
                <a:latin typeface="Segoe UI"/>
              </a:rPr>
              <a:t>  –  Hoàn toàn không có tín hiệu mạch máu bên trong lòng nang trên Doppler màu.</a:t>
            </a:r>
          </a:p>
          <a:p>
            <a:pPr>
              <a:spcBef>
                <a:spcPts val="500"/>
              </a:spcBef>
              <a:spcAft>
                <a:spcPts val="200"/>
              </a:spcAft>
            </a:pPr>
            <a:r>
              <a:rPr sz="1700">
                <a:solidFill>
                  <a:srgbClr val="1A2F2F"/>
                </a:solidFill>
                <a:latin typeface="Segoe UI"/>
              </a:rPr>
              <a:t>  –  Cảnh giác ác tính theo quy chuẩn IOTA: Khối u có chồi sùi đặc, tăng sinh mạch máu Doppler score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Đồng Thuận MUSA: 4 Dấu Hiệu Trực Tiếp Chẩn Đoán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600200"/>
          <a:ext cx="11430000" cy="2971800"/>
        </p:xfrm>
        <a:graphic>
          <a:graphicData uri="http://schemas.openxmlformats.org/drawingml/2006/table">
            <a:tbl>
              <a:tblPr firstRow="1" bandRow="1">
                <a:tableStyleId>{5C22544A-7EE6-4342-B048-85BDC9FD1C3A}</a:tableStyleId>
              </a:tblPr>
              <a:tblGrid>
                <a:gridCol w="3810000"/>
                <a:gridCol w="3810000"/>
                <a:gridCol w="3810000"/>
              </a:tblGrid>
              <a:tr h="594360">
                <a:tc>
                  <a:txBody>
                    <a:bodyPr/>
                    <a:lstStyle/>
                    <a:p>
                      <a:pPr algn="ctr"/>
                      <a:r>
                        <a:rPr sz="1400" b="1">
                          <a:solidFill>
                            <a:srgbClr val="FFFFFF"/>
                          </a:solidFill>
                          <a:latin typeface="Segoe UI"/>
                        </a:rPr>
                        <a:t>Dấu Hiệu Siêu Âm</a:t>
                      </a:r>
                    </a:p>
                  </a:txBody>
                  <a:tcPr>
                    <a:solidFill>
                      <a:srgbClr val="0D2B2B"/>
                    </a:solidFill>
                  </a:tcPr>
                </a:tc>
                <a:tc>
                  <a:txBody>
                    <a:bodyPr/>
                    <a:lstStyle/>
                    <a:p>
                      <a:pPr algn="ctr"/>
                      <a:r>
                        <a:rPr sz="1400" b="1">
                          <a:solidFill>
                            <a:srgbClr val="FFFFFF"/>
                          </a:solidFill>
                          <a:latin typeface="Segoe UI"/>
                        </a:rPr>
                        <a:t>Hình Ảnh Đặc Trưng</a:t>
                      </a:r>
                    </a:p>
                  </a:txBody>
                  <a:tcPr>
                    <a:solidFill>
                      <a:srgbClr val="0D2B2B"/>
                    </a:solidFill>
                  </a:tcPr>
                </a:tc>
                <a:tc>
                  <a:txBody>
                    <a:bodyPr/>
                    <a:lstStyle/>
                    <a:p>
                      <a:pPr algn="ctr"/>
                      <a:r>
                        <a:rPr sz="1400" b="1">
                          <a:solidFill>
                            <a:srgbClr val="FFFFFF"/>
                          </a:solidFill>
                          <a:latin typeface="Segoe UI"/>
                        </a:rPr>
                        <a:t>Bản Chất Mô Bệnh Học</a:t>
                      </a:r>
                    </a:p>
                  </a:txBody>
                  <a:tcPr>
                    <a:solidFill>
                      <a:srgbClr val="0D2B2B"/>
                    </a:solidFill>
                  </a:tcPr>
                </a:tc>
              </a:tr>
              <a:tr h="594360">
                <a:tc>
                  <a:txBody>
                    <a:bodyPr/>
                    <a:lstStyle/>
                    <a:p>
                      <a:pPr algn="ctr"/>
                      <a:r>
                        <a:rPr sz="1300" b="0">
                          <a:solidFill>
                            <a:srgbClr val="1A2F2F"/>
                          </a:solidFill>
                          <a:latin typeface="Segoe UI"/>
                        </a:rPr>
                        <a:t>1. Nang cơ tử cung</a:t>
                      </a:r>
                    </a:p>
                  </a:txBody>
                  <a:tcPr>
                    <a:solidFill>
                      <a:srgbClr val="E8F8F5"/>
                    </a:solidFill>
                  </a:tcPr>
                </a:tc>
                <a:tc>
                  <a:txBody>
                    <a:bodyPr/>
                    <a:lstStyle/>
                    <a:p>
                      <a:pPr algn="ctr"/>
                      <a:r>
                        <a:rPr sz="1300" b="0">
                          <a:solidFill>
                            <a:srgbClr val="1A2F2F"/>
                          </a:solidFill>
                          <a:latin typeface="Segoe UI"/>
                        </a:rPr>
                        <a:t>Ổ trống âm nhỏ 1 - 5 mm trong cơ</a:t>
                      </a:r>
                    </a:p>
                  </a:txBody>
                  <a:tcPr>
                    <a:solidFill>
                      <a:srgbClr val="E8F8F5"/>
                    </a:solidFill>
                  </a:tcPr>
                </a:tc>
                <a:tc>
                  <a:txBody>
                    <a:bodyPr/>
                    <a:lstStyle/>
                    <a:p>
                      <a:pPr algn="ctr"/>
                      <a:r>
                        <a:rPr sz="1300" b="0">
                          <a:solidFill>
                            <a:srgbClr val="1A2F2F"/>
                          </a:solidFill>
                          <a:latin typeface="Segoe UI"/>
                        </a:rPr>
                        <a:t>Tuyến nội mạc lạc chỗ chảy máu tích tụ</a:t>
                      </a:r>
                    </a:p>
                  </a:txBody>
                  <a:tcPr>
                    <a:solidFill>
                      <a:srgbClr val="E8F8F5"/>
                    </a:solidFill>
                  </a:tcPr>
                </a:tc>
              </a:tr>
              <a:tr h="594360">
                <a:tc>
                  <a:txBody>
                    <a:bodyPr/>
                    <a:lstStyle/>
                    <a:p>
                      <a:pPr algn="ctr"/>
                      <a:r>
                        <a:rPr sz="1300" b="0">
                          <a:solidFill>
                            <a:srgbClr val="1A2F2F"/>
                          </a:solidFill>
                          <a:latin typeface="Segoe UI"/>
                        </a:rPr>
                        <a:t>2. Đảo tăng âm</a:t>
                      </a:r>
                    </a:p>
                  </a:txBody>
                  <a:tcPr>
                    <a:solidFill>
                      <a:srgbClr val="FFFFFF"/>
                    </a:solidFill>
                  </a:tcPr>
                </a:tc>
                <a:tc>
                  <a:txBody>
                    <a:bodyPr/>
                    <a:lstStyle/>
                    <a:p>
                      <a:pPr algn="ctr"/>
                      <a:r>
                        <a:rPr sz="1300" b="0">
                          <a:solidFill>
                            <a:srgbClr val="1A2F2F"/>
                          </a:solidFill>
                          <a:latin typeface="Segoe UI"/>
                        </a:rPr>
                        <a:t>Nốt tăng âm nhỏ rải rác</a:t>
                      </a:r>
                    </a:p>
                  </a:txBody>
                  <a:tcPr>
                    <a:solidFill>
                      <a:srgbClr val="FFFFFF"/>
                    </a:solidFill>
                  </a:tcPr>
                </a:tc>
                <a:tc>
                  <a:txBody>
                    <a:bodyPr/>
                    <a:lstStyle/>
                    <a:p>
                      <a:pPr algn="ctr"/>
                      <a:r>
                        <a:rPr sz="1300" b="0">
                          <a:solidFill>
                            <a:srgbClr val="1A2F2F"/>
                          </a:solidFill>
                          <a:latin typeface="Segoe UI"/>
                        </a:rPr>
                        <a:t>Mô đệm nội mạc lạc chỗ trong cơ</a:t>
                      </a:r>
                    </a:p>
                  </a:txBody>
                  <a:tcPr>
                    <a:solidFill>
                      <a:srgbClr val="FFFFFF"/>
                    </a:solidFill>
                  </a:tcPr>
                </a:tc>
              </a:tr>
              <a:tr h="594360">
                <a:tc>
                  <a:txBody>
                    <a:bodyPr/>
                    <a:lstStyle/>
                    <a:p>
                      <a:pPr algn="ctr"/>
                      <a:r>
                        <a:rPr sz="1300" b="0">
                          <a:solidFill>
                            <a:srgbClr val="1A2F2F"/>
                          </a:solidFill>
                          <a:latin typeface="Segoe UI"/>
                        </a:rPr>
                        <a:t>3. Bóng lưng hình quạt</a:t>
                      </a:r>
                    </a:p>
                  </a:txBody>
                  <a:tcPr>
                    <a:solidFill>
                      <a:srgbClr val="E8F8F5"/>
                    </a:solidFill>
                  </a:tcPr>
                </a:tc>
                <a:tc>
                  <a:txBody>
                    <a:bodyPr/>
                    <a:lstStyle/>
                    <a:p>
                      <a:pPr algn="ctr"/>
                      <a:r>
                        <a:rPr sz="1300" b="0">
                          <a:solidFill>
                            <a:srgbClr val="1A2F2F"/>
                          </a:solidFill>
                          <a:latin typeface="Segoe UI"/>
                        </a:rPr>
                        <a:t>Dải cản âm song song như nan quạt</a:t>
                      </a:r>
                    </a:p>
                  </a:txBody>
                  <a:tcPr>
                    <a:solidFill>
                      <a:srgbClr val="E8F8F5"/>
                    </a:solidFill>
                  </a:tcPr>
                </a:tc>
                <a:tc>
                  <a:txBody>
                    <a:bodyPr/>
                    <a:lstStyle/>
                    <a:p>
                      <a:pPr algn="ctr"/>
                      <a:r>
                        <a:rPr sz="1300" b="0">
                          <a:solidFill>
                            <a:srgbClr val="1A2F2F"/>
                          </a:solidFill>
                          <a:latin typeface="Segoe UI"/>
                        </a:rPr>
                        <a:t>Phản ứng xơ hóa sợi cơ quanh tổn thương</a:t>
                      </a:r>
                    </a:p>
                  </a:txBody>
                  <a:tcPr>
                    <a:solidFill>
                      <a:srgbClr val="E8F8F5"/>
                    </a:solidFill>
                  </a:tcPr>
                </a:tc>
              </a:tr>
              <a:tr h="594360">
                <a:tc>
                  <a:txBody>
                    <a:bodyPr/>
                    <a:lstStyle/>
                    <a:p>
                      <a:pPr algn="ctr"/>
                      <a:r>
                        <a:rPr sz="1300" b="0">
                          <a:solidFill>
                            <a:srgbClr val="1A2F2F"/>
                          </a:solidFill>
                          <a:latin typeface="Segoe UI"/>
                        </a:rPr>
                        <a:t>4. Vệt tăng âm dưới niêm</a:t>
                      </a:r>
                    </a:p>
                  </a:txBody>
                  <a:tcPr>
                    <a:solidFill>
                      <a:srgbClr val="FFFFFF"/>
                    </a:solidFill>
                  </a:tcPr>
                </a:tc>
                <a:tc>
                  <a:txBody>
                    <a:bodyPr/>
                    <a:lstStyle/>
                    <a:p>
                      <a:pPr algn="ctr"/>
                      <a:r>
                        <a:rPr sz="1300" b="0">
                          <a:solidFill>
                            <a:srgbClr val="1A2F2F"/>
                          </a:solidFill>
                          <a:latin typeface="Segoe UI"/>
                        </a:rPr>
                        <a:t>Đường chồi gai đâm xuyên vào cơ</a:t>
                      </a:r>
                    </a:p>
                  </a:txBody>
                  <a:tcPr>
                    <a:solidFill>
                      <a:srgbClr val="FFFFFF"/>
                    </a:solidFill>
                  </a:tcPr>
                </a:tc>
                <a:tc>
                  <a:txBody>
                    <a:bodyPr/>
                    <a:lstStyle/>
                    <a:p>
                      <a:pPr algn="ctr"/>
                      <a:r>
                        <a:rPr sz="1300" b="0">
                          <a:solidFill>
                            <a:srgbClr val="1A2F2F"/>
                          </a:solidFill>
                          <a:latin typeface="Segoe UI"/>
                        </a:rPr>
                        <a:t>Tuyến nội mạc đáy xâm lấn qua JZ</a:t>
                      </a:r>
                    </a:p>
                  </a:txBody>
                  <a:tcP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Đồng Thuận MUSA: 3 Dấu Hiệu Gián Tiếp</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600200"/>
          <a:ext cx="11430000" cy="2377440"/>
        </p:xfrm>
        <a:graphic>
          <a:graphicData uri="http://schemas.openxmlformats.org/drawingml/2006/table">
            <a:tbl>
              <a:tblPr firstRow="1" bandRow="1">
                <a:tableStyleId>{5C22544A-7EE6-4342-B048-85BDC9FD1C3A}</a:tableStyleId>
              </a:tblPr>
              <a:tblGrid>
                <a:gridCol w="3810000"/>
                <a:gridCol w="3810000"/>
                <a:gridCol w="3810000"/>
              </a:tblGrid>
              <a:tr h="594360">
                <a:tc>
                  <a:txBody>
                    <a:bodyPr/>
                    <a:lstStyle/>
                    <a:p>
                      <a:pPr algn="ctr"/>
                      <a:r>
                        <a:rPr sz="1400" b="1">
                          <a:solidFill>
                            <a:srgbClr val="FFFFFF"/>
                          </a:solidFill>
                          <a:latin typeface="Segoe UI"/>
                        </a:rPr>
                        <a:t>Dấu Hiệu Siêu Âm</a:t>
                      </a:r>
                    </a:p>
                  </a:txBody>
                  <a:tcPr>
                    <a:solidFill>
                      <a:srgbClr val="0D2B2B"/>
                    </a:solidFill>
                  </a:tcPr>
                </a:tc>
                <a:tc>
                  <a:txBody>
                    <a:bodyPr/>
                    <a:lstStyle/>
                    <a:p>
                      <a:pPr algn="ctr"/>
                      <a:r>
                        <a:rPr sz="1400" b="1">
                          <a:solidFill>
                            <a:srgbClr val="FFFFFF"/>
                          </a:solidFill>
                          <a:latin typeface="Segoe UI"/>
                        </a:rPr>
                        <a:t>Tiêu Chuẩn Đo Lường</a:t>
                      </a:r>
                    </a:p>
                  </a:txBody>
                  <a:tcPr>
                    <a:solidFill>
                      <a:srgbClr val="0D2B2B"/>
                    </a:solidFill>
                  </a:tcPr>
                </a:tc>
                <a:tc>
                  <a:txBody>
                    <a:bodyPr/>
                    <a:lstStyle/>
                    <a:p>
                      <a:pPr algn="ctr"/>
                      <a:r>
                        <a:rPr sz="1400" b="1">
                          <a:solidFill>
                            <a:srgbClr val="FFFFFF"/>
                          </a:solidFill>
                          <a:latin typeface="Segoe UI"/>
                        </a:rPr>
                        <a:t>Phân Biệt Lâm Sàng</a:t>
                      </a:r>
                    </a:p>
                  </a:txBody>
                  <a:tcPr>
                    <a:solidFill>
                      <a:srgbClr val="0D2B2B"/>
                    </a:solidFill>
                  </a:tcPr>
                </a:tc>
              </a:tr>
              <a:tr h="594360">
                <a:tc>
                  <a:txBody>
                    <a:bodyPr/>
                    <a:lstStyle/>
                    <a:p>
                      <a:pPr algn="ctr"/>
                      <a:r>
                        <a:rPr sz="1300" b="0">
                          <a:solidFill>
                            <a:srgbClr val="1A2F2F"/>
                          </a:solidFill>
                          <a:latin typeface="Segoe UI"/>
                        </a:rPr>
                        <a:t>1. Thành dày bất đối xứng</a:t>
                      </a:r>
                    </a:p>
                  </a:txBody>
                  <a:tcPr>
                    <a:solidFill>
                      <a:srgbClr val="E8F8F5"/>
                    </a:solidFill>
                  </a:tcPr>
                </a:tc>
                <a:tc>
                  <a:txBody>
                    <a:bodyPr/>
                    <a:lstStyle/>
                    <a:p>
                      <a:pPr algn="ctr"/>
                      <a:r>
                        <a:rPr sz="1300" b="0">
                          <a:solidFill>
                            <a:srgbClr val="1A2F2F"/>
                          </a:solidFill>
                          <a:latin typeface="Segoe UI"/>
                        </a:rPr>
                        <a:t>Thành trước/sau chênh lệch &gt; 1.5-2 lần</a:t>
                      </a:r>
                    </a:p>
                  </a:txBody>
                  <a:tcPr>
                    <a:solidFill>
                      <a:srgbClr val="E8F8F5"/>
                    </a:solidFill>
                  </a:tcPr>
                </a:tc>
                <a:tc>
                  <a:txBody>
                    <a:bodyPr/>
                    <a:lstStyle/>
                    <a:p>
                      <a:pPr algn="ctr"/>
                      <a:r>
                        <a:rPr sz="1300" b="0">
                          <a:solidFill>
                            <a:srgbClr val="1A2F2F"/>
                          </a:solidFill>
                          <a:latin typeface="Segoe UI"/>
                        </a:rPr>
                        <a:t>Gặp phổ biến ở thành sau tử cung</a:t>
                      </a:r>
                    </a:p>
                  </a:txBody>
                  <a:tcPr>
                    <a:solidFill>
                      <a:srgbClr val="E8F8F5"/>
                    </a:solidFill>
                  </a:tcPr>
                </a:tc>
              </a:tr>
              <a:tr h="594360">
                <a:tc>
                  <a:txBody>
                    <a:bodyPr/>
                    <a:lstStyle/>
                    <a:p>
                      <a:pPr algn="ctr"/>
                      <a:r>
                        <a:rPr sz="1300" b="0">
                          <a:solidFill>
                            <a:srgbClr val="1A2F2F"/>
                          </a:solidFill>
                          <a:latin typeface="Segoe UI"/>
                        </a:rPr>
                        <a:t>2. Tử cung to hình cầu</a:t>
                      </a:r>
                    </a:p>
                  </a:txBody>
                  <a:tcPr>
                    <a:solidFill>
                      <a:srgbClr val="FFFFFF"/>
                    </a:solidFill>
                  </a:tcPr>
                </a:tc>
                <a:tc>
                  <a:txBody>
                    <a:bodyPr/>
                    <a:lstStyle/>
                    <a:p>
                      <a:pPr algn="ctr"/>
                      <a:r>
                        <a:rPr sz="1300" b="0">
                          <a:solidFill>
                            <a:srgbClr val="1A2F2F"/>
                          </a:solidFill>
                          <a:latin typeface="Segoe UI"/>
                        </a:rPr>
                        <a:t>Tử cung mất dạng quả lê, tròn căng</a:t>
                      </a:r>
                    </a:p>
                  </a:txBody>
                  <a:tcPr>
                    <a:solidFill>
                      <a:srgbClr val="FFFFFF"/>
                    </a:solidFill>
                  </a:tcPr>
                </a:tc>
                <a:tc>
                  <a:txBody>
                    <a:bodyPr/>
                    <a:lstStyle/>
                    <a:p>
                      <a:pPr algn="ctr"/>
                      <a:r>
                        <a:rPr sz="1300" b="0">
                          <a:solidFill>
                            <a:srgbClr val="1A2F2F"/>
                          </a:solidFill>
                          <a:latin typeface="Segoe UI"/>
                        </a:rPr>
                        <a:t>Tăng đường kính trước - sau</a:t>
                      </a:r>
                    </a:p>
                  </a:txBody>
                  <a:tcPr>
                    <a:solidFill>
                      <a:srgbClr val="FFFFFF"/>
                    </a:solidFill>
                  </a:tcPr>
                </a:tc>
              </a:tr>
              <a:tr h="594360">
                <a:tc>
                  <a:txBody>
                    <a:bodyPr/>
                    <a:lstStyle/>
                    <a:p>
                      <a:pPr algn="ctr"/>
                      <a:r>
                        <a:rPr sz="1300" b="0">
                          <a:solidFill>
                            <a:srgbClr val="1A2F2F"/>
                          </a:solidFill>
                          <a:latin typeface="Segoe UI"/>
                        </a:rPr>
                        <a:t>3. Mạch máu xuyên cơ</a:t>
                      </a:r>
                    </a:p>
                  </a:txBody>
                  <a:tcPr>
                    <a:solidFill>
                      <a:srgbClr val="E8F8F5"/>
                    </a:solidFill>
                  </a:tcPr>
                </a:tc>
                <a:tc>
                  <a:txBody>
                    <a:bodyPr/>
                    <a:lstStyle/>
                    <a:p>
                      <a:pPr algn="ctr"/>
                      <a:r>
                        <a:rPr sz="1300" b="0">
                          <a:solidFill>
                            <a:srgbClr val="1A2F2F"/>
                          </a:solidFill>
                          <a:latin typeface="Segoe UI"/>
                        </a:rPr>
                        <a:t>Doppler: Mạch máu chạy thẳng góc đâm xuyên</a:t>
                      </a:r>
                    </a:p>
                  </a:txBody>
                  <a:tcPr>
                    <a:solidFill>
                      <a:srgbClr val="E8F8F5"/>
                    </a:solidFill>
                  </a:tcPr>
                </a:tc>
                <a:tc>
                  <a:txBody>
                    <a:bodyPr/>
                    <a:lstStyle/>
                    <a:p>
                      <a:pPr algn="ctr"/>
                      <a:r>
                        <a:rPr sz="1300" b="0">
                          <a:solidFill>
                            <a:srgbClr val="1A2F2F"/>
                          </a:solidFill>
                          <a:latin typeface="Segoe UI"/>
                        </a:rPr>
                        <a:t>Khác u xơ có mạch máu chạy vòng bao quanh</a:t>
                      </a:r>
                    </a:p>
                  </a:txBody>
                  <a:tcPr>
                    <a:solidFill>
                      <a:srgbClr val="E8F8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Phân Biệt Adenomyosis Khu Trú vs Thể Lan Tỏa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3080"/>
            <a:ext cx="5212080" cy="502920"/>
          </a:xfrm>
          <a:prstGeom prst="rect">
            <a:avLst/>
          </a:prstGeom>
          <a:noFill/>
        </p:spPr>
        <p:txBody>
          <a:bodyPr wrap="square" lIns="36576" rIns="36576" tIns="18288" bIns="18288">
            <a:spAutoFit/>
          </a:bodyPr>
          <a:lstStyle/>
          <a:p>
            <a:pPr algn="ctr"/>
            <a:r>
              <a:rPr sz="1900" b="1" i="0">
                <a:solidFill>
                  <a:srgbClr val="00977A"/>
                </a:solidFill>
                <a:latin typeface="Segoe UI"/>
              </a:rPr>
              <a:t>Adenomyosis Khu Trú (Adenomyoma)</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Tổn thương tụ thành khối khu trú, có ranh giới tương đối.</a:t>
            </a:r>
          </a:p>
          <a:p>
            <a:pPr>
              <a:spcBef>
                <a:spcPts val="500"/>
              </a:spcBef>
              <a:spcAft>
                <a:spcPts val="200"/>
              </a:spcAft>
            </a:pPr>
            <a:r>
              <a:rPr sz="1600">
                <a:solidFill>
                  <a:srgbClr val="1A2F2F"/>
                </a:solidFill>
                <a:latin typeface="Segoe UI"/>
              </a:rPr>
              <a:t>  –  Không có vỏ bao giả như u xơ tử cung.</a:t>
            </a:r>
          </a:p>
          <a:p>
            <a:pPr>
              <a:spcBef>
                <a:spcPts val="500"/>
              </a:spcBef>
              <a:spcAft>
                <a:spcPts val="200"/>
              </a:spcAft>
            </a:pPr>
            <a:r>
              <a:rPr sz="1600">
                <a:solidFill>
                  <a:srgbClr val="1A2F2F"/>
                </a:solidFill>
                <a:latin typeface="Segoe UI"/>
              </a:rPr>
              <a:t>  –  Ảnh hưởng vừa phải đến làm tổ nếu nằm xa niêm mạc.</a:t>
            </a:r>
          </a:p>
          <a:p>
            <a:pPr>
              <a:spcBef>
                <a:spcPts val="500"/>
              </a:spcBef>
              <a:spcAft>
                <a:spcPts val="200"/>
              </a:spcAft>
            </a:pPr>
            <a:r>
              <a:rPr sz="1600">
                <a:solidFill>
                  <a:srgbClr val="1A2F2F"/>
                </a:solidFill>
                <a:latin typeface="Segoe UI"/>
              </a:rPr>
              <a:t>  –  Phác đồ FET: Có thể dùng HRT chuẩn hoặc Letrozole.</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783080"/>
            <a:ext cx="5212080" cy="502920"/>
          </a:xfrm>
          <a:prstGeom prst="rect">
            <a:avLst/>
          </a:prstGeom>
          <a:noFill/>
        </p:spPr>
        <p:txBody>
          <a:bodyPr wrap="square" lIns="36576" rIns="36576" tIns="18288" bIns="18288">
            <a:spAutoFit/>
          </a:bodyPr>
          <a:lstStyle/>
          <a:p>
            <a:pPr algn="ctr"/>
            <a:r>
              <a:rPr sz="1900" b="1" i="0">
                <a:solidFill>
                  <a:srgbClr val="E53E3E"/>
                </a:solidFill>
                <a:latin typeface="Segoe UI"/>
              </a:rPr>
              <a:t>Adenomyosis Lan Tỏa (Diffuse)</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Tổn thương lan rộng toàn bộ thành tử cung hình cầu.</a:t>
            </a:r>
          </a:p>
          <a:p>
            <a:pPr>
              <a:spcBef>
                <a:spcPts val="500"/>
              </a:spcBef>
              <a:spcAft>
                <a:spcPts val="200"/>
              </a:spcAft>
            </a:pPr>
            <a:r>
              <a:rPr sz="1600">
                <a:solidFill>
                  <a:srgbClr val="FFFFFF"/>
                </a:solidFill>
                <a:latin typeface="Segoe UI"/>
              </a:rPr>
              <a:t>  –  Phá hủy hoàn toàn cấu trúc Vùng chuyển tiếp (JZ).</a:t>
            </a:r>
          </a:p>
          <a:p>
            <a:pPr>
              <a:spcBef>
                <a:spcPts val="500"/>
              </a:spcBef>
              <a:spcAft>
                <a:spcPts val="200"/>
              </a:spcAft>
            </a:pPr>
            <a:r>
              <a:rPr sz="1600">
                <a:solidFill>
                  <a:srgbClr val="FFFFFF"/>
                </a:solidFill>
                <a:latin typeface="Segoe UI"/>
              </a:rPr>
              <a:t>  –  Nguyên nhân chính gây thất bại làm tổ tái phát (RIF).</a:t>
            </a:r>
          </a:p>
          <a:p>
            <a:pPr>
              <a:spcBef>
                <a:spcPts val="500"/>
              </a:spcBef>
              <a:spcAft>
                <a:spcPts val="200"/>
              </a:spcAft>
            </a:pPr>
            <a:r>
              <a:rPr sz="1600">
                <a:solidFill>
                  <a:srgbClr val="FFFFFF"/>
                </a:solidFill>
                <a:latin typeface="Segoe UI"/>
              </a:rPr>
              <a:t>  –  Phác đồ FET: Bắt buộc Ultra-long GnRHa 2-3 tháng.</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05856" y="3657600"/>
            <a:ext cx="777240" cy="777240"/>
          </a:xfrm>
          <a:prstGeom prst="rect">
            <a:avLst/>
          </a:prstGeom>
          <a:noFill/>
        </p:spPr>
        <p:txBody>
          <a:bodyPr wrap="square" lIns="36576" rIns="36576" tIns="18288" bIns="18288" anchor="ctr">
            <a:spAutoFit/>
          </a:bodyPr>
          <a:lstStyle/>
          <a:p>
            <a:pPr algn="ctr"/>
            <a:r>
              <a:rPr sz="2400" b="1" i="0">
                <a:solidFill>
                  <a:srgbClr val="FFFFFF"/>
                </a:solidFill>
                <a:latin typeface="Segoe UI"/>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Hệ Thống Phân Loại #Enzian Trên Siêu Âm (Keckstein 2023)</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54480"/>
            <a:ext cx="3474719" cy="640080"/>
          </a:xfrm>
          <a:prstGeom prst="rect">
            <a:avLst/>
          </a:prstGeom>
          <a:noFill/>
        </p:spPr>
        <p:txBody>
          <a:bodyPr wrap="square" lIns="36576" rIns="36576" tIns="18288" bIns="18288" anchor="ctr">
            <a:spAutoFit/>
          </a:bodyPr>
          <a:lstStyle/>
          <a:p>
            <a:pPr algn="ctr"/>
            <a:r>
              <a:rPr sz="1900" b="1" i="0">
                <a:solidFill>
                  <a:srgbClr val="FFFFFF"/>
                </a:solidFill>
                <a:latin typeface="Segoe UI"/>
              </a:rPr>
              <a:t>#Enzian O (Buồng trứng)</a:t>
            </a:r>
          </a:p>
        </p:txBody>
      </p:sp>
      <p:sp>
        <p:nvSpPr>
          <p:cNvPr id="10" name="TextBox 9"/>
          <p:cNvSpPr txBox="1"/>
          <p:nvPr/>
        </p:nvSpPr>
        <p:spPr>
          <a:xfrm>
            <a:off x="548640"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O1: U nang &lt; 3 cm</a:t>
            </a:r>
          </a:p>
          <a:p>
            <a:pPr>
              <a:spcBef>
                <a:spcPts val="500"/>
              </a:spcBef>
              <a:spcAft>
                <a:spcPts val="200"/>
              </a:spcAft>
            </a:pPr>
            <a:r>
              <a:rPr sz="1600">
                <a:solidFill>
                  <a:srgbClr val="1A2F2F"/>
                </a:solidFill>
                <a:latin typeface="Segoe UI"/>
              </a:rPr>
              <a:t>  –  O2: U nang 3 - 7 cm</a:t>
            </a:r>
          </a:p>
          <a:p>
            <a:pPr>
              <a:spcBef>
                <a:spcPts val="500"/>
              </a:spcBef>
              <a:spcAft>
                <a:spcPts val="200"/>
              </a:spcAft>
            </a:pPr>
            <a:r>
              <a:rPr sz="1600">
                <a:solidFill>
                  <a:srgbClr val="1A2F2F"/>
                </a:solidFill>
                <a:latin typeface="Segoe UI"/>
              </a:rPr>
              <a:t>  –  O3: U nang &gt; 7 cm</a:t>
            </a:r>
          </a:p>
        </p:txBody>
      </p:sp>
      <p:sp>
        <p:nvSpPr>
          <p:cNvPr id="11" name="Rectangle 10"/>
          <p:cNvSpPr/>
          <p:nvPr/>
        </p:nvSpPr>
        <p:spPr>
          <a:xfrm>
            <a:off x="4242815"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39"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39"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399" y="1554480"/>
            <a:ext cx="3474719" cy="640080"/>
          </a:xfrm>
          <a:prstGeom prst="rect">
            <a:avLst/>
          </a:prstGeom>
          <a:noFill/>
        </p:spPr>
        <p:txBody>
          <a:bodyPr wrap="square" lIns="36576" rIns="36576" tIns="18288" bIns="18288" anchor="ctr">
            <a:spAutoFit/>
          </a:bodyPr>
          <a:lstStyle/>
          <a:p>
            <a:pPr algn="ctr"/>
            <a:r>
              <a:rPr sz="1900" b="1" i="0">
                <a:solidFill>
                  <a:srgbClr val="FFFFFF"/>
                </a:solidFill>
                <a:latin typeface="Segoe UI"/>
              </a:rPr>
              <a:t>#Enzian U (Cơ tử cung)</a:t>
            </a:r>
          </a:p>
        </p:txBody>
      </p:sp>
      <p:sp>
        <p:nvSpPr>
          <p:cNvPr id="15" name="TextBox 14"/>
          <p:cNvSpPr txBox="1"/>
          <p:nvPr/>
        </p:nvSpPr>
        <p:spPr>
          <a:xfrm>
            <a:off x="4389119"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U: Lạc nội mạc cơ tử cung</a:t>
            </a:r>
          </a:p>
          <a:p>
            <a:pPr>
              <a:spcBef>
                <a:spcPts val="500"/>
              </a:spcBef>
              <a:spcAft>
                <a:spcPts val="200"/>
              </a:spcAft>
            </a:pPr>
            <a:r>
              <a:rPr sz="1600">
                <a:solidFill>
                  <a:srgbClr val="1A2F2F"/>
                </a:solidFill>
                <a:latin typeface="Segoe UI"/>
              </a:rPr>
              <a:t>  –  Đánh giá mức độ lan tỏa</a:t>
            </a:r>
          </a:p>
          <a:p>
            <a:pPr>
              <a:spcBef>
                <a:spcPts val="500"/>
              </a:spcBef>
              <a:spcAft>
                <a:spcPts val="200"/>
              </a:spcAft>
            </a:pPr>
            <a:r>
              <a:rPr sz="1600">
                <a:solidFill>
                  <a:srgbClr val="1A2F2F"/>
                </a:solidFill>
                <a:latin typeface="Segoe UI"/>
              </a:rPr>
              <a:t>  –  Tương quan độ dày JZ</a:t>
            </a:r>
          </a:p>
        </p:txBody>
      </p:sp>
      <p:sp>
        <p:nvSpPr>
          <p:cNvPr id="16" name="Rectangle 15"/>
          <p:cNvSpPr/>
          <p:nvPr/>
        </p:nvSpPr>
        <p:spPr>
          <a:xfrm>
            <a:off x="8083294" y="1600200"/>
            <a:ext cx="3749039"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8" y="1554480"/>
            <a:ext cx="3749039"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18" y="1554480"/>
            <a:ext cx="3749039"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8" y="1554480"/>
            <a:ext cx="3474719" cy="640080"/>
          </a:xfrm>
          <a:prstGeom prst="rect">
            <a:avLst/>
          </a:prstGeom>
          <a:noFill/>
        </p:spPr>
        <p:txBody>
          <a:bodyPr wrap="square" lIns="36576" rIns="36576" tIns="18288" bIns="18288" anchor="ctr">
            <a:spAutoFit/>
          </a:bodyPr>
          <a:lstStyle/>
          <a:p>
            <a:pPr algn="ctr"/>
            <a:r>
              <a:rPr sz="1800" b="1" i="0">
                <a:solidFill>
                  <a:srgbClr val="FFFFFF"/>
                </a:solidFill>
                <a:latin typeface="Segoe UI"/>
              </a:rPr>
              <a:t>#Enzian A, B, C (DIE Khoang sau)</a:t>
            </a:r>
          </a:p>
        </p:txBody>
      </p:sp>
      <p:sp>
        <p:nvSpPr>
          <p:cNvPr id="20" name="TextBox 19"/>
          <p:cNvSpPr txBox="1"/>
          <p:nvPr/>
        </p:nvSpPr>
        <p:spPr>
          <a:xfrm>
            <a:off x="8229598" y="2331720"/>
            <a:ext cx="3383279"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A: Âm đạo &amp; vách trực tràng</a:t>
            </a:r>
          </a:p>
          <a:p>
            <a:pPr>
              <a:spcBef>
                <a:spcPts val="500"/>
              </a:spcBef>
              <a:spcAft>
                <a:spcPts val="200"/>
              </a:spcAft>
            </a:pPr>
            <a:r>
              <a:rPr sz="1600">
                <a:solidFill>
                  <a:srgbClr val="1A2F2F"/>
                </a:solidFill>
                <a:latin typeface="Segoe UI"/>
              </a:rPr>
              <a:t>  –  B: Dây chằng tử cung - cùng</a:t>
            </a:r>
          </a:p>
          <a:p>
            <a:pPr>
              <a:spcBef>
                <a:spcPts val="500"/>
              </a:spcBef>
              <a:spcAft>
                <a:spcPts val="200"/>
              </a:spcAft>
            </a:pPr>
            <a:r>
              <a:rPr sz="1600">
                <a:solidFill>
                  <a:srgbClr val="1A2F2F"/>
                </a:solidFill>
                <a:latin typeface="Segoe UI"/>
              </a:rPr>
              <a:t>  –  C: Trực tràng &amp; đại tràng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000" b="1" i="0">
                <a:solidFill>
                  <a:srgbClr val="0D2B2B"/>
                </a:solidFill>
                <a:latin typeface="Segoe UI"/>
              </a:rPr>
              <a:t>Giá Trị Chẩn Đoán Của CHT Vùng Chậu (Pelvic MRI)</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11064240" cy="438912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101600" cy="4389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10607040" cy="365760"/>
          </a:xfrm>
          <a:prstGeom prst="rect">
            <a:avLst/>
          </a:prstGeom>
          <a:noFill/>
        </p:spPr>
        <p:txBody>
          <a:bodyPr wrap="square" lIns="36576" rIns="36576" tIns="18288" bIns="18288">
            <a:spAutoFit/>
          </a:bodyPr>
          <a:lstStyle/>
          <a:p>
            <a:pPr algn="l"/>
            <a:r>
              <a:rPr sz="1200" b="1" i="0">
                <a:solidFill>
                  <a:srgbClr val="00977A"/>
                </a:solidFill>
                <a:latin typeface="Segoe UI"/>
              </a:rPr>
              <a:t>ISGE RECOMMENDATIONS &amp; HUMAN REPRODUCTION</a:t>
            </a:r>
          </a:p>
        </p:txBody>
      </p:sp>
      <p:sp>
        <p:nvSpPr>
          <p:cNvPr id="9" name="TextBox 8"/>
          <p:cNvSpPr txBox="1"/>
          <p:nvPr/>
        </p:nvSpPr>
        <p:spPr>
          <a:xfrm>
            <a:off x="822960" y="2468880"/>
            <a:ext cx="10607040" cy="3017520"/>
          </a:xfrm>
          <a:prstGeom prst="rect">
            <a:avLst/>
          </a:prstGeom>
          <a:noFill/>
        </p:spPr>
        <p:txBody>
          <a:bodyPr wrap="square" lIns="36576" rIns="36576" tIns="18288" bIns="18288" anchor="t">
            <a:spAutoFit/>
          </a:bodyPr>
          <a:lstStyle/>
          <a:p>
            <a:pPr algn="l"/>
            <a:r>
              <a:rPr sz="1900" b="0" i="1">
                <a:solidFill>
                  <a:srgbClr val="FFFFFF"/>
                </a:solidFill>
                <a:latin typeface="Segoe UI"/>
              </a:rPr>
              <a:t>Bề dày Vùng chuyển tiếp JZmax ≥ 12 mm trên chuỗi xung T2-weighted là tiêu chuẩn vàng chẩn đoán xác định Adenomyosis và phân tầng nguy cơ thất bại làm tổ trong hỗ trợ sinh sản.</a:t>
            </a:r>
          </a:p>
        </p:txBody>
      </p:sp>
      <p:sp>
        <p:nvSpPr>
          <p:cNvPr id="10" name="TextBox 9"/>
          <p:cNvSpPr txBox="1"/>
          <p:nvPr/>
        </p:nvSpPr>
        <p:spPr>
          <a:xfrm>
            <a:off x="822960" y="5577840"/>
            <a:ext cx="10607040" cy="365760"/>
          </a:xfrm>
          <a:prstGeom prst="rect">
            <a:avLst/>
          </a:prstGeom>
          <a:noFill/>
        </p:spPr>
        <p:txBody>
          <a:bodyPr wrap="square" lIns="36576" rIns="36576" tIns="18288" bIns="18288">
            <a:spAutoFit/>
          </a:bodyPr>
          <a:lstStyle/>
          <a:p>
            <a:pPr algn="r"/>
            <a:r>
              <a:rPr sz="1500" b="0" i="0">
                <a:solidFill>
                  <a:srgbClr val="728C8C"/>
                </a:solidFill>
                <a:latin typeface="Segoe UI"/>
              </a:rPr>
              <a:t>— Đồng thuận Hội Chẩn Đoán Hình Ảnh Phụ Khoa Quốc Tế</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03</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Chiến Lược Quản Lý Endometrioma</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Hạn Chế Phẫu Thuật, Bảo Tồn Sinh Sản &amp; Kỹ Thuật Tiêm Xơ 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000" b="1" i="0">
                <a:solidFill>
                  <a:srgbClr val="0D2B2B"/>
                </a:solidFill>
                <a:latin typeface="Segoe UI"/>
              </a:rPr>
              <a:t>Khuyến Cáo ESHRE 2022 Về Phẫu Thuật U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45920"/>
            <a:ext cx="11430000" cy="1005839"/>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00200"/>
            <a:ext cx="11430000" cy="1005839"/>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00200"/>
            <a:ext cx="76200" cy="1005839"/>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91640"/>
            <a:ext cx="1060704"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91640"/>
            <a:ext cx="1060704"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MODERATE</a:t>
            </a:r>
          </a:p>
        </p:txBody>
      </p:sp>
      <p:sp>
        <p:nvSpPr>
          <p:cNvPr id="11" name="TextBox 10"/>
          <p:cNvSpPr txBox="1"/>
          <p:nvPr/>
        </p:nvSpPr>
        <p:spPr>
          <a:xfrm>
            <a:off x="10789920" y="1691640"/>
            <a:ext cx="914400" cy="365760"/>
          </a:xfrm>
          <a:prstGeom prst="rect">
            <a:avLst/>
          </a:prstGeom>
          <a:noFill/>
        </p:spPr>
        <p:txBody>
          <a:bodyPr wrap="square" lIns="36576" rIns="36576" tIns="18288" bIns="18288">
            <a:spAutoFit/>
          </a:bodyPr>
          <a:lstStyle/>
          <a:p>
            <a:pPr algn="r"/>
            <a:r>
              <a:rPr sz="1900" b="1" i="0">
                <a:solidFill>
                  <a:srgbClr val="00977A"/>
                </a:solidFill>
                <a:latin typeface="Segoe UI"/>
              </a:rPr>
              <a:t>#1</a:t>
            </a:r>
          </a:p>
        </p:txBody>
      </p:sp>
      <p:sp>
        <p:nvSpPr>
          <p:cNvPr id="12" name="TextBox 11"/>
          <p:cNvSpPr txBox="1"/>
          <p:nvPr/>
        </p:nvSpPr>
        <p:spPr>
          <a:xfrm>
            <a:off x="502920" y="2057400"/>
            <a:ext cx="11155680" cy="502919"/>
          </a:xfrm>
          <a:prstGeom prst="rect">
            <a:avLst/>
          </a:prstGeom>
          <a:noFill/>
        </p:spPr>
        <p:txBody>
          <a:bodyPr wrap="square" lIns="36576" rIns="36576" tIns="18288" bIns="18288">
            <a:spAutoFit/>
          </a:bodyPr>
          <a:lstStyle/>
          <a:p>
            <a:pPr algn="l"/>
            <a:r>
              <a:rPr sz="1600" b="0" i="0">
                <a:solidFill>
                  <a:srgbClr val="1A2F2F"/>
                </a:solidFill>
                <a:latin typeface="Segoe UI"/>
              </a:rPr>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Tại Sao Mổ Bóc Nang (Stripping) Làm Hại Dự Trữ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Tước Mất Mô Buồng Trứng Lành</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Vỏ u OMA không có ranh giới tự nhiên rõ ràng với nhu mô lành.</a:t>
            </a:r>
          </a:p>
          <a:p>
            <a:pPr>
              <a:spcBef>
                <a:spcPts val="500"/>
              </a:spcBef>
              <a:spcAft>
                <a:spcPts val="200"/>
              </a:spcAft>
            </a:pPr>
            <a:r>
              <a:rPr sz="1600">
                <a:solidFill>
                  <a:srgbClr val="1A2F2F"/>
                </a:solidFill>
                <a:latin typeface="Segoe UI"/>
              </a:rPr>
              <a:t>  –  Khi bóc tách vỏ u (stripping), dải mô buồng trứng lành dính chặt theo vỏ nang bị tước đi.</a:t>
            </a:r>
          </a:p>
          <a:p>
            <a:pPr>
              <a:spcBef>
                <a:spcPts val="500"/>
              </a:spcBef>
              <a:spcAft>
                <a:spcPts val="200"/>
              </a:spcAft>
            </a:pPr>
            <a:r>
              <a:rPr sz="1600">
                <a:solidFill>
                  <a:srgbClr val="1A2F2F"/>
                </a:solidFill>
                <a:latin typeface="Segoe UI"/>
              </a:rPr>
              <a:t>  –  &gt; 90% mảnh vỏ u bóc ra chứa nang noãn nguyên thủy lành lặn.</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Tổn Thương Mạch Máu Do Đốt Điện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Cầm máu bằng dao đốt điện lưỡng cực (bipolar) phá hủy vi mạch rốn buồng trứng.</a:t>
            </a:r>
          </a:p>
          <a:p>
            <a:pPr>
              <a:spcBef>
                <a:spcPts val="500"/>
              </a:spcBef>
              <a:spcAft>
                <a:spcPts val="200"/>
              </a:spcAft>
            </a:pPr>
            <a:r>
              <a:rPr sz="1600">
                <a:solidFill>
                  <a:srgbClr val="1A2F2F"/>
                </a:solidFill>
                <a:latin typeface="Segoe UI"/>
              </a:rPr>
              <a:t>  –  Mô buồng trứng còn lại bị thiếu máu nuôi và teo xơ.</a:t>
            </a:r>
          </a:p>
          <a:p>
            <a:pPr>
              <a:spcBef>
                <a:spcPts val="500"/>
              </a:spcBef>
              <a:spcAft>
                <a:spcPts val="200"/>
              </a:spcAft>
            </a:pPr>
            <a:r>
              <a:rPr sz="1600">
                <a:solidFill>
                  <a:srgbClr val="1A2F2F"/>
                </a:solidFill>
                <a:latin typeface="Segoe UI"/>
              </a:rPr>
              <a:t>  –  Muzii / Riemma: Giảm AMH trung bình 0.57 ng/mL, giảm noãn thu được mà không tăng LBR.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4 Chỉ Định Phẫu Thuật U Buồng Trứng Bắt Buộc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4592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Cấp cứu ngoại khoa: Xoắn buồng trứng hoặc vỡ nang OMA gây viêm phúc mạc cấp tính.</a:t>
            </a:r>
          </a:p>
        </p:txBody>
      </p:sp>
      <p:sp>
        <p:nvSpPr>
          <p:cNvPr id="9" name="Rectangle 8"/>
          <p:cNvSpPr/>
          <p:nvPr/>
        </p:nvSpPr>
        <p:spPr>
          <a:xfrm>
            <a:off x="1143000" y="235915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2316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42316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2" name="TextBox 11"/>
          <p:cNvSpPr txBox="1"/>
          <p:nvPr/>
        </p:nvSpPr>
        <p:spPr>
          <a:xfrm>
            <a:off x="1143000" y="237744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Nghi ngờ ác tính: Khối u có chồi sùi, tăng sinh mạch máu Doppler (IOTA score 3-4), u tăng nhanh ở phụ nữ &gt; 40 tuổi.</a:t>
            </a:r>
          </a:p>
        </p:txBody>
      </p:sp>
      <p:sp>
        <p:nvSpPr>
          <p:cNvPr id="13" name="Rectangle 12"/>
          <p:cNvSpPr/>
          <p:nvPr/>
        </p:nvSpPr>
        <p:spPr>
          <a:xfrm>
            <a:off x="1143000" y="313639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20040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20040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6" name="TextBox 15"/>
          <p:cNvSpPr txBox="1"/>
          <p:nvPr/>
        </p:nvSpPr>
        <p:spPr>
          <a:xfrm>
            <a:off x="1143000" y="315468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Đau vùng chậu dữ dội kháng trị: Đau bụng kinh nặng, đau giao hợp sâu không đáp ứng nội khoa.</a:t>
            </a:r>
          </a:p>
        </p:txBody>
      </p:sp>
      <p:sp>
        <p:nvSpPr>
          <p:cNvPr id="17" name="Rectangle 16"/>
          <p:cNvSpPr/>
          <p:nvPr/>
        </p:nvSpPr>
        <p:spPr>
          <a:xfrm>
            <a:off x="1143000" y="391363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77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9776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4</a:t>
            </a:r>
          </a:p>
        </p:txBody>
      </p:sp>
      <p:sp>
        <p:nvSpPr>
          <p:cNvPr id="20" name="TextBox 19"/>
          <p:cNvSpPr txBox="1"/>
          <p:nvPr/>
        </p:nvSpPr>
        <p:spPr>
          <a:xfrm>
            <a:off x="1143000" y="393192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Trở ngại cơ học cho chọc hút noãn: U nang quá lớn (&gt; 5-6 cm) che khuất không thể tiếp cận các nang noãn lành.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1828800"/>
            <a:ext cx="1188720" cy="635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993392"/>
            <a:ext cx="10972800" cy="411480"/>
          </a:xfrm>
          <a:prstGeom prst="rect">
            <a:avLst/>
          </a:prstGeom>
          <a:noFill/>
        </p:spPr>
        <p:txBody>
          <a:bodyPr wrap="square" lIns="36576" rIns="36576" tIns="18288" bIns="18288">
            <a:spAutoFit/>
          </a:bodyPr>
          <a:lstStyle/>
          <a:p>
            <a:pPr algn="l"/>
            <a:r>
              <a:rPr sz="1200" b="1" i="0">
                <a:solidFill>
                  <a:srgbClr val="00977A"/>
                </a:solidFill>
                <a:latin typeface="Segoe UI"/>
              </a:rPr>
              <a:t>CLINICAL PEARL - NGUYÊN TẮC BẢO TỒN SINH SẢN</a:t>
            </a:r>
          </a:p>
        </p:txBody>
      </p:sp>
      <p:sp>
        <p:nvSpPr>
          <p:cNvPr id="5" name="TextBox 4"/>
          <p:cNvSpPr txBox="1"/>
          <p:nvPr/>
        </p:nvSpPr>
        <p:spPr>
          <a:xfrm>
            <a:off x="502920" y="2606040"/>
            <a:ext cx="11155680" cy="3017520"/>
          </a:xfrm>
          <a:prstGeom prst="rect">
            <a:avLst/>
          </a:prstGeom>
          <a:noFill/>
        </p:spPr>
        <p:txBody>
          <a:bodyPr wrap="square" lIns="36576" rIns="36576" tIns="18288" bIns="18288" anchor="t">
            <a:spAutoFit/>
          </a:bodyPr>
          <a:lstStyle/>
          <a:p>
            <a:pPr algn="l"/>
            <a:r>
              <a:rPr sz="3200" b="1" i="0">
                <a:solidFill>
                  <a:srgbClr val="FFFFFF"/>
                </a:solidFill>
                <a:latin typeface="Segoe UI"/>
              </a:rPr>
              <a:t>Bắt Buộc Kích Trứng &amp; Trữ Đông Noãn / Phôi
TRƯỚC KHI Bắt Đầu Phẫu Thuật Bóc U Buồng Trứng</a:t>
            </a:r>
          </a:p>
        </p:txBody>
      </p:sp>
      <p:sp>
        <p:nvSpPr>
          <p:cNvPr id="6" name="Rectangle 5"/>
          <p:cNvSpPr/>
          <p:nvPr/>
        </p:nvSpPr>
        <p:spPr>
          <a:xfrm>
            <a:off x="502920" y="5852160"/>
            <a:ext cx="11155680" cy="1905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Quy Trình 4 Bước Tiêm Xơ Bằng Cồn (EST)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0" y="1691640"/>
            <a:ext cx="758952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0" y="1691640"/>
            <a:ext cx="6350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1691640"/>
            <a:ext cx="7223760" cy="640080"/>
          </a:xfrm>
          <a:prstGeom prst="rect">
            <a:avLst/>
          </a:prstGeom>
          <a:noFill/>
        </p:spPr>
        <p:txBody>
          <a:bodyPr wrap="square" lIns="36576" rIns="36576" tIns="18288" bIns="18288" anchor="ctr">
            <a:spAutoFit/>
          </a:bodyPr>
          <a:lstStyle/>
          <a:p>
            <a:pPr algn="ctr"/>
            <a:r>
              <a:rPr sz="1600" b="1" i="0">
                <a:solidFill>
                  <a:srgbClr val="FFFFFF"/>
                </a:solidFill>
                <a:latin typeface="Segoe UI"/>
              </a:rPr>
              <a:t>1. Chọc hút sạch triệt để dịch sô-cô-la trong u OMA dưới hướng dẫn siêu âm</a:t>
            </a:r>
          </a:p>
        </p:txBody>
      </p:sp>
      <p:sp>
        <p:nvSpPr>
          <p:cNvPr id="9" name="TextBox 8"/>
          <p:cNvSpPr txBox="1"/>
          <p:nvPr/>
        </p:nvSpPr>
        <p:spPr>
          <a:xfrm>
            <a:off x="2286000" y="2331720"/>
            <a:ext cx="7589520" cy="670560"/>
          </a:xfrm>
          <a:prstGeom prst="rect">
            <a:avLst/>
          </a:prstGeom>
          <a:noFill/>
        </p:spPr>
        <p:txBody>
          <a:bodyPr wrap="square" lIns="36576" rIns="36576" tIns="18288" bIns="18288" anchor="ctr">
            <a:spAutoFit/>
          </a:bodyPr>
          <a:lstStyle/>
          <a:p>
            <a:pPr algn="ctr"/>
            <a:r>
              <a:rPr sz="1800" b="1" i="0">
                <a:solidFill>
                  <a:srgbClr val="00977A"/>
                </a:solidFill>
                <a:latin typeface="Segoe UI"/>
              </a:rPr>
              <a:t>▼</a:t>
            </a:r>
          </a:p>
        </p:txBody>
      </p:sp>
      <p:sp>
        <p:nvSpPr>
          <p:cNvPr id="10" name="Rectangle 9"/>
          <p:cNvSpPr/>
          <p:nvPr/>
        </p:nvSpPr>
        <p:spPr>
          <a:xfrm>
            <a:off x="2322576" y="3048000"/>
            <a:ext cx="7589520" cy="64008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3002280"/>
            <a:ext cx="7589520" cy="64008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3002280"/>
            <a:ext cx="7223760" cy="640080"/>
          </a:xfrm>
          <a:prstGeom prst="rect">
            <a:avLst/>
          </a:prstGeom>
          <a:noFill/>
        </p:spPr>
        <p:txBody>
          <a:bodyPr wrap="square" lIns="36576" rIns="36576" tIns="18288" bIns="18288" anchor="ctr">
            <a:spAutoFit/>
          </a:bodyPr>
          <a:lstStyle/>
          <a:p>
            <a:pPr algn="ctr"/>
            <a:r>
              <a:rPr sz="1600" b="0" i="0">
                <a:solidFill>
                  <a:srgbClr val="0D2B2B"/>
                </a:solidFill>
                <a:latin typeface="Segoe UI"/>
              </a:rPr>
              <a:t>2. Bơm rửa lòng nang bằng nước muối sinh lý NaCl 0.9% 2-3 lần đến khi dịch trong</a:t>
            </a:r>
          </a:p>
        </p:txBody>
      </p:sp>
      <p:sp>
        <p:nvSpPr>
          <p:cNvPr id="13" name="TextBox 12"/>
          <p:cNvSpPr txBox="1"/>
          <p:nvPr/>
        </p:nvSpPr>
        <p:spPr>
          <a:xfrm>
            <a:off x="2286000" y="3642360"/>
            <a:ext cx="7589520" cy="670560"/>
          </a:xfrm>
          <a:prstGeom prst="rect">
            <a:avLst/>
          </a:prstGeom>
          <a:noFill/>
        </p:spPr>
        <p:txBody>
          <a:bodyPr wrap="square" lIns="36576" rIns="36576" tIns="18288" bIns="18288" anchor="ctr">
            <a:spAutoFit/>
          </a:bodyPr>
          <a:lstStyle/>
          <a:p>
            <a:pPr algn="ctr"/>
            <a:r>
              <a:rPr sz="1800" b="1" i="0">
                <a:solidFill>
                  <a:srgbClr val="00977A"/>
                </a:solidFill>
                <a:latin typeface="Segoe UI"/>
              </a:rPr>
              <a:t>▼</a:t>
            </a:r>
          </a:p>
        </p:txBody>
      </p:sp>
      <p:sp>
        <p:nvSpPr>
          <p:cNvPr id="14" name="Rectangle 13"/>
          <p:cNvSpPr/>
          <p:nvPr/>
        </p:nvSpPr>
        <p:spPr>
          <a:xfrm>
            <a:off x="2286000" y="4312920"/>
            <a:ext cx="758952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0" y="4312920"/>
            <a:ext cx="6350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4312920"/>
            <a:ext cx="7223760" cy="640080"/>
          </a:xfrm>
          <a:prstGeom prst="rect">
            <a:avLst/>
          </a:prstGeom>
          <a:noFill/>
        </p:spPr>
        <p:txBody>
          <a:bodyPr wrap="square" lIns="36576" rIns="36576" tIns="18288" bIns="18288" anchor="ctr">
            <a:spAutoFit/>
          </a:bodyPr>
          <a:lstStyle/>
          <a:p>
            <a:pPr algn="ctr"/>
            <a:r>
              <a:rPr sz="1600" b="1" i="0">
                <a:solidFill>
                  <a:srgbClr val="FFFFFF"/>
                </a:solidFill>
                <a:latin typeface="Segoe UI"/>
              </a:rPr>
              <a:t>3. Bơm cồn y tế 95-99% (thể tích 60-80% lượng hút ra), ngâm lưu 10-15 phút</a:t>
            </a:r>
          </a:p>
        </p:txBody>
      </p:sp>
      <p:sp>
        <p:nvSpPr>
          <p:cNvPr id="17" name="TextBox 16"/>
          <p:cNvSpPr txBox="1"/>
          <p:nvPr/>
        </p:nvSpPr>
        <p:spPr>
          <a:xfrm>
            <a:off x="2286000" y="4953000"/>
            <a:ext cx="7589520" cy="670560"/>
          </a:xfrm>
          <a:prstGeom prst="rect">
            <a:avLst/>
          </a:prstGeom>
          <a:noFill/>
        </p:spPr>
        <p:txBody>
          <a:bodyPr wrap="square" lIns="36576" rIns="36576" tIns="18288" bIns="18288" anchor="ctr">
            <a:spAutoFit/>
          </a:bodyPr>
          <a:lstStyle/>
          <a:p>
            <a:pPr algn="ctr"/>
            <a:r>
              <a:rPr sz="1800" b="1" i="0">
                <a:solidFill>
                  <a:srgbClr val="00977A"/>
                </a:solidFill>
                <a:latin typeface="Segoe UI"/>
              </a:rPr>
              <a:t>▼</a:t>
            </a:r>
          </a:p>
        </p:txBody>
      </p:sp>
      <p:sp>
        <p:nvSpPr>
          <p:cNvPr id="18" name="Rectangle 17"/>
          <p:cNvSpPr/>
          <p:nvPr/>
        </p:nvSpPr>
        <p:spPr>
          <a:xfrm>
            <a:off x="2286000" y="5623560"/>
            <a:ext cx="758952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5623560"/>
            <a:ext cx="6350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80" y="5623560"/>
            <a:ext cx="7223760" cy="640080"/>
          </a:xfrm>
          <a:prstGeom prst="rect">
            <a:avLst/>
          </a:prstGeom>
          <a:noFill/>
        </p:spPr>
        <p:txBody>
          <a:bodyPr wrap="square" lIns="36576" rIns="36576" tIns="18288" bIns="18288" anchor="ctr">
            <a:spAutoFit/>
          </a:bodyPr>
          <a:lstStyle/>
          <a:p>
            <a:pPr algn="ctr"/>
            <a:r>
              <a:rPr sz="1600" b="1" i="0">
                <a:solidFill>
                  <a:srgbClr val="FFFFFF"/>
                </a:solidFill>
                <a:latin typeface="Segoe UI"/>
              </a:rPr>
              <a:t>4. Hút cạn sạch toàn bộ lượng cồn ra ngoài, bảo tồn tối đa mô buồng trứng lành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000" b="1" i="0">
                <a:solidFill>
                  <a:srgbClr val="0D2B2B"/>
                </a:solidFill>
                <a:latin typeface="Segoe UI"/>
              </a:rPr>
              <a:t>So Sánh Tiêm Xơ Cồn (EST) vs Phẫu Thuật Bóc Nang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3080"/>
            <a:ext cx="5212080" cy="502920"/>
          </a:xfrm>
          <a:prstGeom prst="rect">
            <a:avLst/>
          </a:prstGeom>
          <a:noFill/>
        </p:spPr>
        <p:txBody>
          <a:bodyPr wrap="square" lIns="36576" rIns="36576" tIns="18288" bIns="18288">
            <a:spAutoFit/>
          </a:bodyPr>
          <a:lstStyle/>
          <a:p>
            <a:pPr algn="ctr"/>
            <a:r>
              <a:rPr sz="1900" b="1" i="0">
                <a:solidFill>
                  <a:srgbClr val="00977A"/>
                </a:solidFill>
                <a:latin typeface="Segoe UI"/>
              </a:rPr>
              <a:t>Tiêm Xơ Bằng Cồn (EST)</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Bảo tồn nồng độ AMH sau thủ thuật vượt trội.</a:t>
            </a:r>
          </a:p>
          <a:p>
            <a:pPr>
              <a:spcBef>
                <a:spcPts val="500"/>
              </a:spcBef>
              <a:spcAft>
                <a:spcPts val="200"/>
              </a:spcAft>
            </a:pPr>
            <a:r>
              <a:rPr sz="1600">
                <a:solidFill>
                  <a:srgbClr val="1A2F2F"/>
                </a:solidFill>
                <a:latin typeface="Segoe UI"/>
              </a:rPr>
              <a:t>  –  Thu được số noãn cao hơn trong chu kỳ IVF tiếp theo.</a:t>
            </a:r>
          </a:p>
          <a:p>
            <a:pPr>
              <a:spcBef>
                <a:spcPts val="500"/>
              </a:spcBef>
              <a:spcAft>
                <a:spcPts val="200"/>
              </a:spcAft>
            </a:pPr>
            <a:r>
              <a:rPr sz="1600">
                <a:solidFill>
                  <a:srgbClr val="1A2F2F"/>
                </a:solidFill>
                <a:latin typeface="Segoe UI"/>
              </a:rPr>
              <a:t>  –  Không cần gây mê toàn thân, thực hiện ngả âm đạo.</a:t>
            </a:r>
          </a:p>
          <a:p>
            <a:pPr>
              <a:spcBef>
                <a:spcPts val="500"/>
              </a:spcBef>
              <a:spcAft>
                <a:spcPts val="200"/>
              </a:spcAft>
            </a:pPr>
            <a:r>
              <a:rPr sz="1600">
                <a:solidFill>
                  <a:srgbClr val="1A2F2F"/>
                </a:solidFill>
                <a:latin typeface="Segoe UI"/>
              </a:rPr>
              <a:t>  –  Bằng chứng Bennet 2026 (PMID: 42471696).</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783080"/>
            <a:ext cx="5212080" cy="502920"/>
          </a:xfrm>
          <a:prstGeom prst="rect">
            <a:avLst/>
          </a:prstGeom>
          <a:noFill/>
        </p:spPr>
        <p:txBody>
          <a:bodyPr wrap="square" lIns="36576" rIns="36576" tIns="18288" bIns="18288">
            <a:spAutoFit/>
          </a:bodyPr>
          <a:lstStyle/>
          <a:p>
            <a:pPr algn="ctr"/>
            <a:r>
              <a:rPr sz="1900" b="1" i="0">
                <a:solidFill>
                  <a:srgbClr val="E53E3E"/>
                </a:solidFill>
                <a:latin typeface="Segoe UI"/>
              </a:rPr>
              <a:t>Phẫu Thuật Bóc Nang (Cystectomy)</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Sụt giảm AMH rõ rệt do mất mô lành và đốt điện.</a:t>
            </a:r>
          </a:p>
          <a:p>
            <a:pPr>
              <a:spcBef>
                <a:spcPts val="500"/>
              </a:spcBef>
              <a:spcAft>
                <a:spcPts val="200"/>
              </a:spcAft>
            </a:pPr>
            <a:r>
              <a:rPr sz="1600">
                <a:solidFill>
                  <a:srgbClr val="FFFFFF"/>
                </a:solidFill>
                <a:latin typeface="Segoe UI"/>
              </a:rPr>
              <a:t>  –  Giảm số noãn thu được khi làm IVF.</a:t>
            </a:r>
          </a:p>
          <a:p>
            <a:pPr>
              <a:spcBef>
                <a:spcPts val="500"/>
              </a:spcBef>
              <a:spcAft>
                <a:spcPts val="200"/>
              </a:spcAft>
            </a:pPr>
            <a:r>
              <a:rPr sz="1600">
                <a:solidFill>
                  <a:srgbClr val="FFFFFF"/>
                </a:solidFill>
                <a:latin typeface="Segoe UI"/>
              </a:rPr>
              <a:t>  –  Thời gian hồi phục lâu hơn, chi phí cao hơn.</a:t>
            </a:r>
          </a:p>
          <a:p>
            <a:pPr>
              <a:spcBef>
                <a:spcPts val="500"/>
              </a:spcBef>
              <a:spcAft>
                <a:spcPts val="200"/>
              </a:spcAft>
            </a:pPr>
            <a:r>
              <a:rPr sz="1600">
                <a:solidFill>
                  <a:srgbClr val="FFFFFF"/>
                </a:solidFill>
                <a:latin typeface="Segoe UI"/>
              </a:rPr>
              <a:t>  –  Không cải thiện tỷ lệ trẻ sinh sống (LBR OR 0.89).</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05856" y="3657600"/>
            <a:ext cx="777240" cy="777240"/>
          </a:xfrm>
          <a:prstGeom prst="rect">
            <a:avLst/>
          </a:prstGeom>
          <a:noFill/>
        </p:spPr>
        <p:txBody>
          <a:bodyPr wrap="square" lIns="36576" rIns="36576" tIns="18288" bIns="18288" anchor="ctr">
            <a:spAutoFit/>
          </a:bodyPr>
          <a:lstStyle/>
          <a:p>
            <a:pPr algn="ctr"/>
            <a:r>
              <a:rPr sz="2400" b="1" i="0">
                <a:solidFill>
                  <a:srgbClr val="FFFFFF"/>
                </a:solidFill>
                <a:latin typeface="Segoe UI"/>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04</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Kích Thích Buồng Trứng &amp; An Toàn OPU</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Phác Đồ Antagonist, DuoStim &amp; Kịch Bản Xử Trí Chọc Nhầm OMA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Lựa Chọn Phác Đồ Kích Thích Buồng Trứng (COS)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Phác Đồ GnRH Antagonist Linh Hoạt</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Tiêm rFSH + hMG từ ngày 2-3 chu kỳ.</a:t>
            </a:r>
          </a:p>
          <a:p>
            <a:pPr>
              <a:spcBef>
                <a:spcPts val="500"/>
              </a:spcBef>
              <a:spcAft>
                <a:spcPts val="200"/>
              </a:spcAft>
            </a:pPr>
            <a:r>
              <a:rPr sz="1600">
                <a:solidFill>
                  <a:srgbClr val="1A2F2F"/>
                </a:solidFill>
                <a:latin typeface="Segoe UI"/>
              </a:rPr>
              <a:t>  –  Bắt đầu Antagonist (0.25 mg/ngày) khi nang &gt;= 14 mm hoặc E2 &gt; 500 pg/mL.</a:t>
            </a:r>
          </a:p>
          <a:p>
            <a:pPr>
              <a:spcBef>
                <a:spcPts val="500"/>
              </a:spcBef>
              <a:spcAft>
                <a:spcPts val="200"/>
              </a:spcAft>
            </a:pPr>
            <a:r>
              <a:rPr sz="1600">
                <a:solidFill>
                  <a:srgbClr val="1A2F2F"/>
                </a:solidFill>
                <a:latin typeface="Segoe UI"/>
              </a:rPr>
              <a:t>  –  Trigger bằng GnRH Agonist (Triptorelin 0.2 mg) + Freeze-all triệt tiêu OHSS.</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Phác Đồ PPOS (Progestin-Primed)</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Uống Medroxyprogesterone 10 mg/ngày hoặc Dydrogesterone 20 mg/ngày từ ngày đầu kích trứng.</a:t>
            </a:r>
          </a:p>
          <a:p>
            <a:pPr>
              <a:spcBef>
                <a:spcPts val="500"/>
              </a:spcBef>
              <a:spcAft>
                <a:spcPts val="200"/>
              </a:spcAft>
            </a:pPr>
            <a:r>
              <a:rPr sz="1600">
                <a:solidFill>
                  <a:srgbClr val="1A2F2F"/>
                </a:solidFill>
                <a:latin typeface="Segoe UI"/>
              </a:rPr>
              <a:t>  –  Ức chế đỉnh LH hiệu quả bằng đường uống, giảm số mũi tiêm.</a:t>
            </a:r>
          </a:p>
          <a:p>
            <a:pPr>
              <a:spcBef>
                <a:spcPts val="500"/>
              </a:spcBef>
              <a:spcAft>
                <a:spcPts val="200"/>
              </a:spcAft>
            </a:pPr>
            <a:r>
              <a:rPr sz="1600">
                <a:solidFill>
                  <a:srgbClr val="1A2F2F"/>
                </a:solidFill>
                <a:latin typeface="Segoe UI"/>
              </a:rPr>
              <a:t>  –  Chi phí thấp, tối ưu cho chu kỳ gom noãn/phôi Freeze-all.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Phác Đồ DuoStim: Gom Noãn Khẩn Cấp Trong 1 Tháng Cho DOR</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931920"/>
            <a:ext cx="1124712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021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9" name="TextBox 8"/>
          <p:cNvSpPr txBox="1"/>
          <p:nvPr/>
        </p:nvSpPr>
        <p:spPr>
          <a:xfrm>
            <a:off x="548640" y="224028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Pha Nang Noãn</a:t>
            </a:r>
          </a:p>
        </p:txBody>
      </p:sp>
      <p:sp>
        <p:nvSpPr>
          <p:cNvPr id="10" name="Rectangle 9"/>
          <p:cNvSpPr/>
          <p:nvPr/>
        </p:nvSpPr>
        <p:spPr>
          <a:xfrm>
            <a:off x="449199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0420" y="44348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2" name="TextBox 11"/>
          <p:cNvSpPr txBox="1"/>
          <p:nvPr/>
        </p:nvSpPr>
        <p:spPr>
          <a:xfrm>
            <a:off x="3360420" y="502920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Giai Đoạn Nghỉ</a:t>
            </a:r>
          </a:p>
        </p:txBody>
      </p:sp>
      <p:sp>
        <p:nvSpPr>
          <p:cNvPr id="13" name="Rectangle 12"/>
          <p:cNvSpPr/>
          <p:nvPr/>
        </p:nvSpPr>
        <p:spPr>
          <a:xfrm>
            <a:off x="730377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6916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5" name="TextBox 14"/>
          <p:cNvSpPr txBox="1"/>
          <p:nvPr/>
        </p:nvSpPr>
        <p:spPr>
          <a:xfrm>
            <a:off x="6172200" y="224028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Pha Hoàng Thể</a:t>
            </a:r>
          </a:p>
        </p:txBody>
      </p:sp>
      <p:sp>
        <p:nvSpPr>
          <p:cNvPr id="16" name="Rectangle 15"/>
          <p:cNvSpPr/>
          <p:nvPr/>
        </p:nvSpPr>
        <p:spPr>
          <a:xfrm>
            <a:off x="1011555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3980" y="44348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8" name="TextBox 17"/>
          <p:cNvSpPr txBox="1"/>
          <p:nvPr/>
        </p:nvSpPr>
        <p:spPr>
          <a:xfrm>
            <a:off x="8983980" y="502920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Freeze-All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800" b="1" i="0">
                <a:solidFill>
                  <a:srgbClr val="0D2B2B"/>
                </a:solidFill>
                <a:latin typeface="Segoe UI"/>
              </a:rPr>
              <a:t>3 Bước Chuẩn Bị &amp; Khử Khuẩn Âm Đạo An Toàn Trước OPU</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5166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51660" y="1691640"/>
            <a:ext cx="640080" cy="640080"/>
          </a:xfrm>
          <a:prstGeom prst="rect">
            <a:avLst/>
          </a:prstGeom>
          <a:noFill/>
        </p:spPr>
        <p:txBody>
          <a:bodyPr wrap="square" lIns="36576" rIns="36576" tIns="18288" bIns="18288" anchor="ctr">
            <a:spAutoFit/>
          </a:bodyPr>
          <a:lstStyle/>
          <a:p>
            <a:pPr algn="ctr"/>
            <a:r>
              <a:rPr sz="2400" b="1" i="0">
                <a:solidFill>
                  <a:srgbClr val="FFFFFF"/>
                </a:solidFill>
                <a:latin typeface="Segoe UI"/>
              </a:rPr>
              <a:t>1</a:t>
            </a:r>
          </a:p>
        </p:txBody>
      </p:sp>
      <p:sp>
        <p:nvSpPr>
          <p:cNvPr id="8" name="Rectangle 7"/>
          <p:cNvSpPr/>
          <p:nvPr/>
        </p:nvSpPr>
        <p:spPr>
          <a:xfrm>
            <a:off x="40233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06040"/>
            <a:ext cx="3337560" cy="640080"/>
          </a:xfrm>
          <a:prstGeom prst="rect">
            <a:avLst/>
          </a:prstGeom>
          <a:noFill/>
        </p:spPr>
        <p:txBody>
          <a:bodyPr wrap="square" lIns="36576" rIns="36576" tIns="18288" bIns="18288" anchor="ctr">
            <a:spAutoFit/>
          </a:bodyPr>
          <a:lstStyle/>
          <a:p>
            <a:pPr algn="ctr"/>
            <a:r>
              <a:rPr sz="1800" b="1" i="0">
                <a:solidFill>
                  <a:srgbClr val="0D2B2B"/>
                </a:solidFill>
                <a:latin typeface="Segoe UI"/>
              </a:rPr>
              <a:t>1. Khử Khuẩn Âm Đạo</a:t>
            </a:r>
          </a:p>
        </p:txBody>
      </p:sp>
      <p:sp>
        <p:nvSpPr>
          <p:cNvPr id="12" name="TextBox 11"/>
          <p:cNvSpPr txBox="1"/>
          <p:nvPr/>
        </p:nvSpPr>
        <p:spPr>
          <a:xfrm>
            <a:off x="54864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Sát trùng âm đạo bằng dung dịch Povidone-iodine pha loãng kỹ lưỡng.</a:t>
            </a:r>
          </a:p>
        </p:txBody>
      </p:sp>
      <p:sp>
        <p:nvSpPr>
          <p:cNvPr id="13" name="TextBox 12"/>
          <p:cNvSpPr txBox="1"/>
          <p:nvPr/>
        </p:nvSpPr>
        <p:spPr>
          <a:xfrm>
            <a:off x="3995928" y="1828800"/>
            <a:ext cx="164592" cy="457200"/>
          </a:xfrm>
          <a:prstGeom prst="rect">
            <a:avLst/>
          </a:prstGeom>
          <a:noFill/>
        </p:spPr>
        <p:txBody>
          <a:bodyPr wrap="square" lIns="36576" rIns="36576" tIns="18288" bIns="18288" anchor="ctr">
            <a:spAutoFit/>
          </a:bodyPr>
          <a:lstStyle/>
          <a:p>
            <a:pPr algn="ctr"/>
            <a:r>
              <a:rPr sz="1800" b="1" i="0">
                <a:solidFill>
                  <a:srgbClr val="00977A"/>
                </a:solidFill>
                <a:latin typeface="Segoe UI"/>
              </a:rPr>
              <a:t>▶</a:t>
            </a:r>
          </a:p>
        </p:txBody>
      </p:sp>
      <p:sp>
        <p:nvSpPr>
          <p:cNvPr id="14" name="Rectangle 13"/>
          <p:cNvSpPr/>
          <p:nvPr/>
        </p:nvSpPr>
        <p:spPr>
          <a:xfrm>
            <a:off x="564642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46420" y="1691640"/>
            <a:ext cx="640080" cy="640080"/>
          </a:xfrm>
          <a:prstGeom prst="rect">
            <a:avLst/>
          </a:prstGeom>
          <a:noFill/>
        </p:spPr>
        <p:txBody>
          <a:bodyPr wrap="square" lIns="36576" rIns="36576" tIns="18288" bIns="18288" anchor="ctr">
            <a:spAutoFit/>
          </a:bodyPr>
          <a:lstStyle/>
          <a:p>
            <a:pPr algn="ctr"/>
            <a:r>
              <a:rPr sz="2400" b="1" i="0">
                <a:solidFill>
                  <a:srgbClr val="FFFFFF"/>
                </a:solidFill>
                <a:latin typeface="Segoe UI"/>
              </a:rPr>
              <a:t>2</a:t>
            </a:r>
          </a:p>
        </p:txBody>
      </p:sp>
      <p:sp>
        <p:nvSpPr>
          <p:cNvPr id="16" name="Rectangle 15"/>
          <p:cNvSpPr/>
          <p:nvPr/>
        </p:nvSpPr>
        <p:spPr>
          <a:xfrm>
            <a:off x="419709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2606040"/>
            <a:ext cx="3337560" cy="640080"/>
          </a:xfrm>
          <a:prstGeom prst="rect">
            <a:avLst/>
          </a:prstGeom>
          <a:noFill/>
        </p:spPr>
        <p:txBody>
          <a:bodyPr wrap="square" lIns="36576" rIns="36576" tIns="18288" bIns="18288" anchor="ctr">
            <a:spAutoFit/>
          </a:bodyPr>
          <a:lstStyle/>
          <a:p>
            <a:pPr algn="ctr"/>
            <a:r>
              <a:rPr sz="1800" b="1" i="0">
                <a:solidFill>
                  <a:srgbClr val="0D2B2B"/>
                </a:solidFill>
                <a:latin typeface="Segoe UI"/>
              </a:rPr>
              <a:t>2. Rửa Sạch Bằng Nước Muối</a:t>
            </a:r>
          </a:p>
        </p:txBody>
      </p:sp>
      <p:sp>
        <p:nvSpPr>
          <p:cNvPr id="20" name="TextBox 19"/>
          <p:cNvSpPr txBox="1"/>
          <p:nvPr/>
        </p:nvSpPr>
        <p:spPr>
          <a:xfrm>
            <a:off x="434340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BẮT BUỘC rửa sạch hoàn toàn Povidone bằng nước muối ấm (tránh độc noãn).</a:t>
            </a:r>
          </a:p>
        </p:txBody>
      </p:sp>
      <p:sp>
        <p:nvSpPr>
          <p:cNvPr id="21" name="TextBox 20"/>
          <p:cNvSpPr txBox="1"/>
          <p:nvPr/>
        </p:nvSpPr>
        <p:spPr>
          <a:xfrm>
            <a:off x="7790688" y="1828800"/>
            <a:ext cx="164592" cy="457200"/>
          </a:xfrm>
          <a:prstGeom prst="rect">
            <a:avLst/>
          </a:prstGeom>
          <a:noFill/>
        </p:spPr>
        <p:txBody>
          <a:bodyPr wrap="square" lIns="36576" rIns="36576" tIns="18288" bIns="18288" anchor="ctr">
            <a:spAutoFit/>
          </a:bodyPr>
          <a:lstStyle/>
          <a:p>
            <a:pPr algn="ctr"/>
            <a:r>
              <a:rPr sz="1800" b="1" i="0">
                <a:solidFill>
                  <a:srgbClr val="00977A"/>
                </a:solidFill>
                <a:latin typeface="Segoe UI"/>
              </a:rPr>
              <a:t>▶</a:t>
            </a:r>
          </a:p>
        </p:txBody>
      </p:sp>
      <p:sp>
        <p:nvSpPr>
          <p:cNvPr id="22" name="Rectangle 21"/>
          <p:cNvSpPr/>
          <p:nvPr/>
        </p:nvSpPr>
        <p:spPr>
          <a:xfrm>
            <a:off x="9441180" y="1691640"/>
            <a:ext cx="64008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41180" y="1691640"/>
            <a:ext cx="640080" cy="640080"/>
          </a:xfrm>
          <a:prstGeom prst="rect">
            <a:avLst/>
          </a:prstGeom>
          <a:noFill/>
        </p:spPr>
        <p:txBody>
          <a:bodyPr wrap="square" lIns="36576" rIns="36576" tIns="18288" bIns="18288" anchor="ctr">
            <a:spAutoFit/>
          </a:bodyPr>
          <a:lstStyle/>
          <a:p>
            <a:pPr algn="ctr"/>
            <a:r>
              <a:rPr sz="2400" b="1" i="0">
                <a:solidFill>
                  <a:srgbClr val="FFFFFF"/>
                </a:solidFill>
                <a:latin typeface="Segoe UI"/>
              </a:rPr>
              <a:t>3</a:t>
            </a:r>
          </a:p>
        </p:txBody>
      </p:sp>
      <p:sp>
        <p:nvSpPr>
          <p:cNvPr id="24" name="Rectangle 23"/>
          <p:cNvSpPr/>
          <p:nvPr/>
        </p:nvSpPr>
        <p:spPr>
          <a:xfrm>
            <a:off x="7991856" y="2560320"/>
            <a:ext cx="3611880" cy="370332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55280" y="2514600"/>
            <a:ext cx="3611880" cy="370332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55280" y="2514600"/>
            <a:ext cx="361188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606040"/>
            <a:ext cx="3337560" cy="640080"/>
          </a:xfrm>
          <a:prstGeom prst="rect">
            <a:avLst/>
          </a:prstGeom>
          <a:noFill/>
        </p:spPr>
        <p:txBody>
          <a:bodyPr wrap="square" lIns="36576" rIns="36576" tIns="18288" bIns="18288" anchor="ctr">
            <a:spAutoFit/>
          </a:bodyPr>
          <a:lstStyle/>
          <a:p>
            <a:pPr algn="ctr"/>
            <a:r>
              <a:rPr sz="1800" b="1" i="0">
                <a:solidFill>
                  <a:srgbClr val="0D2B2B"/>
                </a:solidFill>
                <a:latin typeface="Segoe UI"/>
              </a:rPr>
              <a:t>3. Kháng Sinh Dự Phòng</a:t>
            </a:r>
          </a:p>
        </p:txBody>
      </p:sp>
      <p:sp>
        <p:nvSpPr>
          <p:cNvPr id="28" name="TextBox 27"/>
          <p:cNvSpPr txBox="1"/>
          <p:nvPr/>
        </p:nvSpPr>
        <p:spPr>
          <a:xfrm>
            <a:off x="8138160" y="3291840"/>
            <a:ext cx="3246120" cy="274320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Tiêm Ceftriaxone 1g + Metronidazole 500mg ngừa áp xe buồng trứng.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900" b="1" i="0">
                <a:solidFill>
                  <a:srgbClr val="0D2B2B"/>
                </a:solidFill>
                <a:latin typeface="Segoe UI"/>
              </a:rPr>
              <a:t>Kịch Bản Xử Trí Khi Vô Tình Chọc Nhầm Vào Nang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Hành Động Tức Thì</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TUYỆT ĐỐI KHÔNG HÚT dịch sô-cô-la lẫn vào ống nghiệm chứa dịch noãn.</a:t>
            </a:r>
          </a:p>
          <a:p>
            <a:pPr>
              <a:spcBef>
                <a:spcPts val="500"/>
              </a:spcBef>
              <a:spcAft>
                <a:spcPts val="200"/>
              </a:spcAft>
            </a:pPr>
            <a:r>
              <a:rPr sz="1600">
                <a:solidFill>
                  <a:srgbClr val="1A2F2F"/>
                </a:solidFill>
                <a:latin typeface="Segoe UI"/>
              </a:rPr>
              <a:t>  –  Rút kim ra ngoài ngay lập tức.</a:t>
            </a:r>
          </a:p>
          <a:p>
            <a:pPr>
              <a:spcBef>
                <a:spcPts val="500"/>
              </a:spcBef>
              <a:spcAft>
                <a:spcPts val="200"/>
              </a:spcAft>
            </a:pPr>
            <a:r>
              <a:rPr sz="1600">
                <a:solidFill>
                  <a:srgbClr val="1A2F2F"/>
                </a:solidFill>
                <a:latin typeface="Segoe UI"/>
              </a:rPr>
              <a:t>  –  Thay kim chọc hút mới hoặc súc rửa kỹ bằng môi trường nuôi cấy.</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Xử Trí Tiếp Theo</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Chuyển sang chọc các nang noãn lành ở buồng trứng đối diện trước.</a:t>
            </a:r>
          </a:p>
          <a:p>
            <a:pPr>
              <a:spcBef>
                <a:spcPts val="500"/>
              </a:spcBef>
              <a:spcAft>
                <a:spcPts val="200"/>
              </a:spcAft>
            </a:pPr>
            <a:r>
              <a:rPr sz="1600">
                <a:solidFill>
                  <a:srgbClr val="1A2F2F"/>
                </a:solidFill>
                <a:latin typeface="Segoe UI"/>
              </a:rPr>
              <a:t>  –  Sau khi kết thúc OPU: Bơm rửa sạch túi cùng Douglas bằng nước muối sinh lý ấm.</a:t>
            </a:r>
          </a:p>
          <a:p>
            <a:pPr>
              <a:spcBef>
                <a:spcPts val="500"/>
              </a:spcBef>
              <a:spcAft>
                <a:spcPts val="200"/>
              </a:spcAft>
            </a:pPr>
            <a:r>
              <a:rPr sz="1600">
                <a:solidFill>
                  <a:srgbClr val="1A2F2F"/>
                </a:solidFill>
                <a:latin typeface="Segoe UI"/>
              </a:rPr>
              <a:t>  –  Duy trì kháng sinh dự phòng đầy đủ sau thủ thuật.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05</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Chuẩn Bị Niêm Mạc &amp; Chuyển Phôi FET</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Chiến Lược Freeze-All, Phác Đồ Ultra-Long GnRHa &amp; Tối Ưu LPS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0152" cy="457200"/>
          </a:xfrm>
          <a:prstGeom prst="rect">
            <a:avLst/>
          </a:prstGeom>
          <a:noFill/>
        </p:spPr>
        <p:txBody>
          <a:bodyPr wrap="square" lIns="36576" rIns="36576" tIns="18288" bIns="18288">
            <a:spAutoFit/>
          </a:bodyPr>
          <a:lstStyle/>
          <a:p>
            <a:pPr algn="ctr"/>
            <a:r>
              <a:rPr sz="1300" b="1" i="0">
                <a:solidFill>
                  <a:srgbClr val="00977A"/>
                </a:solidFill>
                <a:latin typeface="Segoe UI"/>
              </a:rPr>
              <a:t>NGUYÊN TẮC VÀNG TRONG ADENOMYOSIS</a:t>
            </a:r>
          </a:p>
        </p:txBody>
      </p:sp>
      <p:sp>
        <p:nvSpPr>
          <p:cNvPr id="4" name="Rectangle 3"/>
          <p:cNvSpPr/>
          <p:nvPr/>
        </p:nvSpPr>
        <p:spPr>
          <a:xfrm>
            <a:off x="0" y="2194560"/>
            <a:ext cx="12188952" cy="24688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0152" cy="2286000"/>
          </a:xfrm>
          <a:prstGeom prst="rect">
            <a:avLst/>
          </a:prstGeom>
          <a:noFill/>
        </p:spPr>
        <p:txBody>
          <a:bodyPr wrap="square" lIns="36576" rIns="36576" tIns="18288" bIns="18288" anchor="ctr">
            <a:spAutoFit/>
          </a:bodyPr>
          <a:lstStyle/>
          <a:p>
            <a:pPr algn="ctr"/>
            <a:r>
              <a:rPr sz="3000" b="1" i="0">
                <a:solidFill>
                  <a:srgbClr val="FFFFFF"/>
                </a:solidFill>
                <a:latin typeface="Segoe UI"/>
              </a:rPr>
              <a:t>Bắt Buộc Đông Phôi Toàn Bộ (Freeze-All)
Tránh Nồng Độ Estrogen Siêu Sinh Lý Kích Hoạt Viêm Cơ Tử Cung</a:t>
            </a:r>
          </a:p>
        </p:txBody>
      </p:sp>
      <p:sp>
        <p:nvSpPr>
          <p:cNvPr id="6" name="Rectangle 5"/>
          <p:cNvSpPr/>
          <p:nvPr/>
        </p:nvSpPr>
        <p:spPr>
          <a:xfrm>
            <a:off x="5632704" y="5212080"/>
            <a:ext cx="914400" cy="381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900" b="1" i="0">
                <a:solidFill>
                  <a:srgbClr val="0D2B2B"/>
                </a:solidFill>
                <a:latin typeface="Segoe UI"/>
              </a:rPr>
              <a:t>Cơ Chế Phục Hồi Cửa Sổ Làm Tổ Của Ultra-Long GnRHa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Cắt Nguồn Estrogen</a:t>
            </a:r>
          </a:p>
        </p:txBody>
      </p:sp>
      <p:sp>
        <p:nvSpPr>
          <p:cNvPr id="10" name="TextBox 9"/>
          <p:cNvSpPr txBox="1"/>
          <p:nvPr/>
        </p:nvSpPr>
        <p:spPr>
          <a:xfrm>
            <a:off x="395020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Thu Nhỏ &amp; Chống Viêm</a:t>
            </a:r>
          </a:p>
        </p:txBody>
      </p:sp>
      <p:sp>
        <p:nvSpPr>
          <p:cNvPr id="15" name="TextBox 14"/>
          <p:cNvSpPr txBox="1"/>
          <p:nvPr/>
        </p:nvSpPr>
        <p:spPr>
          <a:xfrm>
            <a:off x="788212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Tái Lập Thụ Thể PR-B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Lược Đồ Phác Đồ Ultra-Long GnRH Agonist + HRT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931920"/>
            <a:ext cx="11247120" cy="381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021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9" name="TextBox 8"/>
          <p:cNvSpPr txBox="1"/>
          <p:nvPr/>
        </p:nvSpPr>
        <p:spPr>
          <a:xfrm>
            <a:off x="548640" y="224028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GnRHa Depot</a:t>
            </a:r>
          </a:p>
        </p:txBody>
      </p:sp>
      <p:sp>
        <p:nvSpPr>
          <p:cNvPr id="10" name="Rectangle 9"/>
          <p:cNvSpPr/>
          <p:nvPr/>
        </p:nvSpPr>
        <p:spPr>
          <a:xfrm>
            <a:off x="449199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0420" y="44348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2" name="TextBox 11"/>
          <p:cNvSpPr txBox="1"/>
          <p:nvPr/>
        </p:nvSpPr>
        <p:spPr>
          <a:xfrm>
            <a:off x="3360420" y="502920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Siêu Âm JZ</a:t>
            </a:r>
          </a:p>
        </p:txBody>
      </p:sp>
      <p:sp>
        <p:nvSpPr>
          <p:cNvPr id="13" name="Rectangle 12"/>
          <p:cNvSpPr/>
          <p:nvPr/>
        </p:nvSpPr>
        <p:spPr>
          <a:xfrm>
            <a:off x="730377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6916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5" name="TextBox 14"/>
          <p:cNvSpPr txBox="1"/>
          <p:nvPr/>
        </p:nvSpPr>
        <p:spPr>
          <a:xfrm>
            <a:off x="6172200" y="224028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Estrogen HRT</a:t>
            </a:r>
          </a:p>
        </p:txBody>
      </p:sp>
      <p:sp>
        <p:nvSpPr>
          <p:cNvPr id="16" name="Rectangle 15"/>
          <p:cNvSpPr/>
          <p:nvPr/>
        </p:nvSpPr>
        <p:spPr>
          <a:xfrm>
            <a:off x="10115550" y="3767328"/>
            <a:ext cx="365760" cy="36576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3980" y="4434840"/>
            <a:ext cx="2628900" cy="457200"/>
          </a:xfrm>
          <a:prstGeom prst="rect">
            <a:avLst/>
          </a:prstGeom>
          <a:noFill/>
        </p:spPr>
        <p:txBody>
          <a:bodyPr wrap="square" lIns="36576" rIns="36576" tIns="18288" bIns="18288">
            <a:spAutoFit/>
          </a:bodyPr>
          <a:lstStyle/>
          <a:p>
            <a:pPr algn="ctr"/>
            <a:r>
              <a:rPr sz="1300" b="1" i="0">
                <a:solidFill>
                  <a:srgbClr val="00977A"/>
                </a:solidFill>
                <a:latin typeface="Segoe UI"/>
              </a:rPr>
              <a:t/>
            </a:r>
          </a:p>
        </p:txBody>
      </p:sp>
      <p:sp>
        <p:nvSpPr>
          <p:cNvPr id="18" name="TextBox 17"/>
          <p:cNvSpPr txBox="1"/>
          <p:nvPr/>
        </p:nvSpPr>
        <p:spPr>
          <a:xfrm>
            <a:off x="8983980" y="5029200"/>
            <a:ext cx="2628900" cy="457200"/>
          </a:xfrm>
          <a:prstGeom prst="rect">
            <a:avLst/>
          </a:prstGeom>
          <a:noFill/>
        </p:spPr>
        <p:txBody>
          <a:bodyPr wrap="square" lIns="36576" rIns="36576" tIns="18288" bIns="18288">
            <a:spAutoFit/>
          </a:bodyPr>
          <a:lstStyle/>
          <a:p>
            <a:pPr algn="ctr"/>
            <a:r>
              <a:rPr sz="1600" b="1" i="0">
                <a:solidFill>
                  <a:srgbClr val="0D2B2B"/>
                </a:solidFill>
                <a:latin typeface="Segoe UI"/>
              </a:rPr>
              <a:t>Progesterone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800" b="1" i="0">
                <a:solidFill>
                  <a:srgbClr val="0D2B2B"/>
                </a:solidFill>
                <a:latin typeface="Segoe UI"/>
              </a:rPr>
              <a:t>Clinical Pearl: Đánh Giá Lại Tử Cung Sau Hạ Điều Hòa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11430000" cy="914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91640"/>
            <a:ext cx="11430000" cy="914400"/>
          </a:xfrm>
          <a:prstGeom prst="rect">
            <a:avLst/>
          </a:prstGeom>
          <a:noFill/>
        </p:spPr>
        <p:txBody>
          <a:bodyPr wrap="square" lIns="36576" rIns="36576" tIns="18288" bIns="18288" anchor="ctr">
            <a:spAutoFit/>
          </a:bodyPr>
          <a:lstStyle/>
          <a:p>
            <a:pPr algn="ctr"/>
            <a:r>
              <a:rPr sz="2800" b="1" i="0">
                <a:solidFill>
                  <a:srgbClr val="FFFFFF"/>
                </a:solidFill>
                <a:latin typeface="Segoe UI"/>
              </a:rPr>
              <a:t>💎  BÀI HỌC LÂM SÀNG</a:t>
            </a:r>
          </a:p>
        </p:txBody>
      </p:sp>
      <p:sp>
        <p:nvSpPr>
          <p:cNvPr id="8" name="Rectangle 7"/>
          <p:cNvSpPr/>
          <p:nvPr/>
        </p:nvSpPr>
        <p:spPr>
          <a:xfrm>
            <a:off x="402336" y="2743200"/>
            <a:ext cx="11430000" cy="228600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697480"/>
            <a:ext cx="11430000" cy="228600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697480"/>
            <a:ext cx="76200" cy="2286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88920"/>
            <a:ext cx="10972800" cy="2103120"/>
          </a:xfrm>
          <a:prstGeom prst="rect">
            <a:avLst/>
          </a:prstGeom>
          <a:noFill/>
        </p:spPr>
        <p:txBody>
          <a:bodyPr wrap="square" lIns="36576" rIns="36576" tIns="18288" bIns="18288" anchor="ctr">
            <a:spAutoFit/>
          </a:bodyPr>
          <a:lstStyle/>
          <a:p>
            <a:pPr algn="l"/>
            <a:r>
              <a:rPr sz="2000" b="1" i="1">
                <a:solidFill>
                  <a:srgbClr val="0D2B2B"/>
                </a:solidFill>
                <a:latin typeface="Segoe UI"/>
              </a:rPr>
              <a:t>Sau 2-3 mũi GnRH Agonist, BẮT BUỘC phải siêu âm ngả âm đạo kiểm tra lại thể tích tử cung và độ dày JZ xem tổn thương đã thoái triển đạt chuẩn chưa trước khi quyết định bắt đầu uống Estrogen HRT.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Cá Thể Hóa Chuẩn Bị Niêm Mạc Chuyển Phôi FET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3080"/>
            <a:ext cx="5212080" cy="502920"/>
          </a:xfrm>
          <a:prstGeom prst="rect">
            <a:avLst/>
          </a:prstGeom>
          <a:noFill/>
        </p:spPr>
        <p:txBody>
          <a:bodyPr wrap="square" lIns="36576" rIns="36576" tIns="18288" bIns="18288">
            <a:spAutoFit/>
          </a:bodyPr>
          <a:lstStyle/>
          <a:p>
            <a:pPr algn="ctr"/>
            <a:r>
              <a:rPr sz="1900" b="1" i="0">
                <a:solidFill>
                  <a:srgbClr val="00977A"/>
                </a:solidFill>
                <a:latin typeface="Segoe UI"/>
              </a:rPr>
              <a:t>Thể Nhẹ / Khu Trú (&lt; 2 cm)</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Độ dày JZ &lt; 12 mm, tử cung không to.</a:t>
            </a:r>
          </a:p>
          <a:p>
            <a:pPr>
              <a:spcBef>
                <a:spcPts val="500"/>
              </a:spcBef>
              <a:spcAft>
                <a:spcPts val="200"/>
              </a:spcAft>
            </a:pPr>
            <a:r>
              <a:rPr sz="1600">
                <a:solidFill>
                  <a:srgbClr val="1A2F2F"/>
                </a:solidFill>
                <a:latin typeface="Segoe UI"/>
              </a:rPr>
              <a:t>  –  Không nhất thiết tiêm GnRHa kéo dài 3 tháng.</a:t>
            </a:r>
          </a:p>
          <a:p>
            <a:pPr>
              <a:spcBef>
                <a:spcPts val="500"/>
              </a:spcBef>
              <a:spcAft>
                <a:spcPts val="200"/>
              </a:spcAft>
            </a:pPr>
            <a:r>
              <a:rPr sz="1600">
                <a:solidFill>
                  <a:srgbClr val="1A2F2F"/>
                </a:solidFill>
                <a:latin typeface="Segoe UI"/>
              </a:rPr>
              <a:t>  –  Chuẩn bị niêm mạc bằng HRT thông thường hoặc Letrozole.</a:t>
            </a:r>
          </a:p>
          <a:p>
            <a:pPr>
              <a:spcBef>
                <a:spcPts val="500"/>
              </a:spcBef>
              <a:spcAft>
                <a:spcPts val="200"/>
              </a:spcAft>
            </a:pPr>
            <a:r>
              <a:rPr sz="1600">
                <a:solidFill>
                  <a:srgbClr val="1A2F2F"/>
                </a:solidFill>
                <a:latin typeface="Segoe UI"/>
              </a:rPr>
              <a:t>  –  Rút ngắn thời gian và chi phí điều trị.</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783080"/>
            <a:ext cx="5212080" cy="502920"/>
          </a:xfrm>
          <a:prstGeom prst="rect">
            <a:avLst/>
          </a:prstGeom>
          <a:noFill/>
        </p:spPr>
        <p:txBody>
          <a:bodyPr wrap="square" lIns="36576" rIns="36576" tIns="18288" bIns="18288">
            <a:spAutoFit/>
          </a:bodyPr>
          <a:lstStyle/>
          <a:p>
            <a:pPr algn="ctr"/>
            <a:r>
              <a:rPr sz="1900" b="1" i="0">
                <a:solidFill>
                  <a:srgbClr val="E53E3E"/>
                </a:solidFill>
                <a:latin typeface="Segoe UI"/>
              </a:rPr>
              <a:t>Thể Lan Tỏa Nặng (JZ &gt;= 12 mm)</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600">
                <a:solidFill>
                  <a:srgbClr val="FFFFFF"/>
                </a:solidFill>
                <a:latin typeface="Segoe UI"/>
              </a:rPr>
              <a:t>  –  Tử cung to hình cầu &gt; 8 cm.</a:t>
            </a:r>
          </a:p>
          <a:p>
            <a:pPr>
              <a:spcBef>
                <a:spcPts val="500"/>
              </a:spcBef>
              <a:spcAft>
                <a:spcPts val="200"/>
              </a:spcAft>
            </a:pPr>
            <a:r>
              <a:rPr sz="1600">
                <a:solidFill>
                  <a:srgbClr val="FFFFFF"/>
                </a:solidFill>
                <a:latin typeface="Segoe UI"/>
              </a:rPr>
              <a:t>  –  BẮT BUỘC áp dụng Ultra-long GnRHa 2-3 tháng.</a:t>
            </a:r>
          </a:p>
          <a:p>
            <a:pPr>
              <a:spcBef>
                <a:spcPts val="500"/>
              </a:spcBef>
              <a:spcAft>
                <a:spcPts val="200"/>
              </a:spcAft>
            </a:pPr>
            <a:r>
              <a:rPr sz="1600">
                <a:solidFill>
                  <a:srgbClr val="FFFFFF"/>
                </a:solidFill>
                <a:latin typeface="Segoe UI"/>
              </a:rPr>
              <a:t>  –  Tăng tỷ lệ thai lâm sàng (OR = 1.85 - Latif 2024).</a:t>
            </a:r>
          </a:p>
          <a:p>
            <a:pPr>
              <a:spcBef>
                <a:spcPts val="500"/>
              </a:spcBef>
              <a:spcAft>
                <a:spcPts val="200"/>
              </a:spcAft>
            </a:pPr>
            <a:r>
              <a:rPr sz="1600">
                <a:solidFill>
                  <a:srgbClr val="FFFFFF"/>
                </a:solidFill>
                <a:latin typeface="Segoe UI"/>
              </a:rPr>
              <a:t>  –  Đạt tỷ lệ trẻ sinh sống tối ưu.</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05856" y="3657600"/>
            <a:ext cx="777240" cy="777240"/>
          </a:xfrm>
          <a:prstGeom prst="rect">
            <a:avLst/>
          </a:prstGeom>
          <a:noFill/>
        </p:spPr>
        <p:txBody>
          <a:bodyPr wrap="square" lIns="36576" rIns="36576" tIns="18288" bIns="18288" anchor="ctr">
            <a:spAutoFit/>
          </a:bodyPr>
          <a:lstStyle/>
          <a:p>
            <a:pPr algn="ctr"/>
            <a:r>
              <a:rPr sz="2400" b="1" i="0">
                <a:solidFill>
                  <a:srgbClr val="FFFFFF"/>
                </a:solidFill>
                <a:latin typeface="Segoe UI"/>
              </a:rPr>
              <a:t>VS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Tối Ưu Hóa Hoàng Thể (LPS) &amp; Mục Tiêu Progesterone Huyết Thanh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45920"/>
            <a:ext cx="11430000" cy="795528"/>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00200"/>
            <a:ext cx="11430000" cy="795528"/>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00200"/>
            <a:ext cx="63500" cy="795528"/>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00200"/>
            <a:ext cx="2743200" cy="795528"/>
          </a:xfrm>
          <a:prstGeom prst="rect">
            <a:avLst/>
          </a:prstGeom>
          <a:noFill/>
        </p:spPr>
        <p:txBody>
          <a:bodyPr wrap="square" lIns="36576" rIns="36576" tIns="18288" bIns="18288" anchor="ctr">
            <a:spAutoFit/>
          </a:bodyPr>
          <a:lstStyle/>
          <a:p>
            <a:pPr algn="l"/>
            <a:r>
              <a:rPr sz="1700" b="1" i="0">
                <a:solidFill>
                  <a:srgbClr val="0D2B2B"/>
                </a:solidFill>
                <a:latin typeface="Segoe UI"/>
              </a:rPr>
              <a:t>Micro-Progesterone Âm Đạo</a:t>
            </a:r>
          </a:p>
        </p:txBody>
      </p:sp>
      <p:sp>
        <p:nvSpPr>
          <p:cNvPr id="10" name="Rectangle 9"/>
          <p:cNvSpPr/>
          <p:nvPr/>
        </p:nvSpPr>
        <p:spPr>
          <a:xfrm>
            <a:off x="3337560" y="1730501"/>
            <a:ext cx="2560320" cy="477773"/>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730501"/>
            <a:ext cx="2468880" cy="477773"/>
          </a:xfrm>
          <a:prstGeom prst="rect">
            <a:avLst/>
          </a:prstGeom>
          <a:noFill/>
        </p:spPr>
        <p:txBody>
          <a:bodyPr wrap="square" lIns="36576" rIns="36576" tIns="18288" bIns="18288" anchor="ctr">
            <a:spAutoFit/>
          </a:bodyPr>
          <a:lstStyle/>
          <a:p>
            <a:pPr algn="l"/>
            <a:r>
              <a:rPr sz="1500" b="1" i="0">
                <a:solidFill>
                  <a:srgbClr val="00977A"/>
                </a:solidFill>
                <a:latin typeface="Segoe UI"/>
              </a:rPr>
              <a:t>800 mg/ngày (chia 2-4 lần)</a:t>
            </a:r>
          </a:p>
        </p:txBody>
      </p:sp>
      <p:sp>
        <p:nvSpPr>
          <p:cNvPr id="12" name="TextBox 11"/>
          <p:cNvSpPr txBox="1"/>
          <p:nvPr/>
        </p:nvSpPr>
        <p:spPr>
          <a:xfrm>
            <a:off x="6035040" y="1600200"/>
            <a:ext cx="5669280" cy="795528"/>
          </a:xfrm>
          <a:prstGeom prst="rect">
            <a:avLst/>
          </a:prstGeom>
          <a:noFill/>
        </p:spPr>
        <p:txBody>
          <a:bodyPr wrap="square" lIns="36576" rIns="36576" tIns="18288" bIns="18288" anchor="ctr">
            <a:spAutoFit/>
          </a:bodyPr>
          <a:lstStyle/>
          <a:p>
            <a:pPr algn="l"/>
            <a:r>
              <a:rPr sz="1400" b="0" i="0">
                <a:solidFill>
                  <a:srgbClr val="1A2F2F"/>
                </a:solidFill>
                <a:latin typeface="Segoe UI"/>
              </a:rPr>
              <a:t>Nồng độ tại mô nội mạc tử cung cao</a:t>
            </a:r>
          </a:p>
        </p:txBody>
      </p:sp>
      <p:sp>
        <p:nvSpPr>
          <p:cNvPr id="13" name="Rectangle 12"/>
          <p:cNvSpPr/>
          <p:nvPr/>
        </p:nvSpPr>
        <p:spPr>
          <a:xfrm>
            <a:off x="402336" y="2514600"/>
            <a:ext cx="11430000" cy="795528"/>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468880"/>
            <a:ext cx="11430000" cy="795528"/>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68880"/>
            <a:ext cx="63500" cy="795528"/>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68880"/>
            <a:ext cx="2743200" cy="795528"/>
          </a:xfrm>
          <a:prstGeom prst="rect">
            <a:avLst/>
          </a:prstGeom>
          <a:noFill/>
        </p:spPr>
        <p:txBody>
          <a:bodyPr wrap="square" lIns="36576" rIns="36576" tIns="18288" bIns="18288" anchor="ctr">
            <a:spAutoFit/>
          </a:bodyPr>
          <a:lstStyle/>
          <a:p>
            <a:pPr algn="l"/>
            <a:r>
              <a:rPr sz="1700" b="1" i="0">
                <a:solidFill>
                  <a:srgbClr val="0D2B2B"/>
                </a:solidFill>
                <a:latin typeface="Segoe UI"/>
              </a:rPr>
              <a:t>Progesterone Tiêm (Prolutex / Dầu)</a:t>
            </a:r>
          </a:p>
        </p:txBody>
      </p:sp>
      <p:sp>
        <p:nvSpPr>
          <p:cNvPr id="17" name="Rectangle 16"/>
          <p:cNvSpPr/>
          <p:nvPr/>
        </p:nvSpPr>
        <p:spPr>
          <a:xfrm>
            <a:off x="3337560" y="2599181"/>
            <a:ext cx="2560320" cy="477773"/>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2599181"/>
            <a:ext cx="2468880" cy="477773"/>
          </a:xfrm>
          <a:prstGeom prst="rect">
            <a:avLst/>
          </a:prstGeom>
          <a:noFill/>
        </p:spPr>
        <p:txBody>
          <a:bodyPr wrap="square" lIns="36576" rIns="36576" tIns="18288" bIns="18288" anchor="ctr">
            <a:spAutoFit/>
          </a:bodyPr>
          <a:lstStyle/>
          <a:p>
            <a:pPr algn="l"/>
            <a:r>
              <a:rPr sz="1500" b="1" i="0">
                <a:solidFill>
                  <a:srgbClr val="00977A"/>
                </a:solidFill>
                <a:latin typeface="Segoe UI"/>
              </a:rPr>
              <a:t>25 mg SC hoặc 50 mg IM/ngày</a:t>
            </a:r>
          </a:p>
        </p:txBody>
      </p:sp>
      <p:sp>
        <p:nvSpPr>
          <p:cNvPr id="19" name="TextBox 18"/>
          <p:cNvSpPr txBox="1"/>
          <p:nvPr/>
        </p:nvSpPr>
        <p:spPr>
          <a:xfrm>
            <a:off x="6035040" y="2468880"/>
            <a:ext cx="5669280" cy="795528"/>
          </a:xfrm>
          <a:prstGeom prst="rect">
            <a:avLst/>
          </a:prstGeom>
          <a:noFill/>
        </p:spPr>
        <p:txBody>
          <a:bodyPr wrap="square" lIns="36576" rIns="36576" tIns="18288" bIns="18288" anchor="ctr">
            <a:spAutoFit/>
          </a:bodyPr>
          <a:lstStyle/>
          <a:p>
            <a:pPr algn="l"/>
            <a:r>
              <a:rPr sz="1400" b="0" i="0">
                <a:solidFill>
                  <a:srgbClr val="1A2F2F"/>
                </a:solidFill>
                <a:latin typeface="Segoe UI"/>
              </a:rPr>
              <a:t>Bù đắp nồng độ Progesterone huyết thanh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06</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Quản Lý Thai Kỳ &amp; Biến Chứng Sản Khoa</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Dự Phòng Tiền Sản Giật, Tầm Soát Sinh Non &amp; Cơ Chế PPH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Quản Lý Thai Kỳ Nguy Cơ Cao: Quý 1 &amp; Quý 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Quý 1 (Tuần 1 - 13): Phòng Sảy Thai</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Nguy cơ sảy thai tăng gấp đôi (RR ≈ 2.17) do co bóp và viêm cơ tử cung.</a:t>
            </a:r>
          </a:p>
          <a:p>
            <a:pPr>
              <a:spcBef>
                <a:spcPts val="500"/>
              </a:spcBef>
              <a:spcAft>
                <a:spcPts val="200"/>
              </a:spcAft>
            </a:pPr>
            <a:r>
              <a:rPr sz="1600">
                <a:solidFill>
                  <a:srgbClr val="1A2F2F"/>
                </a:solidFill>
                <a:latin typeface="Segoe UI"/>
              </a:rPr>
              <a:t>  –  Duy trì Progesterone hoàng thể liên tục đến tuần thai thứ 10 - 12.</a:t>
            </a:r>
          </a:p>
          <a:p>
            <a:pPr>
              <a:spcBef>
                <a:spcPts val="500"/>
              </a:spcBef>
              <a:spcAft>
                <a:spcPts val="200"/>
              </a:spcAft>
            </a:pPr>
            <a:r>
              <a:rPr sz="1600">
                <a:solidFill>
                  <a:srgbClr val="1A2F2F"/>
                </a:solidFill>
                <a:latin typeface="Segoe UI"/>
              </a:rPr>
              <a:t>  –  Khởi động Aspirin liều thấp (100-150 mg/ngày) từ tuần 12.</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Quý 2 (Tuần 14 - 27): Tầm Soát Sinh Non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Nguy cơ sinh non trước 37 tuần tăng 1.5 - 1.8 lần.</a:t>
            </a:r>
          </a:p>
          <a:p>
            <a:pPr>
              <a:spcBef>
                <a:spcPts val="500"/>
              </a:spcBef>
              <a:spcAft>
                <a:spcPts val="200"/>
              </a:spcAft>
            </a:pPr>
            <a:r>
              <a:rPr sz="1600">
                <a:solidFill>
                  <a:srgbClr val="1A2F2F"/>
                </a:solidFill>
                <a:latin typeface="Segoe UI"/>
              </a:rPr>
              <a:t>  –  Đo chiều dài cổ tử cung (CL) qua siêu âm định kỳ mỗi 2 tuần từ tuần 16-24.</a:t>
            </a:r>
          </a:p>
          <a:p>
            <a:pPr>
              <a:spcBef>
                <a:spcPts val="500"/>
              </a:spcBef>
              <a:spcAft>
                <a:spcPts val="200"/>
              </a:spcAft>
            </a:pPr>
            <a:r>
              <a:rPr sz="1600">
                <a:solidFill>
                  <a:srgbClr val="1A2F2F"/>
                </a:solidFill>
                <a:latin typeface="Segoe UI"/>
              </a:rPr>
              <a:t>  –  Nếu CL &lt; 25 mm: Đặt Progesterone, đặt vòng nâng hoặc khâu vòng CTC.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800" b="1" i="0">
                <a:solidFill>
                  <a:srgbClr val="0D2B2B"/>
                </a:solidFill>
                <a:latin typeface="Segoe UI"/>
              </a:rPr>
              <a:t>Phác Đồ Dự Phòng Tiền Sản Giật &amp; Bất Thường Bánh Rau</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4592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Uống Aspirin liều thấp (100 - 150 mg/ngày) vào buổi tối trước khi đi ngủ từ tuần 12 đến tuần 36.</a:t>
            </a:r>
          </a:p>
        </p:txBody>
      </p:sp>
      <p:sp>
        <p:nvSpPr>
          <p:cNvPr id="9" name="Rectangle 8"/>
          <p:cNvSpPr/>
          <p:nvPr/>
        </p:nvSpPr>
        <p:spPr>
          <a:xfrm>
            <a:off x="1143000" y="235915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2316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42316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2" name="TextBox 11"/>
          <p:cNvSpPr txBox="1"/>
          <p:nvPr/>
        </p:nvSpPr>
        <p:spPr>
          <a:xfrm>
            <a:off x="1143000" y="237744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Aspirin cải thiện quá trình tái cấu trúc động mạch xoắn bánh rau bị khiếm khuyết trong LNMTC.</a:t>
            </a:r>
          </a:p>
        </p:txBody>
      </p:sp>
      <p:sp>
        <p:nvSpPr>
          <p:cNvPr id="13" name="Rectangle 12"/>
          <p:cNvSpPr/>
          <p:nvPr/>
        </p:nvSpPr>
        <p:spPr>
          <a:xfrm>
            <a:off x="1143000" y="313639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20040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20040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6" name="TextBox 15"/>
          <p:cNvSpPr txBox="1"/>
          <p:nvPr/>
        </p:nvSpPr>
        <p:spPr>
          <a:xfrm>
            <a:off x="1143000" y="315468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Khảo sát Doppler màu bánh rau định kỳ ở quý 2 và quý 3.</a:t>
            </a:r>
          </a:p>
        </p:txBody>
      </p:sp>
      <p:sp>
        <p:nvSpPr>
          <p:cNvPr id="17" name="Rectangle 16"/>
          <p:cNvSpPr/>
          <p:nvPr/>
        </p:nvSpPr>
        <p:spPr>
          <a:xfrm>
            <a:off x="1143000" y="3913632"/>
            <a:ext cx="10607040" cy="9525"/>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77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9776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4</a:t>
            </a:r>
          </a:p>
        </p:txBody>
      </p:sp>
      <p:sp>
        <p:nvSpPr>
          <p:cNvPr id="20" name="TextBox 19"/>
          <p:cNvSpPr txBox="1"/>
          <p:nvPr/>
        </p:nvSpPr>
        <p:spPr>
          <a:xfrm>
            <a:off x="1143000" y="3931920"/>
            <a:ext cx="10607040" cy="777240"/>
          </a:xfrm>
          <a:prstGeom prst="rect">
            <a:avLst/>
          </a:prstGeom>
          <a:noFill/>
        </p:spPr>
        <p:txBody>
          <a:bodyPr wrap="square" lIns="36576" rIns="36576" tIns="18288" bIns="18288" anchor="ctr">
            <a:spAutoFit/>
          </a:bodyPr>
          <a:lstStyle/>
          <a:p>
            <a:pPr algn="l"/>
            <a:r>
              <a:rPr sz="1700" b="0" i="0">
                <a:solidFill>
                  <a:srgbClr val="1A2F2F"/>
                </a:solidFill>
                <a:latin typeface="Segoe UI"/>
              </a:rPr>
              <a:t>Tầm soát sớm các dấu hiệu Rau tiền đạo và Rau cài răng lược (Placenta Accreta Spectrum - PAS).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Cơ Chế Băng Huyết Sau Sinh (PPH) Do Đờ Tử Cung ở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9" name="TextBox 8"/>
          <p:cNvSpPr txBox="1"/>
          <p:nvPr/>
        </p:nvSpPr>
        <p:spPr>
          <a:xfrm>
            <a:off x="45720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Tiết Enzyme MMPs</a:t>
            </a:r>
          </a:p>
        </p:txBody>
      </p:sp>
      <p:sp>
        <p:nvSpPr>
          <p:cNvPr id="10" name="TextBox 9"/>
          <p:cNvSpPr txBox="1"/>
          <p:nvPr/>
        </p:nvSpPr>
        <p:spPr>
          <a:xfrm>
            <a:off x="395020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1" name="Rectangle 10"/>
          <p:cNvSpPr/>
          <p:nvPr/>
        </p:nvSpPr>
        <p:spPr>
          <a:xfrm>
            <a:off x="429768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194560"/>
            <a:ext cx="356616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4" name="TextBox 13"/>
          <p:cNvSpPr txBox="1"/>
          <p:nvPr/>
        </p:nvSpPr>
        <p:spPr>
          <a:xfrm>
            <a:off x="438912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Xơ Hóa &amp; Thoái Hóa Cơ</a:t>
            </a:r>
          </a:p>
        </p:txBody>
      </p:sp>
      <p:sp>
        <p:nvSpPr>
          <p:cNvPr id="15" name="TextBox 14"/>
          <p:cNvSpPr txBox="1"/>
          <p:nvPr/>
        </p:nvSpPr>
        <p:spPr>
          <a:xfrm>
            <a:off x="7882128" y="3291840"/>
            <a:ext cx="329184" cy="914400"/>
          </a:xfrm>
          <a:prstGeom prst="rect">
            <a:avLst/>
          </a:prstGeom>
          <a:noFill/>
        </p:spPr>
        <p:txBody>
          <a:bodyPr wrap="square" lIns="36576" rIns="36576" tIns="18288" bIns="18288" anchor="ctr">
            <a:spAutoFit/>
          </a:bodyPr>
          <a:lstStyle/>
          <a:p>
            <a:pPr algn="ctr"/>
            <a:r>
              <a:rPr sz="2800" b="1" i="0">
                <a:solidFill>
                  <a:srgbClr val="00977A"/>
                </a:solidFill>
                <a:latin typeface="Segoe UI"/>
              </a:rPr>
              <a:t>→</a:t>
            </a:r>
          </a:p>
        </p:txBody>
      </p:sp>
      <p:sp>
        <p:nvSpPr>
          <p:cNvPr id="16" name="Rectangle 15"/>
          <p:cNvSpPr/>
          <p:nvPr/>
        </p:nvSpPr>
        <p:spPr>
          <a:xfrm>
            <a:off x="8229600" y="2194560"/>
            <a:ext cx="356616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194560"/>
            <a:ext cx="356616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194560"/>
            <a:ext cx="3566160" cy="45720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9" name="TextBox 18"/>
          <p:cNvSpPr txBox="1"/>
          <p:nvPr/>
        </p:nvSpPr>
        <p:spPr>
          <a:xfrm>
            <a:off x="8321040" y="2743200"/>
            <a:ext cx="3383279" cy="640080"/>
          </a:xfrm>
          <a:prstGeom prst="rect">
            <a:avLst/>
          </a:prstGeom>
          <a:noFill/>
        </p:spPr>
        <p:txBody>
          <a:bodyPr wrap="square" lIns="36576" rIns="36576" tIns="18288" bIns="18288" anchor="ctr">
            <a:spAutoFit/>
          </a:bodyPr>
          <a:lstStyle/>
          <a:p>
            <a:pPr algn="ctr"/>
            <a:r>
              <a:rPr sz="1700" b="1" i="0">
                <a:solidFill>
                  <a:srgbClr val="0D2B2B"/>
                </a:solidFill>
                <a:latin typeface="Segoe UI"/>
              </a:rPr>
              <a:t>Mất 'Nút Thắt Sống'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100" b="1" i="0">
                <a:solidFill>
                  <a:srgbClr val="0D2B2B"/>
                </a:solidFill>
                <a:latin typeface="Segoe UI"/>
              </a:rPr>
              <a:t>Cảnh Giác Nguy Cơ Vỡ Tử Cung &amp; Chiến Lược Đỡ Đẻ</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5577840" cy="4709160"/>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12080" cy="457200"/>
          </a:xfrm>
          <a:prstGeom prst="rect">
            <a:avLst/>
          </a:prstGeom>
          <a:noFill/>
        </p:spPr>
        <p:txBody>
          <a:bodyPr wrap="square" lIns="36576" rIns="36576" tIns="18288" bIns="18288">
            <a:spAutoFit/>
          </a:bodyPr>
          <a:lstStyle/>
          <a:p>
            <a:pPr algn="l"/>
            <a:r>
              <a:rPr sz="1700" b="1" i="0">
                <a:solidFill>
                  <a:srgbClr val="00977A"/>
                </a:solidFill>
                <a:latin typeface="Segoe UI"/>
              </a:rPr>
              <a:t>Nguy Cơ Vỡ Tử Cung</a:t>
            </a:r>
          </a:p>
        </p:txBody>
      </p:sp>
      <p:sp>
        <p:nvSpPr>
          <p:cNvPr id="10" name="TextBox 9"/>
          <p:cNvSpPr txBox="1"/>
          <p:nvPr/>
        </p:nvSpPr>
        <p:spPr>
          <a:xfrm>
            <a:off x="548640"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Gặp ở bệnh nhân có tiền sử phẫu thuật bóc u tuyến cơ tử cung (Adenomyomectomy).</a:t>
            </a:r>
          </a:p>
          <a:p>
            <a:pPr>
              <a:spcBef>
                <a:spcPts val="500"/>
              </a:spcBef>
              <a:spcAft>
                <a:spcPts val="200"/>
              </a:spcAft>
            </a:pPr>
            <a:r>
              <a:rPr sz="1600">
                <a:solidFill>
                  <a:srgbClr val="1A2F2F"/>
                </a:solidFill>
                <a:latin typeface="Segoe UI"/>
              </a:rPr>
              <a:t>  –  Sẹo mổ ở cơ tử cung xơ hóa rất kém bền vững.</a:t>
            </a:r>
          </a:p>
          <a:p>
            <a:pPr>
              <a:spcBef>
                <a:spcPts val="500"/>
              </a:spcBef>
              <a:spcAft>
                <a:spcPts val="200"/>
              </a:spcAft>
            </a:pPr>
            <a:r>
              <a:rPr sz="1600">
                <a:solidFill>
                  <a:srgbClr val="1A2F2F"/>
                </a:solidFill>
                <a:latin typeface="Segoe UI"/>
              </a:rPr>
              <a:t>  –  Nguy cơ vỡ tử cung tự phát trong quý 3 hoặc khi chuyển dạ.</a:t>
            </a:r>
          </a:p>
        </p:txBody>
      </p:sp>
      <p:sp>
        <p:nvSpPr>
          <p:cNvPr id="11" name="Rectangle 10"/>
          <p:cNvSpPr/>
          <p:nvPr/>
        </p:nvSpPr>
        <p:spPr>
          <a:xfrm>
            <a:off x="6281928" y="1600200"/>
            <a:ext cx="5577840" cy="4709160"/>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577840" cy="4709160"/>
          </a:xfrm>
          <a:prstGeom prst="rect">
            <a:avLst/>
          </a:prstGeom>
          <a:solidFill>
            <a:srgbClr val="FFFFFF"/>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554480"/>
            <a:ext cx="5577840" cy="508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691640"/>
            <a:ext cx="5212080" cy="457200"/>
          </a:xfrm>
          <a:prstGeom prst="rect">
            <a:avLst/>
          </a:prstGeom>
          <a:noFill/>
        </p:spPr>
        <p:txBody>
          <a:bodyPr wrap="square" lIns="36576" rIns="36576" tIns="18288" bIns="18288">
            <a:spAutoFit/>
          </a:bodyPr>
          <a:lstStyle/>
          <a:p>
            <a:pPr algn="l"/>
            <a:r>
              <a:rPr sz="1700" b="1" i="0">
                <a:solidFill>
                  <a:srgbClr val="00CCA3"/>
                </a:solidFill>
                <a:latin typeface="Segoe UI"/>
              </a:rPr>
              <a:t>Chiến Lược Đỡ Đẻ An Toàn</a:t>
            </a:r>
          </a:p>
        </p:txBody>
      </p:sp>
      <p:sp>
        <p:nvSpPr>
          <p:cNvPr id="15" name="TextBox 14"/>
          <p:cNvSpPr txBox="1"/>
          <p:nvPr/>
        </p:nvSpPr>
        <p:spPr>
          <a:xfrm>
            <a:off x="6428232" y="2194560"/>
            <a:ext cx="5212080" cy="3931920"/>
          </a:xfrm>
          <a:prstGeom prst="rect">
            <a:avLst/>
          </a:prstGeom>
          <a:noFill/>
        </p:spPr>
        <p:txBody>
          <a:bodyPr wrap="square" lIns="36576" rIns="36576">
            <a:spAutoFit/>
          </a:bodyPr>
          <a:lstStyle/>
          <a:p>
            <a:pPr>
              <a:spcBef>
                <a:spcPts val="500"/>
              </a:spcBef>
              <a:spcAft>
                <a:spcPts val="200"/>
              </a:spcAft>
            </a:pPr>
            <a:r>
              <a:rPr sz="1600">
                <a:solidFill>
                  <a:srgbClr val="1A2F2F"/>
                </a:solidFill>
                <a:latin typeface="Segoe UI"/>
              </a:rPr>
              <a:t>  –  Chỉ định mổ lấy thai chủ động ở tuần 37 - 38, không thử thách sinh đường âm đạo.</a:t>
            </a:r>
          </a:p>
          <a:p>
            <a:pPr>
              <a:spcBef>
                <a:spcPts val="500"/>
              </a:spcBef>
              <a:spcAft>
                <a:spcPts val="200"/>
              </a:spcAft>
            </a:pPr>
            <a:r>
              <a:rPr sz="1600">
                <a:solidFill>
                  <a:srgbClr val="1A2F2F"/>
                </a:solidFill>
                <a:latin typeface="Segoe UI"/>
              </a:rPr>
              <a:t>  –  Chủ động chuẩn bị thuốc tăng co tích cực (Oxytocin liều cao, Carbetocin, Misoprostol).</a:t>
            </a:r>
          </a:p>
          <a:p>
            <a:pPr>
              <a:spcBef>
                <a:spcPts val="500"/>
              </a:spcBef>
              <a:spcAft>
                <a:spcPts val="200"/>
              </a:spcAft>
            </a:pPr>
            <a:r>
              <a:rPr sz="1600">
                <a:solidFill>
                  <a:srgbClr val="1A2F2F"/>
                </a:solidFill>
                <a:latin typeface="Segoe UI"/>
              </a:rPr>
              <a:t>  –  Sẵn sàng bóng chèn Bakri và phương án thắt mạch tử cung.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0"/>
            <a:ext cx="3200400" cy="4114800"/>
          </a:xfrm>
          <a:prstGeom prst="rect">
            <a:avLst/>
          </a:prstGeom>
          <a:noFill/>
        </p:spPr>
        <p:txBody>
          <a:bodyPr wrap="square" lIns="36576" rIns="36576" tIns="18288" bIns="18288" anchor="ctr">
            <a:spAutoFit/>
          </a:bodyPr>
          <a:lstStyle/>
          <a:p>
            <a:pPr algn="ctr"/>
            <a:r>
              <a:rPr sz="16000" b="1" i="0">
                <a:solidFill>
                  <a:srgbClr val="FFFFFF"/>
                </a:solidFill>
                <a:latin typeface="Segoe UI"/>
              </a:rPr>
              <a:t>07</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1828800"/>
            <a:ext cx="7772400" cy="2194560"/>
          </a:xfrm>
          <a:prstGeom prst="rect">
            <a:avLst/>
          </a:prstGeom>
          <a:noFill/>
        </p:spPr>
        <p:txBody>
          <a:bodyPr wrap="square" lIns="36576" rIns="36576" tIns="18288" bIns="18288" anchor="t">
            <a:spAutoFit/>
          </a:bodyPr>
          <a:lstStyle/>
          <a:p>
            <a:pPr algn="l"/>
            <a:r>
              <a:rPr sz="3800" b="1" i="0">
                <a:solidFill>
                  <a:srgbClr val="FFFFFF"/>
                </a:solidFill>
                <a:latin typeface="Segoe UI"/>
              </a:rPr>
              <a:t>Lượng Giá Lâm Sàng &amp; Tổng Kết</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0" y="4343400"/>
            <a:ext cx="7772400" cy="1371600"/>
          </a:xfrm>
          <a:prstGeom prst="rect">
            <a:avLst/>
          </a:prstGeom>
          <a:noFill/>
        </p:spPr>
        <p:txBody>
          <a:bodyPr wrap="square" lIns="36576" rIns="36576" tIns="18288" bIns="18288">
            <a:spAutoFit/>
          </a:bodyPr>
          <a:lstStyle/>
          <a:p>
            <a:pPr algn="l"/>
            <a:r>
              <a:rPr sz="1800" b="0" i="1">
                <a:solidFill>
                  <a:srgbClr val="728C8C"/>
                </a:solidFill>
                <a:latin typeface="Segoe UI"/>
              </a:rPr>
              <a:t>Case Study MCQs &amp; 5 Thông Điệp Thực Hành Cốt Lõi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Lượng Giá Lâm Sàng: Case 1 - Xử Trí Endometrioma Trước IVF</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11430000" cy="13716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91640"/>
            <a:ext cx="63500" cy="13716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11155680" cy="1371600"/>
          </a:xfrm>
          <a:prstGeom prst="rect">
            <a:avLst/>
          </a:prstGeom>
          <a:noFill/>
        </p:spPr>
        <p:txBody>
          <a:bodyPr wrap="square" lIns="36576" rIns="36576" tIns="18288" bIns="18288" anchor="ctr">
            <a:spAutoFit/>
          </a:bodyPr>
          <a:lstStyle/>
          <a:p>
            <a:pPr algn="l"/>
            <a:r>
              <a:rPr sz="1800" b="0" i="0">
                <a:solidFill>
                  <a:srgbClr val="FFFFFF"/>
                </a:solidFill>
                <a:latin typeface="Segoe UI"/>
              </a:rPr>
              <a:t>Bệnh nhân nữ 29 tuổi, chưa có con, vô sinh 2 năm, AMH = 1.2 ng/mL. Siêu âm thấy u OMA phải 4 cm dạng kính mờ, không đau bụng, buồng trứng trái bình thường. Chiến lược điều trị nào sau đây đúng đắn nhất theo EBM?</a:t>
            </a:r>
          </a:p>
        </p:txBody>
      </p:sp>
      <p:sp>
        <p:nvSpPr>
          <p:cNvPr id="9" name="Rectangle 8"/>
          <p:cNvSpPr/>
          <p:nvPr/>
        </p:nvSpPr>
        <p:spPr>
          <a:xfrm>
            <a:off x="402336" y="3291840"/>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246120"/>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310128"/>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10128"/>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A</a:t>
            </a:r>
          </a:p>
        </p:txBody>
      </p:sp>
      <p:sp>
        <p:nvSpPr>
          <p:cNvPr id="13" name="TextBox 12"/>
          <p:cNvSpPr txBox="1"/>
          <p:nvPr/>
        </p:nvSpPr>
        <p:spPr>
          <a:xfrm>
            <a:off x="1069848" y="3246120"/>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A. Phẫu thuật nội soi bóc u buồng trứng phải trước để làm tăng tỷ lệ thành công IVF</a:t>
            </a:r>
          </a:p>
        </p:txBody>
      </p:sp>
      <p:sp>
        <p:nvSpPr>
          <p:cNvPr id="14" name="Rectangle 13"/>
          <p:cNvSpPr/>
          <p:nvPr/>
        </p:nvSpPr>
        <p:spPr>
          <a:xfrm>
            <a:off x="402336" y="3858768"/>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813048"/>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877056"/>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77056"/>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B</a:t>
            </a:r>
          </a:p>
        </p:txBody>
      </p:sp>
      <p:sp>
        <p:nvSpPr>
          <p:cNvPr id="18" name="TextBox 17"/>
          <p:cNvSpPr txBox="1"/>
          <p:nvPr/>
        </p:nvSpPr>
        <p:spPr>
          <a:xfrm>
            <a:off x="1069848" y="3813048"/>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B. Tiến hành kích thích buồng trứng làm IVF trực tiếp, không phẫu thuật bóc u trước</a:t>
            </a:r>
          </a:p>
        </p:txBody>
      </p:sp>
      <p:sp>
        <p:nvSpPr>
          <p:cNvPr id="19" name="Rectangle 18"/>
          <p:cNvSpPr/>
          <p:nvPr/>
        </p:nvSpPr>
        <p:spPr>
          <a:xfrm>
            <a:off x="402336" y="4425696"/>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379976"/>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443984"/>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43984"/>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C</a:t>
            </a:r>
          </a:p>
        </p:txBody>
      </p:sp>
      <p:sp>
        <p:nvSpPr>
          <p:cNvPr id="23" name="TextBox 22"/>
          <p:cNvSpPr txBox="1"/>
          <p:nvPr/>
        </p:nvSpPr>
        <p:spPr>
          <a:xfrm>
            <a:off x="1069848" y="4379976"/>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C. Tiêm GnRH Agonist 6 tháng cho u nang tiêu hết rồi mới kích trứng làm IVF</a:t>
            </a:r>
          </a:p>
        </p:txBody>
      </p:sp>
      <p:sp>
        <p:nvSpPr>
          <p:cNvPr id="24" name="Rectangle 23"/>
          <p:cNvSpPr/>
          <p:nvPr/>
        </p:nvSpPr>
        <p:spPr>
          <a:xfrm>
            <a:off x="402336" y="4992624"/>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946904"/>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010912"/>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10912"/>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D</a:t>
            </a:r>
          </a:p>
        </p:txBody>
      </p:sp>
      <p:sp>
        <p:nvSpPr>
          <p:cNvPr id="28" name="TextBox 27"/>
          <p:cNvSpPr txBox="1"/>
          <p:nvPr/>
        </p:nvSpPr>
        <p:spPr>
          <a:xfrm>
            <a:off x="1069848" y="4946904"/>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D. Phẫu thuật cắt buồng trứng phải để loại bỏ hoàn toàn ổ viêm</a:t>
            </a:r>
          </a:p>
        </p:txBody>
      </p:sp>
      <p:sp>
        <p:nvSpPr>
          <p:cNvPr id="29" name="Rectangle 28"/>
          <p:cNvSpPr/>
          <p:nvPr/>
        </p:nvSpPr>
        <p:spPr>
          <a:xfrm>
            <a:off x="402336" y="5559552"/>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513832"/>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577840"/>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577840"/>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E</a:t>
            </a:r>
          </a:p>
        </p:txBody>
      </p:sp>
      <p:sp>
        <p:nvSpPr>
          <p:cNvPr id="33" name="TextBox 32"/>
          <p:cNvSpPr txBox="1"/>
          <p:nvPr/>
        </p:nvSpPr>
        <p:spPr>
          <a:xfrm>
            <a:off x="1069848" y="5513832"/>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E. Chọc hút nang đơn thuần không dùng cồn rồi chuyển phôi tươi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Lượng Giá Lâm Sàng: Case 2 - Phác Đồ Niêm Mạc Cho Adenomyosis Nặng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11430000" cy="13716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91640"/>
            <a:ext cx="63500" cy="13716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11155680" cy="1371600"/>
          </a:xfrm>
          <a:prstGeom prst="rect">
            <a:avLst/>
          </a:prstGeom>
          <a:noFill/>
        </p:spPr>
        <p:txBody>
          <a:bodyPr wrap="square" lIns="36576" rIns="36576" tIns="18288" bIns="18288" anchor="ctr">
            <a:spAutoFit/>
          </a:bodyPr>
          <a:lstStyle/>
          <a:p>
            <a:pPr algn="l"/>
            <a:r>
              <a:rPr sz="1800" b="0" i="0">
                <a:solidFill>
                  <a:srgbClr val="FFFFFF"/>
                </a:solidFill>
                <a:latin typeface="Segoe UI"/>
              </a:rPr>
              <a:t>Bệnh nhân 34 tuổi làm IVF có Adenomyosis thể lan tỏa nặng (tử cung to 9 cm, JZ = 14 mm trên MRI), đã có 4 phôi nang ngày 5 đông lạnh chất lượng tốt. Phác đồ chuẩn bị nội mạc tử cung chuyển phôi nào mang lại tỷ lệ thai lâm sàng cao nhất?</a:t>
            </a:r>
          </a:p>
        </p:txBody>
      </p:sp>
      <p:sp>
        <p:nvSpPr>
          <p:cNvPr id="9" name="Rectangle 8"/>
          <p:cNvSpPr/>
          <p:nvPr/>
        </p:nvSpPr>
        <p:spPr>
          <a:xfrm>
            <a:off x="402336" y="3291840"/>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246120"/>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310128"/>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10128"/>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A</a:t>
            </a:r>
          </a:p>
        </p:txBody>
      </p:sp>
      <p:sp>
        <p:nvSpPr>
          <p:cNvPr id="13" name="TextBox 12"/>
          <p:cNvSpPr txBox="1"/>
          <p:nvPr/>
        </p:nvSpPr>
        <p:spPr>
          <a:xfrm>
            <a:off x="1069848" y="3246120"/>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A. Chuyển phôi tươi ngay trong chu kỳ kích thích buồng trứng</a:t>
            </a:r>
          </a:p>
        </p:txBody>
      </p:sp>
      <p:sp>
        <p:nvSpPr>
          <p:cNvPr id="14" name="Rectangle 13"/>
          <p:cNvSpPr/>
          <p:nvPr/>
        </p:nvSpPr>
        <p:spPr>
          <a:xfrm>
            <a:off x="402336" y="3858768"/>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813048"/>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877056"/>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77056"/>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B</a:t>
            </a:r>
          </a:p>
        </p:txBody>
      </p:sp>
      <p:sp>
        <p:nvSpPr>
          <p:cNvPr id="18" name="TextBox 17"/>
          <p:cNvSpPr txBox="1"/>
          <p:nvPr/>
        </p:nvSpPr>
        <p:spPr>
          <a:xfrm>
            <a:off x="1069848" y="3813048"/>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B. Chuẩn bị nội mạc bằng chu kỳ tự nhiên không dùng thuốc</a:t>
            </a:r>
          </a:p>
        </p:txBody>
      </p:sp>
      <p:sp>
        <p:nvSpPr>
          <p:cNvPr id="19" name="Rectangle 18"/>
          <p:cNvSpPr/>
          <p:nvPr/>
        </p:nvSpPr>
        <p:spPr>
          <a:xfrm>
            <a:off x="402336" y="4425696"/>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379976"/>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443984"/>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43984"/>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C</a:t>
            </a:r>
          </a:p>
        </p:txBody>
      </p:sp>
      <p:sp>
        <p:nvSpPr>
          <p:cNvPr id="23" name="TextBox 22"/>
          <p:cNvSpPr txBox="1"/>
          <p:nvPr/>
        </p:nvSpPr>
        <p:spPr>
          <a:xfrm>
            <a:off x="1069848" y="4379976"/>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C. Chuẩn bị nội mạc bằng thuốc nội tiết thay thế (HRT) đơn thuần trong 14 ngày</a:t>
            </a:r>
          </a:p>
        </p:txBody>
      </p:sp>
      <p:sp>
        <p:nvSpPr>
          <p:cNvPr id="24" name="Rectangle 23"/>
          <p:cNvSpPr/>
          <p:nvPr/>
        </p:nvSpPr>
        <p:spPr>
          <a:xfrm>
            <a:off x="402336" y="4992624"/>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946904"/>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010912"/>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10912"/>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D</a:t>
            </a:r>
          </a:p>
        </p:txBody>
      </p:sp>
      <p:sp>
        <p:nvSpPr>
          <p:cNvPr id="28" name="TextBox 27"/>
          <p:cNvSpPr txBox="1"/>
          <p:nvPr/>
        </p:nvSpPr>
        <p:spPr>
          <a:xfrm>
            <a:off x="1069848" y="4946904"/>
            <a:ext cx="10268712" cy="521207"/>
          </a:xfrm>
          <a:prstGeom prst="rect">
            <a:avLst/>
          </a:prstGeom>
          <a:noFill/>
        </p:spPr>
        <p:txBody>
          <a:bodyPr wrap="square" lIns="36576" rIns="36576" tIns="18288" bIns="18288" anchor="ctr">
            <a:spAutoFit/>
          </a:bodyPr>
          <a:lstStyle/>
          <a:p>
            <a:pPr algn="l"/>
            <a:r>
              <a:rPr sz="1400" b="0" i="0">
                <a:solidFill>
                  <a:srgbClr val="1A2F2F"/>
                </a:solidFill>
                <a:latin typeface="Segoe UI"/>
              </a:rPr>
              <a:t>D. Hạ điều hòa tuyến yên bằng GnRH Agonist Depot 3.75 mg từ 2-3 tháng trước khi chuẩn bị nội mạc bằng HRT (Ultra-long protocol)</a:t>
            </a:r>
          </a:p>
        </p:txBody>
      </p:sp>
      <p:sp>
        <p:nvSpPr>
          <p:cNvPr id="29" name="Rectangle 28"/>
          <p:cNvSpPr/>
          <p:nvPr/>
        </p:nvSpPr>
        <p:spPr>
          <a:xfrm>
            <a:off x="402336" y="5559552"/>
            <a:ext cx="11430000" cy="521207"/>
          </a:xfrm>
          <a:prstGeom prst="rect">
            <a:avLst/>
          </a:prstGeom>
          <a:solidFill>
            <a:srgbClr val="E6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513832"/>
            <a:ext cx="11430000" cy="521207"/>
          </a:xfrm>
          <a:prstGeom prst="rect">
            <a:avLst/>
          </a:prstGeom>
          <a:solidFill>
            <a:srgbClr val="E8F8F5"/>
          </a:solidFill>
          <a:ln w="6350">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577840"/>
            <a:ext cx="429768" cy="429768"/>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577840"/>
            <a:ext cx="429768" cy="429768"/>
          </a:xfrm>
          <a:prstGeom prst="rect">
            <a:avLst/>
          </a:prstGeom>
          <a:noFill/>
        </p:spPr>
        <p:txBody>
          <a:bodyPr wrap="square" lIns="36576" rIns="36576" tIns="18288" bIns="18288" anchor="ctr">
            <a:spAutoFit/>
          </a:bodyPr>
          <a:lstStyle/>
          <a:p>
            <a:pPr algn="ctr"/>
            <a:r>
              <a:rPr sz="1900" b="1" i="0">
                <a:solidFill>
                  <a:srgbClr val="FFFFFF"/>
                </a:solidFill>
                <a:latin typeface="Segoe UI"/>
              </a:rPr>
              <a:t>E</a:t>
            </a:r>
          </a:p>
        </p:txBody>
      </p:sp>
      <p:sp>
        <p:nvSpPr>
          <p:cNvPr id="33" name="TextBox 32"/>
          <p:cNvSpPr txBox="1"/>
          <p:nvPr/>
        </p:nvSpPr>
        <p:spPr>
          <a:xfrm>
            <a:off x="1069848" y="5513832"/>
            <a:ext cx="10268712" cy="521207"/>
          </a:xfrm>
          <a:prstGeom prst="rect">
            <a:avLst/>
          </a:prstGeom>
          <a:noFill/>
        </p:spPr>
        <p:txBody>
          <a:bodyPr wrap="square" lIns="36576" rIns="36576" tIns="18288" bIns="18288" anchor="ctr">
            <a:spAutoFit/>
          </a:bodyPr>
          <a:lstStyle/>
          <a:p>
            <a:pPr algn="l"/>
            <a:r>
              <a:rPr sz="1600" b="0" i="0">
                <a:solidFill>
                  <a:srgbClr val="1A2F2F"/>
                </a:solidFill>
                <a:latin typeface="Segoe UI"/>
              </a:rPr>
              <a:t>E. Bơm huyết tương giàu tiểu cầu (PRP) buồng tử cung rồi chuyển phôi ngay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92608"/>
            <a:ext cx="63500" cy="96012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
            <a:ext cx="11247120" cy="1051560"/>
          </a:xfrm>
          <a:prstGeom prst="rect">
            <a:avLst/>
          </a:prstGeom>
          <a:noFill/>
        </p:spPr>
        <p:txBody>
          <a:bodyPr wrap="square" lIns="36576" rIns="36576" tIns="18288" bIns="18288" anchor="ctr">
            <a:spAutoFit/>
          </a:bodyPr>
          <a:lstStyle/>
          <a:p>
            <a:pPr algn="l"/>
            <a:r>
              <a:rPr sz="3100" b="1" i="0">
                <a:solidFill>
                  <a:srgbClr val="FFFFFF"/>
                </a:solidFill>
                <a:latin typeface="Segoe UI"/>
              </a:rPr>
              <a:t>5 Thông Điệp Thực Hành Lâm Sàng Cốt Lõi (Key Takeaways)</a:t>
            </a:r>
          </a:p>
        </p:txBody>
      </p:sp>
      <p:sp>
        <p:nvSpPr>
          <p:cNvPr id="5" name="Rectangle 4"/>
          <p:cNvSpPr/>
          <p:nvPr/>
        </p:nvSpPr>
        <p:spPr>
          <a:xfrm>
            <a:off x="548640" y="1389888"/>
            <a:ext cx="11338560" cy="1905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0020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548640" cy="795528"/>
          </a:xfrm>
          <a:prstGeom prst="rect">
            <a:avLst/>
          </a:prstGeom>
          <a:noFill/>
        </p:spPr>
        <p:txBody>
          <a:bodyPr wrap="square" lIns="36576" rIns="36576" tIns="18288" bIns="18288" anchor="ctr">
            <a:spAutoFit/>
          </a:bodyPr>
          <a:lstStyle/>
          <a:p>
            <a:pPr algn="ctr"/>
            <a:r>
              <a:rPr sz="2500" b="1" i="0">
                <a:solidFill>
                  <a:srgbClr val="00CCA3"/>
                </a:solidFill>
                <a:latin typeface="Segoe UI"/>
              </a:rPr>
              <a:t>✓</a:t>
            </a:r>
          </a:p>
        </p:txBody>
      </p:sp>
      <p:sp>
        <p:nvSpPr>
          <p:cNvPr id="8" name="TextBox 7"/>
          <p:cNvSpPr txBox="1"/>
          <p:nvPr/>
        </p:nvSpPr>
        <p:spPr>
          <a:xfrm>
            <a:off x="1188720" y="1600200"/>
            <a:ext cx="10515600" cy="795528"/>
          </a:xfrm>
          <a:prstGeom prst="rect">
            <a:avLst/>
          </a:prstGeom>
          <a:noFill/>
        </p:spPr>
        <p:txBody>
          <a:bodyPr wrap="square" lIns="36576" rIns="36576" tIns="18288" bIns="18288" anchor="ctr">
            <a:spAutoFit/>
          </a:bodyPr>
          <a:lstStyle/>
          <a:p>
            <a:pPr algn="l"/>
            <a:r>
              <a:rPr sz="1700" b="0" i="0">
                <a:solidFill>
                  <a:srgbClr val="FFFFFF"/>
                </a:solidFill>
                <a:latin typeface="Segoe UI"/>
              </a:rPr>
              <a:t>1. KHÔNG MỔ BÓC NANG OMA THƯỜNG QUY: Luôn ưu tiên Bảo tồn sinh sản (Trữ đông noãn/phôi) TRƯỚC KHI mổ nếu bắt buộc phải can thiệp.</a:t>
            </a:r>
          </a:p>
        </p:txBody>
      </p:sp>
      <p:sp>
        <p:nvSpPr>
          <p:cNvPr id="9" name="Rectangle 8"/>
          <p:cNvSpPr/>
          <p:nvPr/>
        </p:nvSpPr>
        <p:spPr>
          <a:xfrm>
            <a:off x="365760" y="246888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68880"/>
            <a:ext cx="548640" cy="795528"/>
          </a:xfrm>
          <a:prstGeom prst="rect">
            <a:avLst/>
          </a:prstGeom>
          <a:noFill/>
        </p:spPr>
        <p:txBody>
          <a:bodyPr wrap="square" lIns="36576" rIns="36576" tIns="18288" bIns="18288" anchor="ctr">
            <a:spAutoFit/>
          </a:bodyPr>
          <a:lstStyle/>
          <a:p>
            <a:pPr algn="ctr"/>
            <a:r>
              <a:rPr sz="2500" b="1" i="0">
                <a:solidFill>
                  <a:srgbClr val="00CCA3"/>
                </a:solidFill>
                <a:latin typeface="Segoe UI"/>
              </a:rPr>
              <a:t>✓</a:t>
            </a:r>
          </a:p>
        </p:txBody>
      </p:sp>
      <p:sp>
        <p:nvSpPr>
          <p:cNvPr id="11" name="TextBox 10"/>
          <p:cNvSpPr txBox="1"/>
          <p:nvPr/>
        </p:nvSpPr>
        <p:spPr>
          <a:xfrm>
            <a:off x="1188720" y="2468880"/>
            <a:ext cx="10515600" cy="795528"/>
          </a:xfrm>
          <a:prstGeom prst="rect">
            <a:avLst/>
          </a:prstGeom>
          <a:noFill/>
        </p:spPr>
        <p:txBody>
          <a:bodyPr wrap="square" lIns="36576" rIns="36576" tIns="18288" bIns="18288" anchor="ctr">
            <a:spAutoFit/>
          </a:bodyPr>
          <a:lstStyle/>
          <a:p>
            <a:pPr algn="l"/>
            <a:r>
              <a:rPr sz="1700" b="0" i="0">
                <a:solidFill>
                  <a:srgbClr val="FFFFFF"/>
                </a:solidFill>
                <a:latin typeface="Segoe UI"/>
              </a:rPr>
              <a:t>2. AN TOÀN CHỌC HÚT NOÃN: Không đâm kim xuyên qua nang OMA; nếu chọc nhầm, lập tức ngừng hút, thay kim và rửa sạch túi cùng sau.</a:t>
            </a:r>
          </a:p>
        </p:txBody>
      </p:sp>
      <p:sp>
        <p:nvSpPr>
          <p:cNvPr id="12" name="Rectangle 11"/>
          <p:cNvSpPr/>
          <p:nvPr/>
        </p:nvSpPr>
        <p:spPr>
          <a:xfrm>
            <a:off x="365760" y="333756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337560"/>
            <a:ext cx="548640" cy="795528"/>
          </a:xfrm>
          <a:prstGeom prst="rect">
            <a:avLst/>
          </a:prstGeom>
          <a:noFill/>
        </p:spPr>
        <p:txBody>
          <a:bodyPr wrap="square" lIns="36576" rIns="36576" tIns="18288" bIns="18288" anchor="ctr">
            <a:spAutoFit/>
          </a:bodyPr>
          <a:lstStyle/>
          <a:p>
            <a:pPr algn="ctr"/>
            <a:r>
              <a:rPr sz="2500" b="1" i="0">
                <a:solidFill>
                  <a:srgbClr val="00CCA3"/>
                </a:solidFill>
                <a:latin typeface="Segoe UI"/>
              </a:rPr>
              <a:t>✓</a:t>
            </a:r>
          </a:p>
        </p:txBody>
      </p:sp>
      <p:sp>
        <p:nvSpPr>
          <p:cNvPr id="14" name="TextBox 13"/>
          <p:cNvSpPr txBox="1"/>
          <p:nvPr/>
        </p:nvSpPr>
        <p:spPr>
          <a:xfrm>
            <a:off x="1188720" y="3337560"/>
            <a:ext cx="10515600" cy="795528"/>
          </a:xfrm>
          <a:prstGeom prst="rect">
            <a:avLst/>
          </a:prstGeom>
          <a:noFill/>
        </p:spPr>
        <p:txBody>
          <a:bodyPr wrap="square" lIns="36576" rIns="36576" tIns="18288" bIns="18288" anchor="ctr">
            <a:spAutoFit/>
          </a:bodyPr>
          <a:lstStyle/>
          <a:p>
            <a:pPr algn="l"/>
            <a:r>
              <a:rPr sz="1700" b="0" i="0">
                <a:solidFill>
                  <a:srgbClr val="FFFFFF"/>
                </a:solidFill>
                <a:latin typeface="Segoe UI"/>
              </a:rPr>
              <a:t>3. TẬN DỤNG DUOSTIM: Gom tối đa số noãn/phôi trong 1 tháng cho bệnh nhân Endometriosis suy giảm dự trữ buồng trứng (DOR).</a:t>
            </a:r>
          </a:p>
        </p:txBody>
      </p:sp>
      <p:sp>
        <p:nvSpPr>
          <p:cNvPr id="15" name="Rectangle 14"/>
          <p:cNvSpPr/>
          <p:nvPr/>
        </p:nvSpPr>
        <p:spPr>
          <a:xfrm>
            <a:off x="365760" y="4206239"/>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206239"/>
            <a:ext cx="548640" cy="795528"/>
          </a:xfrm>
          <a:prstGeom prst="rect">
            <a:avLst/>
          </a:prstGeom>
          <a:noFill/>
        </p:spPr>
        <p:txBody>
          <a:bodyPr wrap="square" lIns="36576" rIns="36576" tIns="18288" bIns="18288" anchor="ctr">
            <a:spAutoFit/>
          </a:bodyPr>
          <a:lstStyle/>
          <a:p>
            <a:pPr algn="ctr"/>
            <a:r>
              <a:rPr sz="2500" b="1" i="0">
                <a:solidFill>
                  <a:srgbClr val="00CCA3"/>
                </a:solidFill>
                <a:latin typeface="Segoe UI"/>
              </a:rPr>
              <a:t>✓</a:t>
            </a:r>
          </a:p>
        </p:txBody>
      </p:sp>
      <p:sp>
        <p:nvSpPr>
          <p:cNvPr id="17" name="TextBox 16"/>
          <p:cNvSpPr txBox="1"/>
          <p:nvPr/>
        </p:nvSpPr>
        <p:spPr>
          <a:xfrm>
            <a:off x="1188720" y="4206239"/>
            <a:ext cx="10515600" cy="795528"/>
          </a:xfrm>
          <a:prstGeom prst="rect">
            <a:avLst/>
          </a:prstGeom>
          <a:noFill/>
        </p:spPr>
        <p:txBody>
          <a:bodyPr wrap="square" lIns="36576" rIns="36576" tIns="18288" bIns="18288" anchor="ctr">
            <a:spAutoFit/>
          </a:bodyPr>
          <a:lstStyle/>
          <a:p>
            <a:pPr algn="l"/>
            <a:r>
              <a:rPr sz="1700" b="0" i="0">
                <a:solidFill>
                  <a:srgbClr val="FFFFFF"/>
                </a:solidFill>
                <a:latin typeface="Segoe UI"/>
              </a:rPr>
              <a:t>4. CÁ THỂ HÓA ADENOMYOSIS: Freeze-all phôi ngày 5; Ultra-long GnRHa 2-3 tháng cho thể lan tỏa và bắt buộc siêu âm đánh giá lại JZ trước FET.</a:t>
            </a:r>
          </a:p>
        </p:txBody>
      </p:sp>
      <p:sp>
        <p:nvSpPr>
          <p:cNvPr id="18" name="Rectangle 17"/>
          <p:cNvSpPr/>
          <p:nvPr/>
        </p:nvSpPr>
        <p:spPr>
          <a:xfrm>
            <a:off x="365760" y="5074920"/>
            <a:ext cx="11430000" cy="795528"/>
          </a:xfrm>
          <a:prstGeom prst="rect">
            <a:avLst/>
          </a:prstGeom>
          <a:solidFill>
            <a:srgbClr val="00977A"/>
          </a:solidFill>
          <a:ln w="9525">
            <a:solidFill>
              <a:srgbClr val="00C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074920"/>
            <a:ext cx="548640" cy="795528"/>
          </a:xfrm>
          <a:prstGeom prst="rect">
            <a:avLst/>
          </a:prstGeom>
          <a:noFill/>
        </p:spPr>
        <p:txBody>
          <a:bodyPr wrap="square" lIns="36576" rIns="36576" tIns="18288" bIns="18288" anchor="ctr">
            <a:spAutoFit/>
          </a:bodyPr>
          <a:lstStyle/>
          <a:p>
            <a:pPr algn="ctr"/>
            <a:r>
              <a:rPr sz="2500" b="1" i="0">
                <a:solidFill>
                  <a:srgbClr val="00CCA3"/>
                </a:solidFill>
                <a:latin typeface="Segoe UI"/>
              </a:rPr>
              <a:t>✓</a:t>
            </a:r>
          </a:p>
        </p:txBody>
      </p:sp>
      <p:sp>
        <p:nvSpPr>
          <p:cNvPr id="20" name="TextBox 19"/>
          <p:cNvSpPr txBox="1"/>
          <p:nvPr/>
        </p:nvSpPr>
        <p:spPr>
          <a:xfrm>
            <a:off x="1188720" y="5074920"/>
            <a:ext cx="10515600" cy="795528"/>
          </a:xfrm>
          <a:prstGeom prst="rect">
            <a:avLst/>
          </a:prstGeom>
          <a:noFill/>
        </p:spPr>
        <p:txBody>
          <a:bodyPr wrap="square" lIns="36576" rIns="36576" tIns="18288" bIns="18288" anchor="ctr">
            <a:spAutoFit/>
          </a:bodyPr>
          <a:lstStyle/>
          <a:p>
            <a:pPr algn="l"/>
            <a:r>
              <a:rPr sz="1700" b="0" i="0">
                <a:solidFill>
                  <a:srgbClr val="FFFFFF"/>
                </a:solidFill>
                <a:latin typeface="Segoe UI"/>
              </a:rPr>
              <a:t>5. QUẢN LÝ SẢN KHOA CHỦ ĐỘNG: Dự phòng Tiền sản giật bằng Aspirin từ tuần 12 và chủ động phòng ngừa Băng huyết sau sinh do đờ tử cung.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92608"/>
            <a:ext cx="63500" cy="960120"/>
          </a:xfrm>
          <a:prstGeom prst="rect">
            <a:avLst/>
          </a:prstGeom>
          <a:solidFill>
            <a:srgbClr val="72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
            <a:ext cx="11247120" cy="1051560"/>
          </a:xfrm>
          <a:prstGeom prst="rect">
            <a:avLst/>
          </a:prstGeom>
          <a:noFill/>
        </p:spPr>
        <p:txBody>
          <a:bodyPr wrap="square" lIns="36576" rIns="36576" tIns="18288" bIns="18288" anchor="ctr">
            <a:spAutoFit/>
          </a:bodyPr>
          <a:lstStyle/>
          <a:p>
            <a:pPr algn="l"/>
            <a:r>
              <a:rPr sz="3100" b="1" i="0">
                <a:solidFill>
                  <a:srgbClr val="0D2B2B"/>
                </a:solidFill>
                <a:latin typeface="Segoe UI"/>
              </a:rPr>
              <a:t>Tài Liệu Tham Khảo Y Học Chứng Cứ Nền Tảng (EBM)</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1064240" cy="4846320"/>
          </a:xfrm>
          <a:prstGeom prst="rect">
            <a:avLst/>
          </a:prstGeom>
          <a:noFill/>
        </p:spPr>
        <p:txBody>
          <a:bodyPr wrap="square">
            <a:spAutoFit/>
          </a:bodyPr>
          <a:lstStyle/>
          <a:p>
            <a:pPr>
              <a:spcBef>
                <a:spcPts val="600"/>
              </a:spcBef>
            </a:pPr>
            <a:r>
              <a:rPr sz="1300">
                <a:solidFill>
                  <a:srgbClr val="1A2F2F"/>
                </a:solidFill>
                <a:latin typeface="Segoe UI"/>
              </a:rPr>
              <a:t>1.   Becker CM, Bokor A, et al. ESHRE guideline: endometriosis. Hum Reprod Open. 2022; PMID: 35350465.</a:t>
            </a:r>
          </a:p>
          <a:p>
            <a:pPr>
              <a:spcBef>
                <a:spcPts val="600"/>
              </a:spcBef>
            </a:pPr>
            <a:r>
              <a:rPr sz="1300">
                <a:solidFill>
                  <a:srgbClr val="1A2F2F"/>
                </a:solidFill>
                <a:latin typeface="Segoe UI"/>
              </a:rPr>
              <a:t>2.   Muzii L, Di Tucci C, et al. Surgery for endometrioma on ovarian reserve AFC meta-analysis. Hum Reprod. 2014; PMID: 25085800.</a:t>
            </a:r>
          </a:p>
          <a:p>
            <a:pPr>
              <a:spcBef>
                <a:spcPts val="600"/>
              </a:spcBef>
            </a:pPr>
            <a:r>
              <a:rPr sz="1300">
                <a:solidFill>
                  <a:srgbClr val="1A2F2F"/>
                </a:solidFill>
                <a:latin typeface="Segoe UI"/>
              </a:rPr>
              <a:t>3.   Zhang Y, Zhang S, et al. Cystectomy versus ablation for endometrioma on AMH. Fertil Steril. 2022; PMID: 36334993.</a:t>
            </a:r>
          </a:p>
          <a:p>
            <a:pPr>
              <a:spcBef>
                <a:spcPts val="600"/>
              </a:spcBef>
            </a:pPr>
            <a:r>
              <a:rPr sz="1300">
                <a:solidFill>
                  <a:srgbClr val="1A2F2F"/>
                </a:solidFill>
                <a:latin typeface="Segoe UI"/>
              </a:rPr>
              <a:t>4.   Bennet SLM, Nagenthiran S, et al. Ethanol sclerotherapy versus cystectomy. BMC Womens Health. 2026; PMID: 42471696.</a:t>
            </a:r>
          </a:p>
          <a:p>
            <a:pPr>
              <a:spcBef>
                <a:spcPts val="600"/>
              </a:spcBef>
            </a:pPr>
            <a:r>
              <a:rPr sz="1300">
                <a:solidFill>
                  <a:srgbClr val="1A2F2F"/>
                </a:solidFill>
                <a:latin typeface="Segoe UI"/>
              </a:rPr>
              <a:t>5.   Cozzolino M, Tartaglia S, et al. The Effect of Uterine Adenomyosis on IVF Outcomes. Reprod Sci. 2022; PMID: 34981458.</a:t>
            </a:r>
          </a:p>
          <a:p>
            <a:pPr>
              <a:spcBef>
                <a:spcPts val="600"/>
              </a:spcBef>
            </a:pPr>
            <a:r>
              <a:rPr sz="1300">
                <a:solidFill>
                  <a:srgbClr val="1A2F2F"/>
                </a:solidFill>
                <a:latin typeface="Segoe UI"/>
              </a:rPr>
              <a:t>6.   Latif S, Kastora S, et al. Prolonged downregulation with GnRHa in adenomyosis. EJOGRB. 2024; PMID: 39116480.</a:t>
            </a:r>
          </a:p>
          <a:p>
            <a:pPr>
              <a:spcBef>
                <a:spcPts val="600"/>
              </a:spcBef>
            </a:pPr>
            <a:r>
              <a:rPr sz="1300">
                <a:solidFill>
                  <a:srgbClr val="1A2F2F"/>
                </a:solidFill>
                <a:latin typeface="Segoe UI"/>
              </a:rPr>
              <a:t>7.   Van den Bosch T, Dueholm M, et al. MUSA consensus sonographic features. Ultrasound Obstet Gynecol. 2015; PMID: 25652685.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