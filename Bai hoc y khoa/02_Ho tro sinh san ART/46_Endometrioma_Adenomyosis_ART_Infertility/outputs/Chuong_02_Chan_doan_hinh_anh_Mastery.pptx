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64008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98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241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241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108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298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41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822960"/>
            <a:ext cx="2871215" cy="2560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822960"/>
            <a:ext cx="2871215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HỖ TRỢ SINH SẢN &amp; PHỤ KHOA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1371600"/>
            <a:ext cx="557784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CHƯƠNG 2: CHẨN ĐOÁN HÌNH ẢNH CHUYÊN SÂU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28016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577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 i="0">
                <a:solidFill>
                  <a:srgbClr val="B0C8E0"/>
                </a:solidFill>
                <a:latin typeface="Segoe UI"/>
              </a:rPr>
              <a:t>Quy Trình IDEA, Tiêu Chuẩn MUSA, Quy Tắc IOTA, Bản Đồ #Enzian &amp; CHT MRI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937760"/>
            <a:ext cx="5577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1">
                <a:solidFill>
                  <a:srgbClr val="728C8C"/>
                </a:solidFill>
                <a:latin typeface="Segoe UI"/>
              </a:rPr>
              <a:t>Giáo Trình Master Chuyên Sâu — Phần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98932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88720" cy="635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93392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0977A"/>
                </a:solidFill>
                <a:latin typeface="Segoe UI"/>
              </a:rPr>
              <a:t>NGUYÊN TẮC HÌNH ẢNH HỌC TRONG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55680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Chẩn Đoán Hình Ảnh Toàn Diện &amp; Phân Tầng Chi Tiết
Là Chìa Khóa Vàng Quyết Định Phác Đồ Can Thiệp Lâm Sàng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0"/>
            <a:ext cx="11155680" cy="1905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Mục Tiêu Học Tập Chương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02920" cy="5029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1060704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Thành thạo quy trình siêu âm ngả âm đạo có hệ thống 4 bước theo đồng thuận quốc tế IDEA.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1060704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Nhận diện chính xác hình ảnh siêu âm OMA và áp dụng quy tắc IOTA loại trừ thoái hóa ác tính.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29000"/>
            <a:ext cx="1060704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Nắm vững 4 dấu hiệu trực tiếp và 3 dấu hiệu gián tiếp chẩn đoán Adenomyosis theo MUSA.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502920" cy="5029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43400"/>
            <a:ext cx="1060704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Sử dụng thành thạo bản đồ phân loại #Enzian và tiêu chuẩn CHT MRI đánh giá Vùng chuyển tiếp (JZ).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Quy Trình Tiếp Cận Siêu Âm Ngả Âm Đạo Theo Đồng Thuận IDEA (4 Bước)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Đồng thuận IDEA (International Deep Endometriosis Analysis group): Chuẩn hóa quy trình siêu âm ngả âm đạo động (dynamic TVS) có hệ thống.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Mục đích: Giúp bác sĩ siêu âm khảo sát toàn diện từ cơ quan sinh dục đến khoang phúc mạc chậu, không bỏ sót tổn thương dính và lạc nội mạc sâu.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Bước 1: Khảo sát tử cung (tìm Adenomyosis/u xơ) và buồng trứng (đo thể tích, đếm AFC, tìm OMA).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Bước 2: Tìm kiếm các dấu hiệu siêu âm mềm (độ di động buồng trứng, dấu hiệu buồng trứng dính nhau).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Bước 3: Đánh giá túi cùng sau bằng Dấu hiệu Trượt (Sliding Sign).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Bước 4: Khảo sát Lạc nội mạc tử cung sâu (DIE) ở khoang trước và khoang sau.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Quy Trình IDEA — Bước 1: Khảo Sát Tử Cung &amp; Buồng Trứng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Khảo sát tử cung: Đo kích thước 3 chiều (chiều dài, chiều trước - sau, chiều ngang), đánh giá độ dày thành trước/thành sau.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Đánh giá cơ tử cung: Tìm các dấu hiệu trực tiếp và gián tiếp của Adenomyosis theo MUSA, phân biệt với u xơ tử cung (FIGO).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Khảo sát buồng trứng: Xác định vị trí 2 buồng trứng, đếm số nang thứ cấp (Antral Follicle Count - AFC).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Đo lường khối u OMA: Khi phát hiện u lạc nội mạc buồng trứng, bắt buộc đo kích thước 3 chiều và thể tích u, khảo sát cả 2 bên buồng trứng.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Quy Trình IDEA — Bước 2: Tìm Kiếm Các Dấu Hiệu Siêu Âm Mềm (Soft Markers)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Độ di động buồng trứng: Dùng tay ấn nhẹ vùng hạ vị kết hợp đầu dò kiểm tra buồng trứng có trượt tự do trên thành chậu hay bị dính chặt vào hố buồng trứng.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Dấu hiệu buồng trứng dính nhau ('Kissing Ovaries'): Cả 2 buồng trứng bị kéo dính sát vào nhau ở đường giữa phía sau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 của 'Kissing Ovaries': Là chỉ điểm hình ảnh của tình trạng dính vùng chậu nặng nề và lạc nội mạc tử cung sâu (DIE) tiến triển.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Điểm đau khu trú tại chỗ (Site-specific tenderness): Nhận biết chính xác vị trí đau chói khi đầu dò chạm vào dây chằng tử cung - cùng hoặc túi cùng Douglas.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Quy Trình IDEA — Bước 3: Đánh Giá Túi Cùng Sau Bằng Dấu Hiệu Trượt (Sliding Sign)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Kỹ thuật thực hiện: Đầu dò đẩy nhẹ vào cổ tử cung và thành sau âm đạo trong khi tay kia ấn nhẹ trên thành bụng để quan sát sự trượt của trực tràng.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Sliding Sign dương tính (+): Thành trước trực tràng trượt êm dịu trên thành sau cổ tử cung/âm đạo → Túi cùng Douglas hoàn toàn thông thoáng.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Sliding Sign âm tính (-): Trực tràng dính chặt bất động vào mặt sau tử cung → Túi cùng Douglas bị bít tắc hoàn toàn (Obliterated pouch of Douglas).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Cảnh báo lâm sàng: Sliding Sign âm tính là dấu hiệu báo trước nguy cơ chọc hút noãn OPU hoặc phẫu thuật bóc tách cực kỳ phức tạp.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Quy Trình IDEA — Bước 4: Khảo Sát Lạc Nội Mạc Tử Cung Sâu (DIE)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Khoang trước: Khảo sát thành bàng quang, tam giác bàng quang và nếp gấp tử cung - bàng quang (tìm nốt thâm nhiễm giảm âm).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Khoang sau — Dây chằng tử cung - cùng: Quan sát dải giảm âm dày lên bất thường hoặc nốt đặc gồ ghề.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Khoang sau — Vách trực tràng - âm đạo: Khảo sát khoang giữa thành sau âm đạo và thành trước trực tràng.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Khoang sau — Ruột: Đánh giá thành cơ trực tràng và đại tràng sigma (tìm nốt hình nón/hình liềm giảm âm làm dày lớp cơ ruột).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U Lạc Nội Mạc Buồng Trứng (Endometrioma) — Đặc Điểm Siêu Âm Điển Hình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Hình dạng &amp; Thành nang: Khối dạng nang tròn hoặc bầu dục, bờ đều đặn, thành nang dày và tăng âm nhẹ.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Hồi âm dạng 'Kính Mờ' (Ground-glass echogenicity): Cấu trúc hồi âm kém đồng nhất mịn màng tạo bởi hàng triệu hồng cầu thoái hóa và hemosiderin lơ lửng.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Đặc điểm Doppler màu: Hoàn toàn không có tín hiệu mạch máu bên trong lòng nang (chỉ thấy viền mạch máu ngoại vi ở vỏ buồng trứng lành).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Tính chất tồn tại: Tồn tại dai dẳng qua nhiều chu kỳ kinh nguyệt liên tiếp (khác nang hoàng thể tự biến mất).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U Lạc Nội Mạc Buồng Trứng — Chẩn Đoán Phân Biệt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Nang hoàng thể xuất huyết: Có mạng lưới sợi fibrin dạng mạng nhện hoặc mạng lưới tổ ong và sẽ tự tiêu biến sau 1 - 2 chu kỳ kinh.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U quái buồng trứng (Dermoid cyst / Teratoma): Chứa các dải tăng âm dạng vệt tóc (dermoid mesh) hoặc nốt tăng âm kèm bóng lưng cản âm mạnh (Rokitansky nodule).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U nang thanh dịch buồng trứng: Lòng nang trống âm hoàn toàn (đen tuyền), thành mỏng nhẵn, dịch trong.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Áp xe buồng trứng (Tubo-ovarian abscess): Nang chứa dịch đục lợn cợn không đồng nhất kèm vách dày tăng sinh mạch máu dữ dội và hội chứng nhiễm trùng trên lâm sàng.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Quy Tắc IOTA (International Ovarian Tumor Analysis) — Loại Trừ Thoái Hóa Ác Tính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Nguy cơ ung thư: U OMA có nguy cơ thoái hóa thành ung thư buồng trứng dạng nội mạc hoặc tế bào sáng (Endometrioid / Clear Cell Carcinoma).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Dấu hiệu báo động 1 — Chồi nhú đặc (Papillary projections): Xuất hiện phần mô đặc dạng nhú nhô từ vách vào trong lòng nang.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Dấu hiệu báo động 2 — Tăng sinh mạch máu Doppler: Tín hiệu mạch máu phong phú bên trong phần nhú đặc (Color Score 3 - 4).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Dấu hiệu báo động 3 — Vách ngăn dày &amp; Cổ trướng: Vách ngăn dày bất thường (&gt; 3 mm), nhiều thùy hoặc có dịch tự do ổ bụng.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Yếu tố nguy cơ cao: Bệnh nhân trên 40 tuổi hoặc khối u OMA tăng nhanh kích thước sau mãn kinh.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Đồng Thuận Quốc Tế MUSA (2015 / 2026) — Tiêu Chuẩn Siêu Âm Adenomyosis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Đồng thuận MUSA (Morphological Uterus Sonographic Assessment): Chuẩn hóa hệ thống thuật ngữ và tiêu chuẩn siêu âm ngả âm đạo độ phân giải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Phân loại 2 nhóm dấu hiệu: Chia tách rõ ràng giữa Dấu hiệu trực tiếp (Direct signs) và Dấu hiệu gián tiếp (Indirect signs).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Giá trị của Dấu hiệu trực tiếp: Phản ánh trực tiếp sự hiện diện của mô tuyến nội mạc và xuất huyết vi thể trong cơ, có giá trị khẳng định mô bệnh học.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Giá trị của Dấu hiệu gián tiếp: Phản ánh hậu quả của phản ứng phì đại xơ hóa cơ trơn và tăng sinh mạch máu tân tạo.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Tiêu Chuẩn MUSA — Dấu Hiệu Trực Tiếp: Nang Cơ Tử Cung &amp; Đảo Tăng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1. Nang cơ tử cung (Myometrial cysts): Các ổ trống âm nhỏ hình tròn hoặc bầu dục kích thước 1 - 5 mm nằm rải rác trong lớp cơ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Bản chất của Nang cơ: Tuyến nội mạc đáy lạc vào cơ chảy máu chu kỳ tích tụ thành các nang máu vi thể.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2. Đảo tăng âm (Hyperechoic islands): Các nốt tăng âm nhỏ bờ không đều nằm trong nhu mô cơ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Bản chất của Đảo tăng âm: Tương ứng với các đám mô đệm nội mạc tử cung (endometrial stroma) lạc chỗ trong cơ.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Tiêu Chuẩn MUSA — Dấu Hiệu Trực Tiếp: Bóng Lưng Hình Quạt &amp; Vệt Tăng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3. Bóng lưng hình quạt (Fan-shaped shadowing / Linear striations): Các dải bóng cản âm thẳng song song tỏa ra từ vùng cơ tử cung (dạng rèm sập hoặc nan quạt).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Bản chất Bóng lưng hình quạt: Hình thành do sóng siêu âm bị suy giảm khi đi qua các dải sợi cơ xơ hóa phản ứng bao quanh tuyến lạc chỗ.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4. Vệt tăng âm dưới nội mạc (Subendometrial lines and buds): Các đường chồi gai tăng âm đâm xuyên từ nội mạc đáy vào trong cơ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Bản chất Vệt tăng âm: Phản ánh quá trình xâm lấn trực tiếp của tuyến nội mạc đáy phá vỡ ranh giới nội - cơ (EMI).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Tiêu Chuẩn MUSA — Dấu Hiệu Gián Tiếp: Thành Dày Bất Đối Xứng &amp; Tử Cung Hình Cầu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1. Thành cơ tử cung dày bất đối xứng (Asymmetrical thickening): Thành trước hoặc thành sau dày bất đối xứng rõ rệt (chênh lệch &gt; 1.5 - 2 lần).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Vị trí thường gặp: Thành sau tử cung dày chiếm ưu thế hơn nhiều so với thành trước.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2. Tử cung to hình cầu (Globular uterus): Tử cung mất dạng thon quả lê bình thường, trở nên tròn căng và to đều.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Bản chất: Tăng kích thước theo đường kính trước - sau do phản ứng phì đại cơ trơn diện rộng.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Tiêu Chuẩn MUSA — Dấu Hiệu Gián Tiếp: Mạch Máu Đâm Xuyên Cơ (Doppler)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Mạch máu đâm xuyên cơ (Translesional flow): Trên siêu âm Doppler màu hoặc Doppler năng lượng, các nhánh mạch máu chạy thẳng góc đâm xuyên qua vùng tổn thương cơ.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 phân biệt sống còn: Đây là dấu hiệu then chốt để phân biệt Adenomyosis với U xơ tử cung (Leiomyoma).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U xơ tử cung (Leiomyoma): Mạch máu chạy uốn lượn bao quanh vỏ bao giả của khối u (vòng mạch ngoại vi).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Adenomyosis: Hoàn toàn không có vỏ bao giả, mạch máu chạy xuyên thẳng qua vùng tổn thương vào tận sát lớp nội mạc.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Phân Loại Lâm Sàng: Adenomyosis Thể Khu Trú (Adenomyoma)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Định nghĩa: Tổn thương lạc nội mạc tụ lại thành một khối u cơ tuyến có ranh giới tương đối với nhu mô cơ lành xung quanh.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Đặc điểm giải phẫu: Không có vỏ bao giả như u xơ tử cung nên không thể bóc tách dễ dàng qua phẫu thuật.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Ảnh hưởng sinh sản: Ít làm biến dạng toàn bộ tử cung; nếu nằm xa lớp nội mạc đáy, ít ảnh hưởng tiêu cực đến quá trình phôi làm tổ.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Chiến lược ART: Có thể chuẩn bị niêm mạc chuyển phôi bằng HRT thông thường hoặc Letrozole mà không nhất thiết phải tiêm GnRHa kéo dài.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Phân Loại Lâm Sàng: Adenomyosis Thể Lan Tỏa (Diffuse Adenomyosis)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Định nghĩa: Tổn thương xâm lấn lan rộng khắp các thành tử cung, làm biến dạng toàn bộ tử cung thành khối cầu to.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Phá hủy Vùng chuyển tiếp (JZ): Làm mất hoàn toàn tính liên tục của JZ, gây loạn động tử cung nghịch thường (Dysperistalsis).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Đề kháng Progesterone diện rộng: Làm hỏng quá trình màng rụng hóa trên toàn bộ bề mặt nội mạc buồng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Hậu quả ART: Là nguyên nhân hàng đầu gây thất bại làm tổ tái phát (RIF) và sảy thai liên tiếp; bắt buộc áp dụng phác đồ Ultra-long GnRHa 2 - 3 tháng.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Hệ Thống Phân Loại #Enzian Trên Siêu Âm (Cập Nhật 2021 - 2023)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Mục đích: Chuẩn hóa việc lập bản đồ toàn diện Lạc nội mạc tử cung vùng chậu thống nhất giữa Siêu âm và Phẫu thuật nội soi.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Khắc phục nhược điểm của phân loại rASRM: rASRM chỉ tập trung vào phúc mạc và buồng trứng nhưng bỏ sót lạc nội mạc sâu và Adenomyosis.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Nguyên tắc phân nhóm: Phân chia tổn thương theo từng cơ quan giải phẫu cụ thể (#Enzian O, #Enzian T, #Enzian U, #Enzian A, B, C).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Độ chính xác cao: Nghiên cứu Montanari et al. (UOG 2022) chứng minh siêu âm theo #Enzian có độ nhạy &gt; 90% tương đương phẫu thuật.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Hệ Thống #Enzian — Phân Nhóm Buồng Trứng (#Enzian O) &amp; Vòi Trứng (#Enzian 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#Enzian O (Ovary - Buồng trứng): Đánh giá u nang lạc nội mạc buồng trứng (O1 &lt; 3 cm, O2 = 3 - 7 cm, O3 &gt; 7 cm; kèm ký hiệu L/R cho Trái/Phải).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#Enzian T (Tubo-ovarian - Dính vòi - buồng trứng): Đánh giá mức độ dính giải phẫu vùng chậu.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Mức độ T1: Dính nhẹ giữa vòi tử cung và buồng trứng.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Mức độ T2: Dính buồng trứng vào hố buồng trứng thành bên chậu.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Mức độ T3: Dính nặng buồng trứng vào mặt sau tử cung hoặc dính 2 buồng trứng sát nhau ('Kissing Ovaries').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Hệ Thống #Enzian — Lạc Nội Mạc Trong Cơ (#Enzian U) &amp; Khoang Sau (A, B, 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#Enzian U (Uterus): Đánh giá mức độ tổn thương Adenomyosis trong cơ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Khoang A: Lạc nội mạc sâu ở âm đạo và vách trực tràng - âm đạo (A1 &lt; 1 cm, A2 = 1 - 3 cm, A3 &gt; 3 cm).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Khoang B: Lạc nội mạc sâu ở dây chằng tử cung - cùng và thành bên chậu (B1 &lt; 1 cm, B2 = 1 - 3 cm, B3 &gt; 3 cm).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Khoang C: Lạc nội mạc sâu ở trực tràng và đại tràng sigma (C1, C2, C3 theo mức độ xâm lấn chu vi và chiều dài đoạn ruột).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Hệ Thống #Enzian — Ý Nghĩa An Toàn Tuyệt Đối Trong Chọc Hút Noãn (OPU)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Nhận diện 'Đáy chậu đóng băng' (Frozen Pelvis): Khi bệnh nhân có #Enzian B hoặc C nặng kết hợp T3, buồng trứng bị kéo dính chặt ra sau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Mối nguy trực tràng: Thành trước trực tràng bị kéo dính sát vào mặt sau buồng trứng và cổ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Nguyên tắc an toàn OPU: Bác sĩ chọc hút noãn bắt buộc phải quan sát rõ ranh giới lòng trực tràng trên siêu âm trước khi tiến kim.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Phòng ngừa biến chứng: Tuyệt đối không đâm kim xuyên qua tổn thương khoang C vào ruột, phòng ngừa rò phân và viêm phúc mạc nhiễm trùng huyết.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Chụp Cộng Hưởng Từ (Pelvic MRI) — Ưu Thế &amp; Hình Ảnh Vùng Chuyển Tiếp (JZ)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Tiêu chuẩn vàng hình ảnh: MRI là phương tiện chính xác nhất khảo sát mô mềm vùng chậu, không phụ thuộc thành bụng dày hay kinh nghiệm người làm.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Chuỗi xung Sagittal T2-weighted (T2W): Cho phép phân biệt rõ nét 3 tầng cấu trúc thành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Lớp nội mạc tử cung: Tăng tín hiệu sáng màu trắng trên T2W.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Vùng chuyển tiếp (Junctional Zone - JZ): Dải giảm tín hiệu đồng nhất màu đen sẫm bao quanh nội mạc.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Lớp cơ ngoài tử cung: Tín hiệu trung gian màu xám.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Chụp Cộng Hưởng Từ (MRI) — Tiêu Chuẩn Đo Lường &amp; Ngưỡng Chẩn Đoán JZ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JZ bình thường: Bề dày tối đa JZmax &lt; 8 mm, ranh giới rõ ràng và đồng nhất.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Vùng nghi ngờ: JZmax từ 8 đến 11 mm (cần kết hợp triệu chứng đau, tuổi và siêu âm MUSA).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Chẩn đoán xác định Adenomyosis: JZmax ≥ 12 mm hoặc bề dày JZ chiếm &gt; 40% tổng bề dày cơ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Tiêu chuẩn JZdiff: Độ chênh lệch JZdiff (JZmax - JZmin) ≥ 5 mm khẳng định tổn thương dày không đều.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Dấu hiệu vi xuất huyết: Xuất hiện các đốm tăng tín hiệu nhỏ trên T2W bên trong dải đen JZ (tương ứng các ổ tuyến nội mạc chảy máu).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Siêu Âm 3D Ngả Âm Đạo (3D-TVS) — Giá Trị Của Mặt Cắt Đứng Ngang (Coronal Plane)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Mặt cắt đứng ngang (Coronal plane): Siêu âm 3D cho phép tái tạo mặt cắt đứng ngang buồng tử cung — mặt cắt không thể quan sát trên siêu âm 2D thông thường.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Đánh giá ranh giới nội - cơ (EMI): Khảo sát độ sắc nét và tính liên tục của ranh giới giữa nội mạc đáy và lớp cơ JZ.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Đo lường JZ đa vị trí: Cho phép đo chính xác độ dày JZ ở vùng đáy tử cung và 2 góc sừng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Phát hiện xâm lấn sớm: Nhận diện các chồi nội mạc đâm xuyên vào JZ trước khi tử cung bị biến dạng hình cầu.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Tóm Tắt Cốt Lõi Chương 2 (Thông Điệp Master)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Quy trình IDEA 4 bước: Tiếp cận siêu âm động có hệ thống, đánh giá buồng trứng dính nhau và Dấu hiệu Trượt (Sliding Sign).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Nhận diện OMA &amp; IOTA: Hình ảnh 'kính mờ' không mạch máu; cảnh giác ác tính khi có phần nhú đặc tăng sinh mạch Color Score 3-4.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Tiêu chuẩn MUSA: 4 dấu hiệu trực tiếp (nang cơ, đảo tăng âm, bóng lưng hình quạt, vệt tăng âm) và 3 dấu hiệu gián tiếp (thành bất đối xứng, tử cung hình cầu, mạch máu xuyên cơ).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Bản đồ #Enzian: Phân nhóm O, T, U, A, B, C giúp tiên lượng dính và đảm bảo an toàn tuyệt đối khi chọc hút noãn OPU.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Tiêu chuẩn MRI: Bề dày JZmax ≥ 12 mm và JZdiff ≥ 5 mm là tiêu chuẩn vàng chẩn đoán xác định Adenomyosis.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Tài Liệu Tham Khảo Y Học Chứng Cứ Của Chương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Guerriero S, Condous G, et al. Systematic approach to sonographic evaluation of the pelvis in women with suspected endometriosis (IDEA consensus). Ultrasound Obstet Gynecol. 2016;48(3):318-332. PMID: 27328744.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Van den Bosch T, Dueholm M, et al. Terms, definitions and measurements to describe sonographic features of myometrium (MUSA consensus). Ultrasound Obstet Gynecol. 2015;46(3):284-298. PMID: 25652685.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Keckstein J, Hoopmann M, et al. Expert opinion on the use of transvaginal sonography for presurgical staging and classification of endometriosis (#Enzian). Arch Gynecol Obstet. 2023;307(1):5-19. PMID: 36367580.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Montanari E, Bokor A, et al. Accuracy of sonography for non-invasive detection of endometriosis using #Enzian classification. Ultrasound Obstet Gynecol. 2022;59(3):385-391. PMID: 34919760.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Timmerman D, Valentin L, et al. Terms, definitions and measurements to describe the sonographic features of adnexal tumors (IOTA). Ultrasound Obstet Gynecol. 2000;16(5):500-505. PMID: 11169340.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