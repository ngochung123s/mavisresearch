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</p:sldIdLst>
  <p:notesMasterIdLst>
    <p:notesMasterId r:id="rId1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notesMaster" Target="notesMasters/notesMaster1.xml"/><Relationship Id="rId114" Type="http://schemas.openxmlformats.org/officeDocument/2006/relationships/presProps" Target="presProps.xml"/><Relationship Id="rId115" Type="http://schemas.openxmlformats.org/officeDocument/2006/relationships/viewProps" Target="viewProps.xml"/><Relationship Id="rId116" Type="http://schemas.openxmlformats.org/officeDocument/2006/relationships/theme" Target="theme/theme1.xml"/><Relationship Id="rId1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0"/>
            <a:ext cx="73152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50292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50292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50292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50292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82296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69480" y="82296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82296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822960"/>
            <a:ext cx="64008" cy="64008"/>
          </a:xfrm>
          <a:prstGeom prst="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566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/ IVF-ICSI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1430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 theo dõi quá trình kích thích buồng trứng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46120" y="141732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học cá nhân: từ baseline đến trigger và freeze-all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246120" y="260604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cách đọc siêu âm, cách ra quyết định và các điểm cập nhật từ guideline.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46120" y="43159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sĩ Ngọc Hưng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18120" y="43159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bài học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3794760" cy="530352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3533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97864" y="13258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quyết định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94760" cy="530352"/>
          </a:xfrm>
          <a:prstGeom prst="roundRect">
            <a:avLst/>
          </a:prstGeom>
          <a:solidFill>
            <a:srgbClr val="F5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3533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41264" y="132588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trước kích thích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984248"/>
            <a:ext cx="3794760" cy="530352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1031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97864" y="2075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lý nền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46320" y="1984248"/>
            <a:ext cx="3794760" cy="530352"/>
          </a:xfrm>
          <a:prstGeom prst="roundRect">
            <a:avLst/>
          </a:prstGeom>
          <a:solidFill>
            <a:srgbClr val="F5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21031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41264" y="207568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Phác đồ kích thích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2734056"/>
            <a:ext cx="3794760" cy="530352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2852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97864" y="282549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bằng siêu âm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46320" y="2734056"/>
            <a:ext cx="3794760" cy="530352"/>
          </a:xfrm>
          <a:prstGeom prst="roundRect">
            <a:avLst/>
          </a:prstGeom>
          <a:solidFill>
            <a:srgbClr val="F5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8529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41264" y="282549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tiết trong theo dõi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3483864"/>
            <a:ext cx="3794760" cy="530352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60273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97864" y="35753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và OHSS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46320" y="3483864"/>
            <a:ext cx="3794760" cy="530352"/>
          </a:xfrm>
          <a:prstGeom prst="roundRect">
            <a:avLst/>
          </a:prstGeom>
          <a:solidFill>
            <a:srgbClr val="F5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60273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41264" y="357530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và quyết định nhanh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Bức tranh tổng quan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kích thích buồng trứng là chuỗi quyết định theo thời gian.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bài này quan trọng?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thích buồng trứng quyết định số noãn, chất lượng noãn kỳ vọng và an toàn điều trị.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đúng giúp điều chỉnh liều, chọn thời điểm antagonist, chọn trigger và dự phòng OHSS.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ở một mốc nhỏ có thể dẫn đến noãn non, quá kích, progesterone tăng sớm hoặc bỏ lỡ thời điểm tối ưu.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 là công cụ không xâm nhập, lặp lại được và không thể thay thế trong theo dõi nang.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quyết định của một chu kỳ IVF/ICSI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240280"/>
            <a:ext cx="7543800" cy="0"/>
          </a:xfrm>
          <a:prstGeom prst="line">
            <a:avLst/>
          </a:prstGeom>
          <a:noFill/>
          <a:ln w="25400">
            <a:solidFill>
              <a:srgbClr val="CF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93392"/>
            <a:ext cx="475488" cy="475488"/>
          </a:xfrm>
          <a:prstGeom prst="round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AFC, nang tồn dư, tử cung, đường chọc hút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30552" y="1993392"/>
            <a:ext cx="475488" cy="47548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9384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FSH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810512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liều theo dự trữ và đáp ứng dự kiến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575304" y="1993392"/>
            <a:ext cx="475488" cy="475488"/>
          </a:xfrm>
          <a:prstGeom prst="round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4136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5-7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255264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tốc độ nang và quyết định antagonist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020056" y="1993392"/>
            <a:ext cx="475488" cy="47548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stim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700016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nang, nội mạc, OHSS, P4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464808" y="1993392"/>
            <a:ext cx="475488" cy="475488"/>
          </a:xfrm>
          <a:prstGeom prst="round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144768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thời điểm và loại trigger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909560" y="1993392"/>
            <a:ext cx="475488" cy="47548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08392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OPU/ET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589520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Chọc hút, fresh hay freeze-all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mốc siêu âm phải trả lời một câu hỏi điều trị.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mục tiêu của theo dõi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251460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quả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Đủ số nang phát triển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ưu số noãn kỳ vọng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kích quá ít hoặc quá muộn</a:t>
            </a:r>
            <a:endParaRPr lang="en-US" sz="111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51460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1188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hoàng thể hóa sớm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noãn quá non hoặc quá già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nhắc tuổi và chất lượng noãn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514600" cy="3246120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toàn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diện high response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OHSS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freeze-all khi cần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 là trục chính, hormone là công cụ bổ sung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9476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và đo nang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phân bố kích thước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nội mạc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 chọc hút khó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khi nghi high response/OHSS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khi nghi surge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khi cân nhắc fresh vs freeze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routine cho mọi lần khám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quyết định cần đưa ra trong kích thích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tiếp tục liều hiện tại hay điều chỉnh?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cần bắt đầu antagonist chưa?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đang đồng bộ hay lệch pha?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đủ điều kiện trigger chưa?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 OHSS có làm đổi loại trigger không?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transfer còn phù hợp hay nên freeze-all?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UPDATE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điểm cập nhật chính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AMH/AFC hữu ích để dự đoán oocyte yield, nhưng không dự đoán tốt reproductive potential nếu tách khỏi tuổi.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protocol thường thuận tiện và an toàn hơn long agonist cho nhiều nhóm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không phải kích càng nhiều noãn càng tốt; số noãn rất cao đi kèm nguy cơ OHSS.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là công cụ cá thể hóa, không phải mặc định luôn tốt hơn fresh transfer.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trước kích thích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tốt giúp chọn đúng phác đồ, liều khởi đầu và chiến lược an toàn.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Ovarian reserve vs ovarian response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9476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Ovarian reserve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lượng noãn còn lại theo nghĩa tiềm năng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Ước lượng bằng AFC, AMH, FSH, tuổi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đồng nghĩa chất lượng noãn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Ovarian response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nang/noãn thực tế sau kích thích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ảnh hưởng bởi liều, protocol, tiền sử, kỹ thuật theo dõi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khác với dự đoán ban đầu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Ovarian reserve: đo số lượng tiềm năng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 và AMH là hai marker thực hành phổ biến nhất.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thấp thường gợi ý nguy cơ đáp ứng kém, nhưng không nói hết khả năng có thai.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cao gợi ý high response, cần nghĩ sớm đến OHSS prevention.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Tuổi vẫn là biến lớn nhất khi nói về chất lượng noãn và lệch bội.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Ovarian response: đáp ứng thật sau gonadotropin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bệnh nhân có reserve tương đối tốt vẫn có thể đáp ứng không như kỳ vọng.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nên được đọc bằng số nang đang phát triển, tốc độ lớn lên và phân bố kích thước.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 chu kỳ trước có giá trị mạnh trong cá thể hóa liều.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FOI/FORT là cách diễn đạt hiệu suất huy động nang thành noãn/nang trưởng thành.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dự trữ buồng trứng: đọc đúng vai trò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16459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618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148840" y="1188720"/>
            <a:ext cx="23317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3704" y="1261872"/>
            <a:ext cx="2221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 tốt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23317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261872"/>
            <a:ext cx="2221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suy ra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12280" y="1188720"/>
            <a:ext cx="182880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7144" y="1261872"/>
            <a:ext cx="17190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nhớ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02920" y="1517904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5819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48840" y="1517904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15819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nang có thể huy động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517904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5819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dự đoán trực tiếp live birth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517904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58191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siêu âm tốt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1947672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0116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48840" y="194767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3704" y="201168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Oocyte yield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194767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01168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thay tuổi để dự đoán chất lượng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947672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01168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Ổn định trong chu kỳ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377440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244144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48840" y="2377440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3704" y="244144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giảm khi tăng rõ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80560" y="2377440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244144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nhạy nếu đơn độc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2377440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4414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Hữu ích khi AMH/AFC thấp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2807208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287121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Tuổi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48840" y="2807208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03704" y="28712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noãn, lệch bội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80560" y="2807208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5424" y="28712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đếm số nang trực tiếp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2807208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87121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Biến tiên lượng lớn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236976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3009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nặng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48840" y="3236976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03704" y="330098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gonadotropin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80560" y="3236976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5424" y="330098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marker reserve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3236976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3300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Giúp định liều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3666744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373075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 đáp ứng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48840" y="3666744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03704" y="373075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thực tế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80560" y="3666744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35424" y="373075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áp cho chu kỳ đầu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12280" y="3666744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67144" y="37307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hữu ích nếu có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AFC: nang 2-9 mm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 là số nang thứ cấp đường kính khoảng 2-9 mm ở đầu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đoàn hệ nang đã được tuyển chọn và có thể đáp ứng với FSH trong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AFC nên đi cùng nhận xét độ đồng đều và khả năng tiếp cận buồng trứng.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 không chỉ là một con số; chất lượng hình ảnh và kinh nghiệm người đo rất quan trọng.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đếm AFC đúng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đầu dò âm đạo nếu có thể để tối ưu độ phân giải.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toàn bộ buồng trứng theo một chiều có hệ thống.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đếm lặp cùng một nang khi xoay đầu dò.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riêng hai buồng trứng nếu có bất đối xứng, dính, endometrioma hoặc khó tiếp cận.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số thường gặp khi đếm AFC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sót nang nhỏ khi buồng trứng nhiều nang hoặc hình ảnh kém.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lặp nang khi không giữ mặt cắt có hệ thống.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Nhầm nang tồn dư/cyst với nang thứ cấp.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ghi nhận buồng trứng xa đầu dò, làm người chọc hút bị bất ngờ.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không đồng đều: ý nghĩa thực hành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Đoàn hệ không đồng đều dễ dẫn đến nang trưởng thành xen lẫn noãn non hoặc thoái hóa.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theo dõi phân bố kích thước, không chỉ nang lớn nhất.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số chiến lược đồng bộ hóa có thể được cân nhắc tùy protocol và trung tâm.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lệch pha rõ, quyết định trigger phải cân bằng nhóm nang lớn và nhóm nang còn nhỏ.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Buồng trứng xa đầu dò: tại sao phải ghi nhận?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Gợi ý chọc hút noãn có thể khó hơn.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liên quan dính vùng chậu, endometriosis hoặc buồng trứng bị kéo cao.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ghi hướng tiếp cận, khoảng cách và nguy cơ mạch máu/ruột xen giữa nếu thấy.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này quan trọng ngang với số nang trong planning thủ thuật.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AMH: ưu điểm và giới hạn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 tương đối ổn định trong chu kỳ nên thuận tiện hơn FSH đầu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 phản ánh số nang nhỏ có hoạt tính tế bào hạt.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 cao trong PCOS có thể đi kèm high response và nguy cơ OHSS.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 thấp dự đoán ít noãn hơn nhưng không tự động đồng nghĩa không thể có thai.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đầu chu kỳ: khi nào còn hữu ích?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tăng rõ gợi ý giảm dự trữ buồng trứng.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dao động giữa các chu kỳ nên không nên diễn giải đơn độc.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đặc biệt hữu ích khi AMH/AFC thấp và cần củng cố tiên lượng poor response.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FSH cần đọc cùng E2 đầu chu kỳ vì E2 cao có thể che FSH.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Tuổi: yếu tố chất lượng noãn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Tuổi không đếm trực tiếp số nang nhưng dự đoán chất lượng noãn tốt hơn marker nội tiết.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35 tuổi, nguy cơ lệch bội tăng và live birth giảm dù số noãn có thể còn khá.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AMH/AFC tốt ở bệnh nhân lớn tuổi không xóa bỏ nguy cơ chất lượng noãn.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vấn nên tách rõ số noãn kỳ vọng và xác suất phôi nguyên bội/live birth.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so sánh marker: số lượng vs chất lượng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16459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618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148840" y="1188720"/>
            <a:ext cx="23317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3704" y="1261872"/>
            <a:ext cx="2221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 tốt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23317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261872"/>
            <a:ext cx="2221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suy ra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12280" y="1188720"/>
            <a:ext cx="182880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7144" y="1261872"/>
            <a:ext cx="17190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nhớ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02920" y="1517904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5819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48840" y="1517904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15819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tốt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517904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5819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noãn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517904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58191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người siêu âm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1947672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0116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48840" y="194767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3704" y="201168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tốt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194767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01168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birth độc lập với tuổi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947672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01168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ngày cố định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377440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244144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48840" y="2377440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3704" y="244144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bình khi tăng rõ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80560" y="2377440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244144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 tốt nếu bình thường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2377440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4414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dao động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2807208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287121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Tuổi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48840" y="2807208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03704" y="28712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trực tiếp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80560" y="2807208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5424" y="28712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tốt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2807208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87121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cần trong tư vấn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236976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3009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48840" y="3236976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03704" y="330098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Nhu cầu thuốc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80560" y="3236976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5424" y="330098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Chất lượng noãn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3236976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3300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Yếu tố định liều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3666744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373075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48840" y="3666744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03704" y="373075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chu kỳ sau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80560" y="3666744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35424" y="373075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ở chu kỳ đầu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12280" y="3666744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67144" y="37307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thực chiến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ultrasound checklist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 hai buồng trứng.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tồn dư hoặc cyst chức năng.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Endometrioma, u buồng trứng hoặc bất thường vùng chậu.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Tử cung: polyp, u xơ, vách ngăn, dịch lòng tử cung nếu thấy.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tiếp cận buồng trứng dự kiến cho chọc hút.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tồn dư trước chu kỳ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nang lớn trước khi bắt đầu FSH thì nghĩ gì?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vội kích thích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phân biệt nang chức năng, cyst tồn dư hoặc nang bệnh lý.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hormone nếu cần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E2/progesterone giúp biết nang có hoạt động hay không.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nhắc trì hoãn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ảnh hưởng đáp ứng hoặc làm sai baseline.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Chọc hút chọn lọc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cân nhắc khi nang lớn/tồn tại và có lý do rõ.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nang nào cũng cần chọc hút; quyết định dựa vào kích thước, kéo dài, hormone và kế hoạch chu kỳ.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Endometrioma trước kích thích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kích thước, bên, số lượng và quan hệ với đường chọc hút.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nhất thiết chọc hút/phẫu thuật nếu không ảnh hưởng tiếp cận noãn.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cân bằng nguy cơ giảm dự trữ sau can thiệp với nguy cơ nhiễm/khó chọc hút.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Tử cung ngả sau cố định và đau khi ấn gợi ý dính/endometriosis.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tử cung trước chu kỳ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xơ dưới niêm, polyp, vách ngăn hoặc dịch lòng tử cung có thể làm đổi kế hoạch chuyển phôi.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baseline không chỉ là buồng trứng mà còn là khả năng fresh transfer.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phát hiện bất thường có ý nghĩa, có thể kích thích thu phôi nhưng trì hoãn chuyển phôi.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nhận sớm giúp tránh quyết định vội vào ngày trigger.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lý nền của kích thích buồng trứng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Hiểu FSH/LH giúp đọc đúng vì sao protocol hoạt động.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đoàn hệ nang đến nang trội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chu kỳ có một đoàn hệ nang thứ cấp được tuyển chọn.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chu kỳ tự nhiên, chỉ một nang vượt trội; các nang còn lại thoái hóa.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thích buồng trứng cứu nhiều nang khỏi thoái hóa bằng FSH ngoại sinh.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siêu âm là cách nhìn thấy đoàn hệ này đang đáp ứng ra sao.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thích không làm cạn dự trữ buồng trứng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nang được kích thích là đoàn hệ đã được tuyển trong chu kỳ đó.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không kích thích, phần lớn nang trong đoàn hệ này cũng sẽ thoái hóa.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cần tư vấn: kích thích làm huy động nhiều nang của chu kỳ, không lấy mất nang của tương lai theo nghĩa đơn giản.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giảm theo tuổi và sinh học buồng trứng, không phải do một chu kỳ IVF làm cạn.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threshold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nang cần nồng độ FSH vượt một ngưỡng để tiếp tục phát triển.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Ngưỡng FSH khác nhau giữa các nang trong cùng đoàn hệ.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FSH không vượt ngưỡng, nang nhỏ sẽ thoái hóa.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ngoại sinh nhằm đưa nhiều nang vượt ngưỡng hơn nang tự nhiên.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window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cần vượt ngưỡng, FSH còn phải duy trì đủ lâu.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sổ FSH càng phù hợp, càng nhiều nang có cơ hội phát triển đồng bộ.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sổ quá ngắn làm mất nang; quá mạnh/quá dài ở high responder tăng nguy cơ OHSS.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 là lý do cần theo dõi và điều chỉnh theo đáp ứng thật.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nang có một ngưỡng FSH khác nhau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nhạy FSH sẽ phát triển trước và có thể vượt trội.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kém nhạy cần nồng độ FSH cao hơn hoặc thời gian dài hơn.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đoàn hệ không đồng bộ, chỉ nhìn nang lớn nhất dễ trigger quá sớm.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phân bố kích thước giúp biết cohort đang đồng bộ hay tách nhóm.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Two-cell two-gonadotropin theory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kích thích tế bào vỏ tạo androgen.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kích thích tế bào hạt thơm hóa androgen thành estrogen.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FSH và LH phối hợp để nang phát triển và sản xuất estrogen phù hợp.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Thiếu LH hoặc LH quá cao đều có thể làm giảm chất lượng phát triển nang.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LH trong phát triển nang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không chỉ là hormone cần chặn; LH sinh lý vẫn cần cho steroidogenesis.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trong IVF là đỉnh LH sớm gây hoàng thể hóa sớm hoặc rụng noãn trước chọc hút.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khác nhau chủ yếu ở cách kiểm soát LH surge.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đọc LH, cần đặt trong bối cảnh protocol đang dùng.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quá thấp và quá cao đều có vấn đề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9476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quá thấp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Steroidogenesis kém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có thể thấp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phát triển không tối ưu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quá cao/surge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Hoàng thể hóa sớm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tăng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 rụng trước chọc hút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hưởng kế hoạch fresh transfer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kiểm soát LH surge?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Đỉnh LH sớm có thể làm noãn trưởng thành lệch thời điểm.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gây hoàng thể hóa sớm và tăng progesterone.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làm giảm khả năng tiếp nhận nội mạc nếu chuyển tươi.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GnRH agonist dài, antagonist và PPOS là ba cách kiểm soát trục LH theo logic khác nhau.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Follicular waves và cơ sở random start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mọi nang chỉ được tuyển một lần duy nhất đầu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có nhiều làn sóng tuyển nang trong một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cơ sở của random start trong bảo tồn sinh sản hoặc tình huống cần rút ngắn thời gian.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 vậy random start không phải protocol routine cho mọi bệnh nhân IVF.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phác đồ kích thích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là cách phối hợp FSH và kiểm soát LH surge.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các phác đồ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251460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protocol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Flare-up protocol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Ức chế hoặc tận dụng flare ban đầu</a:t>
            </a:r>
            <a:endParaRPr lang="en-US" sz="111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51460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1188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hoặc flexible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Ngắn, thuận tiện, giảm OHSS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agonist trigger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514600" cy="3246120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stimulation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start / DuoStim chọn lọc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agonist protocol: logic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GnRH agonist từ pha hoàng thể để down-regulation tuyến yên.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tuyến yên bị ức chế, bắt đầu FSH ngoại sinh.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 agonist liều giảm để kiểm soát LH surge.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cohort khá đồng đều nhưng thời gian dài và dùng nhiều thuốc.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agonist protocol: ưu và nhược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9476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Ức chế LH mạnh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thường đồng đều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Từng là protocol chuẩn trong nhiều trung tâm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Nhược điểm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Dài ngày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Tốn gonadotropin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 OHSS cao hơn ở nhóm nguy cơ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agonist trigger vì tuyến yên đã bị ức chế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Flare-up protocol: logic và giới hạn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Tận dụng flare ban đầu của GnRH agonist để tăng FSH nội sinh.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phối hợp với FSH ngoại sinh.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FSH đi kèm tăng LH nên kiểm soát LH surge không tốt bằng antagonist.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Hiện ít dùng routine, có thể gặp trong nhóm lớn tuổi/giảm dự trữ tùy trung tâm.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protocol: vì sao hiện dùng nhiều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FSH đầu chu kỳ, thêm antagonist khi cần chặn LH surge.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ngắn hơn long agonist.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 OHSS hơn và thân thiện với bệnh nhân hơn trong nhiều bối cảnh.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GnRH agonist trigger khi nguy cơ OHSS cao.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fixed protocol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bắt đầu cố định ngày 5 hoặc 6 kích thích.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điểm là dễ vận hành, giảm nguy cơ quên/muộn antagonist.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dùng tốt khi logistics trung tâm đông hoặc bệnh nhân khó tái khám sát.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Nhược điểm là có thể dùng nhiều ngày antagonist hơn flexible.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flexible protocol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bắt đầu khi nang lớn nhất khoảng 14 mm hoặc theo tiêu chí trung tâm.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số ngày dùng antagonist ở một số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Đòi hỏi siêu âm đúng thời điểm, thường quanh ngày 6 kích thích.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tái khám muộn có nguy cơ bắt antagonist chậm.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vs flexible: bảng so sánh thực hành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9476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nhớ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chuẩn hóa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nguy cơ dùng muộn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nhiều ngày thuốc hơn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thể hóa hơn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ít ngày thuốc hơn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theo dõi sát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thuộc logistics và kinh nghiệm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stimulation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hợp thuốc uống với FSH liều thấp.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phù hợp một số bệnh nhân giảm dự trữ hoặc cần tối ưu chi phí/trải nghiệm.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hiểu là luôn tốt hơn conventional stimulation.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bằng mục tiêu thực tế: số noãn kỳ vọng, chi phí, thời gian và khả năng gom phôi.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PPOS: khi nào phù hợp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Progestin dùng từ đầu kích thích để ức chế LH surge.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Hữu ích khi dự kiến freeze-all ngay từ đầu.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phù hợp bảo tồn sinh sản, nguy cơ OHSS hoặc chiến lược đông phôi toàn bộ.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phù hợp nếu mục tiêu là chuyển phôi tươi cùng chu kỳ.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PPOS cần freeze-all?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Progestin làm nội mạc không đồng bộ với tuổi phôi.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của PPOS là kiểm soát LH surge, không phải chuẩn bị nội mạc chuyển tươi.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đó phôi nên được đông và chuyển ở chu kỳ khác.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này phải nói rõ trước chu kỳ để bệnh nhân không kỳ vọng fresh transfer.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start: chỉ định chọn lọc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 kích thích không nhất thiết ngày 2-3 nếu có lý do cần rút ngắn thời gian.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Hữu ích nhất trong bảo tồn sinh sản trước điều trị gonadotoxic.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dự kiến freeze-all vì nội mạc không đồng bộ.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lựa chọn routine cho mọi bệnh nhân IVF thông thường.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DuoStim: không phải routine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Kích thích hai lần trong cùng một chu kỳ để gom noãn nhanh.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cân nhắc ở poor prognosis/giảm dự trữ cần tối đa hóa số noãn trong thời gian ngắn.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hiểu đây là chiến lược chọn lọc, không phải chuẩn cho mọi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vấn phải rõ về chi phí, số lần chọc hút và kế hoạch đông phôi.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chọn phác đồ theo nhóm bệnh nhân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16459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" y="1261872"/>
            <a:ext cx="15361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2148840" y="1188720"/>
            <a:ext cx="23317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3704" y="1261872"/>
            <a:ext cx="2221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đoán tốt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80560" y="1188720"/>
            <a:ext cx="233172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261872"/>
            <a:ext cx="22219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suy ra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6812280" y="1188720"/>
            <a:ext cx="1828800" cy="329184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67144" y="1261872"/>
            <a:ext cx="17190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nhớ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02920" y="1517904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58191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 OHSS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48840" y="1517904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3704" y="15819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517904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58191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agonist routine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517904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58191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phép agonist trigger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1947672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01168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responder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148840" y="194767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03704" y="201168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thể hóa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80560" y="1947672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5424" y="2011680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liều vô hạn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12280" y="1947672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01168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tiền sử response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02920" y="2377440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244144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tồn sinh sản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48840" y="2377440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03704" y="244144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start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480560" y="2377440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244144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Chờ đúng ngày nếu gấp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2377440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441448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2920" y="2807208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287121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kiến freeze-all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48840" y="2807208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03704" y="28712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PPOS/antagonist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480560" y="2807208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35424" y="28712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 nếu muốn fresh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812280" y="2807208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67144" y="287121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vấn trước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" y="3236976"/>
            <a:ext cx="16459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" y="33009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khó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148840" y="3236976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03704" y="330098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antagonist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80560" y="3236976"/>
            <a:ext cx="233172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35424" y="3300984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quá sát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12280" y="3236976"/>
            <a:ext cx="1828800" cy="429768"/>
          </a:xfrm>
          <a:prstGeom prst="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3300984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lỗi vận hành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3666744"/>
            <a:ext cx="16459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373075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Endometriosis/dính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148840" y="3666744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03704" y="373075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thể hóa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480560" y="3666744"/>
            <a:ext cx="23317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35424" y="3730752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Bỏ qua đường chọc hút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12280" y="3666744"/>
            <a:ext cx="18288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67144" y="373075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access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bằng siêu âm trong kích thích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cá nhân cần đủ checklist để áp dụng khi đọc ca.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mỗi lần siêu âm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số nang đang phát triển và phân bố kích thước.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nang lớn nhất hai bên và nhóm nang gần trưởng thành.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nội mạc nếu thông tin này có thể đổi kế hoạch transfer.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dấu high response/OHSS và khả năng chọc hút khó.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phải dẫn đến một quyết định cụ thể.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mỗi lần khám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nang theo nhóm kích thước: nhỏ, trung bình, gần trưởng thành.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lớn nhất mỗi bên và tốc độ tăng so với lần trước.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dày/hình thái nội mạc.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nguy cơ OHSS: nhiều nang, buồng trứng lớn, dịch tự do nếu có.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 hoạch tiếp theo: liều, antagonist, ngày hẹn, dự kiến trigger.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nang: bờ trong đến bờ trong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kính nang nên đo từ bờ trong bên này đến bờ trong bên đối diện.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đo cả thành nang vì sẽ làm tăng giả kích thước.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đo mặt cắt lớn nhất của nang.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có nhiều nang, ưu tiên ghi có hệ thống để không bỏ sót nhóm gần trigger.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không tròn: lấy trung bình hai chiều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nang tròn đều, một đường kính có thể đủ trong thực hành.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nang bầu dục/không đều, đo hai đường kính lớn nhất và nhỏ nhất rồi lấy trung bình.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đo nhất quán giữa các lần khám quan trọng hơn cố tìm độ chính xác giả tạo.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méo trong buồng trứng nhiều nang dễ làm sai phân bố kích thước.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nang theo nhóm kích thước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ghi một nang lớn nhất.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nhóm: &lt;10 mm, 10-13 mm, 14-16 mm, 17-18 mm, &gt;18 mm nếu cần.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kích thước giúp dự đoán số noãn có khả năng thu được.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bố kích thước là nền cho quyết định trigger và OHSS prevention.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phát triển nang 1-2 mm/ngày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trung bình thường khoảng 1-2 mm/ngày.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nang lớn nhanh bất thường, kiểm tra lại đo lường và hormone khi cần.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nhiều nang đứng yên, nghĩ poor response hoặc liều chưa đủ, nhưng tăng liều muộn không luôn cải thiện kết quả.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tốc độ cần so với cùng nang/nhóm nang qua các lần khám.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6-7 kích thích: mốc thực hành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thường là thời điểm kiểm tra đáp ứng ban đầu.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flexible antagonist, mốc này đặc biệt quan trọng để không bắt antagonist muộn.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fixed antagonist, có thể ít phụ thuộc siêu âm sớm hơn nhưng vẫn cần đọc response.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hẹn tiếp theo phụ thuộc kích thước nang và tốc độ phát triển.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cần bắt antagonist trong flexible protocol?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lớn nhất đã khoảng 14 mm?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nên bắt đầu antagonist theo tiêu chí trung tâm.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theo dõi tiếp nếu LH surge risk thấp.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tái khám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nhắc an toàn logistics, tránh dùng muộn.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nghi tăng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hormone và quyết định nhanh.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tốt khi theo dõi sát; nếu logistics không chắc, fixed có thể an toàn vận hành hơn.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14-24 mm: vùng kỳ vọng noãn thu được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thực hành xem nhóm nang 14-24 mm là nhóm có khả năng đóng góp noãn tốt.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mọi nang trong khoảng này đều có noãn trưởng thành.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đọc cùng số nang nhỏ hơn còn có thể bắt kịp.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quá muộn có thể làm nhóm lớn quá già; quá sớm làm nhóm nhỏ non.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&gt;24 mm: nguy cơ giảm yield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quá lớn có thể không đồng nghĩa thêm noãn tốt.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nhiều nang đã quá lớn, cần cân nhắc không trì hoãn chỉ để chờ nhóm nhỏ.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chỉ một vài nang lớn vượt trội, phải đánh giá cohort còn lại.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điệp: trigger là cân bằng toàn cohort, không tối ưu một nang riêng lẻ.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Buồng trứng nhiều nang/PCOS: nguy cơ đếm sai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nang nhỏ làm tăng nguy cơ bỏ sót hoặc đếm lặp.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quét có hệ thống và chia nhóm kích thước.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cũng là nhóm cần cảnh giác OHSS từ sớm.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chỉ dựa vào E2 hoặc chỉ dựa vào một mặt cắt siêu âm.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siêu âm 3D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ultrasound có thể giúp lập bản đồ nang và giảm sai số trong buồng trứng nhiều nang.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nang có thể được hiển thị/đo bán tự động tùy máy.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là chi phí và không phải cơ sở nào cũng có.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thực hành thường quy, 2D có hệ thống vẫn là nền tảng.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Doppler không routine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Doppler không cần áp dụng cho tất cả bệnh nhân theo dõi kích thích.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hữu ích chọn lọc trong một số tình huống nghiên cứu hoặc đáp ứng kém.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kéo dài thời gian khám chỉ để có Doppler nếu kết quả không đổi quyết định.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thông tin quyết định: nang, nội mạc, OHSS, đường chọc hút.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tử cung: đo thế nào?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trên mặt cắt dọc tử cung ở vị trí dày nhất.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caliper tại ranh giới nội mạc-cơ tử cung, đo vuông góc với đường nội mạc.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độ dày bằng mm và hình thái.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nội mạc có ý nghĩa nhất khi gần quyết định trigger/chuyển phôi.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thái nội mạc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34440"/>
            <a:ext cx="251460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lá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ảnh 3 đường tăng âm và 2 vùng giảm âm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Thường được xem là thuận lợi hơn cho chuyển tươi</a:t>
            </a:r>
            <a:endParaRPr lang="en-US" sz="1110" dirty="0"/>
          </a:p>
        </p:txBody>
      </p:sp>
      <p:sp>
        <p:nvSpPr>
          <p:cNvPr id="7" name="Shape 5"/>
          <p:cNvSpPr/>
          <p:nvPr/>
        </p:nvSpPr>
        <p:spPr>
          <a:xfrm>
            <a:off x="3383280" y="1234440"/>
            <a:ext cx="251460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787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âm toàn bộ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61188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còn vùng giảm âm rõ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kém thuận lợi tùy thời điểm và bối cảnh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514600" cy="3246120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89888"/>
            <a:ext cx="2185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gian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1847088"/>
            <a:ext cx="207568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đường tăng âm nhưng phân lớp không rõ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đọc cùng hormone và ngày chu kỳ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nội mạc thật sự ảnh hưởng quyết định?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xấu vào giai đoạn trigger?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transfer còn hợp lý?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lại độ dày, hình thái, P4 và nguy cơ OHSS.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cân nhắc khi nội mạc không thuận lợi.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quá sớm kết luận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quá sớm ít giá trị hơn ngày trigger.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rõ lý do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freeze cần có lý do cụ thể.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quan trọng nhất khi nó làm đổi kế hoạch fresh transfer sang freeze-all.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tiết trong theo dõi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nên trả lời câu hỏi lâm sàng, không làm vì thói quen.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cần E2/LH/P4 mỗi lần không?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nhất thiết định lượng hormone trong mọi lần khám cho mọi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 vẫn là nền tảng theo dõi nang.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có giá trị khi nghi đáp ứng bất thường, OHSS, LH surge hoặc progesterone tăng sớm.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xét nghiệm nên có kế hoạch: kết quả sẽ đổi quyết định gì?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E2 hữu ích?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 high response hoặc OHSS.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nang nhỏ/PCOS và cần đánh giá nguy cơ toàn thân.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ứng siêu âm không tương xứng với triệu chứng hoặc nguy cơ.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E2 đơn độc không thay thế được đếm nang.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surge: khi nào cần nghi?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antagonist dùng muộn hoặc tái khám trễ.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lớn nhanh, bệnh nhân có dấu rụng noãn hoặc hormone bất thường.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tăng kèm LH thay đổi.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nghi surge, cần quyết định nhanh về antagonist/trigger/hủy hoặc rescue tùy trung tâm.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tăng sớm: ý nghĩa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tăng trước trigger có thể làm nội mạc lệch pha với phôi.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 động chính là quyết định fresh transfer hay freeze-all.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đọc cùng số nang, E2, ngày kích thích và kế hoạch chuyển phôi.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chỉ ghi P4 tăng mà không nêu hệ quả điều trị.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tối giản nhưng không mất an toàn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giảm số lần khám/xét nghiệm ở bệnh nhân nguy cơ thấp và đáp ứng điển hình.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xét nghiệm không có nghĩa giảm chất lượng theo dõi.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là có lịch siêu âm hợp lý và tiêu chí gọi bệnh nhân quay lại rõ.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high responder, PCOS, poor response hoặc logistics khó cần theo dõi cá thể hóa.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tắc thực hành cho hormone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xét nghiệm có thể đổi quyết định không?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làm, đặc biệt E2/LH/P4 trong tình huống nghi ngờ.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làm chỉ để có thêm số.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response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có thể hỗ trợ đánh giá OHSS.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transfer?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có thể đổi sang freeze-all.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Hormone là công cụ ra quyết định, không phải thủ tục bắt buộc ở mọi lần siêu âm.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và phòng OHSS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là quyết định an toàn, không chỉ là mũi tiêm cuối.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không chỉ dựa vào nang lớn nhất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xem toàn bộ phân bố kích thước nang.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nang lớn nhất chưa nói đủ số noãn trưởng thành kỳ vọng.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xem nguy cơ OHSS, loại trigger, kế hoạch fresh/freeze và giờ chọc hút.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là tối ưu cohort, không tối ưu một nang.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checklist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nang theo nhóm kích thước đã đủ chưa?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bao nhiêu nang nguy cơ đóng góp OHSS?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và progesterone có còn phù hợp fresh transfer không?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 kỳ antagonist có thể dùng agonist trigger nếu high risk không?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Giờ chọc hút 34-36 giờ sau trigger đã được lên lịch chưa?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chuẩn trigger trong bài gốc: cách hiểu thận trọng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gốc nêu các mốc như ít nhất 3 nang &gt;17 mm hoặc 2 nang &gt;18 mm và tỷ lệ nang &gt;14 mm.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tiêu chuẩn này thay đổi theo protocol và thực hành trung tâm.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áp máy móc nếu cohort lệch pha hoặc high response.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này dùng để nhớ logic, không thay protocol nội bộ.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hCG trigger: cơ chế và điểm mạnh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hCG gắn thụ thể LH/hCG và thay thế đỉnh LH để trưởng thành noãn.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dùng, quen thuộc, hiệu quả trong nhiều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dùng urinary hoặc recombinant hCG tùy thực hành.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 hợp khi nguy cơ OHSS không cao và kế hoạch hoàng thể/fresh transfer rõ.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hCG trigger: nguy cơ OHSS kéo dài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hCG có thời gian tác dụng hoàng thể hóa dài hơn LH sinh lý.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high responder, hCG trigger có thể kéo dài kích thích hoàng thể và tăng OHSS.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liều hCG không loại bỏ hoàn toàn nguy cơ.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nguy cơ OHSS cao trong antagonist cycle, nên nghĩ đến agonist trigger và freeze-all.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GnRH agonist trigger: cơ chế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flare effect của GnRH agonist tạo đỉnh LH nội sinh.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khả thi khi tuyến yên còn đáp ứng, điển hình trong antagonist cycle.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Đỉnh LH nội sinh ngắn hơn tác dụng hCG nên giảm nguy cơ OHSS sớm.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trong long agonist down-regulation vì tuyến yên đã bị ức chế.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agonist trigger giảm OHSS?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Đỉnh LH nội sinh ngắn và ít kéo dài hoàng thể hơn hCG.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kích thích VEGF và giảm nguy cơ OHSS ở high responder.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quả phòng OHSS mạnh nhất khi kết hợp freeze-all.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vẫn chuyển tươi, cần hỗ trợ hoàng thể rất cẩn thận theo protocol trung tâm.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agonist trigger gây suy hoàng thể?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Đỉnh LH ngắn làm hoàng thể kém được duy trì.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có thể không được hỗ trợ đủ nếu chuyển tươi.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đó high-risk agonist trigger thường đi cùng freeze-all.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này phải được giải thích trước để bệnh nhân hiểu vì sao không chuyển tươi.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không dùng agonist trigger?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phải chu kỳ antagonist và tuyến yên còn đáp ứng?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agonist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phù hợp vì tuyến yên bị ức chế.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dùng nếu high response/OHSS risk.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LH rất thấp/ức chế mạnh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cẩn thận nguy cơ trigger failure.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fresh transfer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có chiến lược luteal support rõ.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 trigger là công cụ an toàn mạnh, nhưng không phải dùng được trong mọi protocol.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failure: phải nhớ nguy cơ này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agonist trigger vẫn có thể thu được ít/noãn không như kỳ vọng.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 cơ tăng khi đáp ứng LH không đủ hoặc tuyến yên bị ức chế quá mạnh.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Trung tâm cần quy trình kiểm tra và rescue tùy protocol.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xem agonist trigger là hoàn toàn không có rủi ro.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trigger vs double trigger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794760" cy="3246120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trigger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hCG và GnRH agonist cùng thời điểm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phối hợp tín hiệu trưởng thành noãn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cân nhắc OHSS nếu có hCG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4800600" y="1234440"/>
            <a:ext cx="3794760" cy="3246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65192" y="138988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trigger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029200" y="1847088"/>
            <a:ext cx="3355848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GnRH agonist trước, hCG sau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trong một số tình huống đáp ứng kém/tiền sử noãn trưởng thành kém</a:t>
            </a:r>
            <a:endParaRPr lang="en-US" sz="1260" dirty="0"/>
          </a:p>
          <a:p>
            <a:pPr marL="152400" indent="-152400">
              <a:buSzPct val="100000"/>
              <a:buChar char="•"/>
            </a:pPr>
            <a:r>
              <a:rPr lang="en-US" sz="126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dùng routine nếu không có chỉ định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diện high response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AFC/AMH cao ngay từ baseline.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nang nhỏ tăng đồng loạt trong kích thích.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cao nếu được đo.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PCOS hoặc tiền sử OHSS.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Buồng trứng lớn, nhiều nang trung bình và gần trưởng thành.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lược giảm OHSS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antagonist protocol ở nhóm nguy cơ.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 thể hóa và giảm liều FSH khi dự kiến high response.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GnRH agonist trigger trong antagonist cycle khi nguy cơ cao.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khi nguy cơ OHSS hoặc nội mạc/hormone không phù hợp.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embryo transfer khi phù hợp để giảm nguy cơ liên quan thai kỳ.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+ agonist trigger + freeze-all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240280"/>
            <a:ext cx="7543800" cy="0"/>
          </a:xfrm>
          <a:prstGeom prst="line">
            <a:avLst/>
          </a:prstGeom>
          <a:noFill/>
          <a:ln w="25400">
            <a:solidFill>
              <a:srgbClr val="CFE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93392"/>
            <a:ext cx="475488" cy="475488"/>
          </a:xfrm>
          <a:prstGeom prst="round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AFC/AMH cao hoặc nhiều nang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30552" y="1993392"/>
            <a:ext cx="475488" cy="47548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30552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9384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1810512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antagonist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575304" y="1993392"/>
            <a:ext cx="475488" cy="475488"/>
          </a:xfrm>
          <a:prstGeom prst="round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75304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74136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3255264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nang và E2 nếu cần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5020056" y="1993392"/>
            <a:ext cx="475488" cy="47548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0056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18888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700016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GnRH agonist trigger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464808" y="1993392"/>
            <a:ext cx="475488" cy="475488"/>
          </a:xfrm>
          <a:prstGeom prst="round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Embryo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144768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Đông phôi toàn bộ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7909560" y="1993392"/>
            <a:ext cx="475488" cy="47548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1122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08392" y="138988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7589520" y="2670048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phôi chu kỳ sau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31520" y="39776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trục an toàn quan trọng ở bệnh nhân high response.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tăng liều vô hạn ở poor responder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người dự kiến đáp ứng kém, tăng liều rất cao thường không đảm bảo tăng noãn tương xứng.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xem tuổi, AMH/AFC, tiền sử response và số nang thực sự phát triển.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là chiến lược hợp lý, không phải đuổi theo con số liều.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nhiều chu kỳ gom noãn, cần tư vấn kỳ vọng và chi phí.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số noãn: không phải càng nhiều càng tốt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Nghiên cứu lớn ghi nhận live birth tăng theo số noãn đến khoảng 15 noãn.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đó hiệu quả plateau khoảng 15-20 và giảm khi số noãn rất cao.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noãn cao đi kèm nguy cơ OHSS và gánh nặng điều trị.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thực hành là tối ưu hiệu quả đi kèm an toàn.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4315968"/>
            <a:ext cx="8001000" cy="292608"/>
          </a:xfrm>
          <a:prstGeom prst="roundRect">
            <a:avLst/>
          </a:prstGeom>
          <a:solidFill>
            <a:srgbClr val="DDF3EE"/>
          </a:solidFill>
          <a:ln w="12700">
            <a:solidFill>
              <a:srgbClr val="DDF3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370832"/>
            <a:ext cx="7635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 21558332: số noãn tối ưu là khái niệm cân bằng, không phải càng nhiều càng tốt.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965960" cy="514350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41732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423160" y="144475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và quyết định nhanh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2450592" y="2395728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D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là chiến lược cá thể hóa, không phải khẩu hiệu.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Freeze-all: đúng chỉ định, không phải mặc định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Vitrification giúp freeze-all trở thành chiến lược khả thi và an toàn hơn trước.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 nhiên freeze-all không nên hiểu là luôn tốt hơn fresh transfer cho mọi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dựa trên OHSS risk, progesterone, nội mạc, protocol và mục tiêu điều trị.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quyết định freeze-all, nên ghi rõ lý do trong hồ sơ.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khi nguy cơ OHSS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response là chỉ định kinh điển để tránh làm nặng OHSS sau chuyển phôi/thai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biệt hợp lý sau agonist trigger trong antagonist cycle.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Giúp tách nguy cơ kích thích buồng trứng khỏi thai kỳ sớm.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 tư vấn bệnh nhân trước trigger nếu nguy cơ đang tăng.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khi progesterone tăng sớm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tăng sớm có thể làm lệch pha nội mạc.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Noãn/phôi có thể vẫn tốt nhưng cửa sổ làm tổ không tối ưu cho fresh transfer.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giúp chuyển phôi ở chu kỳ nội mạc được chuẩn bị phù hợp hơn.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bỏ qua P4 nếu đang cân nhắc fresh transfer trong ca nguy cơ.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trong PPOS/random start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 dùng progestin nên nội mạc không phù hợp chuyển tươi.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start thường không đồng bộ với nội mạc.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của hai chiến lược này là gom noãn/phôi, không phải fresh transfer cùng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vấn trước giúp tránh hiểu nhầm khi bệnh nhân hỏi vì sao chưa chuyển phôi.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sau agonist trigger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 trigger làm giảm OHSS nhưng gây suy hoàng thể tương đối.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tránh phụ thuộc vào nội mạc/hoàng thể của chu kỳ đó.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phối hợp đặc biệt quan trọng ở high responder.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chuyển tươi sau agonist trigger, cần protocol hỗ trợ hoàng thể chuyên biệt.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khi nội mạc không thuận lợi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quá mỏng, hình thái kém hoặc không đồng bộ có thể làm giảm cơ hội làm tổ.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Progesterone tăng sớm củng cố quyết định freeze-all.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mọi nội mạc không đẹp ở ngày sớm đều cần freeze; thời điểm đánh giá quan trọng.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đã freeze-all, chuyển phôi ở chu kỳ được tối ưu nội mạc.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table: đáp ứng thấp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 nang phát triển hơn kỳ vọng?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tra lại baseline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Tuổi, AMH, AFC, FSH, tiền sử response.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nang thật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nang nhỏ bị bỏ sót không?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Liều rất cao?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chắc tăng thêm sẽ có ích.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vấn mục tiêu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thể cần gom noãn hoặc đổi chiến lược.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response cần tư vấn kỳ vọng, không chỉ phản xạ tăng liều.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table: đáp ứng cao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nang và nguy cơ OHSS?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nguy cơ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liều, antagonist, lịch theo dõi.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nếu cần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đánh giá nguy cơ toàn thân.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 trigger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antagonist cycle và phù hợp.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Nên nghĩ sớm, không đợi sát chuyển phôi.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response phải được xử lý trước trigger, không phải sau khi đã quá kích.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table: progesterone/nội mạc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transfer còn phù hợp?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tăng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Nghĩ lệch pha nội mạc.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kém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nhắc freeze-all.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OHSS risk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Freeze-all thường hợp lý hơn.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nguy cơ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vẫn có thể phù hợp tùy ca.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vs freeze là quyết định cá thể hóa dựa trên cả noãn, hormone, nội mạc và an toàn.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table: nghi chọc hút khó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Buồng trứng xa đầu dò hoặc dính?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85800" y="184708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vị trí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85039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Bên nào, khoảng cách, hướng tiếp cận.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4663440" y="1847088"/>
            <a:ext cx="3611880" cy="749808"/>
          </a:xfrm>
          <a:prstGeom prst="roundRect">
            <a:avLst/>
          </a:prstGeom>
          <a:solidFill>
            <a:srgbClr val="FFF4DE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568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vật cản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4828032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Ruột, mạch máu, tử cung, endometrioma.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898648"/>
            <a:ext cx="3611880" cy="749808"/>
          </a:xfrm>
          <a:prstGeom prst="roundRect">
            <a:avLst/>
          </a:prstGeom>
          <a:solidFill>
            <a:srgbClr val="ECF7F5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trước ekip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85039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thủ thuật và tư vấn nguy cơ.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663440" y="2898648"/>
            <a:ext cx="3611880" cy="7498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00837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C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bỏ qua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4828032" y="32369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khó có thể quan trọng hơn số nang.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1280160" y="4133088"/>
            <a:ext cx="6583680" cy="338328"/>
          </a:xfrm>
          <a:prstGeom prst="roundRect">
            <a:avLst/>
          </a:prstGeom>
          <a:solidFill>
            <a:srgbClr val="17313A"/>
          </a:solidFill>
          <a:ln w="12700">
            <a:solidFill>
              <a:srgbClr val="1731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81328" y="4197096"/>
            <a:ext cx="6181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Siêu âm theo dõi phải phục vụ cả quyết định chọc hút, không chỉ trigger.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1: reserve khác response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AFC/AMH cho biết số lượng tiềm năng, không thay thế tuổi khi tư vấn chất lượng noãn.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thật phải đọc bằng số nang đang phát triển và tiền sử chu kỳ.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nên hứa live birth chỉ từ AMH/AFC tốt.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rõ số noãn kỳ vọng và tiên lượng phôi/live birth.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2: siêu âm cần ghi theo checklist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nang theo nhóm kích thước.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Nang lớn nhất hai bên và tốc độ phát triển.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mạc nếu liên quan fresh/freeze.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OHSS risk và đường chọc hút.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 quản lý cho lần khám tiếp theo.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3: antagonist giúp an toàn và linh hoạt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protocol ngắn và thuận tiện cho nhiều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dễ vận hành, flexible cá thể hóa hơn nhưng cần theo dõi sát.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Antagonist mở đường cho GnRH agonist trigger nếu nguy cơ OHSS cao.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agonist vẫn có vai trò chọn lọc nhưng không nên là mặc định cho mọi ca.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4: trigger là quyết định an toàn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chỉ nhìn một nang lớn nhất.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đọc toàn cohort, OHSS risk, nội mạc, progesterone và kế hoạch transfer.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hCG trigger hiệu quả nhưng làm OHSS kéo dài hơn ở high responder.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Agonist trigger giảm OHSS trong antagonist cycle nhưng cần chú ý suy hoàng thể/freeze-all.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5: freeze-all là công cụ cá thể hóa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001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99616"/>
            <a:ext cx="745236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Rất hợp lý khi OHSS risk, P4 tăng, PPOS, random start, agonist trigger hoặc nội mạc không thuận lợi.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mặc định freeze-all tốt hơn fresh cho mọi bệnh nhân.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Quyết định tốt là quyết định có lý do rõ và được tư vấn trước.</a:t>
            </a:r>
            <a:endParaRPr lang="en-US" sz="1440" dirty="0"/>
          </a:p>
          <a:p>
            <a:pPr marL="152400" indent="-152400">
              <a:buSzPct val="100000"/>
              <a:buChar char="•"/>
            </a:pPr>
            <a:r>
              <a:rPr lang="en-US" sz="144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cuối cùng là hiệu quả đi cùng an toàn.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11480" y="468172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60" dirty="0">
                <a:solidFill>
                  <a:srgbClr val="6F87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bản soạn siêu âm theo dõi KTBT, PMID 32395637; 41732035; 33280722; 21558332; 26597569</a:t>
            </a:r>
            <a:endParaRPr lang="en-US" sz="66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7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97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liệu tham khảo đã verify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32688"/>
            <a:ext cx="502920" cy="45720"/>
          </a:xfrm>
          <a:prstGeom prst="rect">
            <a:avLst/>
          </a:prstGeom>
          <a:solidFill>
            <a:srgbClr val="00977A"/>
          </a:solidFill>
          <a:ln w="12700">
            <a:solidFill>
              <a:srgbClr val="00977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70432"/>
            <a:ext cx="7772400" cy="384048"/>
          </a:xfrm>
          <a:prstGeom prst="round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80160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ESHRE guideline: ovarian stimulation for IVF/ICSI. PMID: 32395637.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7772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01368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ESHRE guideline: ovarian stimulation for IVF/ICSI: an update in 2025. PMID: 41732035.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685800" y="2212848"/>
            <a:ext cx="7772400" cy="384048"/>
          </a:xfrm>
          <a:prstGeom prst="round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22576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Testing and interpreting measures of ovarian reserve: a committee opinion. PMID: 33280722.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85800" y="2734056"/>
            <a:ext cx="7772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43784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Association between the number of eggs and live birth in IVF treatment. PMID: 21558332.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85800" y="3255264"/>
            <a:ext cx="7772400" cy="384048"/>
          </a:xfrm>
          <a:prstGeom prst="roundRect">
            <a:avLst/>
          </a:prstGeom>
          <a:solidFill>
            <a:srgbClr val="F6FBFA"/>
          </a:solidFill>
          <a:ln w="12700">
            <a:solidFill>
              <a:srgbClr val="CFE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64992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243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Consensus statement on prevention and detection of ovarian hyperstimulation syndrome. PMID: 26597569.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111</Slides>
  <Notes>111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111</vt:i4>
      </vt:variant>
    </vt:vector>
  </HeadingPairs>
  <TitlesOfParts>
    <vt:vector size="1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</vt:vector>
  </TitlesOfParts>
  <Company>mavisresearch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Siêu âm theo dõi quá trình kích thích buồng trứng</dc:title>
  <dc:subject>Siêu âm theo dõi kích thích buồng trứng</dc:subject>
  <dc:creator>Bác sĩ Ngọc Hưng</dc:creator>
  <cp:lastModifiedBy>Bác sĩ Ngọc Hưng</cp:lastModifiedBy>
  <cp:revision>1</cp:revision>
  <dcterms:created xsi:type="dcterms:W3CDTF">2026-07-03T17:09:00Z</dcterms:created>
  <dcterms:modified xsi:type="dcterms:W3CDTF">2026-07-03T17:09:00Z</dcterms:modified>
</cp:coreProperties>
</file>