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52" r:id="rId95"/>
    <p:sldId id="353" r:id="rId96"/>
    <p:sldId id="354" r:id="rId97"/>
    <p:sldId id="355" r:id="rId98"/>
    <p:sldId id="356" r:id="rId99"/>
    <p:sldId id="357" r:id="rId100"/>
    <p:sldId id="358" r:id="rId101"/>
    <p:sldId id="359" r:id="rId102"/>
    <p:sldId id="360" r:id="rId103"/>
    <p:sldId id="361" r:id="rId104"/>
    <p:sldId id="362" r:id="rId105"/>
    <p:sldId id="363" r:id="rId106"/>
    <p:sldId id="364" r:id="rId107"/>
    <p:sldId id="365" r:id="rId108"/>
    <p:sldId id="371" r:id="rId10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55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64008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5236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4672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4108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23544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82980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42416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5236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4108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23544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82980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42416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5236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64108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3544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82980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42416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5236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4108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3544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82980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42416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45236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4672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64108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3544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82980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42416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5120" y="822960"/>
            <a:ext cx="166420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ART / IVF-ICSI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1371600"/>
            <a:ext cx="5577840" cy="2560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Siêu âm theo dõi quá trình kích thích buồng trứng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023360"/>
            <a:ext cx="128016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ĐẠI CƯƠNG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Siêu âm theo dõi quá trình kích thích buồng trứng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Đại cương — tầm quan trọng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Kích thích buồng trứng là một bước rất quan trọng trong hỗ trợ sinh sản.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Đánh giá dự trữ buồng trứng trước KTBT giúp TIÊN LƯỢNG và ĐỊNH LIỀU FSH khởi đầu.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Liều quá thấp → nang thoái hóa.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Liều quá cao → nguy cơ quá kích buồng trứng + tăng chi phí.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Vai trò theo dõi trong KTBT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Theo dõi sự phát triển nang noãn để kịp thời điều chỉnh liều.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Bổ sung antagonist đúng thời điểm.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Quyết định thời gian trưởng thành noãn (trigger).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Phát hiện sớm nguy cơ quá kích buồng trứng để điều chỉnh kịp thời.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Cập nhật: ASRM về ovarian reserve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ASRM định nghĩa ovarian reserve là SỐ LƯỢNG NOÃN CÒN LẠI.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AMH và AFC hữu ích để dự đoán oocyte yield sau controlled ovarian stimulation.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Nhưng là POOR PREDICTORS của reproductive potential nếu tách khỏi yếu tố TUỔI.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PMID: 33280722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Cập nhật: ESHRE 2020 → 2025/2026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ESHRE 2020: 84 khuyến cáo cho chọn phác đồ, liều, theo dõi, trigger, phòng OHSS.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ESHRE update 2025/2026: mở rộng thành 121 khuyến cáo.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Nhấn mạnh CÁ THỂ HÓA theo đáp ứng dự kiến, hiệu quả và an toàn.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PMID: 32395637; 41732035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Dự trữ buồng trứng &amp; đáp ứng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Ovarian reserve ≠ Ovarian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Khái niệm dự trữ buồng trứng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Trước KTBT, phải đánh giá dự trữ buồng trứng (ovarian reserve).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Mục tiêu: tiên lượng khả năng thu được noãn sau KTBT và định liều FSH khởi đầu.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Các marker: tuổi, FSH đầu chu kỳ, AFC, AMH, trọng lượng, tiền sử.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4 marker dự trữ buồng trứng chính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1) Tuổi: càng tăng thì dự trữ càng giảm.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2) FSH đầu chu kỳ: nếu trên 10 IU/L thì dự trữ giảm.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3) AFC: đếm số nang thứ cấp trên siêu âm.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4) AMH: Anti-Mullerian Hormone.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Hiện nay AFC và AMH là hai chỉ số được sử dụng nhiều nhất.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Ovarian response — đáp ứng buồng trứng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Không phải bệnh nhân nào có dự trữ tốt cũng đáp ứng tốt.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Ovarian response là KHẢ NĂNG PHÁT TRIỂN nang noãn khi KTBT.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FOI (follicle-oocyte-index): số noãn chọc hút / số nang thứ cấp.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FORT (Follicular Output Rate): số nang trưởng thành / số nang thứ cấp.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Dự trữ vs Đáp ứng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900" b="1" i="0">
                <a:solidFill>
                  <a:srgbClr val="00977A"/>
                </a:solidFill>
                <a:latin typeface="Arial"/>
              </a:rPr>
              <a:t>Ovarian reserve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Số lượng noãn tiềm năng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AMH/AFC dự đoán oocyte yield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Không phản ánh chất lượng noãn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900" b="1" i="0">
                <a:solidFill>
                  <a:srgbClr val="E53E3E"/>
                </a:solidFill>
                <a:latin typeface="Arial"/>
              </a:rPr>
              <a:t>Ovarian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Số nang/noãn THỰC TẾ sau KTBT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Phụ thuộc liều, protocol, tiền sử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Có thể khác dự đoán ban đầu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Cập nhật: Reserve ≠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Reserve là số lượng tiềm năng; response là số nang/noãn THỰC SỰ thu được.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AMH/AFC thấp thường nguy cơ đáp ứng kém.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TUỔI vẫn là yếu tố lớn nhất chi phối chất lượng noãn và tiên lượng sinh sống.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Bảng cập nhật — Marker dự trữ buồng trứng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00200"/>
          <a:ext cx="114300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Marker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Dự đoán tốt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Hạn chế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Ghi nhớ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F2F"/>
                          </a:solidFill>
                          <a:latin typeface="Arial"/>
                        </a:rPr>
                        <a:t>AMH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F2F"/>
                          </a:solidFill>
                          <a:latin typeface="Arial"/>
                        </a:rPr>
                        <a:t>Oocyte yield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F2F"/>
                          </a:solidFill>
                          <a:latin typeface="Arial"/>
                        </a:rPr>
                        <a:t>Không thay tuổi để dự đoán chất lượng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F2F"/>
                          </a:solidFill>
                          <a:latin typeface="Arial"/>
                        </a:rPr>
                        <a:t>Ổn định → lấy bất kỳ ngày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F2F"/>
                          </a:solidFill>
                          <a:latin typeface="Arial"/>
                        </a:rPr>
                        <a:t>AFC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F2F"/>
                          </a:solidFill>
                          <a:latin typeface="Arial"/>
                        </a:rPr>
                        <a:t>Số nang huy động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F2F"/>
                          </a:solidFill>
                          <a:latin typeface="Arial"/>
                        </a:rPr>
                        <a:t>Phụ thuộc người siêu âm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F2F"/>
                          </a:solidFill>
                          <a:latin typeface="Arial"/>
                        </a:rPr>
                        <a:t>Cần siêu âm tốt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F2F"/>
                          </a:solidFill>
                          <a:latin typeface="Arial"/>
                        </a:rPr>
                        <a:t>FSH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F2F"/>
                          </a:solidFill>
                          <a:latin typeface="Arial"/>
                        </a:rPr>
                        <a:t>Reserve giảm khi tăng rõ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F2F"/>
                          </a:solidFill>
                          <a:latin typeface="Arial"/>
                        </a:rPr>
                        <a:t>Dao động giữa các chu kỳ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F2F"/>
                          </a:solidFill>
                          <a:latin typeface="Arial"/>
                        </a:rPr>
                        <a:t>Hữu ích khi AMH/AFC thấp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F2F"/>
                          </a:solidFill>
                          <a:latin typeface="Arial"/>
                        </a:rPr>
                        <a:t>Tuổi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F2F"/>
                          </a:solidFill>
                          <a:latin typeface="Arial"/>
                        </a:rPr>
                        <a:t>Chất lượng noãn &amp; lệch bội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F2F"/>
                          </a:solidFill>
                          <a:latin typeface="Arial"/>
                        </a:rPr>
                        <a:t>Không đo số nang trực tiếp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F2F"/>
                          </a:solidFill>
                          <a:latin typeface="Arial"/>
                        </a:rPr>
                        <a:t>Biến tiên lượng lớn nhất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II.1.1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Đếm số nang thứ cấp (AFC)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AFC — Định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Nang thứ cấp: các nang có kích thước từ 2 đến 9 mm.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Đo và đếm vào ngày đầu chu kỳ kinh.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Đây là đoàn hệ nang đã được tuyển chọn từ trước, sẽ phát triển trong chu kỳ này và phụ thuộc FSH.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AFC được dùng để tiên lượng dự trữ buồng trứng và định liều FSH khởi đầu.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AFC — Đánh giá độ đồng đều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Trong siêu âm, cần đánh giá sự ĐỒNG ĐỀU của các nang.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Nang không đồng đều → phát triển không đều → có nang trưởng thành xen lẫn noãn thoái hóa và noãn non.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Một số tác giả chủ trương ĐỒNG BỘ HÓA bằng estrogen trong pha hoàng thể trước KTBT.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Mục tiêu: tăng số noãn, tăng số phôi.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AFC — Tiếp cận đầu dò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Đánh giá tiếp cận của đầu dò đến buồng trứng.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Buồng trứng xa đầu dò → KHÓ KHĂN khi chọc hút noãn.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Nguyên nhân có thể do VIÊM DÍNH, buồng trứng bị kéo cao.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Ảnh hưởng tới tưới máu buồng trứng → gián tiếp ảnh hưởng đáp ứng.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II.1.2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Nồng độ AMH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AMH — Bản chất và nguồn gốc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AMH là hormon kháng ống Muller.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Được bài tiết bởi các TẾ BÀO HẠT của nang noãn nhỏ và nang có hốc.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Tác dụng: ƯC CHẾ tuyển chọn nang noãn.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AMH giảm dần theo độ tuổi của người phụ nữ.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AMH — Diễn giải lâm sàng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PCOS: AMH CAO → nang không phát triển và trưởng thành được.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Giảm dự trữ buồng trứng: AMH rất thấp (số nang dự trữ còn lại ít).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Ưu điểm: nồng độ KHÔNG thay đổi trong chu kỳ → lấy bất kỳ ngày nào.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Chính xác và thuận tiện hơn so với FSH.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II.1.3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Các chỉ số khác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Tuổi, FSH, mục tiêu số noãn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Tuổi — Yếu tố quan trọng nhất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Tuổi phản ánh một phần dự trữ buồng trứng nhưng không phải hoàn toàn.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Càng lớn tuổi thì dự trữ càng giảm.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Từ 35 tuổi trở lên: dự trữ giảm + tỷ lệ BẤT THƯỜNG NHIỄM SẮC THỂ TĂNG.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Hệ quả: tỷ lệ có thai THẤP.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FSH đầu chu kỳ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FSH là hormon hướng sinh dục do tuyến yên bài tiết.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Khi dự trữ buồng trứng giảm → FSH càng tăng cao.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FSH &gt; 10 IU/L → dự trữ buồng trứng giảm rất nhiều, KTBT thường đáp ứng kém.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Hiện FSH chủ yếu được xem xét khi AFC và AMH thấp.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FSH cao ở bệnh nhân đã giảm dự trữ → tiên lượng KÉM hơn FSH bình thường.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Mục tiêu số noãn — nghiên cứu của Sunkara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Mục đích KTBT trong IVF: đủ nang, chất lượng tốt, an toàn.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Nghiên cứu Sunkara (HFEA): phân tích 400.135 chu kỳ IVF.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Live birth rate TĂNG theo số noãn thu được đến khoảng 15 noãn.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Sau 15-20 noãn: PLATEAU, không tăng thêm.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Số noãn rất cao → LIVE BIRTH RATE GIẢM + tăng tỷ lệ OHSS.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000" b="1" i="0">
                <a:solidFill>
                  <a:srgbClr val="0D2B2B"/>
                </a:solidFill>
                <a:latin typeface="Arial"/>
              </a:rPr>
              <a:t>Cập nhật: Mục tiêu không phải càng nhiều càng tốt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140807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Mục tiêu thực hành là TỐI ƯU số noãn đi kèm AN TOÀN.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Không phải kích càng nhiều càng tốt.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Số noãn rất cao → nguy cơ OHSS, không cải thiện live birth thêm.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Cơ sở lý thuyết của phác đồ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FSH threshold – FSH window – LH control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Ba khái niệm cần phân biệt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Ovarian stimulation: dùng thuốc kích thích nang phát triển (thường cho IUI).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COH (Controlled Ovarian Hyperstimulation): dùng thuốc + KIỂM SOÁT LH → tránh hoàng thể sớm (thường cho IVF).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Ovulation induction (trigger): kích thích nang vỡ, giải phóng noãn, giúp noãn MI → MII để thụ tinh.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Giả thuyết hai hormon, hai tế bào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25831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2583180" cy="4572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25831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240030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 i="0">
                <a:solidFill>
                  <a:srgbClr val="0D2B2B"/>
                </a:solidFill>
                <a:latin typeface="Arial"/>
              </a:rPr>
              <a:t>LH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7228" y="3291840"/>
            <a:ext cx="329184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00977A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4700" y="2194560"/>
            <a:ext cx="25831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14700" y="2194560"/>
            <a:ext cx="2583180" cy="4572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4700" y="2194560"/>
            <a:ext cx="25831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6140" y="2743200"/>
            <a:ext cx="240030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 i="0">
                <a:solidFill>
                  <a:srgbClr val="0D2B2B"/>
                </a:solidFill>
                <a:latin typeface="Arial"/>
              </a:rPr>
              <a:t>Androgen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6168" y="3291840"/>
            <a:ext cx="329184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00977A"/>
                </a:solidFill>
                <a:latin typeface="Arial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25831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2583180" cy="4572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2194560"/>
            <a:ext cx="25831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43200"/>
            <a:ext cx="240030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 i="0">
                <a:solidFill>
                  <a:srgbClr val="0D2B2B"/>
                </a:solidFill>
                <a:latin typeface="Arial"/>
              </a:rPr>
              <a:t>FSH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5108" y="3291840"/>
            <a:ext cx="329184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00977A"/>
                </a:solidFill>
                <a:latin typeface="Arial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12580" y="2194560"/>
            <a:ext cx="25831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12580" y="2194560"/>
            <a:ext cx="25831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2580" y="2194560"/>
            <a:ext cx="25831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4020" y="2743200"/>
            <a:ext cx="240030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 i="0">
                <a:solidFill>
                  <a:srgbClr val="0D2B2B"/>
                </a:solidFill>
                <a:latin typeface="Arial"/>
              </a:rPr>
              <a:t>Kết quả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Định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430000" cy="14630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1463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FSH 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1064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00977A"/>
                </a:solidFill>
                <a:latin typeface="Arial"/>
              </a:rPr>
              <a:t>ĐỊNH NGHĨA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1106424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1064240" cy="2468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 i="0">
                <a:solidFill>
                  <a:srgbClr val="1A2F2F"/>
                </a:solidFill>
                <a:latin typeface="Arial"/>
              </a:rPr>
              <a:t>Giá trị nồng độ FSH mà trên giá trị này nang noãn sẽ phát triển. MỖI NANG CÓ MỘT NGƯỠNG KHÁC NHAU.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Định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430000" cy="14630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1463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FSH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1064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00977A"/>
                </a:solidFill>
                <a:latin typeface="Arial"/>
              </a:rPr>
              <a:t>ĐỊNH NGHĨA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1106424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1064240" cy="2468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 i="0">
                <a:solidFill>
                  <a:srgbClr val="1A2F2F"/>
                </a:solidFill>
                <a:latin typeface="Arial"/>
              </a:rPr>
              <a:t>Khoảng thời gian nồng độ FSH nằm trên ngưỡng. Phải đủ lâu để nhiều nang cùng phát triển.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Ngưỡng LH và cửa sổ LH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Theo Howles: có một ‘cửa sổ’ nồng độ LH.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LH nằm trong cửa sổ → nang phát triển bình thường.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LH vượt quá ngưỡng → nang thoái hóa hoặc hoàng thể hóa sớm.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LH dưới ngưỡng → nang không phát triển được.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Cơ sở lý thuyết của phác đồ KTBT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Nâng FSH lên trên ngưỡng + kéo dài FSH window → nhiều nang cùng phát triển.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Tránh hoàng thể hóa sớm → KIỂM SOÁT ĐỈNH LH.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Tăng FSH: dùng FSH NGOẠI SINH; liều tùy bệnh nhân.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Kiểm soát LH: GnRH agonist (phác đồ dài), GnRH antagonist (ngày 5-6), hoặc progestin (PPOS).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Cập nhật: Antagonist được ưu tiên hơn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Hiện nay phác đồ antagonist thường được ưu tiên ở nhiều nhóm bệnh nhân.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Lý do: thời gian NGẮN hơn, THUẬN TIỆN hơn, cho phép GnRH agonist trigger khi nguy cơ OHSS cao.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Phác đồ dài vẫn có vai trò chọn lọc nhưng KHÔNG còn là lựa chọn MẶC ĐỊNH cho mọi bệnh nhân IVF.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Kích thích buồng trứng KHÔNG làm giảm dự trữ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KTBT chỉ làm TRÁNH THOÁI HÓA các nang lẽ ra sẽ bị thoái hóa.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KTBT KHÔNG làm giảm dự trữ buồng trứng.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Điểm cần tư vấn cho bệnh nhân: KTBT huy động nang của chu kỳ đó, không lấy nang của tương lai.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Follicular waves — nhiều đợt tuyển chọn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Đầu chu kỳ: 1 đoàn hệ nang được tuyển chọn → 1-2 nang vượt trội (thuyết tuyển chọn đơn).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Hiện đã có bằng chứng: trong 1 chu kỳ có NHIỀU LÀN SÓNG tuyển chọn nang.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Đa số phụ nữ có HAI đợt: đợt 1 đầu pha nang, đợt 2 đầu pha hoàng thể.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Đây là cơ sở cho: DuoStim (KTBT kép) và Random start.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DuoStim và Random start — chỉ định chọn lọc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DuoStim: khuyến cáo cho giảm dự trữ buồng trứng nặng.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Random start: áp dụng khi cần bảo tồn sinh sản (hóa chất/tia xạ) → chạy đua thời gian.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HIỆN TẠI: dữ liệu về DuoStim và random start CHỈ khuyến cáo cho các tình huống chọn lọc.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KHÔNG phải phác đồ routine cho mọi bệnh nhân.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Các phác đồ kích thích buồng trứng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Agonist (dài / flare-up) — Antagonist — Các phác đồ khác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Hai loại phác đồ chính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1) Phác đồ AGONIST: từng phổ biến, gồm phác đồ ngắn (flare up) và phác đồ dài (long protocol).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Flare up: lợi dụng tác dụng flare up của agonist → tăng FSH nội sinh + FSH ngoại sinh → KTBT.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Long protocol: ức chế tuyến yên bằng agonist từ giữa pha hoàng thể → dùng FSH ngoại sinh.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2) Phác đồ ANTAGONIST: kiểm soát đỉnh LH bằng antagonist, thân thiện hơn, an toàn hơn → đa phần trung tâm dùng.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II.3.1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Phác đồ dài (long protocol)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Long protocol — Tổng quan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Từng được sử dụng nhiều nhất, xem là phác đồ CHUẨN.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Ưu điểm: nang đồng đều, chất lượng noãn tốt (tuyến yên bị ức chế hoàn toàn trước KTBT).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Nhược điểm: kích thích dài ngày, dùng nhiều gonadotropin, nguy cơ OHSS CAO hơn.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Long protocol — Hai pha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Pha 1 (ỨC CHẾ TUYẾN YÊN): GnRH agonist từ giữa pha hoàng thể → khi ức chế hoàn toàn.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Tiêu chí ức chế: LH &lt; 5 IU/L và E2 &lt; 50 pg/mL.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Thời gian dùng agonist: thường 12-14 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Pha 2 (KTBT): dùng FSH ngoại sinh, tiếp tục agonist liều giảm 1/2 so với ban đầu, đến ngày trưởng thành noãn.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Long protocol: Ưu và Nhược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900" b="1" i="0">
                <a:solidFill>
                  <a:srgbClr val="00977A"/>
                </a:solidFill>
                <a:latin typeface="Arial"/>
              </a:rPr>
              <a:t>Ưu điểm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Nang đồng đều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Chất lượng noãn tốt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Ức chế LH mạnh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900" b="1" i="0">
                <a:solidFill>
                  <a:srgbClr val="E53E3E"/>
                </a:solidFill>
                <a:latin typeface="Arial"/>
              </a:rPr>
              <a:t>Nhược điểm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Thời gian dài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Nhiều FSH → tăng chi phí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OHSS cao hơn, nhất với PCOS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HIỆN RẤT ÍT DÙNG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II.3.2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Phác đồ ngắn (flare up)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Flare up protocol — Cơ chế &amp; giới hạn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Dựa trên tác dụng FLARE UP của agonist → tăng FSH nội sinh + FSH ngoại sinh → KTBT.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NHƯỢC điểm lớn: tăng FSH nội sinh đi kèm TĂNG LH → KHÔNG kiểm soát tốt đỉnh LH.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Hệ quả: chất lượng noãn KHÔNG tốt, nang phát triển không đồng đều.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Thường áp dụng cho bệnh nhân LỚN TUỔI, GIẢM DỰ TRỮ.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HIỆN NAY: gần như rất ít được áp dụng.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Flare up — Cách thực hiện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Bắt đầu GnRH agonist từ ngày thứ 2 của chu kỳ kinh.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Dùng ĐỒNG THỜI với FSH.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Theo dõi KTBT bằng siêu âm nang noãn, niêm mạc tử cung và định lượng hormon.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Khi đủ tiêu chuẩn → trigger bằng hCG.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II.3.3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Phác đồ đối vận (antagonist)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Antagonist protocol — Ưu điểm nổi bật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Áp dụng HẦU HẾT cho các bệnh nhân KTBT.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Lấy BỆNH NHÂN LÀM TRUNG TÂM.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Thời gian KTBT ngắn, ức chế đỉnh LH TỐT, chất lượng noãn tương tự phác đồ dài.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Thời gian kích thích NGẮN hơn, ít OHSS hơn.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Có thể trưởng thành noãn bằng AGONIST khi nguy cơ OHSS.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Antagonist — Cách thực hiện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Gonadotropin (FSH) bắt đầu từ ngày thứ 2-3 của chu kỳ kinh.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Antagonist được dùng theo 2 cách: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FIXED: antagonist cố định vào ngày 5 hoặc 6 KTBT.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FLEXIBLE: antagonist khi nang lớn nhất đạt 14 mm, không muộn hơn ngày 7 KTBT.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Antagonist dùng song song FSH đến ngày trưởng thành noãn.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Fixed vs Flexible Antagonist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900" b="1" i="0">
                <a:solidFill>
                  <a:srgbClr val="00977A"/>
                </a:solidFill>
                <a:latin typeface="Arial"/>
              </a:rPr>
              <a:t>Fixed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Bắt đầu ngày 5-6 KTBT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Dễ vận hành, giảm nguy cơ quên/muộn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Thuận tiện khi logistics đông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900" b="1" i="0">
                <a:solidFill>
                  <a:srgbClr val="E53E3E"/>
                </a:solidFill>
                <a:latin typeface="Arial"/>
              </a:rPr>
              <a:t>Flexible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Bắt khi nang lớn nhất ≈ 14 mm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Cá thể hóa hơn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Giảm số ngày dùng antagonist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Nhưng CẦN SIÊU ÂM đúng thời điểm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Cập nhật: Fixed vs Flexible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Fixed: giảm nguy cơ quên/muộn antagonist, thuận tiện vận hành.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Flexible: giảm số ngày dùng antagonist nhưng đòi hỏi SIÊU ÂM đúng thời điểm.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Lựa chọn dựa trên: nguy cơ LH surge, logistics trung tâm, kinh nghiệm theo dõi.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II.3.4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Các phác đồ khác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Mild — DuoStim — PPOS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Mild stimulation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Định nghĩa: kết hợp thuốc uống (clomiphene citrate hoặc aromatase inhibitor) + FSH liều thấp.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FSH thường không quá 150 đơn vị.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Có thể phù hợp ở một số bệnh nhân GIẢM DỰ TRỮ.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Nhưng cần đánh giá theo mục tiêu cá thể hóa: chi phí, số noãn kỳ vọng, đặc điểm bệnh nhân.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Duo stimulation — KTBT kép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Tác giả Kuang Yanping báo cáo đầu tiên.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Chỉ định: GIẢM DỰ TRỮ NẶNG.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Kết quả: số noãn thu trong pha hoàng thể NHIỀU hơn pha nang noãn.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Chỉ định chủ yếu: giảm dự trữ + bảo tồn sinh sản trước hóa/xạ trị.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Một số nghiên cứu: tỷ lệ thu noãn và phôi pha hoàng thể &gt; pha nang.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PPOS — Progestin-Primed Ovarian Stimulation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Nguyên lý: progestin ức chế đỉnh LH tương tự antagonist.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Khác biệt: tác dụng ức chế KHÔNG TỨC THỜI như antagonist → cần dùng SỚM hơn.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Nếu dùng dydrogesterone: bắt đầu NGAY từ khi KTBT, liều 30 mg/ngày.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Bắt buộc: ĐÔNG PHÔI TOÀN BỘ (nội mạc không đồng bộ với phôi).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Cập nhật: PPOS và freeze-all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PPOS là lựa chọn hữu ích khi dự kiến freeze-all.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Tình huống: bảo tồn sinh sản, nguy cơ OHSS, chiến lược đông phôi toàn bộ.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KHÔNG phù hợp nếu mục tiêu là chuyển phôi TƯƠI cùng chu kỳ.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Thời điểm kích thích buồng trứng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Thời điểm theo phác đồ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Long protocol: bắt đầu agonist từ GIỮ_A PHA HOÀNG THỂ, thông thường ngày 21 của chu kỳ, trong khoảng 2 tuần.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Sau khi tuyến yên bị ức chế hoàn toàn → chuyển sang FSH.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Flare up / Antagonist: bắt đầu ĐẦU CHU KỲ KINH, thường từ ngày 2 đến ngày 4.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Cơ sở: nang thứ cấp được tuyển mộ vào đầu chu kỳ, phát triển dưới tác dụng của FSH.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Random start — Cơ sở và chỉ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Xuất phát từ nghiên cứu bảo tồn sinh sản cho bệnh nhân ác tính.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Ở mỗi phụ nữ có thể có NHIỀU đợt sóng chiêu mộ nang (thường 2, cá biệt 3).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→ Có thể KTBT vào BẤT KỲ thời điểm nào nếu dự định đông phôi toàn bộ.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Nghiên cứu về thời điểm KTBT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Liu và cs: bệnh nhân lớn tuổi/giảm dự trữ → số noãn PHA HOÀNG THỂ &gt; PHA NANG.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Baris Ata phân tích: KTBT pha nang / pha hoàng thể / kép ở nhóm bảo tồn, giảm dự trữ, vô sinh.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Kết quả: số noãn, số phôi, tỷ lệ có thai TƯƠNG ĐƯƠNG khi KTBT bất kỳ thời điểm nào.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Pha hoàng thể: kết quả có phần NHỈNH hơn nhưng lượng FSH ngoại sinh NHIỀU hơn.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Cập nhật: Random start &amp; DuoStim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Random start và DuoStim là chiến lược CHỌN LỌC.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Random start phù hợp nhất khi cần rút ngắn thời gian trước điều trị gonadotoxic.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DuoStim: cân nhắc ở bệnh nhân tiên lượng kém/giảm dự trữ cần gom noãn nhanh.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KHÔNG phải phác đồ ROUTINE cho mọi bệnh nhân.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Liều FSH khởi đầu &amp; theo dõi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Đánh giá trước KTBT — Theo dõi đáp ứng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Liều FSH khởi đầu — Các yếu tố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Dựa vào: cân nặng, AMH, AFC, FSH đầu chu kỳ và TIỀN SỬ đáp ứng (nếu có).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La Marca: đề xuất cách xác định liều khởi đầu theo các chỉ số dự trữ.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Cũng có thể dựa vào AMH và cân nặng để định liều (ví dụ: follitropin delta).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Liều FSH tối đa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Các tác giả THỐNG NHẤT: liều FSH tối đa KHÔNG QUÁ 300 đơn vị/ngày.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Đây là liều đủ để KTBT.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Đã được ESHRE KHUYẾN CÁO.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Đáp ứng kém — Tăng liều có hiệu quả không?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Đối với bệnh nhân đã dùng liều cao nhưng không đáp ứng: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Theo Khalaf Y và cs: VIỆC TĂNG LIỀU KHÔNG CẢI THIỆN được kết quả.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→ Tăng liều vô hạn ở poor responder là KHÔNG CÓ CƠ SỞ.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Cập nhật: Cá thể hóa liều (ESHRE)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ESHRE khuyến cáo cá thể hóa liều gonadotropin theo đáp ứng dự kiến.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Poor responder: tăng liều rất cao thường KHÔNG đảm bảo tăng noãn tương xứng.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High responder: GIẢM liều + antagonist + agonist trigger + freeze-all → giảm OHSS.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PMID: 32395637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II.5.1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Đánh giá trước kích thích buồng trứng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Siêu âm trước KTBT —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365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0584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Tiêu chí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1600200"/>
            <a:ext cx="11887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Điểm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1143000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Đếm số nang thứ cấp (AFC)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07040" y="20276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0" y="2027682"/>
            <a:ext cx="10058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Có nang tồn dư hay không?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243916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07040" y="2439162"/>
            <a:ext cx="10058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1143000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Có bất thường buồng trứng? (nang lạc nội mạc tử cung...)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0" y="285064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07040" y="2850642"/>
            <a:ext cx="10058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Có bất thường tử cung?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0" y="326212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07040" y="3262122"/>
            <a:ext cx="10058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80"/>
            <a:ext cx="1143000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Đánh giá đường tiếp cận buồng trứng cho chọc hút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07040" y="367360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07040" y="3673602"/>
            <a:ext cx="10058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Nang lạc nội mạc tử cung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Có thể một hoặc nhiều nang, kích thước khác nhau.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Ranh giới rõ, âm vang không đều.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Nếu không ảnh hưởng đến chọc hút noãn → KHÔNG nhất thiết chọc hút trước KTBT.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Nếu nang to, tồn tại nhiều chu kỳ → CÂN NHẮC chọc hút trước KTBT.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Nang tồn dư buồng trứng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Là các nang có kích thước to nhỏ khác nhau.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Nếu có nang kích thước trên 18 mm → cần chọc hút nang HOẶC chờ sang chu kỳ tiếp theo.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Trong thời gian chờ: có thể không dùng thuốc hoặc dùng viên tránh thai kết hợp.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Đánh giá tử cung trước KTBT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Cần loại trừ các bất thường có thể ảnh hưởng kết quả có thai.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Tử cung ngả sau + không di động khi ấn đầu dò → thường do DÍNH (Lạc nội mạc tử cung).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Tiên lượng KHÔNG TỐT trong quá trình KTBT.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Cần phát hiện: u xơ cơ, polyp, vách ngăn → có thể cần trì hoãn chuyển phôi.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II.5.2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Theo dõi trong quá trình kích thích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4 mục đích của theo dõi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1) Đánh giá hiệu quả ức chế tuyến yên (down-regulation) trong phác đồ dài.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2) Theo dõi đáp ứng buồng trứng để THAY ĐỔI LIỀU nếu cần.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3) Xác định thời điểm dùng ANTAGONIST trong phác đồ đối vận linh hoạt.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4) Xác định thời điểm TRIGGER và phát hiện sớm OHSS.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Cập nhật: Checklist theo dõi siêu âm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Mỗi lần siêu âm nên ghi: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Số nang theo NHÓM KÍCH THƯỚC.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Nang lớn nhất HAI BÊN.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Độ dày / hình thái NỘI MẠC.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Khả năng TIẾP CẬN buồng trứng khi chọc hút.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Dấu nguy cơ OHSS.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Kế hoạch: fresh transfer hay freeze-all.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Nội tiết (E2/LH/P4): KHÔNG nhất thiết mọi lần, nhưng hữu ích khi nghi OHSS / đáp ứng bất thường / LH surge / P4 tăng sớm.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II.5.3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Theo dõi sự đáp ứng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Siêu âm theo từng phác đồ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Long protocol: sau GnRH agonist 10-12 ngày, kiểm tra ức chế hoàn toàn.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Tiêu chí ức chế: LH &lt; 5 IU/L, E2 &lt; 50 pg/mL, siêu âm KHÔNG có nang tồn dư.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Sau đó bắt đầu FSH ngoại sinh + duy trì agonist liều giảm 1/2.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Antagonist / flare up: bắt đầu FSH từ ngày 2-3 khi siêu âm không có nang tồn dư và bất thường.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Lịch siêu âm trong theo dõi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Siêu âm tiếp theo: ngày 6 hoặc 7 dùng FSH.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Đếm và đo kích thước TẤT CẢ nang hai bên + độ dày niêm mạc.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Sau đó: siêu âm cách 2 hoặc 1 ngày tùy kích thước nang.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Tốc độ phát triển nang ước đoán: 1-2 mm/ngày.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Fixed antagonist: KHÔNG cần siêu âm sớm (antagonist ngày cố định).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Flexible antagonist: BẮT BUỘC siêu âm ngày 6 để quyết định antagonist.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Cách đo kích thước nang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Đo từ BỜ TRONG bên này đến BỜ TRONG bên đối diện.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Nang tròn đều: chỉ cần đo MỘT chiều.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Nang không tròn: đo HAI chiều (lớn nhất và bé nhất) → lấy GIÁ TRỊ TRUNG BÌNH.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Diễn biến kích thước nang theo thời gian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Đầu chu kỳ: nang thứ cấp 2-9 mm.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Ngày 6-7: nang vượt trội ≥ 12 mm, tốc độ trung bình 2 mm/ngày.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Nang 14-24 mm: tỷ lệ thu noãn và thụ tinh TỐI ƯU.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Nang &gt; 24 mm: số noãn thu được GIẢM.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Có thể quan sát GÒ NOÃN bên trong nang trước phóng noãn.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Buồng trứng nhiều nang / PCOS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Buồng trứng ít nang: đo và đếm không quá khó.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Buồng trứng NHIỀU NANG (PCOS): các nang phát triển không đều → dễ BỎ SÓT hoặc ĐẾM LẶP.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Cần người có KINH NGHIỆM để siêu âm.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Máy siêu âm 3D với đầu dò âm đạo: lập ảnh 3D, mỗi nang hiển thị màu khác nhau → hạn chế sai số.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Nhưng giá thành CAO → không phải cơ sở nào cũng có.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Đánh giá niêm mạc tử cung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Đo ở vị trí DÀY NHẤT trên đường cắt dọc.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Đặt con trỏ ở vị trí TIẾP GIÁP niêm mạc – cơ tử cung, đo VUÔNG GÓC với đường niêm mạc.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Có 3 loại hình thái: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Dạng 1 (BA LÁ, hình hạt cà phê): 3 đường tăng âm + 2 đường giảm âm → THUẬN LỢI nhất cho làm tổ.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Dạng 2: TĂNG ÂM TOÀN BỘ, không có vùng giảm âm → KHÔNG thuận lợi.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Dạng 3: TRUNG GIAN giữa dạng 1 và 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Niêm mạc tử cung — Khi nào đo có ý nghĩa?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Theo dõi niêm mạc MỖI LẦN siêu âm là KHÔNG thực sự cần thiết.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CHỈ CẦN đo vào NGÀY TRƯỞNG THÀNH NOÃN.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Mục đích: tư vấn cơ hội có thai + quyết định chuyển phôi TƯƠI hay ĐÔNG PHÔI.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Vai trò của xét nghiệm nội tiết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Siêu âm + xét nghiệm E2, LH, P4: đánh giá chất lượng nang noãn.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LH tăng hoặc P4 tăng sớm → ảnh hưởng chất lượng noãn.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Tuy nhiên: định lượng hormon KHÔNG cải thiện tỷ lệ có thai so với KHÔNG định lượng.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KHUYẾN CÁO: KHÔNG cần định lượng hormon cho TẤT CẢ các bệnh nhân.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E2 có giá trị trong trường hợp QUÁ KÍCH BUỒNG TRỨNG.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LH: tùy thuộc vào từng bệnh nhân cụ thể, KHÔNG cần theo dõi hệ thống.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Người có kinh nghiệm: có thể GIẢM số lần siêu âm + không định lượng hormon → giảm chi phí.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Siêu âm 3D và Doppler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Siêu âm 3D và Doppler: KHÔNG thực sự cần thiết cho TẤT CẢ bệnh nhân.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Chỉ nên áp dụng cho một số bệnh nhân nhất định.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Đặc biệt: bệnh nhân GIẢM DỰ TRỮ hoặc ĐÁP ỨNG KÉM.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Tiêu chuẩn và phác đồ trưởng thành noãn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Trigger — hCG — GnRH agonist — Dual/Double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II.6.1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Tiêu chuẩn trưởng thành noãn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Tiêu chuẩn trigger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Ít nhất 3 nang trên 17 mm HOẶC 2 nang trên 18 mm.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Tối thiểu 1/2 tổng số nang có kích thước trên 14 mm.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Thời gian KTBT trung bình: 8-12 ngày.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E2 trung bình cho mỗi nang: khoảng 150-200 pg/mL (một số thực hành).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hCG trigger: liều 5.000-10.000 đơn vị hoặc hCG tái tổ hợp 250 mcg (≈ 6.500 đơn vị).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Chọc hút noãn: 34-36 GIỜ sau trigger, qua đường âm đạo.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Cập nhật: Tiêu chuẩn trigger linh hoạt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Tiêu chuẩn trigger THAY ĐỔI theo phác đồ và mục tiêu trung tâm.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Nên xem số nang theo NHIỀU NHÓM kích thước thay vì chỉ nhìn 1 nang lớn nhất.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Trước trigger cần kiểm tra: nguy cơ OHSS, kế hoạch fresh/freeze-all, loại trigger, thời điểm chọc hút, hỗ trợ hoàng thể.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Trigger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365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0584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Tiêu chí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1600200"/>
            <a:ext cx="11887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Điểm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1143000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Số nang theo nhóm kích thước đã đủ chưa?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07040" y="20276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0" y="2027682"/>
            <a:ext cx="10058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Có bao nhiêu nang nguy cơ đóng góp OHSS?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243916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07040" y="2439162"/>
            <a:ext cx="10058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1143000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Nội mạc và P4 còn phù hợp fresh transfer?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0" y="285064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07040" y="2850642"/>
            <a:ext cx="10058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Chu kỳ antagonist có thể dùng agonist trigger?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0" y="326212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07040" y="3262122"/>
            <a:ext cx="10058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80"/>
            <a:ext cx="1143000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Giờ chọc hút 34-36h sau trigger đã lên lịch?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07040" y="367360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07040" y="3673602"/>
            <a:ext cx="10058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023360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Kế hoạch hỗ trợ hoàng thể đã rõ?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0" y="40850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07040" y="4085082"/>
            <a:ext cx="10058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II.6.2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Trưởng thành noãn bằng hCG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hCG trigger — Cơ chế và ưu điểm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hCG có cấu trúc TƯƠNG TỰ LH → thay thế LH trong trưởng thành noãn.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hCG gắn cùng thụ thể LH/hCG.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Thời gian BÁN HỦY KÉO DÀI hơn LH → tác dụng hoàng thể hóa và nguy cơ OHSS KÉO DÀI hơn.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Liều: 5.000-10.000 đơn vị.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Urinary hCG hoặc recombinant hCG: kết quả TƯƠNG ĐƯƠNG.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Nguy cơ OHSS: có thể GIẢM LIỀU xuống 5.000 đơn vị và dùng hCG tái tổ hợp (bán hủy ngắn hơn).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II.6.3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Trưởng thành noãn bằng GnRH agonist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GnRH agonist trigger — Cơ chế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Dựa trên tác dụng FLARE UP của GnRH agonist → tạo đỉnh LH NỘI SINH.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Đỉnh LH nội sinh có tác dụng trưởng thành noãn TƯƠNG TỰ hCG.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Ưu điểm của đỉnh LH nội sinh: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- Giống chu kỳ tự nhiên hơn.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- Xuất hiện sớm, biên độ THẤP, giảm NHANH hơn.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- → GIẢM nguy cơ OHSS sớm.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GnRH agonist trigger — Nhược điểm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Làm SUY HOÀNG THỂ.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Giảm khả năng TIẾP NHẬN NIÊM MẠC tử cung.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→ GIẢM tỷ lệ có thai nếu CHUYỂN PHÔI TƯƠI.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CHỈ ĐỊNH: nguy cơ OHSS cao, nhiều nang, E2 rất cao.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Kết hợp: ĐÔNG PHÔI TOÀN BỘ → chuyển chu kỳ sau.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Thuốc dùng: buserelin hoặc Decapeptyl, tiêm dưới da bụng.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Trigger failure — Nguy cơ cần nhớ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Sau GnRH agonist trigger: vẫn có thể THẤT BẠI trigger.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Hoặc thu được RẤT ÍT noãn / noãn KHÔNG như kỳ vọng.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Đặc biệt khi: tuyến yên bị ức chế QUÁ MẠNH hoặc đáp ứng LH KHÔNG ĐỦ.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Cần có quy trình KIỂM TRA và CỨU VÃN chu kỳ tùy trung tâm.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Có thể dùng hCG để CỨU VÃN và chọc hút được noãn.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Khi nào KHÔNG dùng agonist trigger?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Long protocol: tuyến yên đã bị ỨC CHẾ HOÀN TOÀN → KHÔNG có chỉ định agonist trigger.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Antagonist cycle + agonist trigger: cần lưu ý thời gian từ mũi antagonist cuối đến trigger KHÔNG DƯỚI 10 GIỜ.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Mục đích: đảm bảo tuyến yên KHÔNG còn bị ức chế.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Cập nhật: Chiến lược giảm OHSS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Dùng ANTAGONIST thay vì agonist dài ở nhóm nguy cơ.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GnRH AGONIST TRIGGER trong chu kỳ antagonist.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GIẢM liều FSH.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FREEZE-ALL.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SINGLE EMBRYO TRANSFER khi phù hợp.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PMID: 26597569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II.6.4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Trưởng thành noãn kép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Dual trigger &amp; Double trigger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Trưởng thành noãn kép: sử dụng CẢ hCG và agonist.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Mục đích: vừa GIẢM OHSS vừa GIỮ tỷ lệ có thai cao.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Về sau: mở rộng cho đáp ứng kém, tiền sử trigger kết quả kém.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Nghiên cứu phân tích gộp của Ding và cs: cải thiện số noãn hoặc tỷ lệ có thai.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Dual vs Double trigger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900" b="1" i="0">
                <a:solidFill>
                  <a:srgbClr val="00977A"/>
                </a:solidFill>
                <a:latin typeface="Arial"/>
              </a:rPr>
              <a:t>Dual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hCG + GnRH agonist CÙNG THỜI ĐIỂM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Phối hợp tín hiệu trưởng thành noãn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Cân nhắc OHSS nếu có hCG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900" b="1" i="0">
                <a:solidFill>
                  <a:srgbClr val="E53E3E"/>
                </a:solidFill>
                <a:latin typeface="Arial"/>
              </a:rPr>
              <a:t>Double 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GnRH agonist TRƯỚC, hCG SAU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Dùng trong đáp ứng kém / tiền sử trigger kém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KHÔNG nên dùng routine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Nghiên cứu của Hồ Sỹ Hùng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So sánh trưởng thành noãn kép với hCG đơn thuần.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Đối tượng: bệnh nhân GIẢM DỰ TRỮ BUỒNG TRỨNG.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Kết quả: trưởng thành noãn kép làm TĂNG TỶ LỆ NOÃN MII so với nhóm rhCG đơn thuần.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II.7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Đông phôi toàn bộ (freeze-all)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Ưu điểm của kỹ thuật đông phôi thủy tinh hóa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Kỹ thuật đông phôi THỦY TINH HÓA cho tỷ lệ sống sau rã đông CAO.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Chất lượng phôi KHÔNG THAY ĐỔI trước và sau rã đông.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Tỷ lệ có thai chu kỳ chuyển phôi trữ lạnh KHÔNG THUA KÉM chu kỳ chuyển phôi tươi.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→ Freeze-all được chỉ định THƯỜNG QUY trong các chu kỳ có chỉ định.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Chỉ định freeze-all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Nguy cơ quá kích buồng trứng (OHSS).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Chu kỳ tăng progesterone sớm.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Chu kỳ có niêm mạc tử cung KHÔNG thuận lợi.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Bất cứ lý do nào cần TRÌ HOÃN chuyển phôi.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Chu kỳ trưởng thành noãn bằng GnRH agonist (suy hoàng thể).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Chu kỳ random start (nội mạc không đồng bộ).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Chu kỳ PPOS (nội mạc không đồng bộ với tuổi phôi).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Cập nhật: Freeze-all — Cá thể hóa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Freeze-all đặc biệt hợp lý khi: OHSS, P4 tăng sớm, PPOS, random start, agonist trigger, nội mạc không thuận lợi.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Tuy nhiên: freeze-all KHÔNG nên được hiểu là LUÔN TỐT HƠN fresh transfer cho MỌI bệnh nhân.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Quyết định cần CÁ THỂ HÓA theo nguy cơ và mục tiêu điều trị.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III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Kết luận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Siêu âm là công cụ không thể thay thế trong theo dõi KTBT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Tóm tắt vai trò của KTBT và theo dõi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KTBT là bước quan trọng trong IVF, quyết định tạo được NHIỀU noãn với CHẤT LƯỢNG tốt hay không.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Theo dõi trong KTBT: điều chỉnh kịp thời, quyết định trigger, phát hiện sớm OHSS.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Phương pháp chính: SIÊU ÂM đường âm đạo + XÉT NGHIỆM HORMON.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Siêu âm là phương pháp ĐƠN GIẢN, KHÔNG XÂM NHẬP và KHÔNG THỂ THAY THẾ.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000" b="1" i="0">
                <a:solidFill>
                  <a:srgbClr val="0D2B2B"/>
                </a:solidFill>
                <a:latin typeface="Arial"/>
              </a:rPr>
              <a:t>Bảng cập nhật — Quyết định nhanh trong thực hành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Đáp ứng THẤP → kiểm tra tuổi, AMH/AFC, liều đang dùng, số nang thực sự phát triển; cân nhắc KHÔNG tăng liều quá mức.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Đáp ứng CAO → ưu tiên phòng OHSS bằng giảm liều / antagonist / agonist trigger / freeze-all.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Progesterone TĂNG SỚM hoặc PPOS → KHÔNG chuyển tươi.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Nghi chọc hút KHÓ → ghi rõ vị trí buồng trứng và chuẩn bị thủ thuật.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72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Tài liệu tham khảo đã verify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Arial"/>
              </a:rPr>
              <a:t>1.   ESHRE guideline: ovarian stimulation for IVF/ICSI. PMID: 32395637.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Arial"/>
              </a:rPr>
              <a:t>2.   ESHRE guideline: ovarian stimulation for IVF/ICSI: an update in 2025. PMID: 41732035.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Arial"/>
              </a:rPr>
              <a:t>3.   Testing and interpreting measures of ovarian reserve: a committee opinion. PMID: 33280722.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Arial"/>
              </a:rPr>
              <a:t>4.   Association between the number of eggs and live birth in IVF treatment. PMID: 21558332.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Arial"/>
              </a:rPr>
              <a:t>5.   Consensus statement on prevention and detection of ovarian hyperstimulation syndrome. PMID: 26597569.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062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endParaRPr sz="1100" b="0" i="0">
              <a:solidFill>
                <a:srgbClr val="728C8C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6577</Words>
  <Application>Microsoft Office PowerPoint</Application>
  <PresentationFormat>Custom</PresentationFormat>
  <Paragraphs>553</Paragraphs>
  <Slides>108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108</vt:i4>
      </vt:variant>
    </vt:vector>
  </HeadingPairs>
  <TitlesOfParts>
    <vt:vector size="1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Ngọc Hưng Đỗ Văn</cp:lastModifiedBy>
  <cp:revision>3</cp:revision>
  <dcterms:created xsi:type="dcterms:W3CDTF">2013-01-27T09:14:16Z</dcterms:created>
  <dcterms:modified xsi:type="dcterms:W3CDTF">2026-07-14T08:07:27Z</dcterms:modified>
  <cp:category/>
</cp:coreProperties>
</file>