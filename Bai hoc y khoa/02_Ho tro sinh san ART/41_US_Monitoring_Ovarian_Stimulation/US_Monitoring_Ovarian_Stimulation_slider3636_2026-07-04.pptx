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" Type="http://schemas.openxmlformats.org/officeDocument/2006/relationships/tableStyles" Target="tableStyles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" Type="http://schemas.openxmlformats.org/officeDocument/2006/relationships/slide" Target="slides/slide1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" Type="http://schemas.openxmlformats.org/officeDocument/2006/relationships/slide" Target="slides/slide2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64008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23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108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298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4108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298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241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241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4108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298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4108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298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241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75120" y="822960"/>
            <a:ext cx="1664208" cy="2560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822960"/>
            <a:ext cx="16642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ART / IVF-ICSI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1371600"/>
            <a:ext cx="557784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Siêu âm theo dõi kích thích buồng trứng trong IVF/ICSI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23360"/>
            <a:ext cx="128016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206240"/>
            <a:ext cx="55778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 i="0">
                <a:solidFill>
                  <a:srgbClr val="B0C8E0"/>
                </a:solidFill>
                <a:latin typeface="Arial"/>
              </a:rPr>
              <a:t>Deck học cá nhân — từ bài mẹ 2026-07-04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937760"/>
            <a:ext cx="55778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1">
                <a:solidFill>
                  <a:srgbClr val="728C8C"/>
                </a:solidFill>
                <a:latin typeface="Arial"/>
              </a:rPr>
              <a:t>Bác sĩ Ngọc Hưng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989320"/>
            <a:ext cx="52120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Nội dung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641751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0. Tổng quan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7209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18760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877209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1. Siêu âm trước KTBT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54218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195769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154218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2. Khung sinh lý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31228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2472779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431228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3. Kỹ thuật đếm AFC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08237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2749788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708237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4. Theo dõi theo phác đồ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85247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3026798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2985247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5. Kỹ thuật đo nang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62256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3303807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3262256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6. Niêm mạc tử cung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39265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3580816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3539265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7. Nội tiết trong theo dõi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16275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3857826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3816275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8. Các điểm quyết định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93284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4134835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4093284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9. PCOS / đáp ứng cao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370294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91640" y="4411845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4370294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10. Đáp ứng thấp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647303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4688854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4647303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11. Nhận diện OHSS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24312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91640" y="4965863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20240" y="4924312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12. Freeze-all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201322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91640" y="5242873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0" y="5201322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13. Mẫu phiếu &amp; checklist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478331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91640" y="5519882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0240" y="5478331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14. Atlas ca lâm sàng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755341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16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91640" y="5796892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0240" y="5755341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15. Clinical pearls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32350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Arial"/>
              </a:rPr>
              <a:t>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91640" y="6073901"/>
            <a:ext cx="25400" cy="193906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0240" y="6032350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D2B2B"/>
                </a:solidFill>
                <a:latin typeface="Arial"/>
              </a:rPr>
              <a:t>TLTK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Tổng quan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Vì sao siêu âm là trục chính trong theo dõi KTBT?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KTBT là bài toán điều khiển cohort 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Kích thích buồng trứng có kiểm soát (COS) là bước nền tảng của IVF/ICSI.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Mỗi lần siêu âm phải trả lời được một câu hỏi điều trị.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Siêu âm là công cụ ra quyết định theo thời gian thực, không chỉ để đo nang.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4 mục tiêu của theo dõi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1. Đánh giá đáp ứng buồng trứng: số nang phát triển, tốc độ lớn, phân bố kích thước.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2. Xác định thời điểm dùng antagonist (flexible) và thời điểm trigger.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3. Phát hiện sớm nguy cơ OHSS để điều chỉnh trigger và kế hoạch chuyển phôi.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4. Đánh giá nội mạc tử cung để quyết định fresh transfer hay freeze-all.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Nguyên tắc cốt lõi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Mỗi lần siêu âm kết thúc bằng một KẾT LUẬN QUẢN LÝ: giữ liều, đổi liều, bắt antagonist, trigger, freeze-all, hay chuẩn bị chọc hút.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Siêu âm là phương pháp KHÔNG XÂM NHẬP, lặp lại được, và KHÔNG THỂ THAY THẾ bằng xét nghiệm nội tiết đơn thuần.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ESHRE 2025 về monitoring (PMID 41732035)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khuyến cáo điều chỉnh liều FSH giữa chu kỳ thường quy (conditional).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Nhấn mạnh tầm quan trọng của việc chọn đúng liều KHỞI ĐẦU.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Siêu âm đóng vai trò XÁC NHẬN đáp ứng hơn là công cụ để chỉnh liều từng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khuyến cáo đo E2 thường quy vào ngày trigger cho fresh ET cycle (strong).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Khuyến cáo đo PROGESTERONE vào ngày trigger cho fresh ET cycle (conditional).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Bản đồ một chu kỳ monitor KTBT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11247120" cy="381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11580" y="3767328"/>
            <a:ext cx="36576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977A"/>
                </a:solidFill>
                <a:latin typeface="Arial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 i="0">
                <a:solidFill>
                  <a:srgbClr val="0D2B2B"/>
                </a:solidFill>
                <a:latin typeface="Arial"/>
              </a:rPr>
              <a:t>AFC - tử cung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6100" y="3767328"/>
            <a:ext cx="36576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44348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977A"/>
                </a:solidFill>
                <a:latin typeface="Arial"/>
              </a:rPr>
              <a:t>Start FSH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502920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 i="0">
                <a:solidFill>
                  <a:srgbClr val="0D2B2B"/>
                </a:solidFill>
                <a:latin typeface="Arial"/>
              </a:rPr>
              <a:t>Ngày 2-4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0620" y="3767328"/>
            <a:ext cx="36576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916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977A"/>
                </a:solidFill>
                <a:latin typeface="Arial"/>
              </a:rPr>
              <a:t>Day 5-7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24028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D2B2B"/>
                </a:solidFill>
                <a:latin typeface="Arial"/>
              </a:rPr>
              <a:t>Đánh giá đáp ứng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35140" y="3767328"/>
            <a:ext cx="36576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4348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977A"/>
                </a:solidFill>
                <a:latin typeface="Arial"/>
              </a:rPr>
              <a:t>Day 7-12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02920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D2B2B"/>
                </a:solidFill>
                <a:latin typeface="Arial"/>
              </a:rPr>
              <a:t>Late stimulation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09660" y="3767328"/>
            <a:ext cx="36576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6916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977A"/>
                </a:solidFill>
                <a:latin typeface="Arial"/>
              </a:rPr>
              <a:t>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4028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0D2B2B"/>
                </a:solidFill>
                <a:latin typeface="Arial"/>
              </a:rPr>
              <a:t>Quyết định cuối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84180" y="3767328"/>
            <a:ext cx="36576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44348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977A"/>
                </a:solidFill>
                <a:latin typeface="Arial"/>
              </a:rPr>
              <a:t>OPU/ET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502920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0D2B2B"/>
                </a:solidFill>
                <a:latin typeface="Arial"/>
              </a:rPr>
              <a:t>Chọc hút &amp; chuyển phôi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Siêu âm trước kích thích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Baseline scan: AFC, nang tồn dư, tử cung, đường chọc hút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Baseline ultrasound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AFC hai buồng trứng (nang 2-9 mm từng bên)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Nang tồn dư / cyst (vị trí, kích thước, tính chất)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Endometrioma (kích thước, bên, quan hệ với đường chọc hút)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Tử cung: polyp, u xơ dưới niêm, vách ngăn, dịch lòng tử cung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Đường tiếp cận buồng trứng (khoảng cách, vật cản)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Tử cung di động (ngả sau, cố định → nghi dính/endometriosis)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Xử trí nang tồn dư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đơn thuần &lt;18 mm, không hoạt động nội tiết → có thể bắt đầu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&gt;18 mm → chọc hút hoặc chờ sang chu kỳ tiếp theo.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tồn tại nhiều chu kỳ, to → cân nhắc chọc hút trước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không ảnh hưởng chọc hút noãn → không nhất thiết can thiệp.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dùng COCP để làm tiêu nang tồn dư (khác với COCP pretreatment cho antagonist).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Đánh giá tử cung trước KTBT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U xơ dưới niêm, polyp, vách ngăn, dịch lòng tử cung → có thể thay đổi kế hoạch chuyển phôi.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Mục tiêu baseline: không chỉ là buồng trứng, mà còn xác định fresh transfer có khả thi không.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phát hiện bất thường có ý nghĩa → kích thích và thu phôi nhưng trì hoãn chuyển phôi (freeze-all).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Endometrioma trước kích thích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Ghi kích thước, bên, số lượng và quan hệ với đường chọc hút.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không ảnh hưởng đến chọc hút noãn: KHÔNG nhất thiết can thiệp.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Cân bằng nguy cơ giảm dự trữ sau can thiệp với nguy cơ nhiễm/khó chọc hút.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Tử cung ngả sau cố định và đau khi ấn: gợi ý dính/endometriosis, tiên lượng không tốt.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Buồng trứng xa đầu dò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Gợi ý chọc hút noãn có thể khó hơn.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liên quan dính vùng chậu, endometriosis hoặc buồng trứng bị kéo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Cần ghi hướng tiếp cận, khoảng cách và nguy cơ mạch máu/ruột xen giữa nếu thấy.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Thông tin này quan trọng NGANG VỚI SỐ NANG trong planning thủ thuật.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ESHRE 2025 về dự đoán đáp 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AFC hoặc AMH đủ để dự đoán ovarian response (strong).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FSH nền, E2 nền, LH nền, inhibin B, progesterone nền KHÔNG được khuyến cáo để dự đoán response (strong, MỚI 2025).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Tuổi mẹ và BMI là predictors của pregnancy và live birth (strong, MỚI 2025).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Khung sinh lý cần nhớ khi đọc siêu âm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FSH threshold, FSH window, follicular waves, LH ceiling/floor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Định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14630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FSH threshold (ngưỡng FSH)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1064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0977A"/>
                </a:solidFill>
                <a:latin typeface="Arial"/>
              </a:rPr>
              <a:t>ĐỊNH NGHĨA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6424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64240" cy="2468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Nồng độ FSH mà trên đó một nang có thể tiếp tục phát triển. MỖI NANG CÓ MỘT NGƯỠNG RIÊNG. FSH ngoại sinh giúp nhiều nang vượt ngưỡng hơn.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Ý nghĩa FSH threshold trên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cohort có nhiều nang nhỏ nhưng chỉ một vài nang lớn, có thể do liều FSH chỉ vừa đủ cho nhóm nang nhạy nhất.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Những nang còn lại đang ở dưới ngưỡng → cần thời gian hơn là tăng liều.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Định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14630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FSH window (cửa sổ FSH)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1064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0977A"/>
                </a:solidFill>
                <a:latin typeface="Arial"/>
              </a:rPr>
              <a:t>ĐỊNH NGHĨA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6424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64240" cy="2468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1A2F2F"/>
                </a:solidFill>
                <a:latin typeface="Arial"/>
              </a:rPr>
              <a:t>Khoảng thời gian nồng độ FSH nằm trên ngưỡng. Cửa sổ quá ngắn → mất nang nhỏ. Cửa sổ quá dài ở high responder → quá nhiều nang nhỏ phát triển → OHSS.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Follicular waves (sóng nang)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phải mọi nang chỉ được tuyển một lần duy nhất vào đầu chu kỳ.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bằng chứng về nhiều đợt sóng tuyển nang trong một chu kỳ.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Đây là cơ sở cho DuoStim và random start.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Ý nghĩa: có thể bắt đầu KTBT không nhất thiết ngày 2-3 nếu có lý do.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Nhưng khi dùng random start, thường cần freeze-all do nội mạc không đồng bộ.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LH ceiling vs LH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00977A"/>
                </a:solidFill>
                <a:latin typeface="Arial"/>
              </a:rPr>
              <a:t>LH quá cao (surge / ceiling)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Hoàng thể hóa sớm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Ức chế aromatase, giảm chất lượng 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Đây là lý do dùng antagonist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Arial"/>
              </a:rPr>
              <a:t>LH quá thấp (floor)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Giảm sản xuất androgen nền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Deep suppression từ long agonist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Có thể cần thêm LH ở một số bệnh nhân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Kỹ thuật đếm AFC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Antral Follicle Count — chỉ số thực hành quan trọng nhất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Định nghĩa và kỹ thuật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AFC: số nang thứ cấp đường kính 2-9 mm (đôi khi 2-10 mm) đếm được vào đầu chu kỳ.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Dùng đầu dò âm đạo tần số cao (≥7 MHz) nếu có thể.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Quét toàn bộ buồng trứng theo một chiều có hệ thống.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Đếm từng nang có bờ trong rõ, dịch trống 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Ghi riêng AFC buồng trứng phải và trái.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Sai số thường gặp khi đếm AFC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Bỏ sót nang nhỏ (2-4 mm): quét chậm, tăng gain nhẹ.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Đếm lặp cùng một nang: giữ mặt cắt có hệ thống, không xoay đầu dò lung tung.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Nhầm mạch máu vùng chậu với nang nhỏ: dùng Doppler nếu nghi ngờ.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Nhầm nang tồn dư với nang thứ cấp: nang tồn dư &gt;10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ghi nhận buồng trứng khó tiếp cận: luôn ghi chú nếu buồng trứng ở vị trí khó.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AFC và định liều FSH khởi đầu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AFC &lt;5 → Low responder → 225-300 IU/ng. Không tăng quá 300 IU.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AFC 5-7 → Suboptimal → 200-300 IU/ng. Cân nhắc tích lũy.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AFC 8-18 → Normal responder → 150-225 IU/ng.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AFC &gt;18 → High responder → 100-150 IU/ng. Nguy cơ OHSS, ưu tiên antagonist.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ESHRE 2025: KHÔNG dùng &gt;300 IU/ng cho low responder (strong).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Độ đồng đều của đoàn hệ 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Đoàn hệ đồng đều: nang có kích thước tương tự → tiên lượng phát triển đồng bộ tốt.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Đoàn hệ không đồng đều: nang to nhỏ xen kẽ → nguy cơ lệch pha, khó chọn trigger.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Đừng chỉ nhìn tổng AFC, hãy quan sát cả độ đồng đều của đoàn hệ.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Theo dõi theo từng loại phác đồ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Long agonist, Antagonist fixed/flexible, PPOS, DuoStim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Phác đồ Long GnRH Agonist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Mốc 1 (sau downregulation): không có nang &gt;10 mm, nội mạc mỏng. LH &lt;5 IU/L, E2 &lt;50 pg/mL.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Mốc 2 (ngày 5-7 FSH): đánh giá đáp ứng ban đầu. Long agonist đã kiểm soát LH surge.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Mốc 3 (cuối KT, ngày 8-12): đo toàn bộ nang, phân nhóm, nội mạc, OHSS risk.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Trigger: BẮT BUỘC hCG (không dùng được GnRH agonist trigger vì tuyến yên đã bị ức chế).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Phác đồ Antagonist 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Baseline: như mục 1.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Ngày 5-6 FSH: đánh giá đáp ứng. Antagonist bắt đầu theo lịch cố định.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Fixed đơn giản hóa vận hành, giảm nguy cơ quên/muộn antagonist.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Cuối KT: có thêm lựa chọn GnRH agonist trigger nếu nguy cơ OHSS.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ESHRE 2025: fixed probably recommended over flexible (conditional, ⊕⊕◯◯).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Phác đồ Antagonist Flexible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Ngày 5-6 FSH: BẮT BUỘC siêu 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nang lớn nhất ≥14 mm → bắt đầu antagonist.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được siêu âm muộn hơn ngày 7 (nguy cơ bắt antagonist trễ → LH surge).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Flexible giảm số ngày dùng antagonist ở một số bệnh nhân.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Nhưng đòi hỏi siêu âm đúng thời điểm. Không phù hợp nếu logistics khó.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PPOS và DuoStim / Random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PPOS: theo dõi siêu âm tương tự antagonist. LUÔN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DuoStim: 2 đợt KTBT trong 1 chu kỳ. Luteal phase stimulation: progesterone nội sinh tự bảo vệ chống LH surge.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Random start: bắt đầu bất kỳ thời điểm nào. Cả hai đều đi kèm freeze-all.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Fixed vs Flexible Antagonist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00977A"/>
                </a:solidFill>
                <a:latin typeface="Arial"/>
              </a:rPr>
              <a:t>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Bắt đầu ngày 5-6 không phụ thuộc nang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Dễ vận hành, ít lỗi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ESHRE 2025: probably preferred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Phù hợp trung tâm đông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Arial"/>
              </a:rPr>
              <a:t>Flexible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Bắt khi nang ≥14 mm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Cá thể hóa, ít ngày thuốc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Cần siêu âm đúng ngày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Không phù hợp logistics khó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Kỹ thuật đo nang noãn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Đo bờ trong, phân nhóm kích thước, tốc độ phát triển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Nguyên tắc đo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 từ BỜ TRONG đến BỜ TRONG (inner-to-inner). Không đo cả thành nang.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 trên mặt cắt lớn nhất của nang (đi qua trung tâm).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tròn đều: đo một đường kính.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không tròn (bầu dục): đo hai đường kính vuông góc, lấy TRUNG BÌNH.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Phân nhóm kích thước 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Nhỏ (&lt;10 mm): đang phát triển, cần thêm thời gian.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Trung bình (10-13 mm): sẽ đóng góp vào cohort nếu còn thời gian.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Gần trưởng thành (14-16 mm): khả năng cao có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Trưởng thành (17-18 mm): sẵn sàng trigger.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Quá lớn (&gt;18 mm, đặc biệt &gt;24 mm): nguy cơ noãn già hoặc mất noãn.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Tốc độ phát triển 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Trung bình: 1-2 mm/ngày.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tăng nhanh hơn ở giai đoạn cuối (2-3 mm/ngày).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Cohort chậm (&lt;1 mm/ngày): xem xét tăng liều (trong giới hạn) hoặc kiểm tra tuân thủ.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Cohort nhanh bất thường (&gt;3 mm/ngày): cảnh giác high response, đặc biệt PCOS.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Vùng kỳ vọng noãn 14-24 mm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Nhiều thực hành xem nhóm 14-24 mm là nhóm có khả năng đóng góp noãn tốt nhất.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Tỷ lệ thu hồi noãn từ nhóm này khoảng 70-90%.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&lt;14 mm: có thể bắt kịp nếu còn 2-3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Nang &gt;24 mm: tỷ lệ thu hồi GIẢM rõ.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thấy gò noãn (cumulus) ở nang gần trưởng thành: dấu hiệu tốt cho trigger.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PCOS và sai số đếm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PCOS có thể có 20-40+ nang nhỏ mỗi bên.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Nguy cơ: bỏ sót nang nhỏ (2-5 mm), đếm lặp do nhiều nang sát nhau.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Kỹ thuật: quét chậm, chia buồng trứng thành các vùng.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3D ultrasound giúp đếm tự động và tô màu theo kích thước, nhưng chi phí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Sau ngày 5-6: tập trung vào nang đang phát triển thay vì đếm tất cả nang nhỏ.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Niêm mạc tử cung trong chu kỳ KTBT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Đo đúng, đọc hình thái, quyết định fresh/freeze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Kỹ thuật đo niêm mạc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Mặt cắt dọc tử cung (sagittal).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 ở vị trí DÀY NHẤT.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Đặt caliper tại ranh giới niêm mạc – cơ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 VUÔNG GÓC với đường niêm mạc.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tính dịch lòng tử cung (nếu có).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Hình thái niêm mạc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Dạng 1 — Ba lá (trilaminar): 3 đường tăng âm + 2 vùng giảm âm. THUẬN LỢI NHẤT cho làm tổ.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Dạng 2 — Tăng âm toàn bộ: tăng âm đồng nhất, không còn vùng giảm âm. Kém thuận lợi, có thể do P4 tăng sớm.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Dạng 3 — Trung gian: còn đường tăng âm nhưng phân lớp không rõ.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Khi nào niêm mạc ảnh hưởng quyết định?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cần đo nội mạc mỗi lần siêu 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 có ý nghĩa nhất vào NGÀY TRIGGER hoặc 1-2 ngày trước trigger.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&lt;7 mm thường được xem là mỏng.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Dạng 2 + progesterone tăng sớm → cân nhắc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ESHRE 2025: đo progesterone vào ngày trigger cho fresh ET cycle (conditional).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Progesterone &gt;1.5 ng/mL ngày trigger → giảm cơ hội làm tổ nếu fresh transfer.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Vai trò xét nghiệm nội tiết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Hormone chỉ hữu ích khi làm thay đổi quyết định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Nguyên tắc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Siêu âm là trục chính. Xét nghiệm nội tiết là công cụ BỔ SUNG.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Trước khi chỉ định xét nghiệm: Kết quả này có thể làm tôi THAY ĐỔI KẾ HOẠCH hôm nay không?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KHÔNG → không làm.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E2 (Estradiol)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Hữu ích: nghi high response/OHSS; PCOS cần đánh giá nguy cơ; đáp ứng siêu âm không tương xứng.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Không cần: bệnh nhân đáp ứng điển hình, nguy cơ thấp, siêu âm rõ ràng.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E2 đơn độc không thay thế được đếm nang.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LH và Progesterone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LH: hữu ích khi nghi LH surge (flexible antagonist quên dùng, tái khám trễ, nang lớn nhanh).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LH: không cần ở fixed antagonist hoặc long 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Progesterone: hữu ích trước trigger ở fresh ET cycle (ESHRE 2025 conditional).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Progesterone &gt;1.5 ng/mL ngày trigger: cân nhắc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Progesterone: không có ý nghĩa trong freeze-all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Các điểm quyết định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Decision 1-4: liều, antagonist, trigger, loại trigger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Decision 1 — Giữ hay đổi liều FSH?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Cohort đều, tốc độ 1-2 mm/ngày, ngày 5-6 có 5-12 nang: GIỮ NGUYÊN liều.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Cohort chậm, &lt;3 nang &gt;10 mm ngày 7, tốc độ &lt;1 mm/ngày: xem xét TĂNG liều nhẹ (≤75 IU).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Cohort nhanh, &gt;15 nang &gt;10 mm ngày 6, tốc độ &gt;2.5 mm/ngày: GIẢM liều, cảnh giác OHSS.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Lưu ý: ESHRE 2025 không khuyến cáo điều chỉnh liều giữa chu kỳ THƯỜNG QUY.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Decision 2 — Bắt đầu antagonist?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46704" y="1691640"/>
            <a:ext cx="54864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6704" y="1691640"/>
            <a:ext cx="54864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❓ Nang lớn nhất ≥14 mm hoặc đến ngày 7 KTBT?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 i="0">
                <a:solidFill>
                  <a:srgbClr val="00977A"/>
                </a:solidFill>
                <a:latin typeface="Arial"/>
              </a:rPr>
              <a:t>✓ CÓ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69748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 i="0">
                <a:solidFill>
                  <a:srgbClr val="E53E3E"/>
                </a:solidFill>
                <a:latin typeface="Arial"/>
              </a:rPr>
              <a:t>✗ KHÔNG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2194560" cy="254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760" y="3108960"/>
            <a:ext cx="2194560" cy="25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25400" cy="2743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612880" y="3108960"/>
            <a:ext cx="25400" cy="2743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336" y="3474720"/>
            <a:ext cx="5577840" cy="6858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429000"/>
            <a:ext cx="5577840" cy="6858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50800" cy="685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5394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Bắt đầu antagonist theo tiêu chí trung tâm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4251960"/>
            <a:ext cx="5577840" cy="6858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206240"/>
            <a:ext cx="5577840" cy="6858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206240"/>
            <a:ext cx="50800" cy="685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5394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Nếu nang 14 mm sớm: bắt ngay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1928" y="3474720"/>
            <a:ext cx="5577840" cy="6858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3429000"/>
            <a:ext cx="5577840" cy="6858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3429000"/>
            <a:ext cx="50800" cy="685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429000"/>
            <a:ext cx="5394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Theo dõi tiếp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4251960"/>
            <a:ext cx="5577840" cy="6858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4206240"/>
            <a:ext cx="5577840" cy="6858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4206240"/>
            <a:ext cx="50800" cy="685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206240"/>
            <a:ext cx="5394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Nếu đến ngày 7 vẫn &lt;14 mm: vẫn bắt để an toàn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Decision 3 — Khi nào trigger?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Tiêu chuẩn thực hành: ≥3 nang ≥17 mm HOẶC ≥2 nang ≥18 mm. Tối thiểu 1/2 cohort ≥14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Trigger là quyết định dựa trên TOÀN BỘ COHORT.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nhiều nang 14-16 mm sắp bắt kịp: có thể đợi thêm 1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nhiều nang &gt;22-24 mm: không trì hoãn chỉ để chờ nang nhỏ.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Nguy cơ OHSS cao: trigger sớm hơn là muộn hơn.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Progesterone bắt đầu tăng: không trì hoãn để chờ fresh transfer.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Sau trigger 34-36 giờ: chọc hút noãn qua đường âm đạo.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Trigger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Số nang theo nhóm kích thước đã đủ?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Có bao nhiêu nang nguy cơ OHSS?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Nội mạc và progesterone còn phù hợp fresh transfer?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Chu kỳ antagonist có thể dùng agonist trigger?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Giờ chọc hút 34-36h sau trigger đã lên lịch?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Kế hoạch hỗ trợ hoàng thể đã rõ?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Decision 4 — Chọn loại trigger nào?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00977A"/>
                </a:solidFill>
                <a:latin typeface="Arial"/>
              </a:rPr>
              <a:t>hCG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OHSS risk thấp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Cả antagonist và long agonist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Liều 5.000-10.000 IU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Arial"/>
              </a:rPr>
              <a:t>  –  Fresh ET được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Arial"/>
              </a:rPr>
              <a:t>GnRH agonist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OHSS risk cao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CHỈ antagonist protocol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Luôn đi kèm freeze-all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Khoảng cách antagonist-trigger &gt;10h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Nguy cơ trigger failure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PCOS / Đáp ứng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Chiến lược theo dõi và phòng OHSS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Đặc điểm siêu âm của PCOS / high responder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AFC cao (&gt;20-24 mỗi bên).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Nhiều nang nhỏ 2-5 mm dạng chuỗi hạt ngoại vi.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Thể tích buồng trứng &gt;10 mL mỗi bên.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Khi KTBT: nhiều nang nhỏ phát triển đồng loạt → nguy cơ OHSS cao.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Chiến lược theo dõi ở high responder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Chọn antagonist protocol (ưu tiên).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Liều FSH khởi đầu THẤP: 100-150 IU/ngày.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Theo dõi siêu âm SÁT: ngày 5-6, sau đó mỗi 1-2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E2 có thể hữu ích nhưng không bắt buộc.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Đếm nang khó hơn: dễ bỏ sót hoặc đếm lặp. Cần quét có hệ thống.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Phòng OHSS ở high responder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Antagonist protocol (không dùng long agonist).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GnRH agonist trigger thay hCG → giảm OHSS gần như tuyệt đối.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Freeze-all (không chuyển phôi tươi).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Cabergoline 0.5 mg/ngày x 8 ngày từ ngày trigger (giảm VEGF).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Coasting: ngừng FSH 1-2 ngày trước trigger nếu E2 quá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Giảm liều hCG (3.000-5.000 IU) nếu bắt buộc dùng hCG.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Đáp ứng thấp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Low responder — phân biệt và chiến lược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Phân biệt trên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AFC thấp ở baseline.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Số nang phát triển ít (&lt;4-5 nang), tốc độ có thể chậm.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Buồng trứng nhỏ, khó quan sát.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Cần phân biệt: dự trữ thấp thật sự (AFC &lt;5, AMH thấp) hay hypo-response (AFC bình thường nhưng đáp ứng kém).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Chiến lược theo dõi ở low responder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Siêu âm baseline kỹ: AFC, vị trí buồng trứng (có thể khó chọc hút).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Theo dõi không cần quá dày (mỗi 2-3 ngày).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Mục tiêu: không bỏ lỡ trigger (vài nang lớn có thể già trong khi chờ nang nhỏ).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Cân nhắc freeze-all và tích lũy phôi qua nhiều chu kỳ (oocyte/embryo accumulation).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Tư vấn ở low responder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AMH/AFC thấp dự báo ít noãn, nhưng KHÔNG dự báo trực tiếp live birth nếu tách khỏi tuổi.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Bệnh nhân trẻ với AFC thấp có tiên lượng TỐT HƠN bệnh nhân lớn tuổi với cùng AFC.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Số noãn mục tiêu không nhất thiết là 15 — 3-5 noãn chất lượng tốt vẫn có giá trị.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ESHRE 2025: KHÔNG khuyến cáo &gt;300 IU/ngày cho low responder (strong).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Nhận diện OHSS trên siêu âm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Dấu hiệu sớm → nặng, phân loại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Dấu hiệu sớm (trước trigger)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Buồng trứng to nhanh (&gt;8 cm mỗi bên).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&gt;20 nang đang phát triển, nhiều nang kích thước trung bình (10-16 mm).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Dịch tự do túi cùng Douglas (ít, mức độ nhẹ).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Dấu hiệu rõ (sau trigger 3-7 ngày)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Buồng trứng rất to (&gt;10-12 cm), nhiều nang hoàng thể hóa.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Dịch tự do ổ bụng lượng nhiều (ascites).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có dịch màng phổi (pleural effusion).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Phân loại OHSS nhanh trên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Nhẹ: buồng trứng &lt;8 cm, dịch tự do ít hoặc không có.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Trung bình: buồng trứng 8-12 cm, ascites vừa.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Nặng: buồng trứng &gt;12 cm, ascites căng, có thể tràn dịch màng phổi.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(Xem bài OHSS Comprehensive để phân loại đầy đủ Golan, RCOG, ASRM 2024.)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Freeze-all dựa trên siêu âm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Khi nào freeze-all, khi nào fresh transfer?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Ra quyết định freeze-all dựa trên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&gt;20 nang phát triển, buồng trứng &gt;8 cm → Freeze-all (OHSS risk cao).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Niêm mạc &lt;7 mm hoặc dạng 2 ngày trigger → Cân nhắc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Polyp, u xơ dưới niêm, dịch lòng TC mới →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Đã dùng GnRH agonist trigger → Freeze-all (trừ khi có LPS đặc biệt).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PPOS / Random start → Freeze-all BẮT BUỘC.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P4 &gt;1.5 ng/mL + nội mạc dạng 2 →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Đáp ứng điển hình, nội mạc ba lá, không OHSS → Có thể fresh transfer.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Tư vấn bệnh nhân về freeze-all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Freeze-all KHÔNG có nghĩa là chu kỳ thất bại.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Vitrification: tỷ lệ sống sau rã đông &gt;95% ở hầu hết trung tâm tốt.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Chuyển phôi chu kỳ sau với nội mạc được chuẩn bị có thể cho tỷ lệ làm tổ tương đương hoặc tốt hơn fresh transfer.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Mẫu phiếu siêu âm &amp;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Công cụ thực hành hàng ngày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Checklist trước khi rời phòng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Hôm nay là ngày thứ mấy dùng FSH?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Tốc độ tăng trưởng nang có phù hợp không? (so với lần trước)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Đã đến lúc bắt đầu antagonist chưa? (với flexible)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Có dấu hiệu OHSS không?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Có dấu hiệu LH surge không? (P4 tăng, nội mạc thay đổi sớm)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Liều FSH có cần thay đổi không?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34840"/>
            <a:ext cx="1143000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3484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Ngày hẹn tiếp theo là khi nào?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07040" y="44965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07040" y="44965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4632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463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Arial"/>
              </a:rPr>
              <a:t>Bệnh nhân có hiểu kế hoạch không?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07040" y="49080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49080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Atlas ca lâm sàng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8 ca điển hình từ thực hành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Ca 1 — AFC thấp, đáp ứng chậm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Bệnh nhân 39 tuổi, AFC = 4, AMH = 0.6 ng/mL.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Ngày 7 FSH 300 IU: 2 nang 11-12 mm, 1 nang 9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→ Không tăng liều thêm. Tiếp tục 300 IU. Siêu âm lại sau 2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Tư vấn: có thể chỉ thu 2-3 noãn. Bàn về oocyte accumulation hoặc noãn hiến.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Ca 2 — PCOS, đáp ứng mạnh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Bệnh nhân 28 tuổi, PCOS, AFC &gt;30 mỗi bên.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FSH 125 IU/ngày, antagonist fixed. Ngày 6: &gt;20 nang 6-10 mm mỗi bên.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→ Tiếp tục liều thấp. Theo dõi SÁT mỗi 1-2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Lên kế hoạch GnRH agonist trigger + freeze-all. An toàn là ưu tiên số một.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Ca 3 — Flexible antagonist, nang 14 mm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Bệnh nhân 33 tuổi, antagonist flexible.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Ngày 6 FSH: nang lớn nhất 14.5 mm, có 5 nang 12-13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→ Bắt đầu antagonist NGAY hôm nay. Tiếp tục FSH liều hiện tại. SA lại sau 2 ngày.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Ca 4 — Nang lệch pha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Bệnh nhân 35 tuổi. Ngày 9 FSH: 2 nang 22-23 mm, 5 nang 13-14 mm, 4 nang 10-11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Khó: nang lớn đã sẵn sàng nhưng hầu hết cohort còn nhỏ.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P4 còn thấp → có thể đợi 1 ngày cho nhóm 10-11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P4 đã tăng → trigger ngay. Nhóm lớn sẽ &gt;24 mm nếu đợi.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Ca 5 — Progesterone tăng ngày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Bệnh nhân 31 tuổi, đáp ứng tốt.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Ngày trigger: 12 nang 16-20 mm, nội mạc 10 mm dạng 2, P4 = 2.1 ng/mL.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→ Đã có lệch pha nội mạc. Dù nang đẹp, fresh transfer khả năng thấp.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Tư vấn freeze-all. Trigger bình thường, chọc hút, đông phôi toàn bộ.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Ca 6 — Buồng trứng khó tiếp cận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Bệnh nhân 34 tuổi, tiền sử mổ bóc endometrioma buồng trứng trái.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Siêu âm: buồng trứng trái nằm sau tử cung, cách đầu dò ~4 cm, có quai ruột xen giữa.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→ Ghi rõ vị trí, khoảng cách, vật cản. Báo trước ekip chọc hút.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Có thể cần ấn bụng/thay đổi tư thế. Không hủy chu kỳ vì access khó.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Ca 7 — Nang tồn dư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Bệnh nhân 29 tuổi. Baseline: AFC = 12, có 1 nang đơn thuần 22 mm buồng trứng phải.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E2 và P4 thấp → nang không hoạt động. Có thể bắt đầu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E2 tăng → nang hoạt động: chọc hút hoặc dùng COCP 7-10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Nếu có chỉ định gấp (bảo tồn sinh sản): chọc hút nang rồi bắt đầu FSH.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Ca 8 — Nghi trigger failure sau GnRHa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Bệnh nhân antagonist cycle, GnRHa trigger (triptorelin 0.2 mg).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Sau trigger 12h: LH &lt;15 IU/L (nếu xét nghiệm).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→ Nghi trigger failure.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Đo LH sau trigger 8-12h. Nếu LH không tăng rõ: rescue bằng hCG 5.000-10.000 IU.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Chọc hút theo lịch hCG (34-36h sau mũi rescue).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Clinical pearls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Arial"/>
              </a:rPr>
              <a:t>10 điểm cốt lõi để thực hành tốt hơn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Pearl 1-5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1. AFC không phải là cuộc thi đếm. Độ đồng đều và ghi nhận buồng trứng khó tiếp cận quan trọng không kém con số AFC.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2. Ngày 5-7 là MỐC QUAN TRỌNG NHẤT. Đánh giá đáp ứng ban đầu và quyết định antagonist.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3. Không trì hoãn trigger chỉ để chờ vài nang nhỏ. Mất 2 noãn non còn hơn hỏng cả chu kỳ.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4. PCOS: đoán trước OHSS, đừng đợi thấy dịch mới lo. Nếu &gt;20 nang, lên kế hoạch GnRHa + freeze-all từ trước.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5. Nội mạc chỉ cần đo có ý nghĩa khi gần trigger. Đo mỗi lần gây lo lắng không cần thiết.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Pearl 6-10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6. Fixed antagonist dễ vận hành hơn flexible. Trung tâm đông, bệnh nhân khó tái khám đúng hẹn → chọn fixed.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7. Buồng trứng khó chọc hút: ghi ngay từ baseline, cập nhật mỗi lần siêu 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8. Progesterone là đèn vàng cho fresh transfer. P4 &gt;1.5 ng/mL → freeze-all thường an toàn hơn.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9. Số noãn mục tiêu không phải càng nhiều càng tốt. ~15 noãn là tối ưu. Trên 20: OHSS tăng mà live birth không tăng (PMID 21558332).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Arial"/>
              </a:rPr>
              <a:t>  –  10. Kết thúc mỗi lần siêu âm bằng một KẾ HOẠCH RÕ RÀNG. Bệnh nhân cần biết: liều, ngày hẹn, bước tiếp theo.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28C8C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72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Arial"/>
              </a:rPr>
              <a:t>Tài liệu tham khảo đã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1.   ESHRE guideline ovarian stimulation 2025 update. PMID: 41732035.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2.   ESHRE guideline ovarian stimulation for IVF/ICSI. PMID: 32395637.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3.   ASRM: testing and interpreting measures of ovarian reserve. PMID: 33280722.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4.   Sunkara: number of eggs and live birth in IVF (400,135 cycles). PMID: 21558332.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5.   OHSS prevention and detection consensus. PMID: 26597569.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6.   ASRM 2024: prevention of moderate and severe OHSS. PMID: 38099867.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7.   Humaidan 2011: GnRH agonist vs HCG for oocyte triggering. PMID: 21450755.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Arial"/>
              </a:rPr>
              <a:t>8.   HERA Delphi consensus: AMH/AFC thresholds for hyperresponse risk. PMID: 39603489.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Arial"/>
              </a:rPr>
              <a:t>Siêu âm theo dõi kích thích buồng trứng  ·  Bác sĩ Ngọc Hưng  ·  Deck học cá nhân từ bài mẹ 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