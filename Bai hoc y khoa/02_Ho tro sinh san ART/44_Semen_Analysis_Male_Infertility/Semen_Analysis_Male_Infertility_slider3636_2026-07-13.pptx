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" Type="http://schemas.openxmlformats.org/officeDocument/2006/relationships/presProps" Target="presProps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" Type="http://schemas.openxmlformats.org/officeDocument/2006/relationships/viewProps" Target="viewProps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" Type="http://schemas.openxmlformats.org/officeDocument/2006/relationships/theme" Target="theme/theme1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" Type="http://schemas.openxmlformats.org/officeDocument/2006/relationships/tableStyles" Target="tableStyles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" Type="http://schemas.openxmlformats.org/officeDocument/2006/relationships/slide" Target="slides/slide1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" Type="http://schemas.openxmlformats.org/officeDocument/2006/relationships/slide" Target="slides/slide2.xml"/><Relationship Id="rId80" Type="http://schemas.openxmlformats.org/officeDocument/2006/relationships/slide" Target="slides/slide73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Đặt định nghĩa vận hành cho bài học.</a:t>
            </a:r>
          </a:p>
          <a:p>
            <a:r>
              <a:t>Tại sao? Nếu hiểu sai vai trò, mọi con số phía sau sẽ bị dùng như cutoff chẩn đoán.</a:t>
            </a:r>
          </a:p>
          <a:p>
            <a:r>
              <a:t>Nếu bỏ qua/làm sai? Bệnh nhân có thể bị tư vấn ART quá mức hoặc trấn an quá mức.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Đọc đại thể trước khi nhảy sang ART.</a:t>
            </a:r>
          </a:p>
          <a:p>
            <a:r>
              <a:t>Tại sao? Một thông số đại thể có thể chỉ đường tới giải phẫu tắc nghẽn.</a:t>
            </a:r>
          </a:p>
          <a:p>
            <a:r>
              <a:t>Nếu bỏ qua/làm sai? Bỏ qua collection error có thể chẩn đoán tắc giả.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Ghi và diễn giải thời gian kiêng.</a:t>
            </a:r>
          </a:p>
          <a:p>
            <a:r>
              <a:t>Tại sao? Không có thông tin này thì khó so sánh mẫu giữa các lần.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Hỏi bệnh nhân có mất mẫu không.</a:t>
            </a:r>
          </a:p>
          <a:p>
            <a:r>
              <a:t>Tại sao? Câu hỏi đơn giản này tránh chẩn đoán hypospermia/oligozoospermia giả.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Ghi delay và nhiệt độ vận chuyển.</a:t>
            </a:r>
          </a:p>
          <a:p>
            <a:r>
              <a:t>Tại sao? Motility là thông số rất nhạy với tiền phân tích.</a:t>
            </a:r>
          </a:p>
          <a:p>
            <a:r>
              <a:t>Nếu bỏ qua/làm sai? Có thể gắn nhãn asthenozoospermia sai.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Yêu cầu vitality khi motility thấp.</a:t>
            </a:r>
          </a:p>
          <a:p>
            <a:r>
              <a:t>Tại sao? Không phải mọi tinh trùng bất động đều đã chết.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Hiểu nguồn sai số của kết quả.</a:t>
            </a:r>
          </a:p>
          <a:p>
            <a:r>
              <a:t>Tại sao? SA khác labo có thể khác vì phương pháp và QC, không chỉ vì bệnh nhân thay đổi.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Dạy các mốc thường dùng.</a:t>
            </a:r>
          </a:p>
          <a:p>
            <a:r>
              <a:t>Tại sao? Cần thuộc số nhưng phải thuộc kèm ý nghĩa đúng.</a:t>
            </a:r>
          </a:p>
          <a:p>
            <a:r>
              <a:t>Nếu bỏ qua/làm sai? Học số mà quên provenance sẽ biến reference value thành cutoff.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Sửa cách gọi cutoff.</a:t>
            </a:r>
          </a:p>
          <a:p>
            <a:r>
              <a:t>Tại sao? Reference distribution không đo toàn bộ chức năng sinh sản của cặp đôi.</a:t>
            </a:r>
          </a:p>
          <a:p>
            <a:r>
              <a:t>Nếu bỏ qua/làm sai? Đây là critical miss lớn nhất của bài.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Giảm diễn giải quá mức morphology.</a:t>
            </a:r>
          </a:p>
          <a:p>
            <a:r>
              <a:t>Tại sao? Đây là lỗi thường gặp trong ART counseling.</a:t>
            </a:r>
          </a:p>
          <a:p>
            <a:r>
              <a:t>Nếu bỏ qua/làm sai? Bệnh nhân có thể bị chuyển sang ICSI không cần thiết.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Lặp lại mẫu bất thường khi phù hợp.</a:t>
            </a:r>
          </a:p>
          <a:p>
            <a:r>
              <a:t>Tại sao? Repeat phân biệt bất thường thật với dao động sinh học hoặc lỗi mẫu.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Ghi số liệu xác nhận azoospermia.</a:t>
            </a:r>
          </a:p>
          <a:p>
            <a:r>
              <a:t>Tại sao? Đây là chi tiết an toàn trước khi workup tắc hay suy sinh tinh.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Biết ngoại lệ của repeat chậm.</a:t>
            </a:r>
          </a:p>
          <a:p>
            <a:r>
              <a:t>Tại sao? Không trì hoãn khi kết quả sẽ ảnh hưởng chu kỳ ART hoặc bảo tồn sinh sản.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Không xem số lượng rất thấp là ổn định.</a:t>
            </a:r>
          </a:p>
          <a:p>
            <a:r>
              <a:t>Tại sao? Mẫu sau có thể không còn tinh trùng để dùng ngày OPU.</a:t>
            </a:r>
          </a:p>
          <a:p>
            <a:r>
              <a:t>Nếu bỏ qua/làm sai? Có thể phải hủy chu kỳ hoặc retrieval khẩn cấp.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Dùng đúng ngưỡng xét nghiệm di truyền.</a:t>
            </a:r>
          </a:p>
          <a:p>
            <a:r>
              <a:t>Tại sao? Không phải mọi SA bất thường đều cần xét nghiệm Y microdeletion.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Tìm asthenozoospermia giả trước.</a:t>
            </a:r>
          </a:p>
          <a:p>
            <a:r>
              <a:t>Tại sao? Motility rất dễ bị preanalytics làm sai.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Dùng TMSC như công cụ tư vấn, không như luật.</a:t>
            </a:r>
          </a:p>
          <a:p>
            <a:r>
              <a:t>Tại sao? Ngưỡng phụ thuộc nghiên cứu, labo và toàn cảnh cặp đôi.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Lập kế hoạch ART sớm khi nguy cơ không có tinh trùng.</a:t>
            </a:r>
          </a:p>
          <a:p>
            <a:r>
              <a:t>Tại sao? Chuẩn bị labo và backup giảm nguy cơ hủy chu kỳ.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Cân nhắc cryopreservation khi có tinh trùng hiếm.</a:t>
            </a:r>
          </a:p>
          <a:p>
            <a:r>
              <a:t>Tại sao? Đây là hành động ít xâm lấn có thể cứu chu kỳ.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Không lạm dụng ROS trong bài này.</a:t>
            </a:r>
          </a:p>
          <a:p>
            <a:r>
              <a:t>Tại sao? Bằng chứng/chuẩn hóa chưa đủ cho routine pathway.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Chỉ định xét nghiệm nâng cao theo câu hỏi.</a:t>
            </a:r>
          </a:p>
          <a:p>
            <a:r>
              <a:t>Tại sao? Test thêm không làm kết quả tự rõ nếu câu hỏi ban đầu sai.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Xử trí mẫu mất phần đầu.</a:t>
            </a:r>
          </a:p>
          <a:p>
            <a:r>
              <a:t>Tại sao? Phần đầu giàu tinh trùng nên count/volume có thể thấp giả.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Nhận diện lỗi vận chuyển.</a:t>
            </a:r>
          </a:p>
          <a:p>
            <a:r>
              <a:t>Tại sao? Delay/nhiệt độ là nguyên nhân giả thường gặp của motility thấp.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Đi theo pathway tắc đoạn xa.</a:t>
            </a:r>
          </a:p>
          <a:p>
            <a:r>
              <a:t>Tại sao? Pattern này gợi ý thiếu dịch túi tinh hoặc EOD/CBAVD.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Tư vấn nhánh NOA.</a:t>
            </a:r>
          </a:p>
          <a:p>
            <a:r>
              <a:t>Tại sao? Người bệnh cần biết khả năng không tìm được tinh trùng và lựa chọn thay thế.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Bảo vệ chu kỳ ART khi tinh trùng dao động rất thấp.</a:t>
            </a:r>
          </a:p>
          <a:p>
            <a:r>
              <a:t>Tại sao? Không chuẩn bị backup có thể dẫn tới hủy chu kỳ hoặc retrieval khẩn cấp.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Giảm over-treatment theo morphology.</a:t>
            </a:r>
          </a:p>
          <a:p>
            <a:r>
              <a:t>Tại sao? Morphology đơn độc là bẫy diễn giải rất thường gặp.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Xử trí round cells có chọn lọc.</a:t>
            </a:r>
          </a:p>
          <a:p>
            <a:r>
              <a:t>Tại sao? Round cells là mô tả hình thái, không phải chẩn đoán nhiễm trùng.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Liên kết SA bất thường với khám và siêu âm đúng chỉ định.</a:t>
            </a:r>
          </a:p>
          <a:p>
            <a:r>
              <a:t>Tại sao? Điều trị varicocele theo hình ảnh đơn độc có thể over-treatment.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Trả lời ca ngắn theo checklist.</a:t>
            </a:r>
          </a:p>
          <a:p>
            <a:r>
              <a:t>Tại sao? Sửa critical miss về reference values.</a:t>
            </a:r>
          </a:p>
          <a:p>
            <a:r>
              <a:t>Nếu bỏ qua/làm sai? Dùng sai làm tư vấn fertile/infertile giả.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Trả lời ca ngắn theo checklist.</a:t>
            </a:r>
          </a:p>
          <a:p>
            <a:r>
              <a:t>Tại sao? Pellet/repeat tránh bỏ sót cryptozoospermia.</a:t>
            </a:r>
          </a:p>
          <a:p>
            <a:r>
              <a:t>Nếu bỏ qua/làm sai? Workup sai nhánh.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Trả lời ca ngắn theo checklist.</a:t>
            </a:r>
          </a:p>
          <a:p>
            <a:r>
              <a:t>Tại sao? Motility dễ bị tiền phân tích làm sai.</a:t>
            </a:r>
          </a:p>
          <a:p>
            <a:r>
              <a:t>Nếu bỏ qua/làm sai? Chẩn đoán asthenozoospermia giả.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Trả lời ca ngắn theo checklist.</a:t>
            </a:r>
          </a:p>
          <a:p>
            <a:r>
              <a:t>Tại sao? Low volume trước hết là câu hỏi collection.</a:t>
            </a:r>
          </a:p>
          <a:p>
            <a:r>
              <a:t>Nếu bỏ qua/làm sai? Gắn nhãn CBAVD/EOD quá sớm.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Trả lời ca ngắn theo checklist.</a:t>
            </a:r>
          </a:p>
          <a:p>
            <a:r>
              <a:t>Tại sao? Số lượng rất thấp có thể dao động tới zero.</a:t>
            </a:r>
          </a:p>
          <a:p>
            <a:r>
              <a:t>Nếu bỏ qua/làm sai? Không có tinh trùng ngày OPU.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Trả lời ca ngắn theo checklist.</a:t>
            </a:r>
          </a:p>
          <a:p>
            <a:r>
              <a:t>Tại sao? Morphology có biến thiên cao.</a:t>
            </a:r>
          </a:p>
          <a:p>
            <a:r>
              <a:t>Nếu bỏ qua/làm sai? Over-treatment.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Trả lời ca ngắn theo checklist.</a:t>
            </a:r>
          </a:p>
          <a:p>
            <a:r>
              <a:t>Tại sao? Round cells là mô tả hình thái.</a:t>
            </a:r>
          </a:p>
          <a:p>
            <a:r>
              <a:t>Nếu bỏ qua/làm sai? Overtesting/overtreatment.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Trả lời ca ngắn theo checklist.</a:t>
            </a:r>
          </a:p>
          <a:p>
            <a:r>
              <a:t>Tại sao? TMSC tốt hơn concentration đơn độc nhưng không thay quyết định đa biến.</a:t>
            </a:r>
          </a:p>
          <a:p>
            <a:r>
              <a:t>Nếu bỏ qua/làm sai? Chọn ART máy móc.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Đặt thông điệp trung tâm ngay từ đầu.</a:t>
            </a:r>
          </a:p>
          <a:p>
            <a:r>
              <a:t>Tại sao? Người học cần hiểu tinh dịch đồ là snapshot chuẩn hóa, không phải xét nghiệm đậu/rớt fertility.</a:t>
            </a:r>
          </a:p>
          <a:p>
            <a:r>
              <a:t>Nếu bỏ qua/làm sai? Nếu mở bài bằng các cutoff, học viên dễ diễn giải như fertile/infertile.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Dẫn người học đi từ mẫu xét nghiệm đến quyết định ART.</a:t>
            </a:r>
          </a:p>
          <a:p>
            <a:r>
              <a:t>Tại sao? Trình tự này buộc kiểm tra tiền phân tích trước khi đọc số và chọn can thiệp.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Chuyển sang phần 0: Thông điệp trung tâm.</a:t>
            </a:r>
          </a:p>
          <a:p>
            <a:r>
              <a:t>Tại sao? Section divider giúp người học reset câu hỏi lâm sàng trước phần mới.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Tách năng lực xét nghiệm khỏi diễn giải lâm sàng.</a:t>
            </a:r>
          </a:p>
          <a:p>
            <a:r>
              <a:t>Tại sao? SA là đầu vào của workup, không phải quyết định cuối.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Chuyển sang phần 1: Vai trò và sinh lý nguồn gốc tinh dịch.</a:t>
            </a:r>
          </a:p>
          <a:p>
            <a:r>
              <a:t>Tại sao? Section divider giúp người học reset câu hỏi lâm sàng trước phần mới.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Liên hệ giải phẫu với thông số báo cáo.</a:t>
            </a:r>
          </a:p>
          <a:p>
            <a:r>
              <a:t>Tại sao? Volume, pH và azoospermia chỉ có nghĩa khi hiểu tuyến phụ và đường dẫn tinh.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Dùng pattern thay vì nhìn một con số.</a:t>
            </a:r>
          </a:p>
          <a:p>
            <a:r>
              <a:t>Tại sao? Cùng là azoospermia nhưng nhánh xử trí khác nhau hoàn toàn.</a:t>
            </a:r>
          </a:p>
          <a:p>
            <a:r>
              <a:t>Nếu bỏ qua/làm sai? Nhầm OA và NOA làm sai genetics, imaging và retrieval planning.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Chuyển sang phần 2: Lấy mẫu và tiền phân tích.</a:t>
            </a:r>
          </a:p>
          <a:p>
            <a:r>
              <a:t>Tại sao? Section divider giúp người học reset câu hỏi lâm sàng trước phần mới.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Kiểm tra mẫu trước khi đọc số.</a:t>
            </a:r>
          </a:p>
          <a:p>
            <a:r>
              <a:t>Tại sao? Tiền phân tích sai có thể tạo hypospermia, oligozoospermia hoặc asthenozoospermia giả.</a:t>
            </a:r>
          </a:p>
          <a:p>
            <a:r>
              <a:t>Nếu bỏ qua/làm sai? Kết luận bệnh lý từ mẫu lỗi sẽ kéo theo workup và ART sai.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Ghi limitation thay vì che lấp lỗi mẫu.</a:t>
            </a:r>
          </a:p>
          <a:p>
            <a:r>
              <a:t>Tại sao? Report trung thực giúp bác sĩ không xử trí quá mức.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Chuyển sang phần 3: Basic semen examination và QC.</a:t>
            </a:r>
          </a:p>
          <a:p>
            <a:r>
              <a:t>Tại sao? Section divider giúp người học reset câu hỏi lâm sàng trước phần mới.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Dạy công thức trước khi đọc mức độ nặng.</a:t>
            </a:r>
          </a:p>
          <a:p>
            <a:r>
              <a:t>Tại sao? Hai bệnh nhân cùng concentration có thể có total count khác nhau.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Tách di động có ích khỏi chỉ có động đậy.</a:t>
            </a:r>
          </a:p>
          <a:p>
            <a:r>
              <a:t>Tại sao? Total motility cao nhưng progressive thấp vẫn có ý nghĩa lâm sàng.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Không gọi round cells là leukocytes khi chưa xác nhận.</a:t>
            </a:r>
          </a:p>
          <a:p>
            <a:r>
              <a:t>Tại sao? Giảm culture/kháng sinh không cần thiết.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Dùng đúng thuật ngữ labo.</a:t>
            </a:r>
          </a:p>
          <a:p>
            <a:r>
              <a:t>Tại sao? ASA testing không routine ban đầu chỉ vì một báo cáo mơ hồ.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Chuyển sang phần 4: WHO 2021 reference values.</a:t>
            </a:r>
          </a:p>
          <a:p>
            <a:r>
              <a:t>Tại sao? Section divider giúp người học reset câu hỏi lâm sàng trước phần mới.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Đặt WHO values vào đúng vai trò.</a:t>
            </a:r>
          </a:p>
          <a:p>
            <a:r>
              <a:t>Tại sao? Mốc tham chiếu hỗ trợ tư duy, không thay thế tư duy.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Chuyển sang phần 5: Thuật ngữ, độ biến thiên và repeat testing.</a:t>
            </a:r>
          </a:p>
          <a:p>
            <a:r>
              <a:t>Tại sao? Section divider giúp người học reset câu hỏi lâm sàng trước phần mới.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Chuẩn hóa từ vựng trước khi tư vấn.</a:t>
            </a:r>
          </a:p>
          <a:p>
            <a:r>
              <a:t>Tại sao? Dùng sai thuật ngữ làm sai workup và kỳ vọng bệnh nhân.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Không chẩn đoán azoospermia từ một lam ban đầu.</a:t>
            </a:r>
          </a:p>
          <a:p>
            <a:r>
              <a:t>Tại sao? Pellet/repeat tránh bỏ sót cryptozoospermia và mẫu lỗi.</a:t>
            </a:r>
          </a:p>
          <a:p>
            <a:r>
              <a:t>Nếu bỏ qua/làm sai? Sai ở bước này làm sai toàn bộ genetics, imaging và retrieval.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Chuyển sang phần 6: Diễn giải theo pattern.</a:t>
            </a:r>
          </a:p>
          <a:p>
            <a:r>
              <a:t>Tại sao? Section divider giúp người học reset câu hỏi lâm sàng trước phần mới.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Đọc low volume theo thứ tự.</a:t>
            </a:r>
          </a:p>
          <a:p>
            <a:r>
              <a:t>Tại sao? Lỗi lấy mẫu thường gặp hơn tắc hiếm, nhưng pattern acid azoospermia rất quan trọng.</a:t>
            </a:r>
          </a:p>
          <a:p>
            <a:r>
              <a:t>Nếu bỏ qua/làm sai? Nhảy thẳng tới CBAVD/EOD có thể bỏ sót collection error.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Phân nhánh OA/NOA bằng pattern.</a:t>
            </a:r>
          </a:p>
          <a:p>
            <a:r>
              <a:t>Tại sao? Hormone và khám đặt SA vào sinh lý sản xuất hay tắc nghẽn.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Chuyển sang phần 7: Ý nghĩa đối với natural conception, IUI, IVF và ICSI.</a:t>
            </a:r>
          </a:p>
          <a:p>
            <a:r>
              <a:t>Tại sao? Section divider giúp người học reset câu hỏi lâm sàng trước phần mới.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Luôn đưa người nữ và cặp đôi vào quyết định.</a:t>
            </a:r>
          </a:p>
          <a:p>
            <a:r>
              <a:t>Tại sao? Tinh dịch đồ không tồn tại trong chân không.</a:t>
            </a:r>
          </a:p>
          <a:p>
            <a:r>
              <a:t>Nếu bỏ qua/làm sai? Chọn IUI/IVF/ICSI bằng một chỉ số là critical miss.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Dạy quyết định đa biến.</a:t>
            </a:r>
          </a:p>
          <a:p>
            <a:r>
              <a:t>Tại sao? ART là can thiệp của cả cặp đôi và labo.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Chuyển sang phần 8: Extended / advanced tests.</a:t>
            </a:r>
          </a:p>
          <a:p>
            <a:r>
              <a:t>Tại sao? Section divider giúp người học reset câu hỏi lâm sàng trước phần mới.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Đặt sperm DNA fragmentation đúng vị trí.</a:t>
            </a:r>
          </a:p>
          <a:p>
            <a:r>
              <a:t>Tại sao? Threshold phụ thuộc assay và labo phải validate.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Dùng bốn câu này trước khi order test.</a:t>
            </a:r>
          </a:p>
          <a:p>
            <a:r>
              <a:t>Tại sao? Nếu không đổi quản lý, test thường chỉ tăng chi phí và nhiễu.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Chuyển sang phần 9: Report chuẩn và mini-cases.</a:t>
            </a:r>
          </a:p>
          <a:p>
            <a:r>
              <a:t>Tại sao? Section divider giúp người học reset câu hỏi lâm sàng trước phần mới.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Yêu cầu report đủ dữ liệu hành động.</a:t>
            </a:r>
          </a:p>
          <a:p>
            <a:r>
              <a:t>Tại sao? Thiếu tiền phân tích và comments khiến kết quả khó tin và khó dùng.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Chuyển sang phần 10: Critical misses.</a:t>
            </a:r>
          </a:p>
          <a:p>
            <a:r>
              <a:t>Tại sao? Section divider giúp người học reset câu hỏi lâm sàng trước phần mới.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Dùng checklist để tự chấm an toàn.</a:t>
            </a:r>
          </a:p>
          <a:p>
            <a:r>
              <a:t>Tại sao? Các lỗi này gây hại thực hành nhiều hơn quên một con số nhỏ.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Chốt các thông điệp hành động.</a:t>
            </a:r>
          </a:p>
          <a:p>
            <a:r>
              <a:t>Tại sao? Take-home ngắn giúp người học tự kiểm tra trước khi dùng kết quả SA cho ART.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Ghi nguồn chính đã dùng trong bài.</a:t>
            </a:r>
          </a:p>
          <a:p>
            <a:r>
              <a:t>Tại sao? Nguồn giúp truy ngược các ngưỡng WHO và khuyến cáo AUA/ASRM, EAU.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gì? Chuyển sang phần 11: Drill nhanh.</a:t>
            </a:r>
          </a:p>
          <a:p>
            <a:r>
              <a:t>Tại sao? Section divider giúp người học reset câu hỏi lâm sàng trước phần mới.</a:t>
            </a:r>
          </a:p>
          <a:p>
            <a:r>
              <a:t>Nguồn chính: WHO semen manual 6th ed 2021; AUA/ASRM Male Infertility Guideline amended 2024 PMID 39145501; EAU Sexual and Reproductive Health Guideline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64008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5236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4108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3544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2980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24160" y="54864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4108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544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2980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24160" y="160020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5236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4108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2980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424160" y="265176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4108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3544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2980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424160" y="3703320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5236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4108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544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2980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424160" y="4754879"/>
            <a:ext cx="50292" cy="50292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675120" y="822960"/>
            <a:ext cx="3977640" cy="2560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822960"/>
            <a:ext cx="39776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HỖ TRỢ SINH SẢN / NAM KHOA / LABO ART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1371600"/>
            <a:ext cx="5577840" cy="2560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Tinh dịch đồ trong vô sinh nam và ART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023360"/>
            <a:ext cx="128016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206240"/>
            <a:ext cx="55778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0" i="0">
                <a:solidFill>
                  <a:srgbClr val="B0C8E0"/>
                </a:solidFill>
                <a:latin typeface="Segoe UI"/>
              </a:rPr>
              <a:t>Lấy mẫu đúng, đọc kết quả đúng, không biến reference values thành cutoff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4937760"/>
            <a:ext cx="55778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1">
                <a:solidFill>
                  <a:srgbClr val="728C8C"/>
                </a:solidFill>
                <a:latin typeface="Segoe UI"/>
              </a:rPr>
              <a:t>Bác sĩ Ngọc Hưng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5989320"/>
            <a:ext cx="52120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Bản đồ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09728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977A"/>
                </a:solidFill>
                <a:latin typeface="Segoe U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1716786"/>
            <a:ext cx="25400" cy="544068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600200"/>
            <a:ext cx="978408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 i="0">
                <a:solidFill>
                  <a:srgbClr val="0D2B2B"/>
                </a:solidFill>
                <a:latin typeface="Segoe UI"/>
              </a:rPr>
              <a:t>Vai trò và sinh lý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09728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977A"/>
                </a:solidFill>
                <a:latin typeface="Segoe UI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2494026"/>
            <a:ext cx="25400" cy="544068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2377440"/>
            <a:ext cx="978408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 i="0">
                <a:solidFill>
                  <a:srgbClr val="0D2B2B"/>
                </a:solidFill>
                <a:latin typeface="Segoe UI"/>
              </a:rPr>
              <a:t>Lấy mẫu - tiền phân tích - QC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54680"/>
            <a:ext cx="109728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977A"/>
                </a:solidFill>
                <a:latin typeface="Segoe UI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3271266"/>
            <a:ext cx="25400" cy="544068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3154680"/>
            <a:ext cx="978408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 i="0">
                <a:solidFill>
                  <a:srgbClr val="0D2B2B"/>
                </a:solidFill>
                <a:latin typeface="Segoe UI"/>
              </a:rPr>
              <a:t>WHO 2021 và thuật ngữ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977A"/>
                </a:solidFill>
                <a:latin typeface="Segoe UI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4048506"/>
            <a:ext cx="25400" cy="544068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3931920"/>
            <a:ext cx="978408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 i="0">
                <a:solidFill>
                  <a:srgbClr val="0D2B2B"/>
                </a:solidFill>
                <a:latin typeface="Segoe UI"/>
              </a:rPr>
              <a:t>Repeat testing và pattern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09160"/>
            <a:ext cx="109728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977A"/>
                </a:solidFill>
                <a:latin typeface="Segoe UI"/>
              </a:rPr>
              <a:t>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4825746"/>
            <a:ext cx="25400" cy="544068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4709160"/>
            <a:ext cx="978408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 i="0">
                <a:solidFill>
                  <a:srgbClr val="0D2B2B"/>
                </a:solidFill>
                <a:latin typeface="Segoe UI"/>
              </a:rPr>
              <a:t>ART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86400"/>
            <a:ext cx="109728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700" b="1" i="0">
                <a:solidFill>
                  <a:srgbClr val="00977A"/>
                </a:solidFill>
                <a:latin typeface="Segoe UI"/>
              </a:rPr>
              <a:t>06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91640" y="5602986"/>
            <a:ext cx="25400" cy="544068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0" y="5486400"/>
            <a:ext cx="978408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 i="0">
                <a:solidFill>
                  <a:srgbClr val="0D2B2B"/>
                </a:solidFill>
                <a:latin typeface="Segoe UI"/>
              </a:rPr>
              <a:t>Advanced tests, report và cases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1  /  60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Segoe UI"/>
              </a:rPr>
              <a:t>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Thông điệp trung tâm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Segoe UI"/>
              </a:rPr>
              <a:t>Tinh dịch đồ là snapshot, không phải phép thử đậu/rớt fertility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Một câu phải nhớ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Tinh dịch đồ mô tả một mẫu xuất tinh tại một thời điểm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Không chứng minh người nam fertile hay infertile tuyệt đối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Phải đọc cùng tiền phân tích, repeat và bối cảnh cặp đôi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Nhiều thông số bất thường cùng lúc có ý nghĩa hơn một con số lẻ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Nếu hiểu sai vai trò, mọi con số phía sau sẽ bị dùng như cutoff chẩn đoán.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Nếu sai, Bệnh nhân có thể bị tư vấn ART quá mức hoặc trấn an quá mức.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2  /  60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Tinh dịch đồ đo gì và không đo gì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336" y="1600200"/>
            <a:ext cx="5577840" cy="470916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470916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557784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212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00977A"/>
                </a:solidFill>
                <a:latin typeface="Segoe UI"/>
              </a:rPr>
              <a:t>Đo được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212080" cy="3931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Volume, pH, hóa lỏng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Concentration và total number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Motility, vitality, morphology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Round cells/WBC, agglutination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Dấu gợi ý tắc/viêm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1928" y="1600200"/>
            <a:ext cx="5577840" cy="470916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554480"/>
            <a:ext cx="5577840" cy="4709160"/>
          </a:xfrm>
          <a:prstGeom prst="rect">
            <a:avLst/>
          </a:prstGeom>
          <a:solidFill>
            <a:srgbClr val="FFFFFF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554480"/>
            <a:ext cx="5577840" cy="508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691640"/>
            <a:ext cx="5212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00CCA3"/>
                </a:solidFill>
                <a:latin typeface="Segoe UI"/>
              </a:rPr>
              <a:t>Không tự đo được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194560"/>
            <a:ext cx="5212080" cy="3931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Fertile/infertile tuyệt đối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Live birth chắc chắn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DNA tinh trùng tuyệt đối bình thường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Nguyên nhân giải phẫu chính xác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IUI/IVF/ICSI chỉ bằng một chỉ số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Chốt: SA là đầu vào của workup, không phải quyết định cuối.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3  /  60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Vai trò và sinh lý nguồn gốc tinh dịch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Segoe UI"/>
              </a:rPr>
              <a:t>Biết dịch đến từ đâu để đọc pattern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Đường đi tinh trùng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199339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1993392" cy="4572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199339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1810512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 i="0">
                <a:solidFill>
                  <a:srgbClr val="0D2B2B"/>
                </a:solidFill>
                <a:latin typeface="Segoe UI"/>
              </a:rPr>
              <a:t>Tinh hoàn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74720"/>
            <a:ext cx="1719072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1A2F2F"/>
                </a:solidFill>
                <a:latin typeface="Segoe UI"/>
              </a:rPr>
              <a:t>sinh tinh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291840"/>
            <a:ext cx="329184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00977A"/>
                </a:solidFill>
                <a:latin typeface="Segoe U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4912" y="2194560"/>
            <a:ext cx="199339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24912" y="2194560"/>
            <a:ext cx="1993392" cy="4572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24912" y="2194560"/>
            <a:ext cx="199339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2743200"/>
            <a:ext cx="1810512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 i="0">
                <a:solidFill>
                  <a:srgbClr val="0D2B2B"/>
                </a:solidFill>
                <a:latin typeface="Segoe UI"/>
              </a:rPr>
              <a:t>Mào tinh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3474720"/>
            <a:ext cx="1719072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1A2F2F"/>
                </a:solidFill>
                <a:latin typeface="Segoe UI"/>
              </a:rPr>
              <a:t>trưởng thành và tăng vận động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3291840"/>
            <a:ext cx="329184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00977A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4064" y="2194560"/>
            <a:ext cx="199339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4064" y="2194560"/>
            <a:ext cx="1993392" cy="4572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84064" y="2194560"/>
            <a:ext cx="199339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2743200"/>
            <a:ext cx="1810512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 i="0">
                <a:solidFill>
                  <a:srgbClr val="0D2B2B"/>
                </a:solidFill>
                <a:latin typeface="Segoe UI"/>
              </a:rPr>
              <a:t>Ống dẫn tinh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3474720"/>
            <a:ext cx="1719072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1A2F2F"/>
                </a:solidFill>
                <a:latin typeface="Segoe UI"/>
              </a:rPr>
              <a:t>vận chuyển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5744" y="3291840"/>
            <a:ext cx="329184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00977A"/>
                </a:solidFill>
                <a:latin typeface="Segoe U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43216" y="2194560"/>
            <a:ext cx="199339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43216" y="2194560"/>
            <a:ext cx="199339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2194560"/>
            <a:ext cx="199339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34656" y="2743200"/>
            <a:ext cx="1810512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 i="0">
                <a:solidFill>
                  <a:srgbClr val="0D2B2B"/>
                </a:solidFill>
                <a:latin typeface="Segoe UI"/>
              </a:rPr>
              <a:t>Túi tinh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0376" y="3474720"/>
            <a:ext cx="1719072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1A2F2F"/>
                </a:solidFill>
                <a:latin typeface="Segoe UI"/>
              </a:rPr>
              <a:t>thể tích, fructose, pH kiềm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4896" y="3291840"/>
            <a:ext cx="329184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00977A"/>
                </a:solidFill>
                <a:latin typeface="Segoe U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02368" y="2194560"/>
            <a:ext cx="199339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802368" y="2194560"/>
            <a:ext cx="1993392" cy="4572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02368" y="2194560"/>
            <a:ext cx="199339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2743200"/>
            <a:ext cx="1810512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 i="0">
                <a:solidFill>
                  <a:srgbClr val="0D2B2B"/>
                </a:solidFill>
                <a:latin typeface="Segoe UI"/>
              </a:rPr>
              <a:t>Tiền liệt tuyến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9528" y="3474720"/>
            <a:ext cx="1719072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1A2F2F"/>
                </a:solidFill>
                <a:latin typeface="Segoe UI"/>
              </a:rPr>
              <a:t>hóa lỏng và enzyme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486400"/>
            <a:ext cx="11430000" cy="64008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486400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▶ HẬU QUẢ:  Ý nghĩa lâm sàng: Volume, pH và azoospermia chỉ có nghĩa khi hiểu tuyến phụ và đường dẫn tinh.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4  /  60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Pattern từ sinh lý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336" y="1600200"/>
            <a:ext cx="5577840" cy="470916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470916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557784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212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00977A"/>
                </a:solidFill>
                <a:latin typeface="Segoe UI"/>
              </a:rPr>
              <a:t>Sản xuất kém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212080" cy="3931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Tinh hoàn nhỏ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FSH tăng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Oligo/azoospermia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Nghĩ NOA/suy sinh tinh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1928" y="1600200"/>
            <a:ext cx="5577840" cy="470916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554480"/>
            <a:ext cx="5577840" cy="4709160"/>
          </a:xfrm>
          <a:prstGeom prst="rect">
            <a:avLst/>
          </a:prstGeom>
          <a:solidFill>
            <a:srgbClr val="FFFFFF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554480"/>
            <a:ext cx="5577840" cy="508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691640"/>
            <a:ext cx="5212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00CCA3"/>
                </a:solidFill>
                <a:latin typeface="Segoe UI"/>
              </a:rPr>
              <a:t>Tắc nghẽn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194560"/>
            <a:ext cx="5212080" cy="3931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Tinh hoàn có thể bình thường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FSH thường bình thường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Mào tinh/ống dẫn tinh bất thường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Nghĩ OA/CBAVD/EOD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Chốt: Cùng là azoospermia nhưng nhánh xử trí khác nhau hoàn toàn.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5  /  60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Vì sao volume + pH quan trọng?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Low volume có thể do lấy mẫu thiếu hoặc xuất tinh ngược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pH acid gợi ý thiếu đóng góp túi tinh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Low-volume acidic azoospermia gợi ý CBAVD/EOD sau khi loại trừ lỗi mẫu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Cần liên kết sang siêu âm bìu/TRUS ở bài 42 khi đúng chỉ định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Một thông số đại thể có thể chỉ đường tới giải phẫu tắc nghẽn.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Nếu sai, Bỏ qua collection error có thể chẩn đoán tắc giả.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6  /  60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Lấy mẫu và tiền phân tích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Segoe UI"/>
              </a:rPr>
              <a:t>Phần quan trọng nhất của bài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Checklist trước khi nhận mẫu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7680960" cy="3657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6309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Tiêu chí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600200"/>
            <a:ext cx="1188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Điểm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768096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Kiêng xuất tinh 2-7 ngày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02768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02768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7680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Lấy đủ toàn bộ mẫu, nhất là phần đầu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43916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43916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88920"/>
            <a:ext cx="768096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8892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Dụng cụ/lubricant không độc tinh trùng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285064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5064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00400"/>
            <a:ext cx="7680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20040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Ghi giờ lấy mẫu và giờ bắt đầu phân tích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326212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326212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11880"/>
            <a:ext cx="768096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61188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Vận chuyển nhanh, tránh lạnh/nóng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67360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367360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023360"/>
            <a:ext cx="7680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02336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Hỏi sốt, bệnh cấp, thuốc, testosterone/anabolic steroid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408508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408508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0455" y="1645920"/>
            <a:ext cx="3611880" cy="283464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3879" y="1600200"/>
            <a:ext cx="3611880" cy="283464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83879" y="1600200"/>
            <a:ext cx="3611880" cy="36576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79" y="1600200"/>
            <a:ext cx="36118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DIỄN GIẢI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39" y="1965960"/>
            <a:ext cx="128016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00977A"/>
                </a:solidFill>
                <a:latin typeface="Segoe UI"/>
              </a:rPr>
              <a:t>Cần làm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19" y="1965960"/>
            <a:ext cx="205740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Kiểm tra mẫu trước khi đọc số.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39" y="2788920"/>
            <a:ext cx="128016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00977A"/>
                </a:solidFill>
                <a:latin typeface="Segoe UI"/>
              </a:rPr>
              <a:t>Lý 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19" y="2788920"/>
            <a:ext cx="205740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A2F2F"/>
                </a:solidFill>
                <a:latin typeface="Segoe UI"/>
              </a:rPr>
              <a:t>Tiền phân tích sai có thể tạo hypospermia, oligozoospermia hoặc asthenozoospermia giả.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39" y="3611880"/>
            <a:ext cx="128016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00977A"/>
                </a:solidFill>
                <a:latin typeface="Segoe UI"/>
              </a:rPr>
              <a:t>Nếu bỏ sót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19" y="3611880"/>
            <a:ext cx="205740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Kết luận bệnh lý từ mẫu lỗi sẽ kéo theo workup và ART sai.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7  /  60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Kiêng xuất tinh: 2-7 ngày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WHO dùng 2-7 ngày để chuẩn hóa điều kiện so sánh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Kiêng quá ngắn có thể thấp số lượng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Kiêng quá dài có thể tăng tinh trùng già/kém di động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Luôn ghi số ngày kiêng trên report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Không có thông tin này thì khó so sánh mẫu giữa các lần.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8  /  60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Lấy đủ mẫu: hỏi thẳng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Phần đầu mẫu thường giàu tinh trùng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Mất phần đầu làm volume và count thấp giả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Report phải ghi giới hạn mẫu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Thường nên lặp lại đúng chuẩn trước khi chẩn đoán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Câu hỏi đơn giản này tránh chẩn đoán hypospermia/oligozoospermia giả.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9  /  60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Thời gian phân tích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WHO: bắt đầu phân tích lý tưởng trong 30 phút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Muộn nhất trong 60 phút sau lấy mẫu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Delay và nhiệt độ không phù hợp làm giảm motility giả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Mẫu lấy tại nhà phải ghi giờ và điều kiện vận chuyển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Motility là thông số rất nhạy với tiền phân tích.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Nếu sai, Có thể gắn nhãn asthenozoospermia sai.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10  /  60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Khi nào report phải ghi giới hạn?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7680960" cy="3657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6309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Tiêu chí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600200"/>
            <a:ext cx="1188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Điểm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768096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Báo mất một phần mẫu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02768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02768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7680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Mẫu đến muộn hoặc không rõ giờ lấy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43916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43916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88920"/>
            <a:ext cx="768096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8892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Dùng dụng cụ/lubricant không phù hợp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285064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5064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00400"/>
            <a:ext cx="7680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20040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Độ nhớt/hóa lỏng làm khó đếm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326212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326212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11880"/>
            <a:ext cx="768096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61188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Vừa sốt hoặc dùng thuốc ảnh hưởng sinh tinh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67360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367360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023360"/>
            <a:ext cx="7680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02336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Labo không đủ điều kiện đọc morphology/advanced test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408508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408508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0455" y="1645920"/>
            <a:ext cx="3611880" cy="283464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3879" y="1600200"/>
            <a:ext cx="3611880" cy="283464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83879" y="1600200"/>
            <a:ext cx="3611880" cy="36576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79" y="1600200"/>
            <a:ext cx="36118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DIỄN GIẢI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39" y="1965960"/>
            <a:ext cx="128016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00977A"/>
                </a:solidFill>
                <a:latin typeface="Segoe UI"/>
              </a:rPr>
              <a:t>Cần làm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19" y="1965960"/>
            <a:ext cx="20574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Ghi limitation thay vì che lấp lỗi mẫu.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39" y="3200400"/>
            <a:ext cx="128016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00977A"/>
                </a:solidFill>
                <a:latin typeface="Segoe UI"/>
              </a:rPr>
              <a:t>Lý 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19" y="3200400"/>
            <a:ext cx="20574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Report trung thực giúp bác sĩ không xử trí quá mức.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11  /  60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Basic semen examination và QC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Segoe UI"/>
              </a:rPr>
              <a:t>Đọc đúng từng thông số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Concentration vs total sperm number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336" y="1600200"/>
            <a:ext cx="5577840" cy="470916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470916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557784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212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00977A"/>
                </a:solidFill>
                <a:latin typeface="Segoe UI"/>
              </a:rPr>
              <a:t>Concentration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212080" cy="3931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Triệu tinh trùng/mL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Không tính volume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Dễ bị nhìn đơn độc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Ví dụ: 16 triệu/mL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1928" y="1600200"/>
            <a:ext cx="5577840" cy="470916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554480"/>
            <a:ext cx="5577840" cy="4709160"/>
          </a:xfrm>
          <a:prstGeom prst="rect">
            <a:avLst/>
          </a:prstGeom>
          <a:solidFill>
            <a:srgbClr val="FFFFFF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554480"/>
            <a:ext cx="5577840" cy="508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691640"/>
            <a:ext cx="5212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00CCA3"/>
                </a:solidFill>
                <a:latin typeface="Segoe UI"/>
              </a:rPr>
              <a:t>Total sperm number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194560"/>
            <a:ext cx="5212080" cy="3931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Tổng số tinh trùng/ejaculate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Concentration x volume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Phản ánh toàn mẫu hơn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WHO 2021: 39 triệu/ejaculate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Chốt: Hai bệnh nhân cùng concentration có thể có total count khác nhau.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12  /  60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Progressive vs total motility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336" y="1600200"/>
            <a:ext cx="5577840" cy="470916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470916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557784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212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00977A"/>
                </a:solidFill>
                <a:latin typeface="Segoe UI"/>
              </a:rPr>
              <a:t>Progressive motility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212080" cy="3931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Di chuyển tiến tới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Liên quan thực hành IUI/ART hơn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WHO 2021 lower 5th centile: 30%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1928" y="1600200"/>
            <a:ext cx="5577840" cy="470916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554480"/>
            <a:ext cx="5577840" cy="4709160"/>
          </a:xfrm>
          <a:prstGeom prst="rect">
            <a:avLst/>
          </a:prstGeom>
          <a:solidFill>
            <a:srgbClr val="FFFFFF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554480"/>
            <a:ext cx="5577840" cy="508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691640"/>
            <a:ext cx="5212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00CCA3"/>
                </a:solidFill>
                <a:latin typeface="Segoe UI"/>
              </a:rPr>
              <a:t>Total motility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194560"/>
            <a:ext cx="5212080" cy="3931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Progressive + non-progressive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Có thể chỉ rung/động tại chỗ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WHO 2021 lower 5th centile: 42%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Chốt: Total motility cao nhưng progressive thấp vẫn có ý nghĩa lâm sàng.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13  /  60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Khi motility thấp, cần vitality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Vitality phân biệt bất động còn sống với tinh trùng chết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Motility thấp + vitality còn tốt: nghĩ vấn đề vận động/tiền phân tích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Motility thấp + vitality thấp: nghĩ necrozoospermia hoặc tổn thương nặng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WHO 2021 lower 5th centile vitality: 54%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Không phải mọi tinh trùng bất động đều đã chết.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14  /  60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Round cells vs leukocytospermia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336" y="1600200"/>
            <a:ext cx="5577840" cy="470916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470916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557784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212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00977A"/>
                </a:solidFill>
                <a:latin typeface="Segoe UI"/>
              </a:rPr>
              <a:t>Round cells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212080" cy="3931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Nhóm hình thái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Có thể là bạch cầu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Có thể là tế bào mầm non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Chưa phải chẩn đoán nhiễm trùng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1928" y="1600200"/>
            <a:ext cx="5577840" cy="470916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554480"/>
            <a:ext cx="5577840" cy="4709160"/>
          </a:xfrm>
          <a:prstGeom prst="rect">
            <a:avLst/>
          </a:prstGeom>
          <a:solidFill>
            <a:srgbClr val="FFFFFF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554480"/>
            <a:ext cx="5577840" cy="508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691640"/>
            <a:ext cx="5212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00CCA3"/>
                </a:solidFill>
                <a:latin typeface="Segoe UI"/>
              </a:rPr>
              <a:t>Leukocytospermia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194560"/>
            <a:ext cx="5212080" cy="3931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Cần xác nhận là bạch cầu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Đặt trong bối cảnh triệu chứng/nguy cơ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Mới cân nhắc culture/điều trị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Tránh overtreatment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Chốt: Giảm culture/kháng sinh không cần thiết.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15  /  60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Agglutination vs aggregation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336" y="1600200"/>
            <a:ext cx="5577840" cy="470916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470916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557784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212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00977A"/>
                </a:solidFill>
                <a:latin typeface="Segoe UI"/>
              </a:rPr>
              <a:t>Agglutination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212080" cy="3931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Tinh trùng dính với tinh trùng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Có pattern đầu-đầu/đuôi-đuôi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Có thể gợi ý ASA trong bối cảnh phù hợp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1928" y="1600200"/>
            <a:ext cx="5577840" cy="470916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554480"/>
            <a:ext cx="5577840" cy="4709160"/>
          </a:xfrm>
          <a:prstGeom prst="rect">
            <a:avLst/>
          </a:prstGeom>
          <a:solidFill>
            <a:srgbClr val="FFFFFF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554480"/>
            <a:ext cx="5577840" cy="508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691640"/>
            <a:ext cx="5212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00CCA3"/>
                </a:solidFill>
                <a:latin typeface="Segoe UI"/>
              </a:rPr>
              <a:t>Aggregation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194560"/>
            <a:ext cx="5212080" cy="3931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Tinh trùng kẹt với nhầy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Dính mảnh vụn/tế bào khác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Không thay thế thuật ngữ agglutination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Chốt: ASA testing không routine ban đầu chỉ vì một báo cáo mơ hồ.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16  /  60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QC labo: bác sĩ cần biết gì?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Buồng đếm, pipette và timing phải chuẩn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Đếm nên có duplicate/đánh giá sai số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Morphology phụ thuộc nhuộm và người đọc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CASA hữu ích nhưng không thay thế QC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Advanced tests cần labo validate threshold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SA khác labo có thể khác vì phương pháp và QC, không chỉ vì bệnh nhân thay đổi.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17  /  60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WHO 2021 reference values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Segoe UI"/>
              </a:rPr>
              <a:t>Mốc tham chiếu, không phải cutoff fertile/infertile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Bảng WHO 2021 lower 5th centile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Volume: 1.4 mL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Concentration: 16 triệu/mL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Total sperm number: 39 triệu/ejaculate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Total motility: 42%; progressive motility: 30%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Vitality: 54%; normal morphology: 4%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Cần thuộc số nhưng phải thuộc kèm ý nghĩa đúng.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Nếu sai, Học số mà quên provenance sẽ biến reference value thành cutoff.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18  /  60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Câu cảnh báo bắt buộc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WHO 2021 lower fifth-centile reference values là mốc phân bố tham chiếu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Không phải ranh giới fertile/infertile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Dưới mốc: tăng xác suất male factor nhưng không vô sinh tuyệt đối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Trên mốc: không bảo đảm có thai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Reference distribution không đo toàn bộ chức năng sinh sản của cặp đôi.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Nếu sai, Đây là critical miss lớn nhất của bài.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19  /  60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Dùng đúng vs dùng sai WHO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470916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212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900" b="1" i="0">
                <a:solidFill>
                  <a:srgbClr val="00977A"/>
                </a:solidFill>
                <a:latin typeface="Segoe UI"/>
              </a:rPr>
              <a:t>Dùng đúng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Chuẩn hóa báo cáo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Ước lượng mức bất thường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Quyết định repeat/workup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Trao đổi với labo/cặp đôi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554480"/>
            <a:ext cx="5577840" cy="47091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554480"/>
            <a:ext cx="5577840" cy="50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783080"/>
            <a:ext cx="5212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900" b="1" i="0">
                <a:solidFill>
                  <a:srgbClr val="E53E3E"/>
                </a:solidFill>
                <a:latin typeface="Segoe UI"/>
              </a:rPr>
              <a:t>Dùng sai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Segoe UI"/>
              </a:rPr>
              <a:t>  –  Kết luận fertile/infertile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Segoe UI"/>
              </a:rPr>
              <a:t>  –  Chọn ICSI chỉ bằng morphology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Segoe UI"/>
              </a:rPr>
              <a:t>  –  Bỏ qua tiền phân tích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Segoe UI"/>
              </a:rPr>
              <a:t>  –  Bỏ qua người nữ và cặp đôi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Segoe UI"/>
              </a:rPr>
              <a:t>  –  Chốt: Mốc tham chiếu hỗ trợ tư duy, không thay thế tư duy.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20  /  60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Morphology 4%: đừng overcall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Normal forms lower 5th centile là 4%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Morphology biến thiên theo phương pháp và người đọc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Không đại diện trực tiếp cho DNA hoặc khả năng thụ tinh tuyệt đối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Isolated teratozoospermia không tự động là chỉ định ICSI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Đây là lỗi thường gặp trong ART counseling.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Nếu sai, Bệnh nhân có thể bị chuyển sang ICSI không cần thiết.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21  /  60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Thuật ngữ, độ biến thiên và repeat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Segoe UI"/>
              </a:rPr>
              <a:t>Không phân nhánh khi chẩn đoán chưa chắc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Các cặp thuật ngữ dễ nhầm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7680960" cy="3657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6309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Tiêu chí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600200"/>
            <a:ext cx="1188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Điểm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768096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Aspermia khác azoospermia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02768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02768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7680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Cryptozoospermia khác severe oligozoospermia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43916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43916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88920"/>
            <a:ext cx="768096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8892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Asthenozoospermia khác necrozoospermia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285064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5064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00400"/>
            <a:ext cx="7680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20040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Teratozoospermia không đồng nghĩa DNA xấu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326212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326212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11880"/>
            <a:ext cx="768096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61188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OAT là mô tả nhiều trục bất thường, không phải nguyên nhân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67360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367360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0455" y="1645920"/>
            <a:ext cx="3611880" cy="242316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79" y="1600200"/>
            <a:ext cx="3611880" cy="242316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1600200"/>
            <a:ext cx="3611880" cy="36576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1600200"/>
            <a:ext cx="36118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DIỄN GIẢI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39" y="1965960"/>
            <a:ext cx="1280160" cy="9829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00977A"/>
                </a:solidFill>
                <a:latin typeface="Segoe UI"/>
              </a:rPr>
              <a:t>Cần làm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19" y="1965960"/>
            <a:ext cx="2057400" cy="9829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Chuẩn hóa từ vựng trước khi tư vấn.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39" y="2994660"/>
            <a:ext cx="1280160" cy="9829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00977A"/>
                </a:solidFill>
                <a:latin typeface="Segoe UI"/>
              </a:rPr>
              <a:t>Lý 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19" y="2994660"/>
            <a:ext cx="2057400" cy="9829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Dùng sai thuật ngữ làm sai workup và kỳ vọng bệnh nhân.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22  /  60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Vì sao cần repeat?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Tinh dịch đồ dao động theo ngày kiêng, sốt, stress, thuốc, độc chất, giấc ngủ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Một mẫu đơn độc có thể không đại diện baseline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EAU 2026: ít nhất hai SA liên tiếp nếu baseline bất thường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AUA/ASRM: đánh giá ban đầu bằng one or more semen analyses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Repeat phân biệt bất thường thật với dao động sinh học hoặc lỗi mẫu.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23  /  60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Azoospermia: xác nhận trước OA/NOA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1691640"/>
            <a:ext cx="7589520" cy="64008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1691640"/>
            <a:ext cx="63500" cy="64008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691640"/>
            <a:ext cx="72237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Không thấy tinh trùng trên lam ban đầu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331720"/>
            <a:ext cx="7589520" cy="3429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Segoe UI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22576" y="2720340"/>
            <a:ext cx="7589520" cy="64008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2674620"/>
            <a:ext cx="7589520" cy="64008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674620"/>
            <a:ext cx="72237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0" i="0">
                <a:solidFill>
                  <a:srgbClr val="0D2B2B"/>
                </a:solidFill>
                <a:latin typeface="Segoe UI"/>
              </a:rPr>
              <a:t>Kiểm tra tiền phân tích và mẫu lấy đủ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314700"/>
            <a:ext cx="7589520" cy="3429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Segoe UI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22576" y="3703320"/>
            <a:ext cx="7589520" cy="64008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657600"/>
            <a:ext cx="7589520" cy="64008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3657600"/>
            <a:ext cx="72237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0" i="0">
                <a:solidFill>
                  <a:srgbClr val="0D2B2B"/>
                </a:solidFill>
                <a:latin typeface="Segoe UI"/>
              </a:rPr>
              <a:t>Ly tâm mẫu, tái huyền phù pellet, soi rare sperm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297680"/>
            <a:ext cx="7589520" cy="3429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Segoe UI"/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22576" y="4686300"/>
            <a:ext cx="7589520" cy="64008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0" y="4640580"/>
            <a:ext cx="7589520" cy="64008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4640580"/>
            <a:ext cx="72237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0" i="0">
                <a:solidFill>
                  <a:srgbClr val="0D2B2B"/>
                </a:solidFill>
                <a:latin typeface="Segoe UI"/>
              </a:rPr>
              <a:t>Nếu vẫn không thấy: repeat 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280660"/>
            <a:ext cx="7589520" cy="3429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Segoe UI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5623560"/>
            <a:ext cx="7589520" cy="6400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0" y="5623560"/>
            <a:ext cx="63500" cy="6400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5623560"/>
            <a:ext cx="72237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Sau pellet + repeat mới phân nhánh OA/NOA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24  /  60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EAU/AUA chi tiết cần nhớ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AUA/ASRM: repeat azoospermia sau ít nhất 1-2 tuần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EAU: ly tâm khoảng 3.000g trong 15 phút và soi pellet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EAU mô tả xác nhận bằng hai mẫu sau ly tâm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Mục tiêu: phân biệt absolute azoospermia với cryptozoospermia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Đây là chi tiết an toàn trước khi workup tắc hay suy sinh tinh.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25  /  60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Khi nào không chờ quá lâu?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Azoospermia/cryptozoospermia sát chu kỳ ART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Số lượng cực thấp có nguy cơ mẫu sau không còn tinh trùng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Trước hóa trị/xạ trị hoặc điều trị độc sinh dục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Sát ngày chọc hút noãn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Cần chuẩn bị surgical sperm retrieval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Không trì hoãn khi kết quả sẽ ảnh hưởng chu kỳ ART hoặc bảo tồn sinh sản.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26  /  60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Diễn giải theo pattern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Segoe UI"/>
              </a:rPr>
              <a:t>Đi từ lỗi mẫu đến nguyên nhân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Low volume pathway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1691640"/>
            <a:ext cx="7589520" cy="5334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1691640"/>
            <a:ext cx="63500" cy="5334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691640"/>
            <a:ext cx="7223760" cy="533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Low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225040"/>
            <a:ext cx="7589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Segoe UI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22576" y="2545080"/>
            <a:ext cx="7589520" cy="53340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2499360"/>
            <a:ext cx="7589520" cy="53340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499360"/>
            <a:ext cx="7223760" cy="533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0" i="0">
                <a:solidFill>
                  <a:srgbClr val="0D2B2B"/>
                </a:solidFill>
                <a:latin typeface="Segoe UI"/>
              </a:rPr>
              <a:t>Hỏi lấy đủ mẫu? mất phần đầu?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032760"/>
            <a:ext cx="7589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Segoe UI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22576" y="3352800"/>
            <a:ext cx="7589520" cy="53340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307080"/>
            <a:ext cx="7589520" cy="53340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3307080"/>
            <a:ext cx="7223760" cy="533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0" i="0">
                <a:solidFill>
                  <a:srgbClr val="0D2B2B"/>
                </a:solidFill>
                <a:latin typeface="Segoe UI"/>
              </a:rPr>
              <a:t>Loại trừ xuất tinh ngược khi phù hợp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840480"/>
            <a:ext cx="7589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Segoe UI"/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22576" y="4160520"/>
            <a:ext cx="7589520" cy="53340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0" y="4114800"/>
            <a:ext cx="7589520" cy="53340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4114800"/>
            <a:ext cx="7223760" cy="533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0" i="0">
                <a:solidFill>
                  <a:srgbClr val="0D2B2B"/>
                </a:solidFill>
                <a:latin typeface="Segoe UI"/>
              </a:rPr>
              <a:t>Xem pH/fructose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648200"/>
            <a:ext cx="7589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Segoe UI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22576" y="4968240"/>
            <a:ext cx="7589520" cy="53340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0" y="4922520"/>
            <a:ext cx="7589520" cy="53340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4922520"/>
            <a:ext cx="7223760" cy="533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0" i="0">
                <a:solidFill>
                  <a:srgbClr val="0D2B2B"/>
                </a:solidFill>
                <a:latin typeface="Segoe UI"/>
              </a:rPr>
              <a:t>Low volume + pH acid + azoospermia: nghi CBAVD/EOD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455919"/>
            <a:ext cx="7589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Segoe UI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5730239"/>
            <a:ext cx="7589520" cy="5334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0" y="5730239"/>
            <a:ext cx="63500" cy="5334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0" y="5730239"/>
            <a:ext cx="7223760" cy="533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Khám ống dẫn tinh, CFTR nếu nghi CBAVD, TRUS/siêu âm theo bài 42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27  /  60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Normal-volume azoospermia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1691640"/>
            <a:ext cx="7589520" cy="5334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1691640"/>
            <a:ext cx="63500" cy="5334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691640"/>
            <a:ext cx="7223760" cy="533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Azoospermia đã pellet + repeat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225040"/>
            <a:ext cx="7589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Segoe UI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22576" y="2545080"/>
            <a:ext cx="7589520" cy="53340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2499360"/>
            <a:ext cx="7589520" cy="53340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499360"/>
            <a:ext cx="7223760" cy="533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0" i="0">
                <a:solidFill>
                  <a:srgbClr val="0D2B2B"/>
                </a:solidFill>
                <a:latin typeface="Segoe UI"/>
              </a:rPr>
              <a:t>Volume và pH bình thường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032760"/>
            <a:ext cx="7589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Segoe UI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22576" y="3352800"/>
            <a:ext cx="7589520" cy="53340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307080"/>
            <a:ext cx="7589520" cy="53340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3307080"/>
            <a:ext cx="7223760" cy="533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0" i="0">
                <a:solidFill>
                  <a:srgbClr val="0D2B2B"/>
                </a:solidFill>
                <a:latin typeface="Segoe UI"/>
              </a:rPr>
              <a:t>Khám tinh hoàn/ống dẫn tinh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840480"/>
            <a:ext cx="7589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Segoe UI"/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22576" y="4160520"/>
            <a:ext cx="7589520" cy="53340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0" y="4114800"/>
            <a:ext cx="7589520" cy="53340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4114800"/>
            <a:ext cx="7223760" cy="533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0" i="0">
                <a:solidFill>
                  <a:srgbClr val="0D2B2B"/>
                </a:solidFill>
                <a:latin typeface="Segoe UI"/>
              </a:rPr>
              <a:t>FSH/LH/testosterone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648200"/>
            <a:ext cx="7589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Segoe UI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22576" y="4968240"/>
            <a:ext cx="7589520" cy="53340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0" y="4922520"/>
            <a:ext cx="7589520" cy="53340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4922520"/>
            <a:ext cx="7223760" cy="533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0" i="0">
                <a:solidFill>
                  <a:srgbClr val="0D2B2B"/>
                </a:solidFill>
                <a:latin typeface="Segoe UI"/>
              </a:rPr>
              <a:t>Tinh hoàn nhỏ + FSH cao: nghi NOA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455919"/>
            <a:ext cx="75895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0977A"/>
                </a:solidFill>
                <a:latin typeface="Segoe UI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5730239"/>
            <a:ext cx="7589520" cy="5334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0" y="5730239"/>
            <a:ext cx="63500" cy="5334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0" y="5730239"/>
            <a:ext cx="7223760" cy="533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Tinh hoàn bình thường + FSH bình thường + dấu tắc: nghi OA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28  /  60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Severe oligozoospermia / cryptozoospermia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Repeat và loại trừ tiền phân tích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Hỏi testosterone/anabolic steroid, sốt, thuốc, độc chất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Đánh giá hormone khi nghi suy sinh tinh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Nghĩ genetics theo ngưỡng guideline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Cân nhắc trữ tinh trùng nếu chuẩn bị ART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Mẫu sau có thể không còn tinh trùng để dùng ngày OPU.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Nếu sai, Có thể phải hủy chu kỳ hoặc retrieval khẩn cấp.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29  /  60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Y-chromosome microdeletion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AUA/ASRM 2024: primary infertility kèm azoospermia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Hoặc sperm concentration &lt;=1 triệu/mL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Khi có FSH tăng, teo tinh hoàn hoặc chẩn đoán impaired sperm production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Kết quả ảnh hưởng tư vấn tiên lượng và di truyền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Không phải mọi SA bất thường đều cần xét nghiệm Y microdeletion.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30  /  60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Low motility pathway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Kiểm tra delay và nhiệt độ vận chuyển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Hỏi lubricant/condom không phù hợp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Xem hóa lỏng/độ nhớt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Làm vitality khi motility thấp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Chỉ sau đó mới quy asthenozoospermia thật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Motility rất dễ bị preanalytics làm sai.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31  /  60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Ý nghĩa đối với natural conception, IUI, IVF và ICSI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Segoe UI"/>
              </a:rPr>
              <a:t>Quyết định ở mức cặp đôi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Ngoài SA, quyết định ART cần gì?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7680960" cy="3657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6309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Tiêu chí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600200"/>
            <a:ext cx="1188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Điểm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768096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Tuổi và dự trữ buồng trứng của người nữ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02768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02768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7680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Thời gian vô sinh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43916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43916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88920"/>
            <a:ext cx="768096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8892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Vòi tử cung và tử cung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285064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5064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00400"/>
            <a:ext cx="7680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20040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Số lần thất bại trước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326212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326212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11880"/>
            <a:ext cx="768096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61188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Số thông số SA bất thường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67360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367360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023360"/>
            <a:ext cx="7680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02336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Khả năng repeat/trữ tinh trùng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408508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408508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434840"/>
            <a:ext cx="768096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43484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Năng lực labo và mong muốn cặp đôi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49656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449656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0455" y="1645920"/>
            <a:ext cx="3611880" cy="324612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83879" y="1600200"/>
            <a:ext cx="3611880" cy="324612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83879" y="1600200"/>
            <a:ext cx="3611880" cy="36576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79" y="1600200"/>
            <a:ext cx="36118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DIỄN GIẢI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39" y="1965960"/>
            <a:ext cx="128016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00977A"/>
                </a:solidFill>
                <a:latin typeface="Segoe UI"/>
              </a:rPr>
              <a:t>Cần làm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19" y="1965960"/>
            <a:ext cx="20574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Luôn đưa người nữ và cặp đôi vào quyết định.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39" y="2926080"/>
            <a:ext cx="128016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00977A"/>
                </a:solidFill>
                <a:latin typeface="Segoe UI"/>
              </a:rPr>
              <a:t>Lý 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19" y="2926080"/>
            <a:ext cx="20574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Tinh dịch đồ không tồn tại trong chân không.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39" y="3886200"/>
            <a:ext cx="128016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00977A"/>
                </a:solidFill>
                <a:latin typeface="Segoe UI"/>
              </a:rPr>
              <a:t>Nếu bỏ sót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6919" y="3886200"/>
            <a:ext cx="20574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Chọn IUI/IVF/ICSI bằng một chỉ số là critical miss.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32  /  60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TMSC dùng để làm gì?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TMSC kết hợp volume, concentration và motility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Gần với số tinh trùng di động có thể dùng hơn concentration đơn độc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Hữu ích cho tư vấn IUI và lập kế hoạch labo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Không dạy một cutoff cứng cho IUI/IVF/ICSI trong bài này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Ngưỡng phụ thuộc nghiên cứu, labo và toàn cảnh cặp đôi.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33  /  60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IUI/IVF/ICSI: cách nghĩ đúng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470916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212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900" b="1" i="0">
                <a:solidFill>
                  <a:srgbClr val="00977A"/>
                </a:solidFill>
                <a:latin typeface="Segoe UI"/>
              </a:rPr>
              <a:t>Không làm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Không chọn bằng concentration đơn độc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Không dùng morphology đơn độc để ICSI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Không bỏ qua tuổi/noãn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Không bỏ qua repeat và preanalytics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554480"/>
            <a:ext cx="5577840" cy="47091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554480"/>
            <a:ext cx="5577840" cy="50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783080"/>
            <a:ext cx="5212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900" b="1" i="0">
                <a:solidFill>
                  <a:srgbClr val="E53E3E"/>
                </a:solidFill>
                <a:latin typeface="Segoe UI"/>
              </a:rPr>
              <a:t>Nên làm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468880"/>
            <a:ext cx="5029200" cy="3657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Segoe UI"/>
              </a:rPr>
              <a:t>  –  Xem toàn bộ SA và repeat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Segoe UI"/>
              </a:rPr>
              <a:t>  –  Tính TMSC/post-wash nếu IUI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Segoe UI"/>
              </a:rPr>
              <a:t>  –  Xem tiền sử fertilization failure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Segoe UI"/>
              </a:rPr>
              <a:t>  –  Chuẩn bị backup sperm/retrieval nếu rất thấp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Segoe UI"/>
              </a:rPr>
              <a:t>  –  Chốt: ART là can thiệp của cả cặp đôi và labo.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05856" y="3657600"/>
            <a:ext cx="7772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34  /  60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Khi nào chuẩn bị IVF/ICSI hoặc retrieval?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Azoospermia đã xác nhận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Cryptozoospermia hoặc số lượng cực thấp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OA: PESA/MESA/TESE + ICSI tùy vị trí và nguồn lực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NOA: micro-TESE + ICSI sau nội tiết/di truyền và tư vấn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Severe male factor: trữ tinh trùng backup nếu có mẫu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Chuẩn bị labo và backup giảm nguy cơ hủy chu kỳ.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35  /  60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Trữ tinh trùng ở số lượng rất thấp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Mẫu sau có thể không còn tinh trùng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Ngày chọc hút noãn có thể không đủ tinh trùng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Trữ mẫu có tinh trùng giảm nguy cơ hủy chu kỳ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Không thay thế tìm nguyên nhân nhưng bảo vệ kế hoạch ART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Đây là hành động ít xâm lấn có thể cứu chu kỳ.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36  /  60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Extended / advanced tests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Segoe UI"/>
              </a:rPr>
              <a:t>Chỉ làm khi câu hỏi lâm sàng cụ thể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SDF: vai trò và giới hạn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336" y="1600200"/>
            <a:ext cx="5577840" cy="470916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470916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5577840" cy="508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212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00977A"/>
                </a:solidFill>
                <a:latin typeface="Segoe UI"/>
              </a:rPr>
              <a:t>Có thể cân nhắc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212080" cy="3931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RPL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Thất bại ART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Unexplained infertility chọn lọc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Theo guideline/labo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1928" y="1600200"/>
            <a:ext cx="5577840" cy="470916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554480"/>
            <a:ext cx="5577840" cy="4709160"/>
          </a:xfrm>
          <a:prstGeom prst="rect">
            <a:avLst/>
          </a:prstGeom>
          <a:solidFill>
            <a:srgbClr val="FFFFFF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554480"/>
            <a:ext cx="5577840" cy="508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691640"/>
            <a:ext cx="5212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 i="0">
                <a:solidFill>
                  <a:srgbClr val="00CCA3"/>
                </a:solidFill>
                <a:latin typeface="Segoe UI"/>
              </a:rPr>
              <a:t>Không dùng như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194560"/>
            <a:ext cx="5212080" cy="3931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Screening routine ban đầu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Cutoff chung cho mọi assay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Thay thế SA/basic workup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Quyết định ART đơn độc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600">
                <a:solidFill>
                  <a:srgbClr val="1A2F2F"/>
                </a:solidFill>
                <a:latin typeface="Segoe UI"/>
              </a:rPr>
              <a:t>  –  Chốt: Threshold phụ thuộc assay và labo phải validate.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37  /  60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ROS/oxidative stress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Đo stress oxy hóa hoặc proxy tùy assay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Có thể quan tâm khi viêm, varicocele, độc chất hoặc nghiên cứu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Deep-research chưa xác minh đủ để đưa vào thuật toán routine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Không dạy như screening ban đầu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Bằng chứng/chuẩn hóa chưa đủ cho routine pathway.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38  /  60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ASA, culture, biochemistry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ASA: chọn lọc khi agglutination/bối cảnh phù hợp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Culture: triệu chứng nhiễm trùng, leukocytes xác nhận, STI/viêm tuyến phụ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Fructose/zinc/alpha-glucosidase: trả lời câu hỏi tuyến phụ/tắc nghẽn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Không test nào thay thế khám, hormone, genetics, imaging khi cần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Test thêm không làm kết quả tự rõ nếu câu hỏi ban đầu sai.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39  /  60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Bốn câu trước advanced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7680960" cy="3657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6309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Tiêu chí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600200"/>
            <a:ext cx="1188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Điểm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768096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Test đo gì?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02768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02768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7680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Khi nào cân nhắc?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43916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43916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88920"/>
            <a:ext cx="768096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8892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Không trả lời được gì?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285064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5064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00400"/>
            <a:ext cx="7680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20040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Kết quả có đổi quản lý không?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326212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326212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0455" y="1645920"/>
            <a:ext cx="3611880" cy="201168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1600200"/>
            <a:ext cx="3611880" cy="201168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79" y="1600200"/>
            <a:ext cx="3611880" cy="36576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1600200"/>
            <a:ext cx="36118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DIỄN GIẢI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9" y="1965960"/>
            <a:ext cx="128016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00977A"/>
                </a:solidFill>
                <a:latin typeface="Segoe UI"/>
              </a:rPr>
              <a:t>Cần làm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19" y="1965960"/>
            <a:ext cx="205740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Dùng bốn câu này trước khi order test.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39" y="2788920"/>
            <a:ext cx="128016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00977A"/>
                </a:solidFill>
                <a:latin typeface="Segoe UI"/>
              </a:rPr>
              <a:t>Lý 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19" y="2788920"/>
            <a:ext cx="205740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A2F2F"/>
                </a:solidFill>
                <a:latin typeface="Segoe UI"/>
              </a:rPr>
              <a:t>Nếu không đổi quản lý, test thường chỉ tăng chi phí và nhiễu.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40  /  60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Report chuẩn và mini-cases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Segoe UI"/>
              </a:rPr>
              <a:t>Biến kết quả thành hành động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Report SA tối thiểu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7680960" cy="3657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6309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Tiêu chí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600200"/>
            <a:ext cx="1188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Điểm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768096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Tiền phân tích: kiêng, giờ lấy, giờ phân tích, lấy đủ/mất mẫu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02768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02768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7680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Đại thể: volume, liquefaction, viscosity, appearance, pH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43916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43916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88920"/>
            <a:ext cx="768096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8892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Concentration và total sperm number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285064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5064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00400"/>
            <a:ext cx="7680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20040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Motility breakdown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326212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326212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11880"/>
            <a:ext cx="768096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61188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Vitality khi cần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67360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367360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023360"/>
            <a:ext cx="7680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02336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Morphology và phương pháp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408508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408508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434840"/>
            <a:ext cx="768096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43484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Round cells/leukocyte confirmation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49656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449656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846320"/>
            <a:ext cx="7680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84632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Comments: limitation, repeat, clinical correlation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490804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490804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0455" y="1645920"/>
            <a:ext cx="3611880" cy="365760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83879" y="1600200"/>
            <a:ext cx="3611880" cy="365760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83879" y="1600200"/>
            <a:ext cx="3611880" cy="36576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83879" y="1600200"/>
            <a:ext cx="36118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DIỄN GIẢI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39" y="1965960"/>
            <a:ext cx="1280160" cy="1600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00977A"/>
                </a:solidFill>
                <a:latin typeface="Segoe UI"/>
              </a:rPr>
              <a:t>Cần làm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6919" y="1965960"/>
            <a:ext cx="2057400" cy="1600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Yêu cầu report đủ dữ liệu hành động.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39" y="3611880"/>
            <a:ext cx="1280160" cy="1600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00977A"/>
                </a:solidFill>
                <a:latin typeface="Segoe UI"/>
              </a:rPr>
              <a:t>Lý 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46919" y="3611880"/>
            <a:ext cx="2057400" cy="1600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Thiếu tiền phân tích và comments khiến kết quả khó tin và khó dùng.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41  /  60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Case 1: mất phần đầu mẫu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Volume 0,7 mL, concentration thấp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Bệnh nhân báo phần đầu rơi ra ngoài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Không kết luận hypospermia/oligozoospermia thật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Ghi limitation và lặp mẫu đúng chuẩn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Phần đầu giàu tinh trùng nên count/volume có thể thấp giả.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42  /  60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Case 2: mẫu đến sau 2 giờ, trời lạnh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Motility thấp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Nghĩ asthenozoospermia giả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Cần repeat với vận chuyển đúng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Không quy bệnh lý vận động từ mẫu delay/lạnh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Delay/nhiệt độ là nguyên nhân giả thường gặp của motility thấp.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43  /  60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Case 3: low-volume acidic azoospermia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Volume 0,6 mL, pH acid, mẫu lấy đủ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Không bỏ qua pellet/repeat nếu chưa xác nhận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Loại trừ xuất tinh ngược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Khám ống dẫn tinh, CFTR nếu nghi CBAVD, TRUS/siêu âm theo bài 42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Pattern này gợi ý thiếu dịch túi tinh hoặc EOD/CBAVD.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44  /  60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Case 4: normal-volume azoospermia + FSH cao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Azoospermia đã repeat/pellet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Volume bình thường, tinh hoàn nhỏ, FSH cao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Hướng NOA/suy sinh tinh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Nội tiết, di truyền, tư vấn tiên lượng, cân nhắc micro-TESE + ICSI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Người bệnh cần biết khả năng không tìm được tinh trùng và lựa chọn thay thế.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45  /  60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Case 5: cryptozoospermia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Pellet còn vài tinh trùng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Không xem như 'không có gì để làm'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Repeat và tìm nguyên nhân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Trữ tinh trùng nếu có thể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Chuẩn bị labo ART vì ngày OPU có thể không có tinh trùng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Không chuẩn bị backup có thể dẫn tới hủy chu kỳ hoặc retrieval khẩn cấp.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46  /  60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Case 6: isolated teratozoospermia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Morphology thấp đơn độc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Không tự động ICSI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Xem repeat, method, TMSC, tiền sử fertilization failure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Đặt trong tuổi/noãn và chính sách labo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Morphology đơn độc là bẫy diễn giải rất thường gặp.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47  /  60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Case 7: round cells tăng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Không gọi ngay leukocytospermia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Xác định bạch cầu hay tế bào mầm non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Culture/điều trị khi có triệu chứng hoặc bối cảnh phù hợp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Tránh kháng sinh quá mức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Round cells là mô tả hình thái, không phải chẩn đoán nhiễm trùng.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48  /  60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Case 8: varicocele + SA bất thường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OAT lặp lại và khám có varicocele sờ thấy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Siêu âm bìu/Doppler hỗ trợ đánh giá theo bài 42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Không mổ varicocele cận lâm sàng chỉ vì siêu âm giãn nhẹ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Quyết định theo guideline, triệu chứng và mục tiêu cặp đôi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Điều trị varicocele theo hình ảnh đơn độc có thể over-treatment.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49  / 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Critical misses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Segoe UI"/>
              </a:rPr>
              <a:t>Sai ở đây thì phải ôn lại dù tổng điểm cao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Critical miss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7680960" cy="36576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6309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Tiêu chí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600200"/>
            <a:ext cx="1188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Điểm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768096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Gọi WHO lower reference values là cutoff fertile/infertile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02768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02768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7680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Chẩn đoán azoospermia mà chưa pellet/repeat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43916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43916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88920"/>
            <a:ext cx="768096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8892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Bỏ qua lấy mẫu thiếu hoặc delay vận chuyển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285064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85064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00400"/>
            <a:ext cx="7680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20040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Dùng isolated morphology để chỉ định ICSI tự động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326212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326212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11880"/>
            <a:ext cx="7680960" cy="411480"/>
          </a:xfrm>
          <a:prstGeom prst="rect">
            <a:avLst/>
          </a:prstGeom>
          <a:solidFill>
            <a:srgbClr val="E8F8F5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61188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Dùng SDF/ROS/ASA/culture như screening routine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67360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367360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023360"/>
            <a:ext cx="7680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023360"/>
            <a:ext cx="6309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Quyết định ART bằng một chỉ số mà không xét toàn cặp đôi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4085082"/>
            <a:ext cx="1005840" cy="288036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4085082"/>
            <a:ext cx="1005840" cy="2880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0455" y="1645920"/>
            <a:ext cx="3611880" cy="2834640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3879" y="1600200"/>
            <a:ext cx="3611880" cy="2834640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83879" y="1600200"/>
            <a:ext cx="3611880" cy="36576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79" y="1600200"/>
            <a:ext cx="36118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DIỄN GIẢI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39" y="1965960"/>
            <a:ext cx="128016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00977A"/>
                </a:solidFill>
                <a:latin typeface="Segoe UI"/>
              </a:rPr>
              <a:t>Cần làm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19" y="1965960"/>
            <a:ext cx="20574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Dùng checklist để tự chấm an toàn.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39" y="3200400"/>
            <a:ext cx="128016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00977A"/>
                </a:solidFill>
                <a:latin typeface="Segoe UI"/>
              </a:rPr>
              <a:t>Lý 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19" y="3200400"/>
            <a:ext cx="20574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0" i="0">
                <a:solidFill>
                  <a:srgbClr val="1A2F2F"/>
                </a:solidFill>
                <a:latin typeface="Segoe UI"/>
              </a:rPr>
              <a:t>Các lỗi này gây hại thực hành nhiều hơn quên một con số nhỏ.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50  /  60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Take-home messages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336" y="1645920"/>
            <a:ext cx="11430000" cy="795528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11430000" cy="795528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63500" cy="795528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48640" cy="7955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500" b="1" i="0">
                <a:solidFill>
                  <a:srgbClr val="00977A"/>
                </a:solidFill>
                <a:latin typeface="Segoe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10515600" cy="7955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 i="0">
                <a:solidFill>
                  <a:srgbClr val="1A2F2F"/>
                </a:solidFill>
                <a:latin typeface="Segoe UI"/>
              </a:rPr>
              <a:t>SA là snapshot chuẩn hóa, không phải xét nghiệm đậu/rớt fertility.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" y="2514600"/>
            <a:ext cx="11430000" cy="795528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468880"/>
            <a:ext cx="11430000" cy="795528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468880"/>
            <a:ext cx="63500" cy="795528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68880"/>
            <a:ext cx="548640" cy="7955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500" b="1" i="0">
                <a:solidFill>
                  <a:srgbClr val="00977A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468880"/>
            <a:ext cx="10515600" cy="7955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 i="0">
                <a:solidFill>
                  <a:srgbClr val="1A2F2F"/>
                </a:solidFill>
                <a:latin typeface="Segoe UI"/>
              </a:rPr>
              <a:t>Tiền phân tích đứng trước mọi con số: kiêng 2-7 ngày, lấy đủ mẫu, phân tích 30-60 phút.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" y="3383280"/>
            <a:ext cx="11430000" cy="795528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337560"/>
            <a:ext cx="11430000" cy="795528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337560"/>
            <a:ext cx="63500" cy="795528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37560"/>
            <a:ext cx="548640" cy="7955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500" b="1" i="0">
                <a:solidFill>
                  <a:srgbClr val="00977A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337560"/>
            <a:ext cx="10515600" cy="7955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 i="0">
                <a:solidFill>
                  <a:srgbClr val="1A2F2F"/>
                </a:solidFill>
                <a:latin typeface="Segoe UI"/>
              </a:rPr>
              <a:t>WHO 2021 lower fifth-centile values là mốc tham chiếu, không phải cutoff vô sinh.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" y="4251959"/>
            <a:ext cx="11430000" cy="795528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206239"/>
            <a:ext cx="11430000" cy="795528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206239"/>
            <a:ext cx="63500" cy="795528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06239"/>
            <a:ext cx="548640" cy="7955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500" b="1" i="0">
                <a:solidFill>
                  <a:srgbClr val="00977A"/>
                </a:solidFill>
                <a:latin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206239"/>
            <a:ext cx="10515600" cy="7955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 i="0">
                <a:solidFill>
                  <a:srgbClr val="1A2F2F"/>
                </a:solidFill>
                <a:latin typeface="Segoe UI"/>
              </a:rPr>
              <a:t>Azoospermia cần pellet + repeat trước OA/NOA.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" y="5120640"/>
            <a:ext cx="11430000" cy="795528"/>
          </a:xfrm>
          <a:prstGeom prst="rect">
            <a:avLst/>
          </a:prstGeom>
          <a:solidFill>
            <a:srgbClr val="E6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074920"/>
            <a:ext cx="11430000" cy="795528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074920"/>
            <a:ext cx="63500" cy="795528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074920"/>
            <a:ext cx="548640" cy="7955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500" b="1" i="0">
                <a:solidFill>
                  <a:srgbClr val="00977A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074920"/>
            <a:ext cx="10515600" cy="7955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 i="0">
                <a:solidFill>
                  <a:srgbClr val="1A2F2F"/>
                </a:solidFill>
                <a:latin typeface="Segoe UI"/>
              </a:rPr>
              <a:t>Quyết định IUI/IVF/ICSI là quyết định của cả cặp đôi, không phải của một chỉ số.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51  /  60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92608"/>
            <a:ext cx="63500" cy="960120"/>
          </a:xfrm>
          <a:prstGeom prst="rect">
            <a:avLst/>
          </a:prstGeom>
          <a:solidFill>
            <a:srgbClr val="72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01168"/>
            <a:ext cx="11247120" cy="10515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Tài liệu tham khảo chính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338560" cy="1905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1A2F2F"/>
                </a:solidFill>
                <a:latin typeface="Segoe UI"/>
              </a:rPr>
              <a:t>1.   WHO laboratory manual for the examination and processing of human semen, 6th ed. 2021. ISBN 9789240030787.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F2F"/>
                </a:solidFill>
                <a:latin typeface="Segoe UI"/>
              </a:rPr>
              <a:t>2.   Boitrelle F et al. Sixth edition of the WHO manual: critical review and SWOT analysis. Andrology. 2021. PMID 33528873. DOI 10.1111/andr.12983.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F2F"/>
                </a:solidFill>
                <a:latin typeface="Segoe UI"/>
              </a:rPr>
              <a:t>3.   Paffoni A et al. Reference values for human semen analysis. Hum Reprod. 2022. PMID 35849333. DOI 10.1093/humrep/deac161.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F2F"/>
                </a:solidFill>
                <a:latin typeface="Segoe UI"/>
              </a:rPr>
              <a:t>4.   Brannigan RE et al. Updates to Male Infertility: AUA/ASRM Guideline (2024). J Urol. 2024. PMID 39145501. DOI 10.1097/JU.0000000000004180.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F2F"/>
                </a:solidFill>
                <a:latin typeface="Segoe UI"/>
              </a:rPr>
              <a:t>5.   AUA/ASRM. Diagnosis and Treatment of Infertility in Men: guideline, published 2020; amended 2024.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F2F"/>
                </a:solidFill>
                <a:latin typeface="Segoe UI"/>
              </a:rPr>
              <a:t>6.   EAU Guidelines on Sexual and Reproductive Health, chapter Male Infertility. 2026.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1A2F2F"/>
                </a:solidFill>
                <a:latin typeface="Segoe UI"/>
              </a:rPr>
              <a:t>7.   Kohn TP et al. Genetic testing for men with NOA or severe oligozoospermia. Fertil Steril. 2019. PMID 31400948.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52  /  60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200400" cy="4114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38100" cy="4663440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0" y="1828800"/>
            <a:ext cx="777240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Drill nhanh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160520"/>
            <a:ext cx="2286000" cy="2540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343400"/>
            <a:ext cx="777240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 i="1">
                <a:solidFill>
                  <a:srgbClr val="728C8C"/>
                </a:solidFill>
                <a:latin typeface="Segoe UI"/>
              </a:rPr>
              <a:t>Tập trả lời như khi đi lâm sàng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Drill 1: WHO 16 triệu/mL là gì?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Lower 5th centile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Không phải cutoff vô sinh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Dưới mốc tăng xác suất male factor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Trên mốc không bảo đảm có thai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Sửa critical miss về reference values.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Nếu sai, Dùng sai làm tư vấn fertile/infertile giả.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53  /  60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Drill 2: Một mẫu azoospermia ban đầu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Kiểm tra tiền phân tích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Ly tâm và soi pellet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Repeat SA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Sau đó mới OA/NOA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Pellet/repeat tránh bỏ sót cryptozoospermia.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Nếu sai, Workup sai nhánh.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54  /  60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Drill 3: Motility thấp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Xem delay/nhiệt độ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Xem lubricant/độ nhớt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Làm vitality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Repeat nếu mẫu lỗi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Motility dễ bị tiền phân tích làm sai.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Nếu sai, Chẩn đoán asthenozoospermia giả.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55  /  60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Drill 4: Volume thấp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Hỏi lấy đủ mẫu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Hỏi mất phần đầu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Loại trừ retrograde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Xem pH/fructose nếu mẫu đáng tin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Low volume trước hết là câu hỏi collection.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Nếu sai, Gắn nhãn CBAVD/EOD quá sớm.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56  /  60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Drill 5: Severe oligo/crypto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Repeat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Tìm thuốc/sốt/testosterone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Hormone/genetics theo ngưỡng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Trữ tinh trùng nếu chuẩn bị ART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Số lượng rất thấp có thể dao động tới zero.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Nếu sai, Không có tinh trùng ngày OPU.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57  /  60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Drill 6: Morphology thấp đơn độc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Không tự động ICSI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Xem method/repeat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Xem fertilization failure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Xem tuổi/noãn/labo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Morphology có biến thiên cao.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Nếu sai, Over-treatment.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58  /  60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Drill 7: Round cells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Không mặc định bạch cầu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Xác nhận loại tế bào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Culture khi triệu chứng/leukocytes/nguy cơ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Tránh kháng sinh quá mức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Round cells là mô tả hình thái.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Nếu sai, Overtesting/overtreatment.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59  /  60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50800" cy="713232"/>
          </a:xfrm>
          <a:prstGeom prst="rect">
            <a:avLst/>
          </a:prstGeom>
          <a:solidFill>
            <a:srgbClr val="009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"/>
            <a:ext cx="1097280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D2B2B"/>
                </a:solidFill>
                <a:latin typeface="Segoe UI"/>
              </a:rPr>
              <a:t>Drill 8: TMSC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927080" cy="1270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Volume x concentration x motility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Hữu ích tư vấn IUI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Không cutoff cứng trong bài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91640"/>
            <a:ext cx="12700" cy="452628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440680" cy="4709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Phụ thuộc labo/cặp đôi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Ý nghĩa: TMSC tốt hơn concentration đơn độc nhưng không thay quyết định đa biến.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700">
                <a:solidFill>
                  <a:srgbClr val="1A2F2F"/>
                </a:solidFill>
                <a:latin typeface="Segoe UI"/>
              </a:rPr>
              <a:t>  –  Nếu sai, Chọn ART máy móc.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473952"/>
            <a:ext cx="11430000" cy="8890"/>
          </a:xfrm>
          <a:prstGeom prst="rect">
            <a:avLst/>
          </a:prstGeom>
          <a:solidFill>
            <a:srgbClr val="C8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0">
                <a:solidFill>
                  <a:srgbClr val="728C8C"/>
                </a:solidFill>
                <a:latin typeface="Segoe UI"/>
              </a:rPr>
              <a:t>Tinh dịch đồ trong vô sinh nam và ART  ·  Bác sĩ Ngọc Hưng  ·  Bài giảng lâm sàng 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solidFill>
            <a:srgbClr val="E8F8F5"/>
          </a:solidFill>
          <a:ln w="6350">
            <a:solidFill>
              <a:srgbClr val="C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80192" y="6473952"/>
            <a:ext cx="1078992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977A"/>
                </a:solidFill>
                <a:latin typeface="Segoe UI"/>
              </a:rPr>
              <a:t>60  /  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